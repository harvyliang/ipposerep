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76" r:id="rId7"/>
    <p:sldId id="266" r:id="rId8"/>
    <p:sldId id="267" r:id="rId9"/>
    <p:sldId id="268" r:id="rId10"/>
    <p:sldId id="260" r:id="rId11"/>
    <p:sldId id="261" r:id="rId12"/>
    <p:sldId id="275" r:id="rId13"/>
    <p:sldId id="263" r:id="rId14"/>
    <p:sldId id="264" r:id="rId15"/>
    <p:sldId id="265" r:id="rId16"/>
  </p:sldIdLst>
  <p:sldSz cx="12192000" cy="6858000" type="screen4x3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3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52450" y="1200150"/>
            <a:ext cx="114300" cy="390525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3762375" y="1200150"/>
            <a:ext cx="8382000" cy="3905250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3714750" y="1200150"/>
            <a:ext cx="1714500" cy="3905250"/>
          </a:xfrm>
          <a:custGeom>
            <a:avLst/>
            <a:gdLst/>
            <a:ahLst/>
            <a:cxnLst/>
            <a:rect l="l" t="t" r="r" b="b"/>
            <a:pathLst>
              <a:path w="1714500" h="3905250">
                <a:moveTo>
                  <a:pt x="0" y="0"/>
                </a:moveTo>
                <a:lnTo>
                  <a:pt x="1714500" y="0"/>
                </a:lnTo>
                <a:lnTo>
                  <a:pt x="1047750" y="3905250"/>
                </a:lnTo>
                <a:lnTo>
                  <a:pt x="0" y="3905250"/>
                </a:ln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4476750" y="1200150"/>
            <a:ext cx="809625" cy="3905250"/>
          </a:xfrm>
          <a:custGeom>
            <a:avLst/>
            <a:gdLst/>
            <a:ahLst/>
            <a:cxnLst/>
            <a:rect l="l" t="t" r="r" b="b"/>
            <a:pathLst>
              <a:path w="809625" h="3905250">
                <a:moveTo>
                  <a:pt x="809625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D71440">
                <a:alpha val="62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8398" y="1603058"/>
            <a:ext cx="461645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Human Pose Analytics</a:t>
            </a:r>
            <a:endParaRPr lang="en-US" sz="31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5637" y="3166586"/>
            <a:ext cx="450873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research update · {{SUBTITLE}}</a:t>
            </a:r>
            <a:endParaRPr lang="en-US" sz="17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7542" y="4311968"/>
            <a:ext cx="22136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 ending · {{DATE}}</a:t>
            </a:r>
            <a:endParaRPr lang="en-US" sz="13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7542" y="4835842"/>
            <a:ext cx="22148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Presenter · {{AUTHOR}}</a:t>
            </a:r>
            <a:endParaRPr lang="en-US" sz="13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7524750" cy="1381125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305800" y="1428750"/>
            <a:ext cx="3314700" cy="1381125"/>
          </a:xfrm>
          <a:prstGeom prst="roundRect">
            <a:avLst>
              <a:gd name="adj" fmla="val 8276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14350" y="3105150"/>
            <a:ext cx="111061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E6E6E6"/>
            </a:solidFill>
          </a:ln>
        </p:spPr>
      </p:sp>
      <p:sp>
        <p:nvSpPr>
          <p:cNvPr id="10" name="Line 10"/>
          <p:cNvSpPr/>
          <p:nvPr/>
        </p:nvSpPr>
        <p:spPr>
          <a:xfrm>
            <a:off x="1181100" y="5143500"/>
            <a:ext cx="9772650" cy="9525"/>
          </a:xfrm>
          <a:custGeom>
            <a:avLst/>
            <a:gdLst/>
            <a:ahLst/>
            <a:cxnLst/>
            <a:rect l="l" t="t" r="r" b="b"/>
            <a:pathLst>
              <a:path w="9772650" h="9525">
                <a:moveTo>
                  <a:pt x="0" y="0"/>
                </a:moveTo>
                <a:lnTo>
                  <a:pt x="9772650" y="0"/>
                </a:lnTo>
              </a:path>
            </a:pathLst>
          </a:custGeom>
          <a:noFill/>
          <a:ln w="38100">
            <a:solidFill>
              <a:srgbClr val="C8C8C8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076325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3028950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4953000" y="5010150"/>
            <a:ext cx="266700" cy="2667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934200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88682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84897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6097" y="1590199"/>
            <a:ext cx="12393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TAKEAWAY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98351" y="1590199"/>
            <a:ext cx="11295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STATUS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4766" y="3296602"/>
            <a:ext cx="45349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MILESTONE · EVIDENCE · BLOCKER · NEXT CHECKPOINT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2902" y="5408295"/>
            <a:ext cx="5163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Kick-off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93803" y="5408295"/>
            <a:ext cx="2798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96752" y="5408295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Baselines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762007" y="5408295"/>
            <a:ext cx="5539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 Module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21493" y="5408295"/>
            <a:ext cx="7402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Experiments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90953" y="5408295"/>
            <a:ext cx="7255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Report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01396" y="543878"/>
            <a:ext cx="50186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Snapshot &amp; Milestone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1906" y="1939290"/>
            <a:ext cx="4298823" cy="618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{{KEY_MESSAGE}}</a:t>
            </a:r>
            <a:endParaRPr lang="en-US" sz="18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100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the one result or decision the supervisor should remember.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079294" y="1893094"/>
            <a:ext cx="1767713" cy="62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{{STATUS}}</a:t>
            </a:r>
            <a:endParaRPr lang="en-US" sz="18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ts val="2025"/>
              </a:lnSpc>
            </a:pPr>
            <a:r>
              <a:rPr lang="en-US" sz="98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 TRACK · AT RISK · BLOCKED</a:t>
            </a:r>
            <a:endParaRPr lang="en-US" sz="98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2099" y="3792379"/>
            <a:ext cx="4404106" cy="5937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{{MILESTONE}}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completed: … | Current blocker: … | Next checkpoint: …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PIPELINE / ARCHITECTURE / IMPLEMENTATION EVIDENCE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334594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Progress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3999" y="2154079"/>
            <a:ext cx="3356420" cy="8509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{{TECHNICAL_PROGRESS}}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Completed · In progress · Blocked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Include the concrete output, not only the activity.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64711" y="2170271"/>
            <a:ext cx="3568256" cy="774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{{CONTENT_AREA}}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Recommended: module diagram, interface contract,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pipeline, code evidence, or data-flow change.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55049" y="2173129"/>
            <a:ext cx="1943354" cy="107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{{KEY_FINDING}}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150"/>
              </a:spcBef>
            </a:pP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changed in the design,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evidence, or next decision?</a:t>
            </a:r>
            <a:endParaRPr lang="en-US" sz="112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ONE-LINE RESULT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· BASELINE · CONTROL · METRIC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FINDINGS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392262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Experimental Evidence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949" y="1639729"/>
            <a:ext cx="201000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{{KEY_MESSAGE}}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4761" y="2894171"/>
            <a:ext cx="4555046" cy="783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{{CONTENT_AREA}}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 one chart, table, confusion matrix, or controlled comparison.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Label the baseline, evaluation split, metric, and uncertainty.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69630" y="3076575"/>
            <a:ext cx="2376424" cy="111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{{FINDINGS}}</a:t>
            </a:r>
            <a:endParaRPr lang="en-US" sz="150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950"/>
              </a:lnSpc>
              <a:spcBef>
                <a:spcPts val="6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· What changed versus baseline?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· Which class or case still fails?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· What experiment comes next?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8647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815070" y="1647190"/>
            <a:ext cx="1720215" cy="282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IDENTITY IN OUR TASK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6966" y="228283"/>
            <a:ext cx="5313680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identity means in our project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88070" y="1911985"/>
            <a:ext cx="2926715" cy="8388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Same skeleton track ↔ 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same person across frames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Stable person-specific motion trajectories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Separate person streams before fusion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5940" y="631825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Anonymous instance continuity — not personal identification</a:t>
            </a:r>
            <a:endParaRPr lang="zh-CN" altLang="en-US"/>
          </a:p>
        </p:txBody>
      </p:sp>
      <p:pic>
        <p:nvPicPr>
          <p:cNvPr id="17" name="图片 16" descr="1052388c-54ea-43ac-8684-3306865178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" y="1304925"/>
            <a:ext cx="7826375" cy="4772025"/>
          </a:xfrm>
          <a:prstGeom prst="rect">
            <a:avLst/>
          </a:prstGeom>
        </p:spPr>
      </p:pic>
      <p:sp>
        <p:nvSpPr>
          <p:cNvPr id="18" name="TextBox 10"/>
          <p:cNvSpPr txBox="1"/>
          <p:nvPr>
            <p:custDataLst>
              <p:tags r:id="rId3"/>
            </p:custDataLst>
          </p:nvPr>
        </p:nvSpPr>
        <p:spPr>
          <a:xfrm>
            <a:off x="8815197" y="2992279"/>
            <a:ext cx="110172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THE </a:t>
            </a:r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GOAl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3"/>
          <p:cNvSpPr txBox="1"/>
          <p:nvPr>
            <p:custDataLst>
              <p:tags r:id="rId4"/>
            </p:custDataLst>
          </p:nvPr>
        </p:nvSpPr>
        <p:spPr>
          <a:xfrm>
            <a:off x="8688324" y="3243739"/>
            <a:ext cx="2524125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Face or name recognition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Fixed roles for P1/P2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SkeletonX performer ID across clips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34425" y="4239260"/>
            <a:ext cx="275209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Preserve trajectories before fusion</a:t>
            </a:r>
            <a:endParaRPr lang="zh-CN" altLang="en-US" sz="2000" b="1"/>
          </a:p>
          <a:p>
            <a:r>
              <a:rPr lang="en-US" altLang="zh-CN" sz="2000" b="1"/>
              <a:t>K</a:t>
            </a:r>
            <a:r>
              <a:rPr lang="zh-CN" altLang="en-US" sz="2000" b="1"/>
              <a:t>eep the final prediction invariant to person order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35940" y="4239260"/>
            <a:ext cx="1049655" cy="1857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Early pooling: motion source lost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79640" y="4568825"/>
            <a:ext cx="10623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Separate streams + relative relations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CANNOT SERVE AS OUR BACKBONE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54864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 Selection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3999" y="2154079"/>
            <a:ext cx="2120900" cy="2952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SkeletonX reviewed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Mentor suggested SkeletonX as our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starting point. W</a:t>
            </a: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went through the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paper and the released code: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sample pairing, decoupled pooling,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loss set, the feeders and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both evaluation settings.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Finding: it is a training strategy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that wraps a backbone — not a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backbone, and therefore not a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 on its own.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64711" y="2170271"/>
            <a:ext cx="3568256" cy="774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strategy, not a network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Its own experiments plug the same pipeline into several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backbones to show the gain transfers.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54795" y="2172970"/>
            <a:ext cx="2445385" cy="3519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 different</a:t>
            </a:r>
            <a:b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"identities"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150"/>
              </a:spcBef>
            </a:pP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SkeletonX "subject" = who performed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clip. A sample-level attribute,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separated so the prediction does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depend on who performs it.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Ours = maintaining a consistent association between each skeleton track and the same anonymous person across frames within one sequence.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 word, different problem. So it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 related work, not our baseline.</a:t>
            </a:r>
            <a:endParaRPr lang="en-US" sz="112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40480" y="6665595"/>
            <a:ext cx="32918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SkeletonX · IEEE TMM 2025 · arXiv:2504.11749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24528" y="3017520"/>
            <a:ext cx="4160520" cy="420624"/>
          </a:xfrm>
          <a:prstGeom prst="roundRect">
            <a:avLst>
              <a:gd name="adj" fmla="val 22000"/>
            </a:avLst>
          </a:prstGeom>
          <a:solidFill>
            <a:srgbClr val="FCE9EE"/>
          </a:solidFill>
          <a:ln w="1270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D71440"/>
                </a:solidFill>
                <a:latin typeface="Arial" panose="020B0604020202020204"/>
              </a:rPr>
              <a:t>SkeletonX  ·  training strategy</a:t>
            </a:r>
            <a:endParaRPr sz="12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6144768" y="3529584"/>
            <a:ext cx="310896" cy="384048"/>
          </a:xfrm>
          <a:prstGeom prst="down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2102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E6478"/>
                </a:solidFill>
                <a:latin typeface="Arial" panose="020B0604020202020204"/>
              </a:rPr>
              <a:t>plugs into</a:t>
            </a:r>
            <a:endParaRPr sz="10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2452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0243A"/>
                </a:solidFill>
                <a:latin typeface="Arial" panose="020B0604020202020204"/>
              </a:rPr>
              <a:t>ST-GCN</a:t>
            </a:r>
            <a:endParaRPr sz="12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4184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181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CTR-GCN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916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0243A"/>
                </a:solidFill>
                <a:latin typeface="Arial" panose="020B0604020202020204"/>
              </a:rPr>
              <a:t>TCA-GCN</a:t>
            </a:r>
            <a:endParaRPr sz="12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6" name="Up Arrow 25"/>
          <p:cNvSpPr/>
          <p:nvPr/>
        </p:nvSpPr>
        <p:spPr>
          <a:xfrm>
            <a:off x="6144768" y="4590288"/>
            <a:ext cx="274320" cy="310896"/>
          </a:xfrm>
          <a:prstGeom prst="upArrow">
            <a:avLst/>
          </a:prstGeom>
          <a:solidFill>
            <a:srgbClr val="D7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5604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71440"/>
                </a:solidFill>
                <a:latin typeface="Arial" panose="020B0604020202020204"/>
              </a:rPr>
              <a:t>our backbone and baseline</a:t>
            </a:r>
            <a:endParaRPr sz="11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24528" y="537667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The backbone is an argument to the method, so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  <a:p>
            <a:pPr algn="l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"SkeletonX" alone does not define a runnable system.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 DEFINITION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CODEBASE · DATA · TRAINING · EVALUATION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FINDINGS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73152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Baseline · Setup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949" y="1639729"/>
            <a:ext cx="100584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· joint stream only · NTU RGB+D 120 mutual subset (26 classes) · X-Sub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4761" y="2894171"/>
            <a:ext cx="7040880" cy="783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Repository already mapped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main.py (train / test entry)  ·  config/ (per-dataset yaml)  ·  model/ (CTR-GCN)  ·  feeders/ (data loading)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graph/ (skeleton topology)  ·  data/ (preprocessing scripts)  ·  ensemble.py (multi-stream late fusion)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69630" y="2945130"/>
            <a:ext cx="2376424" cy="111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Reproduction risks</a:t>
            </a:r>
            <a:endParaRPr lang="en-US" sz="150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950"/>
              </a:lnSpc>
              <a:spcBef>
                <a:spcPts val="6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· Headline numbers use four-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stream fusion; single stream is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lower. We state which we ran.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· ensemble.py aligns streams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 row index, not sample name.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order must never change.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· No official mutual subset —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 filter rule goes in report.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40480" y="6665595"/>
            <a:ext cx="29260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· Chen et al., ICCV 2021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data/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.skeleton → denoise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→ .npz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368296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9464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 w="1905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feeders/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joint | bone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joint-mot. | bone-mot.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160520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model/ + main.py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CTR-GCN, SGD+Nesterov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65 epochs, lr 0.1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5952743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5E6478"/>
                </a:solidFill>
                <a:latin typeface="Arial" panose="020B0604020202020204"/>
              </a:rPr>
              <a:t>ensemble.py</a:t>
            </a:r>
            <a:endParaRPr sz="1150" b="1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weighted late fusion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0.6 / 0.6 / 0.4 / 0.4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9464" y="479145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71440"/>
                </a:solidFill>
                <a:latin typeface="Arial" panose="020B0604020202020204"/>
              </a:rPr>
              <a:t>Week 4: joint only</a:t>
            </a:r>
            <a:endParaRPr sz="10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175504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Four-stream fusion is how CTR-GCN reports its SOTA numbers; we defer it and state the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  <a:latin typeface="Arial" panose="020B0604020202020204"/>
              </a:rPr>
              <a:t>single-stream setting explicitly so our results stay internally comparable.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01396" y="543878"/>
            <a:ext cx="73152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Where the person axis disappears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57600" y="6665595"/>
            <a:ext cx="38404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model/ctrgcn.py · SkeletonX model/stdecouple.py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572768"/>
            <a:ext cx="210312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GCN backbone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946903" y="1719072"/>
            <a:ext cx="201168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2936" y="1572768"/>
            <a:ext cx="2377440" cy="475488"/>
          </a:xfrm>
          <a:prstGeom prst="roundRect">
            <a:avLst>
              <a:gd name="adj" fmla="val 14000"/>
            </a:avLst>
          </a:prstGeom>
          <a:solidFill>
            <a:srgbClr val="FCE9EE"/>
          </a:solidFill>
          <a:ln w="1905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D71440"/>
                </a:solidFill>
                <a:latin typeface="Arial" panose="020B0604020202020204"/>
              </a:rPr>
              <a:t>pool  T · V · M  →  vector</a:t>
            </a:r>
            <a:endParaRPr sz="115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635240" y="1719072"/>
            <a:ext cx="201168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91271" y="1572768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FC classifier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1645920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Both methods act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  <a:p>
            <a:pPr algn="r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at this one step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71440"/>
                </a:solidFill>
                <a:latin typeface="Arial" panose="020B0604020202020204"/>
              </a:rPr>
              <a:t>CTR-GCN  ·  OUR BASELINE</a:t>
            </a:r>
            <a:endParaRPr sz="10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78408" y="2889504"/>
            <a:ext cx="2980944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x = x.view(N, M, c_new, -1)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  <a:p>
            <a:pPr algn="l"/>
            <a:r>
              <a:rPr sz="950" b="1">
                <a:solidFill>
                  <a:srgbClr val="D71440"/>
                </a:solidFill>
                <a:latin typeface="Courier New" panose="02070309020205020404"/>
              </a:rPr>
              <a:t>x = x.mean(3).mean(1)</a:t>
            </a:r>
            <a:endParaRPr sz="950" b="1">
              <a:solidFill>
                <a:srgbClr val="D71440"/>
              </a:solidFill>
              <a:latin typeface="Courier New" panose="0207030902020502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return self.fc(x)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408" y="393192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E6478"/>
                </a:solidFill>
                <a:latin typeface="Arial" panose="020B0604020202020204"/>
              </a:rPr>
              <a:t>mean(3)  collapses time and joints.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E6478"/>
                </a:solidFill>
                <a:latin typeface="Arial" panose="020B0604020202020204"/>
              </a:rPr>
              <a:t>mean(1)  collapses M, the person axis.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Each person is encoded separately, then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the two feature vectors are averaged.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0243A"/>
                </a:solidFill>
                <a:latin typeface="Arial" panose="020B0604020202020204"/>
              </a:rPr>
              <a:t>The network never compares them.</a:t>
            </a:r>
            <a:endParaRPr sz="11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26280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71440"/>
                </a:solidFill>
                <a:latin typeface="Arial" panose="020B0604020202020204"/>
              </a:rPr>
              <a:t>SKELETONX  ·  RELATED WORK</a:t>
            </a:r>
            <a:endParaRPr sz="10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727448" y="2889504"/>
            <a:ext cx="2980944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>
                <a:solidFill>
                  <a:srgbClr val="D71440"/>
                </a:solidFill>
                <a:latin typeface="Courier New" panose="02070309020205020404"/>
              </a:rPr>
              <a:t>x = ST_DecoupleNet(x)</a:t>
            </a:r>
            <a:endParaRPr sz="950" b="1">
              <a:solidFill>
                <a:srgbClr val="D71440"/>
              </a:solidFill>
              <a:latin typeface="Courier New" panose="0207030902020502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  mean over T -&gt; F_s  "subject"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  mean over V -&gt; F_t  "action"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7448" y="393192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E6478"/>
                </a:solidFill>
                <a:latin typeface="Arial" panose="020B0604020202020204"/>
              </a:rPr>
              <a:t>The same step, replaced by a learnable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E6478"/>
                </a:solidFill>
                <a:latin typeface="Arial" panose="020B0604020202020204"/>
              </a:rPr>
              <a:t>pooling that splits the feature in two.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It separates who from what — but "who"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means which performer recorded the clip.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0243A"/>
                </a:solidFill>
                <a:latin typeface="Arial" panose="020B0604020202020204"/>
              </a:rPr>
              <a:t>Still one label per sample.</a:t>
            </a:r>
            <a:endParaRPr sz="11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83879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181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OUR QUESTION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5048" y="2926080"/>
            <a:ext cx="29809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 panose="020B0604020202020204"/>
              </a:rPr>
              <a:t>M is where instance identity lives.</a:t>
            </a:r>
            <a:endParaRPr sz="125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20204"/>
              </a:rPr>
              <a:t>Averaging over M is a symmetric</a:t>
            </a:r>
            <a:endParaRPr sz="1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20204"/>
              </a:rPr>
              <a:t>operation: swap the two people and</a:t>
            </a:r>
            <a:endParaRPr sz="1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20204"/>
              </a:rPr>
              <a:t>the pooled vector is unchanged.</a:t>
            </a:r>
            <a:endParaRPr sz="1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20204"/>
              </a:rPr>
              <a:t>So "A punches B" and "B punches A"</a:t>
            </a:r>
            <a:endParaRPr sz="1100" b="1">
              <a:solidFill>
                <a:srgbClr val="FFB3C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20204"/>
              </a:rPr>
              <a:t>cannot be told apart at this point,</a:t>
            </a:r>
            <a:endParaRPr sz="1100" b="1">
              <a:solidFill>
                <a:srgbClr val="FFB3C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20204"/>
              </a:rPr>
              <a:t>by construction.</a:t>
            </a:r>
            <a:endParaRPr sz="1100" b="1">
              <a:solidFill>
                <a:srgbClr val="FFB3C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20204"/>
              </a:rPr>
              <a:t>Next: measure how much identity even</a:t>
            </a:r>
            <a:endParaRPr sz="1100" b="0">
              <a:solidFill>
                <a:srgbClr val="C8C8C8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20204"/>
              </a:rPr>
              <a:t>survives preprocessing (ID switches),</a:t>
            </a:r>
            <a:endParaRPr sz="1100" b="0">
              <a:solidFill>
                <a:srgbClr val="C8C8C8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20204"/>
              </a:rPr>
              <a:t>then decide what to do at this step.</a:t>
            </a:r>
            <a:endParaRPr sz="1100" b="0">
              <a:solidFill>
                <a:srgbClr val="C8C8C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5286375" cy="2057400"/>
          </a:xfrm>
          <a:prstGeom prst="roundRect">
            <a:avLst>
              <a:gd name="adj" fmla="val 5556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48375" y="1428750"/>
            <a:ext cx="5572125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7144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" y="3714750"/>
            <a:ext cx="5286375" cy="2362200"/>
          </a:xfrm>
          <a:prstGeom prst="roundRect">
            <a:avLst>
              <a:gd name="adj" fmla="val 4839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048375" y="3714750"/>
            <a:ext cx="5572125" cy="2362200"/>
          </a:xfrm>
          <a:prstGeom prst="roundRect">
            <a:avLst>
              <a:gd name="adj" fmla="val 4839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14350" y="1428750"/>
            <a:ext cx="95250" cy="20574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48375" y="3714750"/>
            <a:ext cx="95250" cy="23622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4766" y="1639252"/>
            <a:ext cx="1131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 / BLOCKER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28791" y="1639252"/>
            <a:ext cx="30921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IMPACT ON SCOPE, EVIDENCE, OR TIMELINE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766" y="3925252"/>
            <a:ext cx="2496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MITIGATION / OWNER / CHECK DATE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28791" y="3925252"/>
            <a:ext cx="21512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OR SUPPORT NEEDED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1396" y="543878"/>
            <a:ext cx="296912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Risks &amp; Decisions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2099" y="2077879"/>
            <a:ext cx="3269742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{{RISKS}}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Describe the failure mode, trigger, and evidence.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26124" y="2077879"/>
            <a:ext cx="3843147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{{IMPACT}}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Quantify delay, compute cost, metric risk, or lost scope.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2099" y="4363879"/>
            <a:ext cx="2456307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{{MITIGATION}}</a:t>
            </a:r>
            <a:endParaRPr lang="en-US" sz="1580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Owner: … | Check date: … | Fallback: …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26124" y="4363879"/>
            <a:ext cx="3423095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{{DECISION_NEEDED}}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the choice, approver, and latest useful date.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1009650" y="2238375"/>
            <a:ext cx="9525" cy="3076575"/>
          </a:xfrm>
          <a:custGeom>
            <a:avLst/>
            <a:gdLst/>
            <a:ahLst/>
            <a:cxnLst/>
            <a:rect l="l" t="t" r="r" b="b"/>
            <a:pathLst>
              <a:path w="952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/>
          <a:ln w="47625">
            <a:solidFill>
              <a:srgbClr val="C8C8C8"/>
            </a:solidFill>
          </a:ln>
        </p:spPr>
      </p:sp>
      <p:sp>
        <p:nvSpPr>
          <p:cNvPr id="8" name="Ellipse 8"/>
          <p:cNvSpPr/>
          <p:nvPr/>
        </p:nvSpPr>
        <p:spPr>
          <a:xfrm>
            <a:off x="819150" y="2047875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19150" y="3590925"/>
            <a:ext cx="381000" cy="38100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819150" y="5124450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466850" y="161925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466850" y="316230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466850" y="4695825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420100" y="1619250"/>
            <a:ext cx="3200400" cy="4314825"/>
          </a:xfrm>
          <a:prstGeom prst="roundRect">
            <a:avLst>
              <a:gd name="adj" fmla="val 3571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50315" y="21593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0315" y="37023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50315" y="52358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47647" y="1809274"/>
            <a:ext cx="151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1 · BUILD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47647" y="3352324"/>
            <a:ext cx="17589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2 · VALIDATE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47647" y="4885849"/>
            <a:ext cx="1854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3 · DOCUMENT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700516" y="1896428"/>
            <a:ext cx="25981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 · DUE DATE · SUCCESS CHECK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01396" y="543878"/>
            <a:ext cx="433535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Next-Week Commitments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44599" y="2173129"/>
            <a:ext cx="2916365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{{NEXT_ACTION_1}}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code, dataset, or runnable module.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44599" y="3716179"/>
            <a:ext cx="3336417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{{NEXT_ACTION_2}}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metric table, control, or ablation result.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44599" y="5249704"/>
            <a:ext cx="3369755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{{NEXT_ACTION_3}}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updated figure, notes, or report section.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97849" y="2382679"/>
            <a:ext cx="2474087" cy="14415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{{OWNER_AND_DEADLINE}}</a:t>
            </a:r>
            <a:endParaRPr lang="en-US" sz="15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025"/>
              </a:lnSpc>
              <a:spcBef>
                <a:spcPts val="825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Owner: …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Due: …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Success check: observable output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agreed metric threshold.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01396" y="543878"/>
            <a:ext cx="221306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 Canvas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815197" y="1647349"/>
            <a:ext cx="12905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IMAGE DESCRIPTION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1396" y="543878"/>
            <a:ext cx="334077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Single-Image Story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rcRect l="4974" r="4973"/>
          <a:stretch>
            <a:fillRect/>
          </a:stretch>
        </p:blipFill>
        <p:spPr>
          <a:xfrm>
            <a:off x="552450" y="1343025"/>
            <a:ext cx="7734300" cy="469582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812149" y="2173129"/>
            <a:ext cx="2298954" cy="2146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{{IMAGE_DESCRIPTION}}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does the image show?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375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is it relevant this week?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375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should the audience notice?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1050"/>
              </a:spcBef>
            </a:pPr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TIP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one annotated result, system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overview, qualitative example,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implementation photograph.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16388" y="713899"/>
            <a:ext cx="1056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2–4 IMAGES</a:t>
            </a:r>
            <a:endParaRPr lang="en-US" sz="980" b="1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14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229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229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4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14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29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229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01396" y="543878"/>
            <a:ext cx="321550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Multi-Image Story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2"/>
          <a:srcRect t="19517" b="19517"/>
          <a:stretch>
            <a:fillRect/>
          </a:stretch>
        </p:blipFill>
        <p:spPr>
          <a:xfrm>
            <a:off x="552450" y="1343025"/>
            <a:ext cx="5314950" cy="1771650"/>
          </a:xfrm>
          <a:prstGeom prst="rect">
            <a:avLst/>
          </a:prstGeom>
        </p:spPr>
      </p:pic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rcRect t="14228" b="14227"/>
          <a:stretch>
            <a:fillRect/>
          </a:stretch>
        </p:blipFill>
        <p:spPr>
          <a:xfrm>
            <a:off x="6267450" y="1343025"/>
            <a:ext cx="5314950" cy="1771650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rcRect t="25000" b="25000"/>
          <a:stretch>
            <a:fillRect/>
          </a:stretch>
        </p:blipFill>
        <p:spPr>
          <a:xfrm>
            <a:off x="552450" y="3724275"/>
            <a:ext cx="5314950" cy="1771650"/>
          </a:xfrm>
          <a:prstGeom prst="rect">
            <a:avLst/>
          </a:prstGeom>
        </p:spPr>
      </p:pic>
      <p:pic>
        <p:nvPicPr>
          <p:cNvPr id="20" name="Image 20"/>
          <p:cNvPicPr>
            <a:picLocks noChangeAspect="1"/>
          </p:cNvPicPr>
          <p:nvPr/>
        </p:nvPicPr>
        <p:blipFill>
          <a:blip r:embed="rId5"/>
          <a:srcRect t="28986" b="28987"/>
          <a:stretch>
            <a:fillRect/>
          </a:stretch>
        </p:blipFill>
        <p:spPr>
          <a:xfrm>
            <a:off x="6267450" y="3724275"/>
            <a:ext cx="5314950" cy="177165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80085" y="326945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{{CAPTION_1}}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95085" y="326945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{{CAPTION_2}}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80085" y="565070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{{CAPTION_3}}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95085" y="565070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{{CAPTION_4}}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0"/>
            <a:ext cx="12020550" cy="657225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171450" y="0"/>
            <a:ext cx="12020550" cy="657225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620250" y="171450"/>
            <a:ext cx="2266950" cy="838200"/>
          </a:xfrm>
          <a:prstGeom prst="roundRect">
            <a:avLst>
              <a:gd name="adj" fmla="val 6818"/>
            </a:avLst>
          </a:prstGeom>
          <a:solidFill>
            <a:srgbClr val="FFFFFF">
              <a:alpha val="94000"/>
            </a:srgbClr>
          </a:solidFill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435" y="247650"/>
            <a:ext cx="1910579" cy="685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822500" y="2404110"/>
            <a:ext cx="27184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419725" y="3524250"/>
            <a:ext cx="1524000" cy="5715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798329" y="2858452"/>
            <a:ext cx="2766791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</a:t>
            </a:r>
            <a:endParaRPr lang="en-US" sz="4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OWMxYzMwYjExMzFiOTI0NTgyNDM4YzE5NDkxZGE0MTIifQ=="/>
</p:tagLst>
</file>

<file path=ppt/theme/theme1.xml><?xml version="1.0" encoding="utf-8"?>
<a:theme xmlns:a="http://schemas.openxmlformats.org/drawingml/2006/main" name="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6733</Words>
  <Application>WPS 演示</Application>
  <PresentationFormat>On-screen Show (16:9)</PresentationFormat>
  <Paragraphs>362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Courier New</vt:lpstr>
      <vt:lpstr>微软雅黑</vt:lpstr>
      <vt:lpstr>Arial Unicode MS</vt:lpstr>
      <vt:lpstr>Calibri</vt:lpstr>
      <vt:lpstr>weekly_five_minute_research_update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Zhy</cp:lastModifiedBy>
  <cp:revision>4</cp:revision>
  <dcterms:created xsi:type="dcterms:W3CDTF">2026-09-07T03:43:00Z</dcterms:created>
  <dcterms:modified xsi:type="dcterms:W3CDTF">2026-09-07T05:11:54Z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1BA410CFC35E492C8BAF34FC73F898C7_13</vt:lpwstr>
  </property>
  <property fmtid="{D5CDD505-2E9C-101B-9397-08002B2CF9AE}" pid="3" name="KSOProductBuildVer">
    <vt:lpwstr>2052-12.1.0.16120</vt:lpwstr>
  </property>
</Properties>
</file>