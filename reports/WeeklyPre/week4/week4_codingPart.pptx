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  <p:sldMasterId id="2147483650" r:id="rId2"/>
    <p:sldMasterId id="2147483652" r:id="rId3"/>
  </p:sldMasterIdLst>
  <p:notesMasterIdLst>
    <p:notesMasterId r:id="rId19"/>
  </p:notesMasterIdLst>
  <p:sldIdLst>
    <p:sldId id="269" r:id="rId4"/>
    <p:sldId id="257" r:id="rId5"/>
    <p:sldId id="258" r:id="rId6"/>
    <p:sldId id="259" r:id="rId7"/>
    <p:sldId id="256" r:id="rId8"/>
    <p:sldId id="270" r:id="rId9"/>
    <p:sldId id="266" r:id="rId10"/>
    <p:sldId id="267" r:id="rId11"/>
    <p:sldId id="268" r:id="rId12"/>
    <p:sldId id="260" r:id="rId13"/>
    <p:sldId id="261" r:id="rId14"/>
    <p:sldId id="262" r:id="rId15"/>
    <p:sldId id="263" r:id="rId16"/>
    <p:sldId id="264" r:id="rId17"/>
    <p:sldId id="265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1" d="100"/>
          <a:sy n="121" d="100"/>
        </p:scale>
        <p:origin x="288" y="7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3" Type="http://schemas.openxmlformats.org/officeDocument/2006/relationships/slideMaster" Target="slideMasters/slideMaster3.xml"/><Relationship Id="rId21" Type="http://schemas.openxmlformats.org/officeDocument/2006/relationships/viewProps" Target="viewProps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tableStyles" Target="tableStyles.xml"/><Relationship Id="rId10" Type="http://schemas.openxmlformats.org/officeDocument/2006/relationships/slide" Target="slides/slide7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00EA052-84A9-4932-A04A-1E3FCF6916D9}" type="datetimeFigureOut">
              <a:rPr lang="zh-CN" altLang="en-US" smtClean="0"/>
              <a:t>2026/9/8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AFB7A1-7707-4C15-A810-B41F61ED78A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775708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This presentation introduces our Week 3 research framing and early technical findings. Our specific direction is instance-preserving pose representation for multi-person action recognition.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weekly_five_minute_research_update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weekly_five_minute_research_update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 wrap="square"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 wrap="square"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 wrap="square"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9111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762681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9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9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9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9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wrap="square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wrap="square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wrap="square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0503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128209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DA1744">
                  <a:alpha val="75000"/>
                  <a:lumMod val="85000"/>
                </a:srgbClr>
              </a:gs>
              <a:gs pos="10000">
                <a:schemeClr val="bg1">
                  <a:alpha val="0"/>
                </a:schemeClr>
              </a:gs>
              <a:gs pos="75000">
                <a:srgbClr val="84A1C8">
                  <a:alpha val="75000"/>
                </a:srgbClr>
              </a:gs>
              <a:gs pos="50000">
                <a:schemeClr val="bg1">
                  <a:alpha val="0"/>
                </a:schemeClr>
              </a:gs>
              <a:gs pos="100000">
                <a:srgbClr val="084391"/>
              </a:gs>
            </a:gsLst>
            <a:lin ang="108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713232" y="557784"/>
            <a:ext cx="64008" cy="438912"/>
          </a:xfrm>
          <a:prstGeom prst="rect">
            <a:avLst/>
          </a:prstGeom>
          <a:solidFill>
            <a:srgbClr val="DA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96112" y="577088"/>
            <a:ext cx="507492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>
                <a:ln>
                  <a:noFill/>
                </a:ln>
                <a:solidFill>
                  <a:srgbClr val="172262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EE6008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841248"/>
            <a:ext cx="3017520" cy="146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WEEKLY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874519"/>
            <a:ext cx="6172200" cy="1298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1" i="0" u="none" strike="noStrike" kern="1200" cap="none" spc="0" normalizeH="0" baseline="0" noProof="0">
                <a:ln>
                  <a:noFill/>
                </a:ln>
                <a:solidFill>
                  <a:srgbClr val="191D2C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Human Pose Analytics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1" i="0" u="none" strike="noStrike" kern="1200" cap="none" spc="0" normalizeH="0" baseline="0" noProof="0">
                <a:ln>
                  <a:noFill/>
                </a:ln>
                <a:solidFill>
                  <a:srgbClr val="191D2C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Using Artificial Intelligence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319272"/>
            <a:ext cx="585216" cy="50292"/>
          </a:xfrm>
          <a:prstGeom prst="rect">
            <a:avLst/>
          </a:prstGeom>
          <a:solidFill>
            <a:srgbClr val="DA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31520" y="3529584"/>
            <a:ext cx="5715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Instance-Preserving Pose Representation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727448"/>
            <a:ext cx="1170432" cy="448056"/>
          </a:xfrm>
          <a:prstGeom prst="rect">
            <a:avLst/>
          </a:prstGeom>
          <a:solidFill>
            <a:srgbClr val="172262">
              <a:alpha val="9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31520" y="4866837"/>
            <a:ext cx="1170432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WEEK 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4</a:t>
            </a:r>
            <a:endParaRPr kumimoji="0" sz="11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901952" y="4727448"/>
            <a:ext cx="2423160" cy="448056"/>
          </a:xfrm>
          <a:prstGeom prst="rect">
            <a:avLst/>
          </a:prstGeom>
          <a:solidFill>
            <a:srgbClr val="ECEEF3">
              <a:alpha val="9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901952" y="4843844"/>
            <a:ext cx="2423160" cy="2152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>
                <a:ln>
                  <a:noFill/>
                </a:ln>
                <a:solidFill>
                  <a:srgbClr val="5F6575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Group 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971032"/>
            <a:ext cx="3474720" cy="184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Week ending · 2026-09-0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8</a:t>
            </a:r>
            <a:endParaRPr kumimoji="0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17" name="Imag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33075" y="570230"/>
            <a:ext cx="1311910" cy="4724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3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EE6008 · HUMAN POSE ANALYTICS</a:t>
            </a:r>
          </a:p>
        </p:txBody>
      </p:sp>
      <p:sp>
        <p:nvSpPr>
          <p:cNvPr id="6" name="Rectangle 6"/>
          <p:cNvSpPr/>
          <p:nvPr/>
        </p:nvSpPr>
        <p:spPr>
          <a:xfrm>
            <a:off x="514350" y="1000125"/>
            <a:ext cx="1524000" cy="47625"/>
          </a:xfrm>
          <a:prstGeom prst="rect">
            <a:avLst/>
          </a:prstGeom>
          <a:solidFill>
            <a:srgbClr val="D71440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Rectangle 7"/>
          <p:cNvSpPr/>
          <p:nvPr/>
        </p:nvSpPr>
        <p:spPr>
          <a:xfrm>
            <a:off x="514350" y="1428750"/>
            <a:ext cx="7524750" cy="1381125"/>
          </a:xfrm>
          <a:prstGeom prst="roundRect">
            <a:avLst>
              <a:gd name="adj" fmla="val 8276"/>
            </a:avLst>
          </a:prstGeom>
          <a:solidFill>
            <a:srgbClr val="EEF1FA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Rectangle 8"/>
          <p:cNvSpPr/>
          <p:nvPr/>
        </p:nvSpPr>
        <p:spPr>
          <a:xfrm>
            <a:off x="8305800" y="1428750"/>
            <a:ext cx="3314700" cy="1381125"/>
          </a:xfrm>
          <a:prstGeom prst="roundRect">
            <a:avLst>
              <a:gd name="adj" fmla="val 8276"/>
            </a:avLst>
          </a:prstGeom>
          <a:solidFill>
            <a:srgbClr val="181C62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Rectangle 9"/>
          <p:cNvSpPr/>
          <p:nvPr/>
        </p:nvSpPr>
        <p:spPr>
          <a:xfrm>
            <a:off x="514350" y="3105150"/>
            <a:ext cx="11106150" cy="289560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9050">
            <a:solidFill>
              <a:srgbClr val="E6E6E6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Line 10"/>
          <p:cNvSpPr/>
          <p:nvPr/>
        </p:nvSpPr>
        <p:spPr>
          <a:xfrm>
            <a:off x="1181100" y="5143500"/>
            <a:ext cx="9772650" cy="9525"/>
          </a:xfrm>
          <a:custGeom>
            <a:avLst/>
            <a:gdLst/>
            <a:ahLst/>
            <a:cxnLst/>
            <a:rect l="l" t="t" r="r" b="b"/>
            <a:pathLst>
              <a:path w="9772650" h="9525">
                <a:moveTo>
                  <a:pt x="0" y="0"/>
                </a:moveTo>
                <a:lnTo>
                  <a:pt x="9772650" y="0"/>
                </a:lnTo>
              </a:path>
            </a:pathLst>
          </a:custGeom>
          <a:noFill/>
          <a:ln w="38100">
            <a:solidFill>
              <a:srgbClr val="C8C8C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Ellipse 11"/>
          <p:cNvSpPr/>
          <p:nvPr/>
        </p:nvSpPr>
        <p:spPr>
          <a:xfrm>
            <a:off x="1076325" y="5038725"/>
            <a:ext cx="209550" cy="209550"/>
          </a:xfrm>
          <a:prstGeom prst="ellipse">
            <a:avLst/>
          </a:prstGeom>
          <a:solidFill>
            <a:srgbClr val="181C62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Ellipse 12"/>
          <p:cNvSpPr/>
          <p:nvPr/>
        </p:nvSpPr>
        <p:spPr>
          <a:xfrm>
            <a:off x="3028950" y="5038725"/>
            <a:ext cx="209550" cy="209550"/>
          </a:xfrm>
          <a:prstGeom prst="ellipse">
            <a:avLst/>
          </a:prstGeom>
          <a:solidFill>
            <a:srgbClr val="181C62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Ellipse 13"/>
          <p:cNvSpPr/>
          <p:nvPr/>
        </p:nvSpPr>
        <p:spPr>
          <a:xfrm>
            <a:off x="4953000" y="5010150"/>
            <a:ext cx="266700" cy="266700"/>
          </a:xfrm>
          <a:prstGeom prst="ellipse">
            <a:avLst/>
          </a:prstGeom>
          <a:solidFill>
            <a:srgbClr val="D71440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Ellipse 14"/>
          <p:cNvSpPr/>
          <p:nvPr/>
        </p:nvSpPr>
        <p:spPr>
          <a:xfrm>
            <a:off x="6934200" y="5038725"/>
            <a:ext cx="209550" cy="209550"/>
          </a:xfrm>
          <a:prstGeom prst="ellipse">
            <a:avLst/>
          </a:prstGeom>
          <a:solidFill>
            <a:srgbClr val="E6E6E6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Ellipse 15"/>
          <p:cNvSpPr/>
          <p:nvPr/>
        </p:nvSpPr>
        <p:spPr>
          <a:xfrm>
            <a:off x="8886825" y="5038725"/>
            <a:ext cx="209550" cy="209550"/>
          </a:xfrm>
          <a:prstGeom prst="ellipse">
            <a:avLst/>
          </a:prstGeom>
          <a:solidFill>
            <a:srgbClr val="E6E6E6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Ellipse 16"/>
          <p:cNvSpPr/>
          <p:nvPr/>
        </p:nvSpPr>
        <p:spPr>
          <a:xfrm>
            <a:off x="10848975" y="5038725"/>
            <a:ext cx="209550" cy="209550"/>
          </a:xfrm>
          <a:prstGeom prst="ellipse">
            <a:avLst/>
          </a:prstGeom>
          <a:solidFill>
            <a:srgbClr val="E6E6E6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TextBox 17"/>
          <p:cNvSpPr txBox="1"/>
          <p:nvPr/>
        </p:nvSpPr>
        <p:spPr>
          <a:xfrm>
            <a:off x="776097" y="1590199"/>
            <a:ext cx="1239372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D7144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WEEKLY TAKEAWAY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398351" y="1590199"/>
            <a:ext cx="1129598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80" b="1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PROJECT STATUS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794766" y="3296602"/>
            <a:ext cx="4534913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b="1" dirty="0">
                <a:solidFill>
                  <a:srgbClr val="181C62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CURRENT MILESTONE · EVIDENCE · BLOCKER · NEXT CHECKPOINT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922902" y="5408295"/>
            <a:ext cx="516397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Kick-off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2993803" y="5408295"/>
            <a:ext cx="27984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Data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4796752" y="5408295"/>
            <a:ext cx="57919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b="1" dirty="0">
                <a:solidFill>
                  <a:srgbClr val="D7144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Baselines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762007" y="5408295"/>
            <a:ext cx="55393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IP Module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8621493" y="5408295"/>
            <a:ext cx="74021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Experiments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0590953" y="5408295"/>
            <a:ext cx="72559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Final Report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501396" y="543878"/>
            <a:ext cx="5018619" cy="498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550" b="1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Weekly Snapshot &amp; Milestone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771906" y="1939290"/>
            <a:ext cx="4298823" cy="6187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800" b="1" dirty="0">
                <a:solidFill>
                  <a:srgbClr val="181C62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{{KEY_MESSAGE}}</a:t>
            </a:r>
          </a:p>
          <a:p>
            <a:pPr algn="l">
              <a:lnSpc>
                <a:spcPts val="2100"/>
              </a:lnSpc>
            </a:pP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State the one result or decision the supervisor should remember.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9079294" y="1893094"/>
            <a:ext cx="1767713" cy="62388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lnSpc>
                <a:spcPts val="2025"/>
              </a:lnSpc>
            </a:pPr>
            <a:r>
              <a:rPr lang="en-US" sz="1880" b="1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{{STATUS}}</a:t>
            </a:r>
          </a:p>
          <a:p>
            <a:pPr algn="ctr">
              <a:lnSpc>
                <a:spcPts val="2025"/>
              </a:lnSpc>
            </a:pPr>
            <a:r>
              <a:rPr lang="en-US" sz="980" dirty="0">
                <a:solidFill>
                  <a:srgbClr val="C8C8C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ON TRACK · AT RISK · BLOCKED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792099" y="3792379"/>
            <a:ext cx="4404106" cy="59378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580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{{MILESTONE}}</a:t>
            </a:r>
          </a:p>
          <a:p>
            <a:pPr algn="l">
              <a:lnSpc>
                <a:spcPts val="2250"/>
              </a:lnSpc>
            </a:pPr>
            <a: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Evidence completed: … | Current blocker: … | Next checkpoint: …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4218546" y="6665595"/>
            <a:ext cx="73921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{{SOURCE}}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1085233" y="6665595"/>
            <a:ext cx="88003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{{PAGE_NUM}}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3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EE6008 · HUMAN POSE ANALYTICS</a:t>
            </a:r>
          </a:p>
        </p:txBody>
      </p:sp>
      <p:sp>
        <p:nvSpPr>
          <p:cNvPr id="6" name="Rectangle 6"/>
          <p:cNvSpPr/>
          <p:nvPr/>
        </p:nvSpPr>
        <p:spPr>
          <a:xfrm>
            <a:off x="514350" y="1000125"/>
            <a:ext cx="1524000" cy="47625"/>
          </a:xfrm>
          <a:prstGeom prst="rect">
            <a:avLst/>
          </a:prstGeom>
          <a:solidFill>
            <a:srgbClr val="D71440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Rectangle 7"/>
          <p:cNvSpPr/>
          <p:nvPr/>
        </p:nvSpPr>
        <p:spPr>
          <a:xfrm>
            <a:off x="514350" y="1428750"/>
            <a:ext cx="3143250" cy="4648200"/>
          </a:xfrm>
          <a:prstGeom prst="roundRect">
            <a:avLst>
              <a:gd name="adj" fmla="val 3636"/>
            </a:avLst>
          </a:prstGeom>
          <a:solidFill>
            <a:srgbClr val="EEF1FA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Rectangle 8"/>
          <p:cNvSpPr/>
          <p:nvPr/>
        </p:nvSpPr>
        <p:spPr>
          <a:xfrm>
            <a:off x="3905250" y="1428750"/>
            <a:ext cx="4762500" cy="4648200"/>
          </a:xfrm>
          <a:prstGeom prst="roundRect">
            <a:avLst>
              <a:gd name="adj" fmla="val 2459"/>
            </a:avLst>
          </a:prstGeom>
          <a:solidFill>
            <a:srgbClr val="FFFFFF"/>
          </a:solidFill>
          <a:ln w="19050">
            <a:solidFill>
              <a:srgbClr val="C8C8C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Rectangle 9"/>
          <p:cNvSpPr/>
          <p:nvPr/>
        </p:nvSpPr>
        <p:spPr>
          <a:xfrm>
            <a:off x="8915400" y="1428750"/>
            <a:ext cx="2705100" cy="4648200"/>
          </a:xfrm>
          <a:prstGeom prst="roundRect">
            <a:avLst>
              <a:gd name="adj" fmla="val 4225"/>
            </a:avLst>
          </a:prstGeom>
          <a:solidFill>
            <a:srgbClr val="181C62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Rectangle 10"/>
          <p:cNvSpPr/>
          <p:nvPr/>
        </p:nvSpPr>
        <p:spPr>
          <a:xfrm>
            <a:off x="8915400" y="1428750"/>
            <a:ext cx="2705100" cy="114300"/>
          </a:xfrm>
          <a:prstGeom prst="rect">
            <a:avLst/>
          </a:prstGeom>
          <a:solidFill>
            <a:srgbClr val="D71440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extBox 11"/>
          <p:cNvSpPr txBox="1"/>
          <p:nvPr/>
        </p:nvSpPr>
        <p:spPr>
          <a:xfrm>
            <a:off x="757047" y="1675924"/>
            <a:ext cx="690503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D7144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THIS WEEK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166997" y="1675924"/>
            <a:ext cx="3639757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181C62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PIPELINE / ARCHITECTURE / IMPLEMENTATION EVIDENCE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158097" y="1704499"/>
            <a:ext cx="1415010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TECHNICAL TAKEAWAY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01396" y="543878"/>
            <a:ext cx="3345943" cy="498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550" b="1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Technical Progress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53999" y="2154079"/>
            <a:ext cx="3356420" cy="8509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875"/>
              </a:lnSpc>
            </a:pPr>
            <a:r>
              <a:rPr lang="en-US" sz="1580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{{TECHNICAL_PROGRESS}}</a:t>
            </a:r>
          </a:p>
          <a:p>
            <a:pPr algn="l">
              <a:lnSpc>
                <a:spcPts val="1875"/>
              </a:lnSpc>
              <a:spcBef>
                <a:spcPts val="525"/>
              </a:spcBef>
            </a:pP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Completed · In progress · Blocked</a:t>
            </a:r>
            <a:b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Include the concrete output, not only the activity.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164711" y="2170271"/>
            <a:ext cx="3568256" cy="7740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650"/>
              </a:lnSpc>
            </a:pPr>
            <a:r>
              <a:rPr lang="en-US" sz="14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{{CONTENT_AREA}}</a:t>
            </a:r>
          </a:p>
          <a:p>
            <a:pPr algn="l">
              <a:lnSpc>
                <a:spcPts val="1650"/>
              </a:lnSpc>
              <a:spcBef>
                <a:spcPts val="600"/>
              </a:spcBef>
            </a:pP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Recommended: module diagram, interface contract,</a:t>
            </a:r>
            <a:b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training pipeline, code evidence, or data-flow change.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155049" y="2173129"/>
            <a:ext cx="1943354" cy="10700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650"/>
              </a:lnSpc>
            </a:pPr>
            <a:r>
              <a:rPr lang="en-US" sz="1580" b="1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{{KEY_FINDING}}</a:t>
            </a:r>
          </a:p>
          <a:p>
            <a:pPr algn="l">
              <a:lnSpc>
                <a:spcPts val="1650"/>
              </a:lnSpc>
              <a:spcBef>
                <a:spcPts val="900"/>
              </a:spcBef>
            </a:pPr>
            <a:r>
              <a:rPr lang="en-US" sz="1050" dirty="0">
                <a:solidFill>
                  <a:srgbClr val="C8C8C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Why it matters:</a:t>
            </a:r>
          </a:p>
          <a:p>
            <a:pPr algn="l">
              <a:lnSpc>
                <a:spcPts val="1650"/>
              </a:lnSpc>
              <a:spcBef>
                <a:spcPts val="150"/>
              </a:spcBef>
            </a:pPr>
            <a:r>
              <a:rPr lang="en-US" sz="112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What changed in the design,</a:t>
            </a:r>
            <a:br>
              <a:rPr lang="en-US" sz="112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12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evidence, or next decision?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4218546" y="6665595"/>
            <a:ext cx="73921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{{SOURCE}}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085233" y="6665595"/>
            <a:ext cx="88003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{{PAGE_NUM}}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3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EE6008 · HUMAN POSE ANALYTICS</a:t>
            </a:r>
          </a:p>
        </p:txBody>
      </p:sp>
      <p:sp>
        <p:nvSpPr>
          <p:cNvPr id="6" name="Rectangle 6"/>
          <p:cNvSpPr/>
          <p:nvPr/>
        </p:nvSpPr>
        <p:spPr>
          <a:xfrm>
            <a:off x="514350" y="1000125"/>
            <a:ext cx="1524000" cy="47625"/>
          </a:xfrm>
          <a:prstGeom prst="rect">
            <a:avLst/>
          </a:prstGeom>
          <a:solidFill>
            <a:srgbClr val="D71440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Rectangle 7"/>
          <p:cNvSpPr/>
          <p:nvPr/>
        </p:nvSpPr>
        <p:spPr>
          <a:xfrm>
            <a:off x="514350" y="1304925"/>
            <a:ext cx="11106150" cy="704850"/>
          </a:xfrm>
          <a:prstGeom prst="roundRect">
            <a:avLst>
              <a:gd name="adj" fmla="val 13514"/>
            </a:avLst>
          </a:prstGeom>
          <a:solidFill>
            <a:srgbClr val="FCE9EE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Rectangle 8"/>
          <p:cNvSpPr/>
          <p:nvPr/>
        </p:nvSpPr>
        <p:spPr>
          <a:xfrm>
            <a:off x="514350" y="2238375"/>
            <a:ext cx="7467600" cy="3838575"/>
          </a:xfrm>
          <a:prstGeom prst="roundRect">
            <a:avLst>
              <a:gd name="adj" fmla="val 2978"/>
            </a:avLst>
          </a:prstGeom>
          <a:solidFill>
            <a:srgbClr val="FFFFFF"/>
          </a:solidFill>
          <a:ln w="19050">
            <a:solidFill>
              <a:srgbClr val="C8C8C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Rectangle 9"/>
          <p:cNvSpPr/>
          <p:nvPr/>
        </p:nvSpPr>
        <p:spPr>
          <a:xfrm>
            <a:off x="8229600" y="2238375"/>
            <a:ext cx="3390900" cy="3838575"/>
          </a:xfrm>
          <a:prstGeom prst="roundRect">
            <a:avLst>
              <a:gd name="adj" fmla="val 3371"/>
            </a:avLst>
          </a:prstGeom>
          <a:solidFill>
            <a:srgbClr val="EEF1FA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Rectangle 10"/>
          <p:cNvSpPr/>
          <p:nvPr/>
        </p:nvSpPr>
        <p:spPr>
          <a:xfrm>
            <a:off x="8229600" y="2238375"/>
            <a:ext cx="3390900" cy="457200"/>
          </a:xfrm>
          <a:prstGeom prst="rect">
            <a:avLst/>
          </a:prstGeom>
          <a:solidFill>
            <a:srgbClr val="181C62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extBox 11"/>
          <p:cNvSpPr txBox="1"/>
          <p:nvPr/>
        </p:nvSpPr>
        <p:spPr>
          <a:xfrm>
            <a:off x="738188" y="1407795"/>
            <a:ext cx="1078139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00" b="1" dirty="0">
                <a:solidFill>
                  <a:srgbClr val="D7144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ONE-LINE RESULT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757047" y="2466499"/>
            <a:ext cx="2827431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181C62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EVIDENCE · BASELINE · CONTROL · METRIC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471916" y="2429828"/>
            <a:ext cx="928063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b="1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KEY FINDINGS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01396" y="543878"/>
            <a:ext cx="3922625" cy="498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550" b="1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Experimental Evidence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34949" y="1639729"/>
            <a:ext cx="2010001" cy="30803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580" b="1" dirty="0">
                <a:solidFill>
                  <a:srgbClr val="D7144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{{KEY_MESSAGE}}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754761" y="2894171"/>
            <a:ext cx="4555046" cy="78352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725"/>
              </a:lnSpc>
            </a:pPr>
            <a:r>
              <a:rPr lang="en-US" sz="14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{{CONTENT_AREA}}</a:t>
            </a:r>
          </a:p>
          <a:p>
            <a:pPr algn="l">
              <a:lnSpc>
                <a:spcPts val="1725"/>
              </a:lnSpc>
              <a:spcBef>
                <a:spcPts val="525"/>
              </a:spcBef>
            </a:pP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Insert one chart, table, confusion matrix, or controlled comparison.</a:t>
            </a:r>
            <a:b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Label the baseline, evaluation split, metric, and uncertainty.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469630" y="3076575"/>
            <a:ext cx="2376424" cy="11125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950"/>
              </a:lnSpc>
            </a:pPr>
            <a:r>
              <a:rPr lang="en-US" sz="1500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{{FINDINGS}}</a:t>
            </a:r>
          </a:p>
          <a:p>
            <a:pPr algn="l">
              <a:lnSpc>
                <a:spcPts val="1950"/>
              </a:lnSpc>
              <a:spcBef>
                <a:spcPts val="600"/>
              </a:spcBef>
            </a:pPr>
            <a: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1 · What changed versus baseline?</a:t>
            </a:r>
            <a:b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2 · Which class or case still fails?</a:t>
            </a:r>
            <a:b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3 · What experiment comes next?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4218546" y="6665595"/>
            <a:ext cx="73921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{{SOURCE}}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085233" y="6665595"/>
            <a:ext cx="88003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{{PAGE_NUM}}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矩形 69">
            <a:extLst>
              <a:ext uri="{FF2B5EF4-FFF2-40B4-BE49-F238E27FC236}">
                <a16:creationId xmlns:a16="http://schemas.microsoft.com/office/drawing/2014/main" id="{719849D4-78D2-459C-A089-5D6057ED89A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E31346"/>
          </a:solidFill>
          <a:ln w="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E1E77FB-A0D3-4656-BAE2-A45297B94125}"/>
              </a:ext>
            </a:extLst>
          </p:cNvPr>
          <p:cNvSpPr>
            <a:spLocks noGrp="1"/>
          </p:cNvSpPr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 w="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8B010D2-F0C4-4C6B-8646-60BC832F3434}"/>
              </a:ext>
            </a:extLst>
          </p:cNvPr>
          <p:cNvSpPr>
            <a:spLocks noGrp="1"/>
          </p:cNvSpPr>
          <p:nvPr/>
        </p:nvSpPr>
        <p:spPr>
          <a:xfrm>
            <a:off x="419757" y="366713"/>
            <a:ext cx="88582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02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550" b="1">
                <a:solidFill>
                  <a:srgbClr val="181C62"/>
                </a:solidFill>
                <a:latin typeface="Microsoft YaHei"/>
                <a:ea typeface="Microsoft YaHei"/>
                <a:cs typeface="Microsoft YaHei"/>
              </a:defRPr>
            </a:pPr>
            <a:r>
              <a:rPr kumimoji="0" lang="en-US" sz="2550" b="1" i="0" u="none" strike="noStrike" kern="1200" cap="none" spc="0" normalizeH="0" baseline="0" noProof="0" dirty="0">
                <a:ln>
                  <a:noFill/>
                </a:ln>
                <a:solidFill>
                  <a:srgbClr val="181C62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CTR-GCN </a:t>
            </a:r>
            <a:r>
              <a:rPr kumimoji="0" sz="2550" b="1" i="0" u="none" strike="noStrike" kern="1200" cap="none" spc="0" normalizeH="0" baseline="0" noProof="0" dirty="0">
                <a:ln>
                  <a:noFill/>
                </a:ln>
                <a:solidFill>
                  <a:srgbClr val="181C62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compatible NTU </a:t>
            </a:r>
            <a:r>
              <a:rPr kumimoji="0" lang="en-US" sz="2550" b="1" i="0" u="none" strike="noStrike" kern="1200" cap="none" spc="0" normalizeH="0" baseline="0" noProof="0" dirty="0">
                <a:ln>
                  <a:noFill/>
                </a:ln>
                <a:solidFill>
                  <a:srgbClr val="181C62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D</a:t>
            </a:r>
            <a:r>
              <a:rPr kumimoji="0" lang="en-US" altLang="zh-CN" sz="2550" b="1" i="0" u="none" strike="noStrike" kern="1200" cap="none" spc="0" normalizeH="0" baseline="0" noProof="0" dirty="0">
                <a:ln>
                  <a:noFill/>
                </a:ln>
                <a:solidFill>
                  <a:srgbClr val="181C62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ata Preprocessing </a:t>
            </a:r>
            <a:endParaRPr kumimoji="0" sz="2550" b="1" i="0" u="none" strike="noStrike" kern="1200" cap="none" spc="0" normalizeH="0" baseline="0" noProof="0" dirty="0">
              <a:ln>
                <a:noFill/>
              </a:ln>
              <a:solidFill>
                <a:srgbClr val="181C62"/>
              </a:solidFill>
              <a:effectLst/>
              <a:uLnTx/>
              <a:uFillTx/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A43FF53-5723-4344-B432-ACADE2BD1DF1}"/>
              </a:ext>
            </a:extLst>
          </p:cNvPr>
          <p:cNvSpPr>
            <a:spLocks noGrp="1"/>
          </p:cNvSpPr>
          <p:nvPr/>
        </p:nvSpPr>
        <p:spPr>
          <a:xfrm>
            <a:off x="514350" y="1000125"/>
            <a:ext cx="1524000" cy="47625"/>
          </a:xfrm>
          <a:prstGeom prst="rect">
            <a:avLst/>
          </a:prstGeom>
          <a:solidFill>
            <a:srgbClr val="E31346"/>
          </a:solidFill>
          <a:ln w="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pic>
        <p:nvPicPr>
          <p:cNvPr id="75" name="图片 7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810750" y="229601"/>
            <a:ext cx="1905000" cy="683797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BDD30598-D0CE-43E9-AEB3-E34CA5F98974}"/>
              </a:ext>
            </a:extLst>
          </p:cNvPr>
          <p:cNvSpPr>
            <a:spLocks noGrp="1"/>
          </p:cNvSpPr>
          <p:nvPr/>
        </p:nvSpPr>
        <p:spPr>
          <a:xfrm>
            <a:off x="514350" y="6591300"/>
            <a:ext cx="32385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kumimoji="0" sz="825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EE6008 · HUMAN POSE ANALYTICS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8E4A64F4-EC36-4F19-8349-E654E520AE75}"/>
              </a:ext>
            </a:extLst>
          </p:cNvPr>
          <p:cNvSpPr>
            <a:spLocks noGrp="1"/>
          </p:cNvSpPr>
          <p:nvPr/>
        </p:nvSpPr>
        <p:spPr>
          <a:xfrm>
            <a:off x="514350" y="1238250"/>
            <a:ext cx="11106150" cy="514350"/>
          </a:xfrm>
          <a:prstGeom prst="roundRect">
            <a:avLst>
              <a:gd name="adj" fmla="val 14815"/>
            </a:avLst>
          </a:prstGeom>
          <a:solidFill>
            <a:srgbClr val="FBE8EF"/>
          </a:solidFill>
          <a:ln w="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2CE17A9-3B9E-4D11-B883-3EC3DC4F7870}"/>
              </a:ext>
            </a:extLst>
          </p:cNvPr>
          <p:cNvSpPr>
            <a:spLocks noGrp="1"/>
          </p:cNvSpPr>
          <p:nvPr/>
        </p:nvSpPr>
        <p:spPr>
          <a:xfrm>
            <a:off x="723900" y="1314450"/>
            <a:ext cx="106870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500" b="1">
                <a:solidFill>
                  <a:srgbClr val="181C62"/>
                </a:solidFill>
                <a:latin typeface="Microsoft YaHei"/>
                <a:ea typeface="Microsoft YaHei"/>
                <a:cs typeface="Microsoft YaHei"/>
              </a:defRPr>
            </a:pPr>
            <a:r>
              <a:rPr kumimoji="0" lang="zh-CN" altLang="zh-CN" sz="1500" b="1" i="0" u="none" strike="noStrike" kern="1200" cap="none" spc="0" normalizeH="0" baseline="0" noProof="0" dirty="0">
                <a:ln>
                  <a:noFill/>
                </a:ln>
                <a:solidFill>
                  <a:srgbClr val="181C62"/>
                </a:solidFill>
                <a:effectLst/>
                <a:uLnTx/>
                <a:uFillTx/>
                <a:latin typeface="Microsoft YaHei"/>
                <a:ea typeface="Microsoft YaHei"/>
              </a:rPr>
              <a:t>From Raw Kinect Skeleton Data to Trainable NPZ Files</a:t>
            </a:r>
            <a:endParaRPr kumimoji="0" sz="1500" b="1" i="0" u="none" strike="noStrike" kern="1200" cap="none" spc="0" normalizeH="0" baseline="0" noProof="0" dirty="0">
              <a:ln>
                <a:noFill/>
              </a:ln>
              <a:solidFill>
                <a:srgbClr val="181C62"/>
              </a:solidFill>
              <a:effectLst/>
              <a:uLnTx/>
              <a:uFillTx/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BFE4D143-AF97-4B3C-A542-C4224C5F5F6D}"/>
              </a:ext>
            </a:extLst>
          </p:cNvPr>
          <p:cNvSpPr>
            <a:spLocks noGrp="1"/>
          </p:cNvSpPr>
          <p:nvPr/>
        </p:nvSpPr>
        <p:spPr>
          <a:xfrm>
            <a:off x="1457325" y="2057400"/>
            <a:ext cx="1657350" cy="19812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9DDE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 Light"/>
              <a:cs typeface="Calibri Light"/>
            </a:endParaRPr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BC724B5C-6E26-4A7B-946C-2C38057FC0B5}"/>
              </a:ext>
            </a:extLst>
          </p:cNvPr>
          <p:cNvSpPr>
            <a:spLocks noGrp="1"/>
          </p:cNvSpPr>
          <p:nvPr/>
        </p:nvSpPr>
        <p:spPr>
          <a:xfrm>
            <a:off x="1628775" y="2228850"/>
            <a:ext cx="419100" cy="419100"/>
          </a:xfrm>
          <a:prstGeom prst="ellipse">
            <a:avLst/>
          </a:prstGeom>
          <a:solidFill>
            <a:srgbClr val="E31346"/>
          </a:solidFill>
          <a:ln w="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7F5B113-BEA6-4CF6-8F9A-1B1FAA1F7B36}"/>
              </a:ext>
            </a:extLst>
          </p:cNvPr>
          <p:cNvSpPr>
            <a:spLocks noGrp="1"/>
          </p:cNvSpPr>
          <p:nvPr/>
        </p:nvSpPr>
        <p:spPr>
          <a:xfrm>
            <a:off x="1628775" y="2228850"/>
            <a:ext cx="419100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053F31B-0141-43EE-A496-9FAD286803C4}"/>
              </a:ext>
            </a:extLst>
          </p:cNvPr>
          <p:cNvSpPr>
            <a:spLocks noGrp="1"/>
          </p:cNvSpPr>
          <p:nvPr/>
        </p:nvSpPr>
        <p:spPr>
          <a:xfrm>
            <a:off x="1455256" y="2822750"/>
            <a:ext cx="1890088" cy="4476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500" b="1">
                <a:solidFill>
                  <a:srgbClr val="181C62"/>
                </a:solidFill>
                <a:latin typeface="Microsoft YaHei"/>
                <a:ea typeface="Microsoft YaHei"/>
                <a:cs typeface="Microsoft YaHei"/>
              </a:defRPr>
            </a:pP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1C62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R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181C62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AW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1C62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 </a:t>
            </a:r>
            <a:r>
              <a:rPr kumimoji="0" lang="en-US" altLang="zh-CN" sz="1600" b="1" i="0" u="none" strike="noStrike" kern="1200" cap="none" spc="0" normalizeH="0" baseline="0" noProof="0" dirty="0">
                <a:ln>
                  <a:noFill/>
                </a:ln>
                <a:solidFill>
                  <a:srgbClr val="181C62"/>
                </a:solidFill>
                <a:effectLst/>
                <a:uLnTx/>
                <a:uFillTx/>
                <a:latin typeface="Microsoft YaHei"/>
                <a:ea typeface="Arial" panose="020B0604020202020204"/>
                <a:cs typeface="Arial" panose="020B0604020202020204"/>
              </a:rPr>
              <a:t>SOURCES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181C62"/>
              </a:solidFill>
              <a:effectLst/>
              <a:uLnTx/>
              <a:uFillTx/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439FEAD-30E1-47DA-A273-032E0602B492}"/>
              </a:ext>
            </a:extLst>
          </p:cNvPr>
          <p:cNvSpPr>
            <a:spLocks noGrp="1"/>
          </p:cNvSpPr>
          <p:nvPr/>
        </p:nvSpPr>
        <p:spPr>
          <a:xfrm>
            <a:off x="1628775" y="3267075"/>
            <a:ext cx="1314450" cy="609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75" b="0">
                <a:solidFill>
                  <a:srgbClr val="17192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kumimoji="0" lang="en-US" altLang="zh-CN" sz="900" b="0" i="0" u="none" strike="noStrike" kern="1200" cap="none" spc="0" normalizeH="0" baseline="0" noProof="0" dirty="0">
                <a:ln>
                  <a:noFill/>
                </a:ln>
                <a:solidFill>
                  <a:srgbClr val="171927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</a:rPr>
              <a:t>.skeleton files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75" b="0">
                <a:solidFill>
                  <a:srgbClr val="17192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kumimoji="0" lang="en-US" altLang="zh-CN" sz="900" b="0" i="0" u="none" strike="noStrike" kern="1200" cap="none" spc="0" normalizeH="0" baseline="0" noProof="0" dirty="0">
                <a:ln>
                  <a:noFill/>
                </a:ln>
                <a:solidFill>
                  <a:srgbClr val="171927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</a:rPr>
              <a:t>official missing lists</a:t>
            </a:r>
            <a:endParaRPr kumimoji="0" sz="900" b="0" i="0" u="none" strike="noStrike" kern="1200" cap="none" spc="0" normalizeH="0" baseline="0" noProof="0" dirty="0">
              <a:ln>
                <a:noFill/>
              </a:ln>
              <a:solidFill>
                <a:srgbClr val="697386"/>
              </a:solidFill>
              <a:effectLst/>
              <a:uLnTx/>
              <a:uFillTx/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95496878-B82B-4678-9575-17D3C8E5B998}"/>
              </a:ext>
            </a:extLst>
          </p:cNvPr>
          <p:cNvSpPr>
            <a:spLocks noGrp="1"/>
          </p:cNvSpPr>
          <p:nvPr/>
        </p:nvSpPr>
        <p:spPr>
          <a:xfrm>
            <a:off x="3295650" y="2057400"/>
            <a:ext cx="1657350" cy="19812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9DDE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 Light"/>
              <a:cs typeface="Calibri Light"/>
            </a:endParaRPr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F9AEC7C9-76E7-49D8-8CCA-EB6782A18AB8}"/>
              </a:ext>
            </a:extLst>
          </p:cNvPr>
          <p:cNvSpPr>
            <a:spLocks noGrp="1"/>
          </p:cNvSpPr>
          <p:nvPr/>
        </p:nvSpPr>
        <p:spPr>
          <a:xfrm>
            <a:off x="3467100" y="2228850"/>
            <a:ext cx="419100" cy="419100"/>
          </a:xfrm>
          <a:prstGeom prst="ellipse">
            <a:avLst/>
          </a:prstGeom>
          <a:solidFill>
            <a:srgbClr val="181C62"/>
          </a:solidFill>
          <a:ln w="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DE4E01FB-AE5C-4CF6-AB4A-C0D609A3285C}"/>
              </a:ext>
            </a:extLst>
          </p:cNvPr>
          <p:cNvSpPr>
            <a:spLocks noGrp="1"/>
          </p:cNvSpPr>
          <p:nvPr/>
        </p:nvSpPr>
        <p:spPr>
          <a:xfrm>
            <a:off x="3467100" y="2228850"/>
            <a:ext cx="419100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809CA205-819D-42B0-9382-DC03F0B5FD72}"/>
              </a:ext>
            </a:extLst>
          </p:cNvPr>
          <p:cNvSpPr>
            <a:spLocks noGrp="1"/>
          </p:cNvSpPr>
          <p:nvPr/>
        </p:nvSpPr>
        <p:spPr>
          <a:xfrm>
            <a:off x="3473472" y="2833688"/>
            <a:ext cx="1314450" cy="4476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75" b="0">
                <a:solidFill>
                  <a:srgbClr val="17192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kumimoji="0" lang="en-US" altLang="zh-CN" sz="1600" b="1" i="0" u="none" strike="noStrike" kern="1200" cap="none" spc="0" normalizeH="0" baseline="0" noProof="0" dirty="0">
                <a:ln>
                  <a:noFill/>
                </a:ln>
                <a:solidFill>
                  <a:srgbClr val="181C62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</a:rPr>
              <a:t>SPLITS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FBC0F0B2-5BDB-4384-8579-9740D0C17440}"/>
              </a:ext>
            </a:extLst>
          </p:cNvPr>
          <p:cNvSpPr>
            <a:spLocks noGrp="1"/>
          </p:cNvSpPr>
          <p:nvPr/>
        </p:nvSpPr>
        <p:spPr>
          <a:xfrm>
            <a:off x="3467100" y="3267075"/>
            <a:ext cx="1314450" cy="609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75" b="0">
                <a:solidFill>
                  <a:srgbClr val="17192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kumimoji="0" lang="en-US" altLang="zh-CN" sz="900" b="0" i="0" u="none" strike="noStrike" kern="1200" cap="none" spc="0" normalizeH="0" baseline="0" noProof="0" dirty="0">
                <a:ln>
                  <a:noFill/>
                </a:ln>
                <a:solidFill>
                  <a:srgbClr val="171927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</a:rPr>
              <a:t>manifest.csv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75" b="0">
                <a:solidFill>
                  <a:srgbClr val="17192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kumimoji="0" lang="en-US" altLang="zh-CN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171927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</a:rPr>
              <a:t>XSub</a:t>
            </a:r>
            <a:r>
              <a:rPr kumimoji="0" lang="en-US" altLang="zh-CN" sz="900" b="0" i="0" u="none" strike="noStrike" kern="1200" cap="none" spc="0" normalizeH="0" baseline="0" noProof="0" dirty="0">
                <a:ln>
                  <a:noFill/>
                </a:ln>
                <a:solidFill>
                  <a:srgbClr val="171927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</a:rPr>
              <a:t> / </a:t>
            </a:r>
            <a:r>
              <a:rPr kumimoji="0" lang="en-US" altLang="zh-CN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171927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</a:rPr>
              <a:t>XView</a:t>
            </a:r>
            <a:r>
              <a:rPr kumimoji="0" lang="en-US" altLang="zh-CN" sz="900" b="0" i="0" u="none" strike="noStrike" kern="1200" cap="none" spc="0" normalizeH="0" baseline="0" noProof="0" dirty="0">
                <a:ln>
                  <a:noFill/>
                </a:ln>
                <a:solidFill>
                  <a:srgbClr val="171927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</a:rPr>
              <a:t> / </a:t>
            </a:r>
            <a:r>
              <a:rPr kumimoji="0" lang="en-US" altLang="zh-CN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171927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</a:rPr>
              <a:t>XSet</a:t>
            </a:r>
            <a:endParaRPr kumimoji="0" sz="900" b="0" i="0" u="none" strike="noStrike" kern="1200" cap="none" spc="0" normalizeH="0" baseline="0" noProof="0" dirty="0">
              <a:ln>
                <a:noFill/>
              </a:ln>
              <a:solidFill>
                <a:srgbClr val="697386"/>
              </a:solidFill>
              <a:effectLst/>
              <a:uLnTx/>
              <a:uFillTx/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432CAFD5-0630-4CF4-BBD2-45B556420F12}"/>
              </a:ext>
            </a:extLst>
          </p:cNvPr>
          <p:cNvSpPr>
            <a:spLocks noGrp="1"/>
          </p:cNvSpPr>
          <p:nvPr/>
        </p:nvSpPr>
        <p:spPr>
          <a:xfrm>
            <a:off x="5133975" y="2057400"/>
            <a:ext cx="1657350" cy="19812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9DDE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 Light"/>
              <a:cs typeface="Calibri Light"/>
            </a:endParaRPr>
          </a:p>
        </p:txBody>
      </p:sp>
      <p:sp>
        <p:nvSpPr>
          <p:cNvPr id="22" name="椭圆 21">
            <a:extLst>
              <a:ext uri="{FF2B5EF4-FFF2-40B4-BE49-F238E27FC236}">
                <a16:creationId xmlns:a16="http://schemas.microsoft.com/office/drawing/2014/main" id="{A3264BEB-5B44-4A82-BBCA-95582C10F327}"/>
              </a:ext>
            </a:extLst>
          </p:cNvPr>
          <p:cNvSpPr>
            <a:spLocks noGrp="1"/>
          </p:cNvSpPr>
          <p:nvPr/>
        </p:nvSpPr>
        <p:spPr>
          <a:xfrm>
            <a:off x="5305425" y="2228850"/>
            <a:ext cx="419100" cy="419100"/>
          </a:xfrm>
          <a:prstGeom prst="ellipse">
            <a:avLst/>
          </a:prstGeom>
          <a:solidFill>
            <a:srgbClr val="38B6A5"/>
          </a:solidFill>
          <a:ln w="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C8143E86-7D28-4A18-A3BD-1A273B2E1E46}"/>
              </a:ext>
            </a:extLst>
          </p:cNvPr>
          <p:cNvSpPr>
            <a:spLocks noGrp="1"/>
          </p:cNvSpPr>
          <p:nvPr/>
        </p:nvSpPr>
        <p:spPr>
          <a:xfrm>
            <a:off x="5305425" y="2228850"/>
            <a:ext cx="419100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DA838622-DE63-4594-92EB-22E4FE186879}"/>
              </a:ext>
            </a:extLst>
          </p:cNvPr>
          <p:cNvSpPr>
            <a:spLocks noGrp="1"/>
          </p:cNvSpPr>
          <p:nvPr/>
        </p:nvSpPr>
        <p:spPr>
          <a:xfrm>
            <a:off x="5133975" y="2829056"/>
            <a:ext cx="1959325" cy="4476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500" b="1">
                <a:solidFill>
                  <a:srgbClr val="181C62"/>
                </a:solidFill>
                <a:latin typeface="Microsoft YaHei"/>
                <a:ea typeface="Microsoft YaHei"/>
                <a:cs typeface="Microsoft YaHei"/>
              </a:defRPr>
            </a:pPr>
            <a:r>
              <a:rPr kumimoji="0" lang="en-US" altLang="zh-CN" sz="1600" b="1" i="0" u="none" strike="noStrike" kern="1200" cap="none" spc="0" normalizeH="0" baseline="0" noProof="0" dirty="0">
                <a:ln>
                  <a:noFill/>
                </a:ln>
                <a:solidFill>
                  <a:srgbClr val="181C62"/>
                </a:solidFill>
                <a:effectLst/>
                <a:uLnTx/>
                <a:uFillTx/>
                <a:latin typeface="Microsoft YaHei"/>
                <a:ea typeface="Arial" panose="020B0604020202020204"/>
                <a:cs typeface="Arial" panose="020B0604020202020204"/>
              </a:rPr>
              <a:t>TRAJECTORIES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181C62"/>
              </a:solidFill>
              <a:effectLst/>
              <a:uLnTx/>
              <a:uFillTx/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AAD68D9E-AD0F-4194-AC18-536FE086BF48}"/>
              </a:ext>
            </a:extLst>
          </p:cNvPr>
          <p:cNvSpPr>
            <a:spLocks noGrp="1"/>
          </p:cNvSpPr>
          <p:nvPr/>
        </p:nvSpPr>
        <p:spPr>
          <a:xfrm>
            <a:off x="5305425" y="3267075"/>
            <a:ext cx="1314450" cy="609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8611"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75" b="0">
                <a:solidFill>
                  <a:srgbClr val="17192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kumimoji="0" lang="en-US" altLang="zh-CN" sz="900" b="0" i="0" u="none" strike="noStrike" kern="1200" cap="none" spc="0" normalizeH="0" baseline="0" noProof="0" dirty="0">
                <a:ln>
                  <a:noFill/>
                </a:ln>
                <a:solidFill>
                  <a:srgbClr val="171927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</a:rPr>
              <a:t>parse </a:t>
            </a:r>
            <a:r>
              <a:rPr kumimoji="0" lang="en-US" altLang="zh-CN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171927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</a:rPr>
              <a:t>bodyID</a:t>
            </a:r>
            <a:endParaRPr kumimoji="0" lang="en-US" altLang="zh-CN" sz="900" b="0" i="0" u="none" strike="noStrike" kern="1200" cap="none" spc="0" normalizeH="0" baseline="0" noProof="0" dirty="0">
              <a:ln>
                <a:noFill/>
              </a:ln>
              <a:solidFill>
                <a:srgbClr val="171927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75" b="0">
                <a:solidFill>
                  <a:srgbClr val="17192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kumimoji="0" lang="en-US" altLang="zh-CN" sz="900" b="0" i="0" u="none" strike="noStrike" kern="1200" cap="none" spc="0" normalizeH="0" baseline="0" noProof="0" dirty="0">
                <a:ln>
                  <a:noFill/>
                </a:ln>
                <a:solidFill>
                  <a:srgbClr val="171927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</a:rPr>
              <a:t>filter and slot assignment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050" b="0">
                <a:solidFill>
                  <a:srgbClr val="697386"/>
                </a:solidFill>
                <a:latin typeface="Microsoft YaHei"/>
                <a:ea typeface="Microsoft YaHei"/>
                <a:cs typeface="Microsoft YaHei"/>
              </a:defRPr>
            </a:pPr>
            <a:endParaRPr kumimoji="0" sz="1050" b="0" i="0" u="none" strike="noStrike" kern="1200" cap="none" spc="0" normalizeH="0" baseline="0" noProof="0" dirty="0">
              <a:ln>
                <a:noFill/>
              </a:ln>
              <a:solidFill>
                <a:srgbClr val="697386"/>
              </a:solidFill>
              <a:effectLst/>
              <a:uLnTx/>
              <a:uFillTx/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A09140AA-E08D-4AB8-B581-F7F617C4BEB7}"/>
              </a:ext>
            </a:extLst>
          </p:cNvPr>
          <p:cNvSpPr>
            <a:spLocks noGrp="1"/>
          </p:cNvSpPr>
          <p:nvPr/>
        </p:nvSpPr>
        <p:spPr>
          <a:xfrm>
            <a:off x="6972300" y="2057400"/>
            <a:ext cx="1657350" cy="19812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9DDE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 Light"/>
              <a:cs typeface="Calibri Light"/>
            </a:endParaRPr>
          </a:p>
        </p:txBody>
      </p:sp>
      <p:sp>
        <p:nvSpPr>
          <p:cNvPr id="27" name="椭圆 26">
            <a:extLst>
              <a:ext uri="{FF2B5EF4-FFF2-40B4-BE49-F238E27FC236}">
                <a16:creationId xmlns:a16="http://schemas.microsoft.com/office/drawing/2014/main" id="{81860E03-FF6C-46F4-8DFA-A82A272B5378}"/>
              </a:ext>
            </a:extLst>
          </p:cNvPr>
          <p:cNvSpPr>
            <a:spLocks noGrp="1"/>
          </p:cNvSpPr>
          <p:nvPr/>
        </p:nvSpPr>
        <p:spPr>
          <a:xfrm>
            <a:off x="7143750" y="2228850"/>
            <a:ext cx="419100" cy="419100"/>
          </a:xfrm>
          <a:prstGeom prst="ellipse">
            <a:avLst/>
          </a:prstGeom>
          <a:solidFill>
            <a:srgbClr val="F2B84B"/>
          </a:solidFill>
          <a:ln w="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0EC04B59-659B-4778-9697-103DCB0EC82C}"/>
              </a:ext>
            </a:extLst>
          </p:cNvPr>
          <p:cNvSpPr>
            <a:spLocks noGrp="1"/>
          </p:cNvSpPr>
          <p:nvPr/>
        </p:nvSpPr>
        <p:spPr>
          <a:xfrm>
            <a:off x="7143750" y="2228850"/>
            <a:ext cx="419100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0AE8B618-53E5-49C9-96B0-3F5FD82BCCFA}"/>
              </a:ext>
            </a:extLst>
          </p:cNvPr>
          <p:cNvSpPr>
            <a:spLocks noGrp="1"/>
          </p:cNvSpPr>
          <p:nvPr/>
        </p:nvSpPr>
        <p:spPr>
          <a:xfrm>
            <a:off x="7080425" y="2829056"/>
            <a:ext cx="1565122" cy="4476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500" b="1">
                <a:solidFill>
                  <a:srgbClr val="181C62"/>
                </a:solidFill>
                <a:latin typeface="Microsoft YaHei"/>
                <a:ea typeface="Microsoft YaHei"/>
                <a:cs typeface="Microsoft YaHei"/>
              </a:defRPr>
            </a:pPr>
            <a:r>
              <a:rPr kumimoji="0" lang="en-US" altLang="zh-CN" sz="1600" b="1" i="0" u="none" strike="noStrike" kern="1200" cap="none" spc="0" normalizeH="0" baseline="0" noProof="0" dirty="0">
                <a:ln>
                  <a:noFill/>
                </a:ln>
                <a:solidFill>
                  <a:srgbClr val="181C62"/>
                </a:solidFill>
                <a:effectLst/>
                <a:uLnTx/>
                <a:uFillTx/>
                <a:latin typeface="Microsoft YaHei"/>
                <a:ea typeface="Arial" panose="020B0604020202020204"/>
                <a:cs typeface="Arial" panose="020B0604020202020204"/>
              </a:rPr>
              <a:t>NORMALIZE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181C62"/>
              </a:solidFill>
              <a:effectLst/>
              <a:uLnTx/>
              <a:uFillTx/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95AA4AD8-3F64-426D-B74D-C5B753678EDA}"/>
              </a:ext>
            </a:extLst>
          </p:cNvPr>
          <p:cNvSpPr>
            <a:spLocks noGrp="1"/>
          </p:cNvSpPr>
          <p:nvPr/>
        </p:nvSpPr>
        <p:spPr>
          <a:xfrm>
            <a:off x="7143750" y="3267075"/>
            <a:ext cx="1314450" cy="609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050" b="0">
                <a:solidFill>
                  <a:srgbClr val="697386"/>
                </a:solidFill>
                <a:latin typeface="Microsoft YaHei"/>
                <a:ea typeface="Microsoft YaHei"/>
                <a:cs typeface="Microsoft YaHei"/>
              </a:defRPr>
            </a:pPr>
            <a:endParaRPr kumimoji="0" sz="1050" b="0" i="0" u="none" strike="noStrike" kern="1200" cap="none" spc="0" normalizeH="0" baseline="0" noProof="0" dirty="0">
              <a:ln>
                <a:noFill/>
              </a:ln>
              <a:solidFill>
                <a:srgbClr val="697386"/>
              </a:solidFill>
              <a:effectLst/>
              <a:uLnTx/>
              <a:uFillTx/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AF72DA5C-F9FC-481A-8A04-168901D91AB1}"/>
              </a:ext>
            </a:extLst>
          </p:cNvPr>
          <p:cNvSpPr>
            <a:spLocks noGrp="1"/>
          </p:cNvSpPr>
          <p:nvPr/>
        </p:nvSpPr>
        <p:spPr>
          <a:xfrm>
            <a:off x="8810625" y="2057400"/>
            <a:ext cx="1657350" cy="19812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9DDE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 Light"/>
              <a:cs typeface="Calibri Light"/>
            </a:endParaRPr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C5B8DB80-19E1-4E5A-9FE0-4377B1F0D36F}"/>
              </a:ext>
            </a:extLst>
          </p:cNvPr>
          <p:cNvSpPr>
            <a:spLocks noGrp="1"/>
          </p:cNvSpPr>
          <p:nvPr/>
        </p:nvSpPr>
        <p:spPr>
          <a:xfrm>
            <a:off x="8982075" y="2228850"/>
            <a:ext cx="419100" cy="419100"/>
          </a:xfrm>
          <a:prstGeom prst="ellipse">
            <a:avLst/>
          </a:prstGeom>
          <a:solidFill>
            <a:srgbClr val="E31346"/>
          </a:solidFill>
          <a:ln w="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9EF64F76-CB04-40DC-93C0-E56B4E5A29B3}"/>
              </a:ext>
            </a:extLst>
          </p:cNvPr>
          <p:cNvSpPr>
            <a:spLocks noGrp="1"/>
          </p:cNvSpPr>
          <p:nvPr/>
        </p:nvSpPr>
        <p:spPr>
          <a:xfrm>
            <a:off x="8982075" y="2228850"/>
            <a:ext cx="419100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CC1B029C-2005-4D27-B0FD-863274CF69F5}"/>
              </a:ext>
            </a:extLst>
          </p:cNvPr>
          <p:cNvSpPr>
            <a:spLocks noGrp="1"/>
          </p:cNvSpPr>
          <p:nvPr/>
        </p:nvSpPr>
        <p:spPr>
          <a:xfrm>
            <a:off x="8832894" y="2824162"/>
            <a:ext cx="1666875" cy="4476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75" b="0">
                <a:solidFill>
                  <a:srgbClr val="17192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kumimoji="0" lang="en-US" altLang="zh-CN" sz="1600" b="1" i="0" u="none" strike="noStrike" kern="1200" cap="none" spc="0" normalizeH="0" baseline="0" noProof="0" dirty="0">
                <a:ln>
                  <a:noFill/>
                </a:ln>
                <a:solidFill>
                  <a:srgbClr val="181C62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</a:rPr>
              <a:t>OUTPUT + QA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3B821388-29FA-4AB2-B540-2B70FC0FC2FA}"/>
              </a:ext>
            </a:extLst>
          </p:cNvPr>
          <p:cNvSpPr>
            <a:spLocks noGrp="1"/>
          </p:cNvSpPr>
          <p:nvPr/>
        </p:nvSpPr>
        <p:spPr>
          <a:xfrm>
            <a:off x="8982075" y="3267075"/>
            <a:ext cx="1314450" cy="609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75" b="0">
                <a:solidFill>
                  <a:srgbClr val="17192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kumimoji="0" lang="en-US" altLang="zh-CN" sz="900" b="0" i="0" u="none" strike="noStrike" kern="1200" cap="none" spc="0" normalizeH="0" baseline="0" noProof="0" dirty="0">
                <a:ln>
                  <a:noFill/>
                </a:ln>
                <a:solidFill>
                  <a:srgbClr val="171927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</a:rPr>
              <a:t>NPZ export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75" b="0">
                <a:solidFill>
                  <a:srgbClr val="17192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kumimoji="0" lang="en-US" altLang="zh-CN" sz="900" b="0" i="0" u="none" strike="noStrike" kern="1200" cap="none" spc="0" normalizeH="0" baseline="0" noProof="0" dirty="0">
                <a:ln>
                  <a:noFill/>
                </a:ln>
                <a:solidFill>
                  <a:srgbClr val="171927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</a:rPr>
              <a:t>validate and audit</a:t>
            </a:r>
          </a:p>
        </p:txBody>
      </p:sp>
      <p:cxnSp>
        <p:nvCxnSpPr>
          <p:cNvPr id="110" name="直接箭头连接符 109"/>
          <p:cNvCxnSpPr>
            <a:stCxn id="11" idx="3"/>
            <a:endCxn id="16" idx="1"/>
          </p:cNvCxnSpPr>
          <p:nvPr/>
        </p:nvCxnSpPr>
        <p:spPr>
          <a:xfrm>
            <a:off x="3114675" y="3048000"/>
            <a:ext cx="180975" cy="0"/>
          </a:xfrm>
          <a:prstGeom prst="straightConnector1">
            <a:avLst/>
          </a:prstGeom>
          <a:ln w="19050">
            <a:solidFill>
              <a:srgbClr val="E31346"/>
            </a:solidFill>
            <a:prstDash val="solid"/>
            <a:tailEnd type="triangle" w="sm" len="sm"/>
          </a:ln>
        </p:spPr>
      </p:cxnSp>
      <p:cxnSp>
        <p:nvCxnSpPr>
          <p:cNvPr id="111" name="直接箭头连接符 110"/>
          <p:cNvCxnSpPr>
            <a:stCxn id="16" idx="3"/>
            <a:endCxn id="21" idx="1"/>
          </p:cNvCxnSpPr>
          <p:nvPr/>
        </p:nvCxnSpPr>
        <p:spPr>
          <a:xfrm>
            <a:off x="4953000" y="3048000"/>
            <a:ext cx="180975" cy="0"/>
          </a:xfrm>
          <a:prstGeom prst="straightConnector1">
            <a:avLst/>
          </a:prstGeom>
          <a:ln w="19050">
            <a:solidFill>
              <a:srgbClr val="E31346"/>
            </a:solidFill>
            <a:prstDash val="solid"/>
            <a:tailEnd type="triangle" w="sm" len="sm"/>
          </a:ln>
        </p:spPr>
      </p:cxnSp>
      <p:cxnSp>
        <p:nvCxnSpPr>
          <p:cNvPr id="112" name="直接箭头连接符 111"/>
          <p:cNvCxnSpPr>
            <a:stCxn id="21" idx="3"/>
            <a:endCxn id="26" idx="1"/>
          </p:cNvCxnSpPr>
          <p:nvPr/>
        </p:nvCxnSpPr>
        <p:spPr>
          <a:xfrm>
            <a:off x="6791325" y="3048000"/>
            <a:ext cx="180975" cy="0"/>
          </a:xfrm>
          <a:prstGeom prst="straightConnector1">
            <a:avLst/>
          </a:prstGeom>
          <a:ln w="19050">
            <a:solidFill>
              <a:srgbClr val="E31346"/>
            </a:solidFill>
            <a:prstDash val="solid"/>
            <a:tailEnd type="triangle" w="sm" len="sm"/>
          </a:ln>
        </p:spPr>
      </p:cxnSp>
      <p:cxnSp>
        <p:nvCxnSpPr>
          <p:cNvPr id="113" name="直接箭头连接符 112"/>
          <p:cNvCxnSpPr>
            <a:stCxn id="26" idx="3"/>
            <a:endCxn id="31" idx="1"/>
          </p:cNvCxnSpPr>
          <p:nvPr/>
        </p:nvCxnSpPr>
        <p:spPr>
          <a:xfrm>
            <a:off x="8629650" y="3048000"/>
            <a:ext cx="180975" cy="0"/>
          </a:xfrm>
          <a:prstGeom prst="straightConnector1">
            <a:avLst/>
          </a:prstGeom>
          <a:ln w="19050">
            <a:solidFill>
              <a:srgbClr val="E31346"/>
            </a:solidFill>
            <a:prstDash val="solid"/>
            <a:tailEnd type="triangle" w="sm" len="sm"/>
          </a:ln>
        </p:spPr>
      </p:cxn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BD88177B-7690-4A08-ACB5-E8CFCDBF7533}"/>
              </a:ext>
            </a:extLst>
          </p:cNvPr>
          <p:cNvSpPr>
            <a:spLocks noGrp="1"/>
          </p:cNvSpPr>
          <p:nvPr/>
        </p:nvSpPr>
        <p:spPr>
          <a:xfrm>
            <a:off x="491884" y="4267200"/>
            <a:ext cx="7524750" cy="2038350"/>
          </a:xfrm>
          <a:prstGeom prst="roundRect">
            <a:avLst>
              <a:gd name="adj" fmla="val 5607"/>
            </a:avLst>
          </a:prstGeom>
          <a:solidFill>
            <a:srgbClr val="F6F7FB"/>
          </a:solidFill>
          <a:ln w="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D06B7CBB-D25B-4046-8137-4E3D9AA66EDD}"/>
              </a:ext>
            </a:extLst>
          </p:cNvPr>
          <p:cNvSpPr>
            <a:spLocks noGrp="1"/>
          </p:cNvSpPr>
          <p:nvPr/>
        </p:nvSpPr>
        <p:spPr>
          <a:xfrm>
            <a:off x="723900" y="4400550"/>
            <a:ext cx="1714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924"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50" b="1">
                <a:solidFill>
                  <a:srgbClr val="181C62"/>
                </a:solidFill>
                <a:latin typeface="Microsoft YaHei"/>
                <a:ea typeface="Microsoft YaHei"/>
                <a:cs typeface="Microsoft YaHei"/>
              </a:defRPr>
            </a:pPr>
            <a:r>
              <a:rPr kumimoji="0" lang="en-US" sz="1650" b="1" i="0" u="none" strike="noStrike" kern="1200" cap="none" spc="0" normalizeH="0" baseline="0" noProof="0" dirty="0">
                <a:ln>
                  <a:noFill/>
                </a:ln>
                <a:solidFill>
                  <a:srgbClr val="181C62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F</a:t>
            </a:r>
            <a:r>
              <a:rPr kumimoji="0" lang="en-US" altLang="zh-CN" sz="1650" b="1" i="0" u="none" strike="noStrike" kern="1200" cap="none" spc="0" normalizeH="0" baseline="0" noProof="0" dirty="0">
                <a:ln>
                  <a:noFill/>
                </a:ln>
                <a:solidFill>
                  <a:srgbClr val="181C62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inal output</a:t>
            </a:r>
            <a:endParaRPr kumimoji="0" sz="1650" b="1" i="0" u="none" strike="noStrike" kern="1200" cap="none" spc="0" normalizeH="0" baseline="0" noProof="0" dirty="0">
              <a:ln>
                <a:noFill/>
              </a:ln>
              <a:solidFill>
                <a:srgbClr val="181C62"/>
              </a:solidFill>
              <a:effectLst/>
              <a:uLnTx/>
              <a:uFillTx/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E3BD62AC-9F0A-42D0-89D6-F5962F083FFD}"/>
              </a:ext>
            </a:extLst>
          </p:cNvPr>
          <p:cNvSpPr>
            <a:spLocks noGrp="1"/>
          </p:cNvSpPr>
          <p:nvPr/>
        </p:nvSpPr>
        <p:spPr>
          <a:xfrm>
            <a:off x="723900" y="4810125"/>
            <a:ext cx="1571625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3103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175" b="1">
                <a:solidFill>
                  <a:srgbClr val="181C62"/>
                </a:solidFill>
                <a:latin typeface="Microsoft YaHei"/>
                <a:ea typeface="Microsoft YaHei"/>
                <a:cs typeface="Microsoft YaHei"/>
              </a:defRPr>
            </a:pPr>
            <a:r>
              <a:rPr kumimoji="0" sz="2175" b="1" i="0" u="none" strike="noStrike" kern="1200" cap="none" spc="0" normalizeH="0" baseline="0" noProof="0">
                <a:ln>
                  <a:noFill/>
                </a:ln>
                <a:solidFill>
                  <a:srgbClr val="181C62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56,578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0D7CAEBB-2D69-441C-9ABA-5979E19C0B03}"/>
              </a:ext>
            </a:extLst>
          </p:cNvPr>
          <p:cNvSpPr>
            <a:spLocks noGrp="1"/>
          </p:cNvSpPr>
          <p:nvPr/>
        </p:nvSpPr>
        <p:spPr>
          <a:xfrm>
            <a:off x="723900" y="5219700"/>
            <a:ext cx="1571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25" b="1">
                <a:solidFill>
                  <a:srgbClr val="171A2B"/>
                </a:solidFill>
                <a:latin typeface="Microsoft YaHei"/>
                <a:ea typeface="Microsoft YaHei"/>
                <a:cs typeface="Microsoft YaHei"/>
              </a:defRPr>
            </a:pPr>
            <a:r>
              <a:rPr kumimoji="0" sz="1125" b="1" i="0" u="none" strike="noStrike" kern="1200" cap="none" spc="0" normalizeH="0" baseline="0" noProof="0" dirty="0">
                <a:ln>
                  <a:noFill/>
                </a:ln>
                <a:solidFill>
                  <a:srgbClr val="171A2B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NTU60 </a:t>
            </a: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1F1B68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</a:rPr>
              <a:t>samples</a:t>
            </a:r>
            <a:endParaRPr kumimoji="0" sz="1125" b="1" i="0" u="none" strike="noStrike" kern="1200" cap="none" spc="0" normalizeH="0" baseline="0" noProof="0" dirty="0">
              <a:ln>
                <a:noFill/>
              </a:ln>
              <a:solidFill>
                <a:srgbClr val="171A2B"/>
              </a:solidFill>
              <a:effectLst/>
              <a:uLnTx/>
              <a:uFillTx/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50E263F2-3E89-4FB6-B436-BFE3A4D18E48}"/>
              </a:ext>
            </a:extLst>
          </p:cNvPr>
          <p:cNvSpPr>
            <a:spLocks noGrp="1"/>
          </p:cNvSpPr>
          <p:nvPr/>
        </p:nvSpPr>
        <p:spPr>
          <a:xfrm>
            <a:off x="723900" y="5514975"/>
            <a:ext cx="1571625" cy="238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8718"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75" b="0">
                <a:solidFill>
                  <a:srgbClr val="697386"/>
                </a:solidFill>
                <a:latin typeface="Microsoft YaHei"/>
                <a:ea typeface="Microsoft YaHei"/>
                <a:cs typeface="Microsoft YaHei"/>
              </a:defRPr>
            </a:pPr>
            <a:r>
              <a:rPr kumimoji="0" sz="975" b="0" i="0" u="none" strike="noStrike" kern="1200" cap="none" spc="0" normalizeH="0" baseline="0" noProof="0">
                <a:ln>
                  <a:noFill/>
                </a:ln>
                <a:solidFill>
                  <a:srgbClr val="697386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CS / CV</a:t>
            </a: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06757373-7D14-4511-8D57-1FBE6AEFCCE8}"/>
              </a:ext>
            </a:extLst>
          </p:cNvPr>
          <p:cNvSpPr>
            <a:spLocks noGrp="1"/>
          </p:cNvSpPr>
          <p:nvPr/>
        </p:nvSpPr>
        <p:spPr>
          <a:xfrm>
            <a:off x="2390775" y="4905375"/>
            <a:ext cx="9525" cy="1104900"/>
          </a:xfrm>
          <a:prstGeom prst="rect">
            <a:avLst/>
          </a:prstGeom>
          <a:solidFill>
            <a:srgbClr val="D9DDEA"/>
          </a:solidFill>
          <a:ln w="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006F426D-1B94-4EB0-9E27-6B13ED2C3A8F}"/>
              </a:ext>
            </a:extLst>
          </p:cNvPr>
          <p:cNvSpPr>
            <a:spLocks noGrp="1"/>
          </p:cNvSpPr>
          <p:nvPr/>
        </p:nvSpPr>
        <p:spPr>
          <a:xfrm>
            <a:off x="2543175" y="4810125"/>
            <a:ext cx="1571625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3103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175" b="1">
                <a:solidFill>
                  <a:srgbClr val="181C62"/>
                </a:solidFill>
                <a:latin typeface="Microsoft YaHei"/>
                <a:ea typeface="Microsoft YaHei"/>
                <a:cs typeface="Microsoft YaHei"/>
              </a:defRPr>
            </a:pPr>
            <a:r>
              <a:rPr kumimoji="0" sz="2175" b="1" i="0" u="none" strike="noStrike" kern="1200" cap="none" spc="0" normalizeH="0" baseline="0" noProof="0">
                <a:ln>
                  <a:noFill/>
                </a:ln>
                <a:solidFill>
                  <a:srgbClr val="181C62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113,945</a:t>
            </a: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B4CF050C-E5B7-484F-8767-9DE3D9FD49E6}"/>
              </a:ext>
            </a:extLst>
          </p:cNvPr>
          <p:cNvSpPr>
            <a:spLocks noGrp="1"/>
          </p:cNvSpPr>
          <p:nvPr/>
        </p:nvSpPr>
        <p:spPr>
          <a:xfrm>
            <a:off x="2543175" y="5219700"/>
            <a:ext cx="1571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25" b="1">
                <a:solidFill>
                  <a:srgbClr val="171A2B"/>
                </a:solidFill>
                <a:latin typeface="Microsoft YaHei"/>
                <a:ea typeface="Microsoft YaHei"/>
                <a:cs typeface="Microsoft YaHei"/>
              </a:defRPr>
            </a:pPr>
            <a:r>
              <a:rPr kumimoji="0" sz="1125" b="1" i="0" u="none" strike="noStrike" kern="1200" cap="none" spc="0" normalizeH="0" baseline="0" noProof="0" dirty="0">
                <a:ln>
                  <a:noFill/>
                </a:ln>
                <a:solidFill>
                  <a:srgbClr val="171A2B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NTU120 </a:t>
            </a: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1F1B68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</a:rPr>
              <a:t>samples</a:t>
            </a:r>
            <a:endParaRPr kumimoji="0" sz="1125" b="1" i="0" u="none" strike="noStrike" kern="1200" cap="none" spc="0" normalizeH="0" baseline="0" noProof="0" dirty="0">
              <a:ln>
                <a:noFill/>
              </a:ln>
              <a:solidFill>
                <a:srgbClr val="171A2B"/>
              </a:solidFill>
              <a:effectLst/>
              <a:uLnTx/>
              <a:uFillTx/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62F322D5-4F10-4BF0-A688-65956DF00001}"/>
              </a:ext>
            </a:extLst>
          </p:cNvPr>
          <p:cNvSpPr>
            <a:spLocks noGrp="1"/>
          </p:cNvSpPr>
          <p:nvPr/>
        </p:nvSpPr>
        <p:spPr>
          <a:xfrm>
            <a:off x="2543175" y="5514975"/>
            <a:ext cx="1571625" cy="238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8718"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75" b="0">
                <a:solidFill>
                  <a:srgbClr val="697386"/>
                </a:solidFill>
                <a:latin typeface="Microsoft YaHei"/>
                <a:ea typeface="Microsoft YaHei"/>
                <a:cs typeface="Microsoft YaHei"/>
              </a:defRPr>
            </a:pPr>
            <a:r>
              <a:rPr kumimoji="0" sz="975" b="0" i="0" u="none" strike="noStrike" kern="1200" cap="none" spc="0" normalizeH="0" baseline="0" noProof="0">
                <a:ln>
                  <a:noFill/>
                </a:ln>
                <a:solidFill>
                  <a:srgbClr val="697386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CSub / CSet</a:t>
            </a: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69E60375-1C76-486D-93C2-1DF6858D5D33}"/>
              </a:ext>
            </a:extLst>
          </p:cNvPr>
          <p:cNvSpPr>
            <a:spLocks noGrp="1"/>
          </p:cNvSpPr>
          <p:nvPr/>
        </p:nvSpPr>
        <p:spPr>
          <a:xfrm>
            <a:off x="4210050" y="4905375"/>
            <a:ext cx="9525" cy="1104900"/>
          </a:xfrm>
          <a:prstGeom prst="rect">
            <a:avLst/>
          </a:prstGeom>
          <a:solidFill>
            <a:srgbClr val="D9DDEA"/>
          </a:solidFill>
          <a:ln w="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308645CE-0A94-496F-9E6B-AA54DB91B455}"/>
              </a:ext>
            </a:extLst>
          </p:cNvPr>
          <p:cNvSpPr>
            <a:spLocks noGrp="1"/>
          </p:cNvSpPr>
          <p:nvPr/>
        </p:nvSpPr>
        <p:spPr>
          <a:xfrm>
            <a:off x="4362450" y="4810125"/>
            <a:ext cx="1571625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3103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175" b="1">
                <a:solidFill>
                  <a:srgbClr val="181C62"/>
                </a:solidFill>
                <a:latin typeface="Microsoft YaHei"/>
                <a:ea typeface="Microsoft YaHei"/>
                <a:cs typeface="Microsoft YaHei"/>
              </a:defRPr>
            </a:pPr>
            <a:r>
              <a:rPr kumimoji="0" sz="2175" b="1" i="0" u="none" strike="noStrike" kern="1200" cap="none" spc="0" normalizeH="0" baseline="0" noProof="0" dirty="0">
                <a:ln>
                  <a:noFill/>
                </a:ln>
                <a:solidFill>
                  <a:srgbClr val="181C62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03F926FA-8827-4A10-970D-29A1F9BDA7D0}"/>
              </a:ext>
            </a:extLst>
          </p:cNvPr>
          <p:cNvSpPr>
            <a:spLocks noGrp="1"/>
          </p:cNvSpPr>
          <p:nvPr/>
        </p:nvSpPr>
        <p:spPr>
          <a:xfrm>
            <a:off x="4362450" y="5219700"/>
            <a:ext cx="1571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25" b="1">
                <a:solidFill>
                  <a:srgbClr val="171A2B"/>
                </a:solidFill>
                <a:latin typeface="Microsoft YaHei"/>
                <a:ea typeface="Microsoft YaHei"/>
                <a:cs typeface="Microsoft YaHei"/>
              </a:defRPr>
            </a:pPr>
            <a:r>
              <a:rPr kumimoji="0" lang="en-US" sz="1125" b="1" i="0" u="none" strike="noStrike" kern="1200" cap="none" spc="0" normalizeH="0" baseline="0" noProof="0" dirty="0">
                <a:ln>
                  <a:noFill/>
                </a:ln>
                <a:solidFill>
                  <a:srgbClr val="171A2B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F</a:t>
            </a:r>
            <a:r>
              <a:rPr kumimoji="0" lang="en-US" altLang="zh-CN" sz="1125" b="1" i="0" u="none" strike="noStrike" kern="1200" cap="none" spc="0" normalizeH="0" baseline="0" noProof="0" dirty="0">
                <a:ln>
                  <a:noFill/>
                </a:ln>
                <a:solidFill>
                  <a:srgbClr val="171A2B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ull</a:t>
            </a:r>
            <a:r>
              <a:rPr kumimoji="0" sz="1125" b="1" i="0" u="none" strike="noStrike" kern="1200" cap="none" spc="0" normalizeH="0" baseline="0" noProof="0" dirty="0">
                <a:ln>
                  <a:noFill/>
                </a:ln>
                <a:solidFill>
                  <a:srgbClr val="171A2B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 split NPZ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FB49DF56-7929-44E9-BF31-876CD7A63DCA}"/>
              </a:ext>
            </a:extLst>
          </p:cNvPr>
          <p:cNvSpPr>
            <a:spLocks noGrp="1"/>
          </p:cNvSpPr>
          <p:nvPr/>
        </p:nvSpPr>
        <p:spPr>
          <a:xfrm>
            <a:off x="4362450" y="5514975"/>
            <a:ext cx="1571625" cy="238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8718"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75" b="0">
                <a:solidFill>
                  <a:srgbClr val="697386"/>
                </a:solidFill>
                <a:latin typeface="Microsoft YaHei"/>
                <a:ea typeface="Microsoft YaHei"/>
                <a:cs typeface="Microsoft YaHei"/>
              </a:defRPr>
            </a:pPr>
            <a:r>
              <a:rPr kumimoji="0" sz="975" b="0" i="0" u="none" strike="noStrike" kern="1200" cap="none" spc="0" normalizeH="0" baseline="0" noProof="0">
                <a:ln>
                  <a:noFill/>
                </a:ln>
                <a:solidFill>
                  <a:srgbClr val="697386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0 overlap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4602799D-1CD8-49A9-B5A0-81AE4B3AFED2}"/>
              </a:ext>
            </a:extLst>
          </p:cNvPr>
          <p:cNvSpPr>
            <a:spLocks noGrp="1"/>
          </p:cNvSpPr>
          <p:nvPr/>
        </p:nvSpPr>
        <p:spPr>
          <a:xfrm>
            <a:off x="6029325" y="4905375"/>
            <a:ext cx="9525" cy="1104900"/>
          </a:xfrm>
          <a:prstGeom prst="rect">
            <a:avLst/>
          </a:prstGeom>
          <a:solidFill>
            <a:srgbClr val="D9DDEA"/>
          </a:solidFill>
          <a:ln w="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BC2A6F22-5655-4FA8-AD44-B6817650FDE6}"/>
              </a:ext>
            </a:extLst>
          </p:cNvPr>
          <p:cNvSpPr>
            <a:spLocks noGrp="1"/>
          </p:cNvSpPr>
          <p:nvPr/>
        </p:nvSpPr>
        <p:spPr>
          <a:xfrm>
            <a:off x="6181725" y="4810125"/>
            <a:ext cx="1571625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3103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175" b="1">
                <a:solidFill>
                  <a:srgbClr val="E31346"/>
                </a:solidFill>
                <a:latin typeface="Microsoft YaHei"/>
                <a:ea typeface="Microsoft YaHei"/>
                <a:cs typeface="Microsoft YaHei"/>
              </a:defRPr>
            </a:pPr>
            <a:r>
              <a:rPr kumimoji="0" sz="2175" b="1" i="0" u="none" strike="noStrike" kern="1200" cap="none" spc="0" normalizeH="0" baseline="0" noProof="0">
                <a:ln>
                  <a:noFill/>
                </a:ln>
                <a:solidFill>
                  <a:srgbClr val="E31346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24,732</a:t>
            </a: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C7759591-02EF-48EA-9B47-A9CE5B3A3FAD}"/>
              </a:ext>
            </a:extLst>
          </p:cNvPr>
          <p:cNvSpPr>
            <a:spLocks noGrp="1"/>
          </p:cNvSpPr>
          <p:nvPr/>
        </p:nvSpPr>
        <p:spPr>
          <a:xfrm>
            <a:off x="6181725" y="5219700"/>
            <a:ext cx="1571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25" b="1">
                <a:solidFill>
                  <a:srgbClr val="171A2B"/>
                </a:solidFill>
                <a:latin typeface="Microsoft YaHei"/>
                <a:ea typeface="Microsoft YaHei"/>
                <a:cs typeface="Microsoft YaHei"/>
              </a:defRPr>
            </a:pPr>
            <a:r>
              <a:rPr kumimoji="0" sz="1125" b="1" i="0" u="none" strike="noStrike" kern="1200" cap="none" spc="0" normalizeH="0" baseline="0" noProof="0">
                <a:ln>
                  <a:noFill/>
                </a:ln>
                <a:solidFill>
                  <a:srgbClr val="171A2B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Interaction-26</a:t>
            </a: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39BBE55C-DF4A-49B8-A557-CA80F8B09F22}"/>
              </a:ext>
            </a:extLst>
          </p:cNvPr>
          <p:cNvSpPr>
            <a:spLocks noGrp="1"/>
          </p:cNvSpPr>
          <p:nvPr/>
        </p:nvSpPr>
        <p:spPr>
          <a:xfrm>
            <a:off x="6181725" y="5514975"/>
            <a:ext cx="1571625" cy="238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8718"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75" b="0">
                <a:solidFill>
                  <a:srgbClr val="697386"/>
                </a:solidFill>
                <a:latin typeface="Microsoft YaHei"/>
                <a:ea typeface="Microsoft YaHei"/>
                <a:cs typeface="Microsoft YaHei"/>
              </a:defRPr>
            </a:pPr>
            <a:r>
              <a:rPr kumimoji="0" sz="975" b="0" i="0" u="none" strike="noStrike" kern="1200" cap="none" spc="0" normalizeH="0" baseline="0" noProof="0">
                <a:ln>
                  <a:noFill/>
                </a:ln>
                <a:solidFill>
                  <a:srgbClr val="697386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13,072 / 11,660</a:t>
            </a: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5BAC0778-B6C7-405F-B18A-0725BAFE809C}"/>
              </a:ext>
            </a:extLst>
          </p:cNvPr>
          <p:cNvSpPr>
            <a:spLocks noGrp="1"/>
          </p:cNvSpPr>
          <p:nvPr/>
        </p:nvSpPr>
        <p:spPr>
          <a:xfrm>
            <a:off x="723900" y="5905500"/>
            <a:ext cx="7048500" cy="2571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050" b="1">
                <a:solidFill>
                  <a:srgbClr val="38B6A5"/>
                </a:solidFill>
                <a:latin typeface="Microsoft YaHei"/>
                <a:ea typeface="Microsoft YaHei"/>
                <a:cs typeface="Microsoft YaHei"/>
              </a:defRPr>
            </a:pPr>
            <a:r>
              <a:rPr kumimoji="0" lang="en-US" altLang="zh-CN" sz="1050" b="1" i="0" u="none" strike="noStrike" kern="1200" cap="none" spc="0" normalizeH="0" baseline="0" noProof="0" dirty="0">
                <a:ln>
                  <a:noFill/>
                </a:ln>
                <a:solidFill>
                  <a:srgbClr val="38B6A5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All pass</a:t>
            </a:r>
            <a:r>
              <a:rPr kumimoji="0" sz="1050" b="1" i="0" u="none" strike="noStrike" kern="1200" cap="none" spc="0" normalizeH="0" baseline="0" noProof="0" dirty="0">
                <a:ln>
                  <a:noFill/>
                </a:ln>
                <a:solidFill>
                  <a:srgbClr val="38B6A5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 </a:t>
            </a:r>
            <a:r>
              <a:rPr kumimoji="0" sz="1050" b="1" i="0" u="none" strike="noStrike" kern="1200" cap="none" spc="0" normalizeH="0" baseline="0" noProof="0" dirty="0" err="1">
                <a:ln>
                  <a:noFill/>
                </a:ln>
                <a:solidFill>
                  <a:srgbClr val="38B6A5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manifest、label、NaN</a:t>
            </a:r>
            <a:r>
              <a:rPr kumimoji="0" sz="1050" b="1" i="0" u="none" strike="noStrike" kern="1200" cap="none" spc="0" normalizeH="0" baseline="0" noProof="0" dirty="0">
                <a:ln>
                  <a:noFill/>
                </a:ln>
                <a:solidFill>
                  <a:srgbClr val="38B6A5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/</a:t>
            </a:r>
            <a:r>
              <a:rPr kumimoji="0" sz="1050" b="1" i="0" u="none" strike="noStrike" kern="1200" cap="none" spc="0" normalizeH="0" baseline="0" noProof="0" dirty="0" err="1">
                <a:ln>
                  <a:noFill/>
                </a:ln>
                <a:solidFill>
                  <a:srgbClr val="38B6A5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Inf、zero-only</a:t>
            </a:r>
            <a:r>
              <a:rPr kumimoji="0" sz="1050" b="1" i="0" u="none" strike="noStrike" kern="1200" cap="none" spc="0" normalizeH="0" baseline="0" noProof="0" dirty="0">
                <a:ln>
                  <a:noFill/>
                </a:ln>
                <a:solidFill>
                  <a:srgbClr val="38B6A5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 </a:t>
            </a:r>
            <a:r>
              <a:rPr kumimoji="0" lang="en-US" altLang="zh-CN" sz="1050" b="1" i="0" u="none" strike="noStrike" kern="1200" cap="none" spc="0" normalizeH="0" baseline="0" noProof="0" dirty="0">
                <a:ln>
                  <a:noFill/>
                </a:ln>
                <a:solidFill>
                  <a:srgbClr val="38B6A5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and</a:t>
            </a:r>
            <a:r>
              <a:rPr kumimoji="0" sz="1050" b="1" i="0" u="none" strike="noStrike" kern="1200" cap="none" spc="0" normalizeH="0" baseline="0" noProof="0" dirty="0">
                <a:ln>
                  <a:noFill/>
                </a:ln>
                <a:solidFill>
                  <a:srgbClr val="38B6A5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 layout </a:t>
            </a:r>
            <a:r>
              <a:rPr kumimoji="0" lang="en-US" altLang="zh-CN" sz="1050" b="1" i="0" u="none" strike="noStrike" kern="1200" cap="none" spc="0" normalizeH="0" baseline="0" noProof="0" dirty="0">
                <a:ln>
                  <a:noFill/>
                </a:ln>
                <a:solidFill>
                  <a:srgbClr val="38B6A5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validation</a:t>
            </a:r>
            <a:endParaRPr kumimoji="0" sz="1050" b="1" i="0" u="none" strike="noStrike" kern="1200" cap="none" spc="0" normalizeH="0" baseline="0" noProof="0" dirty="0">
              <a:ln>
                <a:noFill/>
              </a:ln>
              <a:solidFill>
                <a:srgbClr val="38B6A5"/>
              </a:solidFill>
              <a:effectLst/>
              <a:uLnTx/>
              <a:uFillTx/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64" name="矩形: 圆角 63">
            <a:extLst>
              <a:ext uri="{FF2B5EF4-FFF2-40B4-BE49-F238E27FC236}">
                <a16:creationId xmlns:a16="http://schemas.microsoft.com/office/drawing/2014/main" id="{35C7E5DA-2095-4B0C-B0FD-7DC2A911E05C}"/>
              </a:ext>
            </a:extLst>
          </p:cNvPr>
          <p:cNvSpPr>
            <a:spLocks noGrp="1"/>
          </p:cNvSpPr>
          <p:nvPr/>
        </p:nvSpPr>
        <p:spPr>
          <a:xfrm>
            <a:off x="8248650" y="4267200"/>
            <a:ext cx="3371850" cy="2038350"/>
          </a:xfrm>
          <a:prstGeom prst="roundRect">
            <a:avLst>
              <a:gd name="adj" fmla="val 5607"/>
            </a:avLst>
          </a:prstGeom>
          <a:solidFill>
            <a:srgbClr val="181C62"/>
          </a:solidFill>
          <a:ln w="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28313443-EC91-4CE2-A751-DA58DB46B839}"/>
              </a:ext>
            </a:extLst>
          </p:cNvPr>
          <p:cNvSpPr>
            <a:spLocks noGrp="1"/>
          </p:cNvSpPr>
          <p:nvPr/>
        </p:nvSpPr>
        <p:spPr>
          <a:xfrm>
            <a:off x="8496300" y="4419600"/>
            <a:ext cx="28575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348"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kumimoji="0" lang="zh-CN" altLang="zh-CN" sz="16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icrosoft YaHei"/>
                <a:ea typeface="Microsoft YaHei"/>
              </a:rPr>
              <a:t>Training Interface</a:t>
            </a:r>
            <a:endParaRPr kumimoji="0" sz="165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FC7CAE35-4DBE-4037-862D-CBC558B33872}"/>
              </a:ext>
            </a:extLst>
          </p:cNvPr>
          <p:cNvSpPr>
            <a:spLocks noGrp="1"/>
          </p:cNvSpPr>
          <p:nvPr/>
        </p:nvSpPr>
        <p:spPr>
          <a:xfrm>
            <a:off x="8496300" y="4857750"/>
            <a:ext cx="1143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714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050" b="1">
                <a:solidFill>
                  <a:srgbClr val="F6A9BF"/>
                </a:solidFill>
                <a:latin typeface="Microsoft YaHei"/>
                <a:ea typeface="Microsoft YaHei"/>
                <a:cs typeface="Microsoft YaHei"/>
              </a:defRPr>
            </a:pPr>
            <a:r>
              <a:rPr kumimoji="0" lang="zh-CN" altLang="zh-CN" sz="1050" b="1" i="0" u="none" strike="noStrike" kern="1200" cap="none" spc="0" normalizeH="0" baseline="0" noProof="0" dirty="0">
                <a:ln>
                  <a:noFill/>
                </a:ln>
                <a:solidFill>
                  <a:srgbClr val="F6A9BF"/>
                </a:solidFill>
                <a:effectLst/>
                <a:uLnTx/>
                <a:uFillTx/>
                <a:latin typeface="Microsoft YaHei"/>
                <a:ea typeface="Microsoft YaHei"/>
              </a:rPr>
              <a:t>Offline Storage</a:t>
            </a:r>
            <a:endParaRPr kumimoji="0" sz="1050" b="1" i="0" u="none" strike="noStrike" kern="1200" cap="none" spc="0" normalizeH="0" baseline="0" noProof="0" dirty="0">
              <a:ln>
                <a:noFill/>
              </a:ln>
              <a:solidFill>
                <a:srgbClr val="F6A9BF"/>
              </a:solidFill>
              <a:effectLst/>
              <a:uLnTx/>
              <a:uFillTx/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38D76683-AFA3-4EE2-92E2-0D7E79AC298E}"/>
              </a:ext>
            </a:extLst>
          </p:cNvPr>
          <p:cNvSpPr>
            <a:spLocks noGrp="1"/>
          </p:cNvSpPr>
          <p:nvPr/>
        </p:nvSpPr>
        <p:spPr>
          <a:xfrm>
            <a:off x="8496300" y="5095875"/>
            <a:ext cx="28575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500"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(N, 300, 150) · float32</a:t>
            </a: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7A6FD600-5A93-45F8-9BFA-EB7933C7558E}"/>
              </a:ext>
            </a:extLst>
          </p:cNvPr>
          <p:cNvSpPr>
            <a:spLocks noGrp="1"/>
          </p:cNvSpPr>
          <p:nvPr/>
        </p:nvSpPr>
        <p:spPr>
          <a:xfrm>
            <a:off x="8496300" y="5457825"/>
            <a:ext cx="13335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3214"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050" b="1">
                <a:solidFill>
                  <a:srgbClr val="F6A9BF"/>
                </a:solidFill>
                <a:latin typeface="Microsoft YaHei"/>
                <a:ea typeface="Microsoft YaHei"/>
                <a:cs typeface="Microsoft YaHei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F6A9BF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Feeder runtime</a:t>
            </a: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AFCA5885-ADF6-48E3-9245-A39A16702157}"/>
              </a:ext>
            </a:extLst>
          </p:cNvPr>
          <p:cNvSpPr>
            <a:spLocks noGrp="1"/>
          </p:cNvSpPr>
          <p:nvPr/>
        </p:nvSpPr>
        <p:spPr>
          <a:xfrm>
            <a:off x="8496300" y="5695950"/>
            <a:ext cx="28575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500"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(N, 3, 64, 25, 2)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711A6DE-12B5-A744-387A-ABA8D304DDCC}"/>
              </a:ext>
            </a:extLst>
          </p:cNvPr>
          <p:cNvSpPr txBox="1"/>
          <p:nvPr/>
        </p:nvSpPr>
        <p:spPr>
          <a:xfrm>
            <a:off x="7124700" y="3248264"/>
            <a:ext cx="1314450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75" b="0">
                <a:solidFill>
                  <a:srgbClr val="17192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kumimoji="0" lang="en-US" altLang="zh-CN" sz="900" b="0" i="0" u="none" strike="noStrike" kern="1200" cap="none" spc="0" normalizeH="0" baseline="0" noProof="0" dirty="0">
                <a:ln>
                  <a:noFill/>
                </a:ln>
                <a:solidFill>
                  <a:srgbClr val="171927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</a:rPr>
              <a:t>joint-2 translation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75" b="0">
                <a:solidFill>
                  <a:srgbClr val="17192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kumimoji="0" lang="en-US" altLang="zh-CN" sz="900" b="0" i="0" u="none" strike="noStrike" kern="1200" cap="none" spc="0" normalizeH="0" baseline="0" noProof="0" dirty="0">
                <a:ln>
                  <a:noFill/>
                </a:ln>
                <a:solidFill>
                  <a:srgbClr val="171927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</a:rPr>
              <a:t>zero restore and padding</a:t>
            </a:r>
          </a:p>
        </p:txBody>
      </p:sp>
    </p:spTree>
    <p:extLst>
      <p:ext uri="{BB962C8B-B14F-4D97-AF65-F5344CB8AC3E}">
        <p14:creationId xmlns:p14="http://schemas.microsoft.com/office/powerpoint/2010/main" val="16494637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矩形 63">
            <a:extLst>
              <a:ext uri="{FF2B5EF4-FFF2-40B4-BE49-F238E27FC236}">
                <a16:creationId xmlns:a16="http://schemas.microsoft.com/office/drawing/2014/main" id="{F65D6C5C-5527-449A-90BB-F3EDB1A669B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E31346"/>
          </a:solidFill>
          <a:ln w="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A4FF1B4-D5CF-4073-AA5D-B37B0A0F866B}"/>
              </a:ext>
            </a:extLst>
          </p:cNvPr>
          <p:cNvSpPr>
            <a:spLocks noGrp="1"/>
          </p:cNvSpPr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 w="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748ECBF-94B4-428F-8EA1-364B9ED68CCA}"/>
              </a:ext>
            </a:extLst>
          </p:cNvPr>
          <p:cNvSpPr>
            <a:spLocks noGrp="1"/>
          </p:cNvSpPr>
          <p:nvPr/>
        </p:nvSpPr>
        <p:spPr>
          <a:xfrm>
            <a:off x="514350" y="228600"/>
            <a:ext cx="88582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02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550" b="1">
                <a:solidFill>
                  <a:srgbClr val="181C62"/>
                </a:solidFill>
                <a:latin typeface="Microsoft YaHei"/>
                <a:ea typeface="Microsoft YaHei"/>
                <a:cs typeface="Microsoft YaHei"/>
              </a:defRPr>
            </a:pPr>
            <a:r>
              <a:rPr kumimoji="0" sz="2550" b="1" i="0" u="none" strike="noStrike" kern="1200" cap="none" spc="0" normalizeH="0" baseline="0" noProof="0" dirty="0">
                <a:ln>
                  <a:noFill/>
                </a:ln>
                <a:solidFill>
                  <a:srgbClr val="181C62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Multi-person audit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E873330-32D2-48B6-A0CC-47D27CA4D96F}"/>
              </a:ext>
            </a:extLst>
          </p:cNvPr>
          <p:cNvSpPr>
            <a:spLocks noGrp="1"/>
          </p:cNvSpPr>
          <p:nvPr/>
        </p:nvSpPr>
        <p:spPr>
          <a:xfrm>
            <a:off x="514350" y="695325"/>
            <a:ext cx="8572500" cy="2571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6667"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25" b="1">
                <a:solidFill>
                  <a:srgbClr val="E31346"/>
                </a:solidFill>
                <a:latin typeface="Microsoft YaHei"/>
                <a:ea typeface="Microsoft YaHei"/>
                <a:cs typeface="Microsoft YaHei"/>
              </a:defRPr>
            </a:pPr>
            <a:r>
              <a:rPr kumimoji="0" sz="1125" b="1" i="0" u="none" strike="noStrike" kern="1200" cap="none" spc="0" normalizeH="0" baseline="0" noProof="0" dirty="0">
                <a:ln>
                  <a:noFill/>
                </a:ln>
                <a:solidFill>
                  <a:srgbClr val="E31346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Interaction-26 · 24,732 samples · </a:t>
            </a:r>
            <a:r>
              <a:rPr kumimoji="0" sz="1125" b="1" i="0" u="none" strike="noStrike" kern="1200" cap="none" spc="0" normalizeH="0" baseline="0" noProof="0" dirty="0" err="1">
                <a:ln>
                  <a:noFill/>
                </a:ln>
                <a:solidFill>
                  <a:srgbClr val="E31346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bodyID</a:t>
            </a:r>
            <a:r>
              <a:rPr kumimoji="0" sz="1125" b="1" i="0" u="none" strike="noStrike" kern="1200" cap="none" spc="0" normalizeH="0" baseline="0" noProof="0" dirty="0">
                <a:ln>
                  <a:noFill/>
                </a:ln>
                <a:solidFill>
                  <a:srgbClr val="E31346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 </a:t>
            </a:r>
            <a:r>
              <a:rPr kumimoji="0" lang="en-US" altLang="zh-CN" sz="1125" b="1" i="0" u="none" strike="noStrike" kern="1200" cap="none" spc="0" normalizeH="0" baseline="0" noProof="0" dirty="0">
                <a:ln>
                  <a:noFill/>
                </a:ln>
                <a:solidFill>
                  <a:srgbClr val="E31346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u</a:t>
            </a:r>
            <a:r>
              <a:rPr kumimoji="0" lang="zh-CN" altLang="zh-CN" sz="1125" b="1" i="0" u="none" strike="noStrike" kern="1200" cap="none" spc="0" normalizeH="0" baseline="0" noProof="0" dirty="0">
                <a:ln>
                  <a:noFill/>
                </a:ln>
                <a:solidFill>
                  <a:srgbClr val="E31346"/>
                </a:solidFill>
                <a:effectLst/>
                <a:uLnTx/>
                <a:uFillTx/>
                <a:latin typeface="Microsoft YaHei"/>
                <a:ea typeface="Microsoft YaHei"/>
              </a:rPr>
              <a:t>sed for Quality Auditing Only</a:t>
            </a:r>
            <a:endParaRPr kumimoji="0" sz="1125" b="1" i="0" u="none" strike="noStrike" kern="1200" cap="none" spc="0" normalizeH="0" baseline="0" noProof="0" dirty="0">
              <a:ln>
                <a:noFill/>
              </a:ln>
              <a:solidFill>
                <a:srgbClr val="E31346"/>
              </a:solidFill>
              <a:effectLst/>
              <a:uLnTx/>
              <a:uFillTx/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B4947C6-82AB-46B0-9E2B-4EDF6A449AB7}"/>
              </a:ext>
            </a:extLst>
          </p:cNvPr>
          <p:cNvSpPr>
            <a:spLocks noGrp="1"/>
          </p:cNvSpPr>
          <p:nvPr/>
        </p:nvSpPr>
        <p:spPr>
          <a:xfrm>
            <a:off x="514350" y="1000125"/>
            <a:ext cx="1524000" cy="47625"/>
          </a:xfrm>
          <a:prstGeom prst="rect">
            <a:avLst/>
          </a:prstGeom>
          <a:solidFill>
            <a:srgbClr val="E31346"/>
          </a:solidFill>
          <a:ln w="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pic>
        <p:nvPicPr>
          <p:cNvPr id="69" name="图片 6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810750" y="229601"/>
            <a:ext cx="1905000" cy="683797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9CF310AD-F491-4984-8CF3-56730F74CA7B}"/>
              </a:ext>
            </a:extLst>
          </p:cNvPr>
          <p:cNvSpPr>
            <a:spLocks noGrp="1"/>
          </p:cNvSpPr>
          <p:nvPr/>
        </p:nvSpPr>
        <p:spPr>
          <a:xfrm>
            <a:off x="514350" y="6591300"/>
            <a:ext cx="32385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kumimoji="0" sz="825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EE6008 · HUMAN POSE ANALYTICS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DF7A139B-2A6A-4EE6-BF97-011425935DA8}"/>
              </a:ext>
            </a:extLst>
          </p:cNvPr>
          <p:cNvSpPr>
            <a:spLocks noGrp="1"/>
          </p:cNvSpPr>
          <p:nvPr/>
        </p:nvSpPr>
        <p:spPr>
          <a:xfrm>
            <a:off x="514350" y="1238250"/>
            <a:ext cx="11106150" cy="514350"/>
          </a:xfrm>
          <a:prstGeom prst="roundRect">
            <a:avLst>
              <a:gd name="adj" fmla="val 14815"/>
            </a:avLst>
          </a:prstGeom>
          <a:solidFill>
            <a:srgbClr val="FBE8EF"/>
          </a:solidFill>
          <a:ln w="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C666B2B-CD16-4721-9AD6-2AEC3F1C06EB}"/>
              </a:ext>
            </a:extLst>
          </p:cNvPr>
          <p:cNvSpPr>
            <a:spLocks noGrp="1"/>
          </p:cNvSpPr>
          <p:nvPr/>
        </p:nvSpPr>
        <p:spPr>
          <a:xfrm>
            <a:off x="723900" y="1314450"/>
            <a:ext cx="106870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0000" lnSpcReduction="2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500" b="1">
                <a:solidFill>
                  <a:srgbClr val="181C62"/>
                </a:solidFill>
                <a:latin typeface="Microsoft YaHei"/>
                <a:ea typeface="Microsoft YaHei"/>
                <a:cs typeface="Microsoft YaHei"/>
              </a:defRPr>
            </a:pPr>
            <a:r>
              <a:rPr kumimoji="0" lang="zh-CN" altLang="zh-CN" sz="1500" b="1" i="0" u="none" strike="noStrike" kern="1200" cap="none" spc="0" normalizeH="0" baseline="0" noProof="0" dirty="0">
                <a:ln>
                  <a:noFill/>
                </a:ln>
                <a:solidFill>
                  <a:srgbClr val="181C62"/>
                </a:solidFill>
                <a:effectLst/>
                <a:uLnTx/>
                <a:uFillTx/>
                <a:latin typeface="Microsoft YaHei"/>
                <a:ea typeface="Microsoft YaHei"/>
              </a:rPr>
              <a:t>Conclusion: 96.7% of samples ultimately retain two persons; limited filtering, trajectory merging, and slot switching may weaken person-identity continuity.</a:t>
            </a:r>
            <a:endParaRPr kumimoji="0" sz="1500" b="1" i="0" u="none" strike="noStrike" kern="1200" cap="none" spc="0" normalizeH="0" baseline="0" noProof="0" dirty="0">
              <a:ln>
                <a:noFill/>
              </a:ln>
              <a:solidFill>
                <a:srgbClr val="181C62"/>
              </a:solidFill>
              <a:effectLst/>
              <a:uLnTx/>
              <a:uFillTx/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1EC70DA3-E977-4BDB-B9E0-E8B8025E9996}"/>
              </a:ext>
            </a:extLst>
          </p:cNvPr>
          <p:cNvSpPr>
            <a:spLocks noGrp="1"/>
          </p:cNvSpPr>
          <p:nvPr/>
        </p:nvSpPr>
        <p:spPr>
          <a:xfrm>
            <a:off x="514350" y="2000250"/>
            <a:ext cx="6477000" cy="4305300"/>
          </a:xfrm>
          <a:prstGeom prst="roundRect">
            <a:avLst>
              <a:gd name="adj" fmla="val 2655"/>
            </a:avLst>
          </a:prstGeom>
          <a:solidFill>
            <a:srgbClr val="F6F7FB"/>
          </a:solidFill>
          <a:ln w="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1E6F441-85F7-46D9-A0BC-9AC2DFD60FD9}"/>
              </a:ext>
            </a:extLst>
          </p:cNvPr>
          <p:cNvSpPr>
            <a:spLocks noGrp="1"/>
          </p:cNvSpPr>
          <p:nvPr/>
        </p:nvSpPr>
        <p:spPr>
          <a:xfrm>
            <a:off x="723900" y="2552700"/>
            <a:ext cx="1143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214"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050" b="1">
                <a:solidFill>
                  <a:srgbClr val="697386"/>
                </a:solidFill>
                <a:latin typeface="Microsoft YaHei"/>
                <a:ea typeface="Microsoft YaHei"/>
                <a:cs typeface="Microsoft YaHei"/>
              </a:defRPr>
            </a:pPr>
            <a:r>
              <a:rPr kumimoji="0" lang="zh-CN" altLang="zh-CN" sz="1050" b="1" i="0" u="none" strike="noStrike" kern="1200" cap="none" spc="0" normalizeH="0" baseline="0" noProof="0" dirty="0">
                <a:ln>
                  <a:noFill/>
                </a:ln>
                <a:solidFill>
                  <a:srgbClr val="697386"/>
                </a:solidFill>
                <a:effectLst/>
                <a:uLnTx/>
                <a:uFillTx/>
                <a:latin typeface="Microsoft YaHei"/>
                <a:ea typeface="Microsoft YaHei"/>
              </a:rPr>
              <a:t>Final Person Slots</a:t>
            </a:r>
            <a:endParaRPr kumimoji="0" sz="1050" b="1" i="0" u="none" strike="noStrike" kern="1200" cap="none" spc="0" normalizeH="0" baseline="0" noProof="0" dirty="0">
              <a:ln>
                <a:noFill/>
              </a:ln>
              <a:solidFill>
                <a:srgbClr val="697386"/>
              </a:solidFill>
              <a:effectLst/>
              <a:uLnTx/>
              <a:uFillTx/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98F6D0B9-FEDE-4D2D-8A52-BD99EC3EB839}"/>
              </a:ext>
            </a:extLst>
          </p:cNvPr>
          <p:cNvSpPr>
            <a:spLocks noGrp="1"/>
          </p:cNvSpPr>
          <p:nvPr/>
        </p:nvSpPr>
        <p:spPr>
          <a:xfrm>
            <a:off x="1866900" y="2571750"/>
            <a:ext cx="4533900" cy="209550"/>
          </a:xfrm>
          <a:prstGeom prst="roundRect">
            <a:avLst>
              <a:gd name="adj" fmla="val 50000"/>
            </a:avLst>
          </a:prstGeom>
          <a:solidFill>
            <a:srgbClr val="D9DDEA"/>
          </a:solidFill>
          <a:ln w="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8A8668F6-21E1-461D-A4CE-A6219B6F445C}"/>
              </a:ext>
            </a:extLst>
          </p:cNvPr>
          <p:cNvSpPr>
            <a:spLocks noGrp="1"/>
          </p:cNvSpPr>
          <p:nvPr/>
        </p:nvSpPr>
        <p:spPr>
          <a:xfrm>
            <a:off x="1866900" y="2571750"/>
            <a:ext cx="4381500" cy="209550"/>
          </a:xfrm>
          <a:prstGeom prst="roundRect">
            <a:avLst>
              <a:gd name="adj" fmla="val 50000"/>
            </a:avLst>
          </a:prstGeom>
          <a:solidFill>
            <a:srgbClr val="181C62"/>
          </a:solidFill>
          <a:ln w="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4B84F59-9AFF-4280-9BC3-1025FFFE5B2C}"/>
              </a:ext>
            </a:extLst>
          </p:cNvPr>
          <p:cNvSpPr>
            <a:spLocks noGrp="1"/>
          </p:cNvSpPr>
          <p:nvPr/>
        </p:nvSpPr>
        <p:spPr>
          <a:xfrm>
            <a:off x="1981200" y="2552700"/>
            <a:ext cx="2286000" cy="238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8718"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kumimoji="0" lang="zh-CN" altLang="zh-CN" sz="975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icrosoft YaHei"/>
                <a:ea typeface="Microsoft YaHei"/>
              </a:rPr>
              <a:t>Two Persons</a:t>
            </a:r>
            <a:r>
              <a:rPr kumimoji="0" lang="zh-CN" altLang="en-US" sz="975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icrosoft YaHei"/>
                <a:ea typeface="Microsoft YaHei"/>
              </a:rPr>
              <a:t>：</a:t>
            </a:r>
            <a:r>
              <a:rPr kumimoji="0" sz="975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 23,917  ·  96.7%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BC9C0D23-95F5-4CA2-8BFA-A13E8AB34526}"/>
              </a:ext>
            </a:extLst>
          </p:cNvPr>
          <p:cNvSpPr>
            <a:spLocks noGrp="1"/>
          </p:cNvSpPr>
          <p:nvPr/>
        </p:nvSpPr>
        <p:spPr>
          <a:xfrm>
            <a:off x="4810125" y="2552700"/>
            <a:ext cx="1476375" cy="238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3718" lnSpcReduction="100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75" b="1">
                <a:solidFill>
                  <a:srgbClr val="E31346"/>
                </a:solidFill>
                <a:latin typeface="Microsoft YaHei"/>
                <a:ea typeface="Microsoft YaHei"/>
                <a:cs typeface="Microsoft YaHei"/>
              </a:defRPr>
            </a:pPr>
            <a:r>
              <a:rPr kumimoji="0" lang="zh-CN" altLang="zh-CN" sz="975" b="1" i="0" u="none" strike="noStrike" kern="1200" cap="none" spc="0" normalizeH="0" baseline="0" noProof="0" dirty="0">
                <a:ln>
                  <a:noFill/>
                </a:ln>
                <a:solidFill>
                  <a:srgbClr val="E31346"/>
                </a:solidFill>
                <a:effectLst/>
                <a:uLnTx/>
                <a:uFillTx/>
                <a:latin typeface="Microsoft YaHei"/>
                <a:ea typeface="Microsoft YaHei"/>
              </a:rPr>
              <a:t>Single Person:</a:t>
            </a:r>
            <a:r>
              <a:rPr kumimoji="0" sz="975" b="1" i="0" u="none" strike="noStrike" kern="1200" cap="none" spc="0" normalizeH="0" baseline="0" noProof="0" dirty="0">
                <a:ln>
                  <a:noFill/>
                </a:ln>
                <a:solidFill>
                  <a:srgbClr val="E31346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 815 · 3.3%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217FE9E4-5EDF-444B-A1FB-7ED5CCC1AE13}"/>
              </a:ext>
            </a:extLst>
          </p:cNvPr>
          <p:cNvSpPr>
            <a:spLocks noGrp="1"/>
          </p:cNvSpPr>
          <p:nvPr/>
        </p:nvSpPr>
        <p:spPr>
          <a:xfrm>
            <a:off x="723900" y="3105150"/>
            <a:ext cx="1790700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619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050" b="1">
                <a:solidFill>
                  <a:srgbClr val="171A2B"/>
                </a:solidFill>
                <a:latin typeface="Microsoft YaHei"/>
                <a:ea typeface="Microsoft YaHei"/>
                <a:cs typeface="Microsoft YaHei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171A2B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&gt;2 raw body IDs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680D1CE1-82D0-4C82-853A-BD604061CA72}"/>
              </a:ext>
            </a:extLst>
          </p:cNvPr>
          <p:cNvSpPr>
            <a:spLocks noGrp="1"/>
          </p:cNvSpPr>
          <p:nvPr/>
        </p:nvSpPr>
        <p:spPr>
          <a:xfrm>
            <a:off x="2571750" y="3143250"/>
            <a:ext cx="3143250" cy="171450"/>
          </a:xfrm>
          <a:prstGeom prst="roundRect">
            <a:avLst>
              <a:gd name="adj" fmla="val 50000"/>
            </a:avLst>
          </a:prstGeom>
          <a:solidFill>
            <a:srgbClr val="D9DDEA"/>
          </a:solidFill>
          <a:ln w="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458024D8-EDE0-4DDB-A1E5-999F127BA6C6}"/>
              </a:ext>
            </a:extLst>
          </p:cNvPr>
          <p:cNvSpPr>
            <a:spLocks noGrp="1"/>
          </p:cNvSpPr>
          <p:nvPr/>
        </p:nvSpPr>
        <p:spPr>
          <a:xfrm>
            <a:off x="2571750" y="3143250"/>
            <a:ext cx="3143250" cy="171450"/>
          </a:xfrm>
          <a:prstGeom prst="roundRect">
            <a:avLst>
              <a:gd name="adj" fmla="val 50000"/>
            </a:avLst>
          </a:prstGeom>
          <a:solidFill>
            <a:srgbClr val="E31346"/>
          </a:solidFill>
          <a:ln w="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6D408AE5-9A1D-4BBD-A661-5C7F4BD0CE5D}"/>
              </a:ext>
            </a:extLst>
          </p:cNvPr>
          <p:cNvSpPr>
            <a:spLocks noGrp="1"/>
          </p:cNvSpPr>
          <p:nvPr/>
        </p:nvSpPr>
        <p:spPr>
          <a:xfrm>
            <a:off x="5829300" y="3105150"/>
            <a:ext cx="819150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8611" lnSpcReduction="100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25" b="1">
                <a:solidFill>
                  <a:srgbClr val="E31346"/>
                </a:solidFill>
                <a:latin typeface="Microsoft YaHei"/>
                <a:ea typeface="Microsoft YaHei"/>
                <a:cs typeface="Microsoft YaHei"/>
              </a:defRPr>
            </a:pPr>
            <a:r>
              <a:rPr kumimoji="0" sz="1125" b="1" i="0" u="none" strike="noStrike" kern="1200" cap="none" spc="0" normalizeH="0" baseline="0" noProof="0">
                <a:ln>
                  <a:noFill/>
                </a:ln>
                <a:solidFill>
                  <a:srgbClr val="E31346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1,224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99C7DDAF-0EE1-4994-9B09-3142CDC0585A}"/>
              </a:ext>
            </a:extLst>
          </p:cNvPr>
          <p:cNvSpPr>
            <a:spLocks noGrp="1"/>
          </p:cNvSpPr>
          <p:nvPr/>
        </p:nvSpPr>
        <p:spPr>
          <a:xfrm>
            <a:off x="723900" y="3657600"/>
            <a:ext cx="1790700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619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050" b="1">
                <a:solidFill>
                  <a:srgbClr val="171A2B"/>
                </a:solidFill>
                <a:latin typeface="Microsoft YaHei"/>
                <a:ea typeface="Microsoft YaHei"/>
                <a:cs typeface="Microsoft YaHei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171A2B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removed trajectories</a:t>
            </a: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A51BB9FD-FE4A-49C6-B1FE-80C88A897EC8}"/>
              </a:ext>
            </a:extLst>
          </p:cNvPr>
          <p:cNvSpPr>
            <a:spLocks noGrp="1"/>
          </p:cNvSpPr>
          <p:nvPr/>
        </p:nvSpPr>
        <p:spPr>
          <a:xfrm>
            <a:off x="2571750" y="3695700"/>
            <a:ext cx="3143250" cy="171450"/>
          </a:xfrm>
          <a:prstGeom prst="roundRect">
            <a:avLst>
              <a:gd name="adj" fmla="val 50000"/>
            </a:avLst>
          </a:prstGeom>
          <a:solidFill>
            <a:srgbClr val="D9DDEA"/>
          </a:solidFill>
          <a:ln w="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BBDC98B0-B0D9-405D-8946-73FE868A7344}"/>
              </a:ext>
            </a:extLst>
          </p:cNvPr>
          <p:cNvSpPr>
            <a:spLocks noGrp="1"/>
          </p:cNvSpPr>
          <p:nvPr/>
        </p:nvSpPr>
        <p:spPr>
          <a:xfrm>
            <a:off x="2571750" y="3695700"/>
            <a:ext cx="2009775" cy="171450"/>
          </a:xfrm>
          <a:prstGeom prst="roundRect">
            <a:avLst>
              <a:gd name="adj" fmla="val 50000"/>
            </a:avLst>
          </a:prstGeom>
          <a:solidFill>
            <a:srgbClr val="F05A78"/>
          </a:solidFill>
          <a:ln w="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4E651D19-E060-4BAE-9D48-86CCDDF49597}"/>
              </a:ext>
            </a:extLst>
          </p:cNvPr>
          <p:cNvSpPr>
            <a:spLocks noGrp="1"/>
          </p:cNvSpPr>
          <p:nvPr/>
        </p:nvSpPr>
        <p:spPr>
          <a:xfrm>
            <a:off x="5829300" y="3657600"/>
            <a:ext cx="819150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8611" lnSpcReduction="100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25" b="1">
                <a:solidFill>
                  <a:srgbClr val="F05A78"/>
                </a:solidFill>
                <a:latin typeface="Microsoft YaHei"/>
                <a:ea typeface="Microsoft YaHei"/>
                <a:cs typeface="Microsoft YaHei"/>
              </a:defRPr>
            </a:pPr>
            <a:r>
              <a:rPr kumimoji="0" sz="1125" b="1" i="0" u="none" strike="noStrike" kern="1200" cap="none" spc="0" normalizeH="0" baseline="0" noProof="0">
                <a:ln>
                  <a:noFill/>
                </a:ln>
                <a:solidFill>
                  <a:srgbClr val="F05A78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782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14B5466E-B5D2-4D8B-A000-8F6EC578CD8D}"/>
              </a:ext>
            </a:extLst>
          </p:cNvPr>
          <p:cNvSpPr>
            <a:spLocks noGrp="1"/>
          </p:cNvSpPr>
          <p:nvPr/>
        </p:nvSpPr>
        <p:spPr>
          <a:xfrm>
            <a:off x="723900" y="4210050"/>
            <a:ext cx="1790700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619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050" b="1">
                <a:solidFill>
                  <a:srgbClr val="171A2B"/>
                </a:solidFill>
                <a:latin typeface="Microsoft YaHei"/>
                <a:ea typeface="Microsoft YaHei"/>
                <a:cs typeface="Microsoft YaHei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171A2B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unassigned trajectories</a:t>
            </a: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F8F11A17-1984-4058-AA94-486F46807A5F}"/>
              </a:ext>
            </a:extLst>
          </p:cNvPr>
          <p:cNvSpPr>
            <a:spLocks noGrp="1"/>
          </p:cNvSpPr>
          <p:nvPr/>
        </p:nvSpPr>
        <p:spPr>
          <a:xfrm>
            <a:off x="2571750" y="4248150"/>
            <a:ext cx="3143250" cy="171450"/>
          </a:xfrm>
          <a:prstGeom prst="roundRect">
            <a:avLst>
              <a:gd name="adj" fmla="val 50000"/>
            </a:avLst>
          </a:prstGeom>
          <a:solidFill>
            <a:srgbClr val="D9DDEA"/>
          </a:solidFill>
          <a:ln w="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46CC4738-3DC9-4887-BC69-4FE093ED49B4}"/>
              </a:ext>
            </a:extLst>
          </p:cNvPr>
          <p:cNvSpPr>
            <a:spLocks noGrp="1"/>
          </p:cNvSpPr>
          <p:nvPr/>
        </p:nvSpPr>
        <p:spPr>
          <a:xfrm>
            <a:off x="2571750" y="4248150"/>
            <a:ext cx="1304925" cy="171450"/>
          </a:xfrm>
          <a:prstGeom prst="roundRect">
            <a:avLst>
              <a:gd name="adj" fmla="val 50000"/>
            </a:avLst>
          </a:prstGeom>
          <a:solidFill>
            <a:srgbClr val="F2B84B"/>
          </a:solidFill>
          <a:ln w="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2737DB55-526E-43E3-8C98-9473B261D6DA}"/>
              </a:ext>
            </a:extLst>
          </p:cNvPr>
          <p:cNvSpPr>
            <a:spLocks noGrp="1"/>
          </p:cNvSpPr>
          <p:nvPr/>
        </p:nvSpPr>
        <p:spPr>
          <a:xfrm>
            <a:off x="5829300" y="4210050"/>
            <a:ext cx="819150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8611" lnSpcReduction="100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25" b="1">
                <a:solidFill>
                  <a:srgbClr val="F2B84B"/>
                </a:solidFill>
                <a:latin typeface="Microsoft YaHei"/>
                <a:ea typeface="Microsoft YaHei"/>
                <a:cs typeface="Microsoft YaHei"/>
              </a:defRPr>
            </a:pPr>
            <a:r>
              <a:rPr kumimoji="0" sz="1125" b="1" i="0" u="none" strike="noStrike" kern="1200" cap="none" spc="0" normalizeH="0" baseline="0" noProof="0">
                <a:ln>
                  <a:noFill/>
                </a:ln>
                <a:solidFill>
                  <a:srgbClr val="F2B84B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509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CF191336-2B44-4C24-A9C7-8969074ACB30}"/>
              </a:ext>
            </a:extLst>
          </p:cNvPr>
          <p:cNvSpPr>
            <a:spLocks noGrp="1"/>
          </p:cNvSpPr>
          <p:nvPr/>
        </p:nvSpPr>
        <p:spPr>
          <a:xfrm>
            <a:off x="723900" y="4762500"/>
            <a:ext cx="1790700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619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050" b="1">
                <a:solidFill>
                  <a:srgbClr val="171A2B"/>
                </a:solidFill>
                <a:latin typeface="Microsoft YaHei"/>
                <a:ea typeface="Microsoft YaHei"/>
                <a:cs typeface="Microsoft YaHei"/>
              </a:defRPr>
            </a:pPr>
            <a:r>
              <a:rPr kumimoji="0" sz="1050" b="1" i="0" u="none" strike="noStrike" kern="1200" cap="none" spc="0" normalizeH="0" baseline="0" noProof="0" dirty="0">
                <a:ln>
                  <a:noFill/>
                </a:ln>
                <a:solidFill>
                  <a:srgbClr val="171A2B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non-overlap merging</a:t>
            </a:r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76EA0F7D-C89C-49DE-9CB8-586109FF0EE3}"/>
              </a:ext>
            </a:extLst>
          </p:cNvPr>
          <p:cNvSpPr>
            <a:spLocks noGrp="1"/>
          </p:cNvSpPr>
          <p:nvPr/>
        </p:nvSpPr>
        <p:spPr>
          <a:xfrm>
            <a:off x="2571750" y="4800600"/>
            <a:ext cx="3143250" cy="171450"/>
          </a:xfrm>
          <a:prstGeom prst="roundRect">
            <a:avLst>
              <a:gd name="adj" fmla="val 50000"/>
            </a:avLst>
          </a:prstGeom>
          <a:solidFill>
            <a:srgbClr val="D9DDEA"/>
          </a:solidFill>
          <a:ln w="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A18D0F62-9F53-46EE-BFF7-FFA07D49C21F}"/>
              </a:ext>
            </a:extLst>
          </p:cNvPr>
          <p:cNvSpPr>
            <a:spLocks noGrp="1"/>
          </p:cNvSpPr>
          <p:nvPr/>
        </p:nvSpPr>
        <p:spPr>
          <a:xfrm>
            <a:off x="2571750" y="4800600"/>
            <a:ext cx="238125" cy="171450"/>
          </a:xfrm>
          <a:prstGeom prst="roundRect">
            <a:avLst>
              <a:gd name="adj" fmla="val 50000"/>
            </a:avLst>
          </a:prstGeom>
          <a:solidFill>
            <a:srgbClr val="38B6A5"/>
          </a:solidFill>
          <a:ln w="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7B333420-602C-436E-8D7A-2169A2E7D464}"/>
              </a:ext>
            </a:extLst>
          </p:cNvPr>
          <p:cNvSpPr>
            <a:spLocks noGrp="1"/>
          </p:cNvSpPr>
          <p:nvPr/>
        </p:nvSpPr>
        <p:spPr>
          <a:xfrm>
            <a:off x="5829300" y="4762500"/>
            <a:ext cx="819150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8611" lnSpcReduction="100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25" b="1">
                <a:solidFill>
                  <a:srgbClr val="38B6A5"/>
                </a:solidFill>
                <a:latin typeface="Microsoft YaHei"/>
                <a:ea typeface="Microsoft YaHei"/>
                <a:cs typeface="Microsoft YaHei"/>
              </a:defRPr>
            </a:pPr>
            <a:r>
              <a:rPr kumimoji="0" sz="1125" b="1" i="0" u="none" strike="noStrike" kern="1200" cap="none" spc="0" normalizeH="0" baseline="0" noProof="0">
                <a:ln>
                  <a:noFill/>
                </a:ln>
                <a:solidFill>
                  <a:srgbClr val="38B6A5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94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D0D517FA-7738-4EC7-839C-983FCA6FD693}"/>
              </a:ext>
            </a:extLst>
          </p:cNvPr>
          <p:cNvSpPr>
            <a:spLocks noGrp="1"/>
          </p:cNvSpPr>
          <p:nvPr/>
        </p:nvSpPr>
        <p:spPr>
          <a:xfrm>
            <a:off x="614362" y="5295900"/>
            <a:ext cx="200977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lvl="0" defTabSz="914400">
              <a:defRPr sz="1050" b="1">
                <a:solidFill>
                  <a:srgbClr val="171A2B"/>
                </a:solidFill>
                <a:latin typeface="Microsoft YaHei"/>
                <a:ea typeface="Microsoft YaHei"/>
                <a:cs typeface="Microsoft YaHei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171A2B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slot </a:t>
            </a:r>
            <a:r>
              <a:rPr kumimoji="0" sz="1000" b="1" i="0" u="none" strike="noStrike" kern="1200" cap="none" spc="0" normalizeH="0" baseline="0" noProof="0" dirty="0" err="1">
                <a:ln>
                  <a:noFill/>
                </a:ln>
                <a:solidFill>
                  <a:srgbClr val="171A2B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bodyID</a:t>
            </a: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171A2B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 switches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171A2B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 </a:t>
            </a:r>
            <a:r>
              <a:rPr lang="zh-CN" altLang="zh-CN" sz="1000" b="1" dirty="0"/>
              <a:t>events</a:t>
            </a:r>
            <a:endParaRPr kumimoji="0" sz="1000" b="1" i="0" u="none" strike="noStrike" kern="1200" cap="none" spc="0" normalizeH="0" baseline="0" noProof="0" dirty="0">
              <a:ln>
                <a:noFill/>
              </a:ln>
              <a:solidFill>
                <a:srgbClr val="171A2B"/>
              </a:solidFill>
              <a:effectLst/>
              <a:uLnTx/>
              <a:uFillTx/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7B95BD45-3353-4771-AA78-0D184EB3C802}"/>
              </a:ext>
            </a:extLst>
          </p:cNvPr>
          <p:cNvSpPr>
            <a:spLocks noGrp="1"/>
          </p:cNvSpPr>
          <p:nvPr/>
        </p:nvSpPr>
        <p:spPr>
          <a:xfrm>
            <a:off x="2571750" y="5353050"/>
            <a:ext cx="3143250" cy="171450"/>
          </a:xfrm>
          <a:prstGeom prst="roundRect">
            <a:avLst>
              <a:gd name="adj" fmla="val 50000"/>
            </a:avLst>
          </a:prstGeom>
          <a:solidFill>
            <a:srgbClr val="D9DDEA"/>
          </a:solidFill>
          <a:ln w="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39E865BA-0609-47DD-B6A8-6341979799D2}"/>
              </a:ext>
            </a:extLst>
          </p:cNvPr>
          <p:cNvSpPr>
            <a:spLocks noGrp="1"/>
          </p:cNvSpPr>
          <p:nvPr/>
        </p:nvSpPr>
        <p:spPr>
          <a:xfrm>
            <a:off x="2571750" y="5353050"/>
            <a:ext cx="247650" cy="171450"/>
          </a:xfrm>
          <a:prstGeom prst="roundRect">
            <a:avLst>
              <a:gd name="adj" fmla="val 50000"/>
            </a:avLst>
          </a:prstGeom>
          <a:solidFill>
            <a:srgbClr val="181C62"/>
          </a:solidFill>
          <a:ln w="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74E119D3-B2AD-4F5E-8D58-0A49216E7668}"/>
              </a:ext>
            </a:extLst>
          </p:cNvPr>
          <p:cNvSpPr>
            <a:spLocks noGrp="1"/>
          </p:cNvSpPr>
          <p:nvPr/>
        </p:nvSpPr>
        <p:spPr>
          <a:xfrm>
            <a:off x="5829300" y="5314950"/>
            <a:ext cx="819150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8611" lnSpcReduction="100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25" b="1">
                <a:solidFill>
                  <a:srgbClr val="181C62"/>
                </a:solidFill>
                <a:latin typeface="Microsoft YaHei"/>
                <a:ea typeface="Microsoft YaHei"/>
                <a:cs typeface="Microsoft YaHei"/>
              </a:defRPr>
            </a:pPr>
            <a:r>
              <a:rPr kumimoji="0" sz="1125" b="1" i="0" u="none" strike="noStrike" kern="1200" cap="none" spc="0" normalizeH="0" baseline="0" noProof="0">
                <a:ln>
                  <a:noFill/>
                </a:ln>
                <a:solidFill>
                  <a:srgbClr val="181C62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95</a:t>
            </a: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A64FF11D-0088-4395-900E-C7DDFDED3B8D}"/>
              </a:ext>
            </a:extLst>
          </p:cNvPr>
          <p:cNvSpPr>
            <a:spLocks noGrp="1"/>
          </p:cNvSpPr>
          <p:nvPr/>
        </p:nvSpPr>
        <p:spPr>
          <a:xfrm>
            <a:off x="7239000" y="2000250"/>
            <a:ext cx="4381500" cy="4305300"/>
          </a:xfrm>
          <a:prstGeom prst="roundRect">
            <a:avLst>
              <a:gd name="adj" fmla="val 2655"/>
            </a:avLst>
          </a:prstGeom>
          <a:solidFill>
            <a:srgbClr val="181C62"/>
          </a:solidFill>
          <a:ln w="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A9DB8704-31B9-4C97-85EA-980F9F040723}"/>
              </a:ext>
            </a:extLst>
          </p:cNvPr>
          <p:cNvSpPr>
            <a:spLocks noGrp="1"/>
          </p:cNvSpPr>
          <p:nvPr/>
        </p:nvSpPr>
        <p:spPr>
          <a:xfrm>
            <a:off x="7524750" y="2171700"/>
            <a:ext cx="371475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348"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kumimoji="0" lang="zh-CN" altLang="zh-CN" sz="16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icrosoft YaHei"/>
                <a:ea typeface="Microsoft YaHei"/>
              </a:rPr>
              <a:t>Potential Issues</a:t>
            </a:r>
            <a:endParaRPr kumimoji="0" sz="165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41" name="椭圆 40">
            <a:extLst>
              <a:ext uri="{FF2B5EF4-FFF2-40B4-BE49-F238E27FC236}">
                <a16:creationId xmlns:a16="http://schemas.microsoft.com/office/drawing/2014/main" id="{13482703-BDD3-4141-87F7-4C4F79C62120}"/>
              </a:ext>
            </a:extLst>
          </p:cNvPr>
          <p:cNvSpPr>
            <a:spLocks noGrp="1"/>
          </p:cNvSpPr>
          <p:nvPr/>
        </p:nvSpPr>
        <p:spPr>
          <a:xfrm>
            <a:off x="7543800" y="2647950"/>
            <a:ext cx="171450" cy="171450"/>
          </a:xfrm>
          <a:prstGeom prst="ellipse">
            <a:avLst/>
          </a:prstGeom>
          <a:solidFill>
            <a:srgbClr val="E31346"/>
          </a:solidFill>
          <a:ln w="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127EFF30-4E11-4067-ADB8-6FB1B3FD4B81}"/>
              </a:ext>
            </a:extLst>
          </p:cNvPr>
          <p:cNvSpPr>
            <a:spLocks noGrp="1"/>
          </p:cNvSpPr>
          <p:nvPr/>
        </p:nvSpPr>
        <p:spPr>
          <a:xfrm>
            <a:off x="7543800" y="2647950"/>
            <a:ext cx="171450" cy="171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000" lnSpcReduction="20000"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kumimoji="0" sz="7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7FA20BA4-9F57-4AA5-A2E5-EAD6AF2E8077}"/>
              </a:ext>
            </a:extLst>
          </p:cNvPr>
          <p:cNvSpPr>
            <a:spLocks noGrp="1"/>
          </p:cNvSpPr>
          <p:nvPr/>
        </p:nvSpPr>
        <p:spPr>
          <a:xfrm>
            <a:off x="7829550" y="2562225"/>
            <a:ext cx="34290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8143" lnSpcReduction="2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2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kumimoji="0" lang="zh-CN" altLang="zh-CN" sz="1125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icrosoft YaHei"/>
                <a:ea typeface="Microsoft YaHei"/>
              </a:rPr>
              <a:t>Motion ranking determines person 0 / 1 and does not represent semantic identity.</a:t>
            </a:r>
            <a:endParaRPr kumimoji="0" sz="1125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5D83C787-9995-4330-8289-CD74C10046CA}"/>
              </a:ext>
            </a:extLst>
          </p:cNvPr>
          <p:cNvSpPr>
            <a:spLocks noGrp="1"/>
          </p:cNvSpPr>
          <p:nvPr/>
        </p:nvSpPr>
        <p:spPr>
          <a:xfrm>
            <a:off x="7543800" y="3143250"/>
            <a:ext cx="171450" cy="171450"/>
          </a:xfrm>
          <a:prstGeom prst="ellipse">
            <a:avLst/>
          </a:prstGeom>
          <a:solidFill>
            <a:srgbClr val="E31346"/>
          </a:solidFill>
          <a:ln w="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539422C5-F8EA-4033-A295-54EAC08328C1}"/>
              </a:ext>
            </a:extLst>
          </p:cNvPr>
          <p:cNvSpPr>
            <a:spLocks noGrp="1"/>
          </p:cNvSpPr>
          <p:nvPr/>
        </p:nvSpPr>
        <p:spPr>
          <a:xfrm>
            <a:off x="7543800" y="3143250"/>
            <a:ext cx="171450" cy="171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000" lnSpcReduction="20000"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kumimoji="0" sz="7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8FBB8228-C21F-447E-B099-2B343BDEB270}"/>
              </a:ext>
            </a:extLst>
          </p:cNvPr>
          <p:cNvSpPr>
            <a:spLocks noGrp="1"/>
          </p:cNvSpPr>
          <p:nvPr/>
        </p:nvSpPr>
        <p:spPr>
          <a:xfrm>
            <a:off x="7829550" y="3057525"/>
            <a:ext cx="34290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500" lnSpcReduction="2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2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kumimoji="0" lang="zh-CN" altLang="zh-CN" sz="1125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icrosoft YaHei"/>
                <a:ea typeface="Microsoft YaHei"/>
              </a:rPr>
              <a:t>Non-overlapping trajectories may be merged into the same slot, potentially causing Body ID switches.</a:t>
            </a:r>
            <a:endParaRPr kumimoji="0" sz="1125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D6F2DFCD-6ACC-4C98-8A14-61CD912D5156}"/>
              </a:ext>
            </a:extLst>
          </p:cNvPr>
          <p:cNvSpPr>
            <a:spLocks noGrp="1"/>
          </p:cNvSpPr>
          <p:nvPr/>
        </p:nvSpPr>
        <p:spPr>
          <a:xfrm>
            <a:off x="7543800" y="3638550"/>
            <a:ext cx="171450" cy="171450"/>
          </a:xfrm>
          <a:prstGeom prst="ellipse">
            <a:avLst/>
          </a:prstGeom>
          <a:solidFill>
            <a:srgbClr val="FF0000"/>
          </a:solidFill>
          <a:ln w="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8E833496-CEB2-482B-849C-A8775E0CCC56}"/>
              </a:ext>
            </a:extLst>
          </p:cNvPr>
          <p:cNvSpPr>
            <a:spLocks noGrp="1"/>
          </p:cNvSpPr>
          <p:nvPr/>
        </p:nvSpPr>
        <p:spPr>
          <a:xfrm>
            <a:off x="7543800" y="3638550"/>
            <a:ext cx="171450" cy="171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000" lnSpcReduction="20000"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kumimoji="0" sz="7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EC7311E0-CCCB-4073-AB03-46A74DAC87BF}"/>
              </a:ext>
            </a:extLst>
          </p:cNvPr>
          <p:cNvSpPr>
            <a:spLocks noGrp="1"/>
          </p:cNvSpPr>
          <p:nvPr/>
        </p:nvSpPr>
        <p:spPr>
          <a:xfrm>
            <a:off x="7829550" y="3552825"/>
            <a:ext cx="34290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500" lnSpcReduction="2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2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kumimoji="0" lang="zh-CN" altLang="zh-CN" sz="1125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icrosoft YaHei"/>
                <a:ea typeface="Microsoft YaHei"/>
              </a:rPr>
              <a:t>Additional trajectories overlapping with both occupied slots may be discarded.</a:t>
            </a:r>
            <a:endParaRPr kumimoji="0" sz="1125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50" name="椭圆 49">
            <a:extLst>
              <a:ext uri="{FF2B5EF4-FFF2-40B4-BE49-F238E27FC236}">
                <a16:creationId xmlns:a16="http://schemas.microsoft.com/office/drawing/2014/main" id="{149D1E7F-A979-4318-AB22-B30E0F7EBDAF}"/>
              </a:ext>
            </a:extLst>
          </p:cNvPr>
          <p:cNvSpPr>
            <a:spLocks noGrp="1"/>
          </p:cNvSpPr>
          <p:nvPr/>
        </p:nvSpPr>
        <p:spPr>
          <a:xfrm>
            <a:off x="7543800" y="4133850"/>
            <a:ext cx="171450" cy="171450"/>
          </a:xfrm>
          <a:prstGeom prst="ellipse">
            <a:avLst/>
          </a:prstGeom>
          <a:solidFill>
            <a:srgbClr val="FF0000"/>
          </a:solidFill>
          <a:ln w="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78A7D819-D8EF-40EF-83A6-4274B679A0A5}"/>
              </a:ext>
            </a:extLst>
          </p:cNvPr>
          <p:cNvSpPr>
            <a:spLocks noGrp="1"/>
          </p:cNvSpPr>
          <p:nvPr/>
        </p:nvSpPr>
        <p:spPr>
          <a:xfrm>
            <a:off x="7543800" y="4133850"/>
            <a:ext cx="171450" cy="171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000" lnSpcReduction="20000"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kumimoji="0" sz="7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36C7BE79-CD53-45AC-8A91-9BB8C371932F}"/>
              </a:ext>
            </a:extLst>
          </p:cNvPr>
          <p:cNvSpPr>
            <a:spLocks noGrp="1"/>
          </p:cNvSpPr>
          <p:nvPr/>
        </p:nvSpPr>
        <p:spPr>
          <a:xfrm>
            <a:off x="7829550" y="4048125"/>
            <a:ext cx="34290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500" lnSpcReduction="2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2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kumimoji="0" lang="zh-CN" altLang="zh-CN" sz="1125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icrosoft YaHei"/>
                <a:ea typeface="Microsoft YaHei"/>
              </a:rPr>
              <a:t>The final NPZ does not preserve the original Body IDs, preventing direct identity tracing</a:t>
            </a:r>
            <a:endParaRPr kumimoji="0" sz="1125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314123A9-371C-4741-9F66-5A687AD678F1}"/>
              </a:ext>
            </a:extLst>
          </p:cNvPr>
          <p:cNvSpPr>
            <a:spLocks noGrp="1"/>
          </p:cNvSpPr>
          <p:nvPr/>
        </p:nvSpPr>
        <p:spPr>
          <a:xfrm>
            <a:off x="7524750" y="4591050"/>
            <a:ext cx="3714750" cy="19050"/>
          </a:xfrm>
          <a:prstGeom prst="rect">
            <a:avLst/>
          </a:prstGeom>
          <a:solidFill>
            <a:srgbClr val="454A88"/>
          </a:solidFill>
          <a:ln w="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6609F940-7DF6-4E90-BDDE-5D171C82870F}"/>
              </a:ext>
            </a:extLst>
          </p:cNvPr>
          <p:cNvSpPr>
            <a:spLocks noGrp="1"/>
          </p:cNvSpPr>
          <p:nvPr/>
        </p:nvSpPr>
        <p:spPr>
          <a:xfrm>
            <a:off x="7524750" y="4733925"/>
            <a:ext cx="37147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8202" lnSpcReduction="2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425" b="1">
                <a:solidFill>
                  <a:srgbClr val="F6A9BF"/>
                </a:solidFill>
                <a:latin typeface="Microsoft YaHei"/>
                <a:ea typeface="Microsoft YaHei"/>
                <a:cs typeface="Microsoft YaHei"/>
              </a:defRPr>
            </a:pPr>
            <a:r>
              <a:rPr kumimoji="0" lang="en-US" altLang="zh-CN" sz="1425" b="1" i="0" u="none" strike="noStrike" kern="1200" cap="none" spc="0" normalizeH="0" baseline="0" noProof="0" dirty="0">
                <a:ln>
                  <a:noFill/>
                </a:ln>
                <a:solidFill>
                  <a:srgbClr val="F6A9BF"/>
                </a:solidFill>
                <a:effectLst/>
                <a:uLnTx/>
                <a:uFillTx/>
                <a:latin typeface="Microsoft YaHei"/>
                <a:ea typeface="Microsoft YaHei"/>
              </a:rPr>
              <a:t>Possible Solutions</a:t>
            </a:r>
            <a:endParaRPr kumimoji="0" sz="1425" b="1" i="0" u="none" strike="noStrike" kern="1200" cap="none" spc="0" normalizeH="0" baseline="0" noProof="0" dirty="0">
              <a:ln>
                <a:noFill/>
              </a:ln>
              <a:solidFill>
                <a:srgbClr val="F6A9BF"/>
              </a:solidFill>
              <a:effectLst/>
              <a:uLnTx/>
              <a:uFillTx/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55" name="矩形: 圆角 54">
            <a:extLst>
              <a:ext uri="{FF2B5EF4-FFF2-40B4-BE49-F238E27FC236}">
                <a16:creationId xmlns:a16="http://schemas.microsoft.com/office/drawing/2014/main" id="{97E81A50-76F9-45F6-BFD7-F6979C6460B5}"/>
              </a:ext>
            </a:extLst>
          </p:cNvPr>
          <p:cNvSpPr>
            <a:spLocks noGrp="1"/>
          </p:cNvSpPr>
          <p:nvPr/>
        </p:nvSpPr>
        <p:spPr>
          <a:xfrm>
            <a:off x="7524750" y="5105400"/>
            <a:ext cx="266700" cy="266700"/>
          </a:xfrm>
          <a:prstGeom prst="roundRect">
            <a:avLst>
              <a:gd name="adj" fmla="val 21429"/>
            </a:avLst>
          </a:prstGeom>
          <a:solidFill>
            <a:srgbClr val="E31346"/>
          </a:solidFill>
          <a:ln w="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7A6E1F87-1AA3-43C0-8829-5819332DAC96}"/>
              </a:ext>
            </a:extLst>
          </p:cNvPr>
          <p:cNvSpPr>
            <a:spLocks noGrp="1"/>
          </p:cNvSpPr>
          <p:nvPr/>
        </p:nvSpPr>
        <p:spPr>
          <a:xfrm>
            <a:off x="7524750" y="5105400"/>
            <a:ext cx="2667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kumimoji="0" sz="975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9BDB55E3-FDAD-45DF-A7B9-A6CF86924189}"/>
              </a:ext>
            </a:extLst>
          </p:cNvPr>
          <p:cNvSpPr>
            <a:spLocks noGrp="1"/>
          </p:cNvSpPr>
          <p:nvPr/>
        </p:nvSpPr>
        <p:spPr>
          <a:xfrm>
            <a:off x="7924800" y="5067300"/>
            <a:ext cx="333375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endParaRPr kumimoji="0" sz="105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D2877E0F-D863-46EF-AE9F-35B86B72D2E4}"/>
              </a:ext>
            </a:extLst>
          </p:cNvPr>
          <p:cNvSpPr>
            <a:spLocks noGrp="1"/>
          </p:cNvSpPr>
          <p:nvPr/>
        </p:nvSpPr>
        <p:spPr>
          <a:xfrm>
            <a:off x="7524750" y="5467350"/>
            <a:ext cx="266700" cy="266700"/>
          </a:xfrm>
          <a:prstGeom prst="roundRect">
            <a:avLst>
              <a:gd name="adj" fmla="val 21429"/>
            </a:avLst>
          </a:prstGeom>
          <a:solidFill>
            <a:srgbClr val="E31346"/>
          </a:solidFill>
          <a:ln w="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17EB03A2-4795-4475-8CF6-AA0C332B9BAA}"/>
              </a:ext>
            </a:extLst>
          </p:cNvPr>
          <p:cNvSpPr>
            <a:spLocks noGrp="1"/>
          </p:cNvSpPr>
          <p:nvPr/>
        </p:nvSpPr>
        <p:spPr>
          <a:xfrm>
            <a:off x="7524750" y="5467350"/>
            <a:ext cx="2667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kumimoji="0" sz="975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9B65075C-5B49-461D-92D6-2700A1B3F2E3}"/>
              </a:ext>
            </a:extLst>
          </p:cNvPr>
          <p:cNvSpPr>
            <a:spLocks noGrp="1"/>
          </p:cNvSpPr>
          <p:nvPr/>
        </p:nvSpPr>
        <p:spPr>
          <a:xfrm>
            <a:off x="7924800" y="5457825"/>
            <a:ext cx="379095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000" lnSpcReduction="2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kumimoji="0" lang="zh-CN" altLang="zh-CN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icrosoft YaHei"/>
                <a:ea typeface="Microsoft YaHei"/>
              </a:rPr>
              <a:t>Evaluate results separately by switch / merge / &gt;2-trajectory cases.</a:t>
            </a:r>
            <a:endParaRPr kumimoji="0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61" name="矩形: 圆角 60">
            <a:extLst>
              <a:ext uri="{FF2B5EF4-FFF2-40B4-BE49-F238E27FC236}">
                <a16:creationId xmlns:a16="http://schemas.microsoft.com/office/drawing/2014/main" id="{2757A25B-4E01-4131-9EFF-080371DAB589}"/>
              </a:ext>
            </a:extLst>
          </p:cNvPr>
          <p:cNvSpPr>
            <a:spLocks noGrp="1"/>
          </p:cNvSpPr>
          <p:nvPr/>
        </p:nvSpPr>
        <p:spPr>
          <a:xfrm>
            <a:off x="7524750" y="5829300"/>
            <a:ext cx="266700" cy="266700"/>
          </a:xfrm>
          <a:prstGeom prst="roundRect">
            <a:avLst>
              <a:gd name="adj" fmla="val 21429"/>
            </a:avLst>
          </a:prstGeom>
          <a:solidFill>
            <a:srgbClr val="E31346"/>
          </a:solidFill>
          <a:ln w="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5A64F9D1-9460-4B0B-ABAC-C831FDFD5E55}"/>
              </a:ext>
            </a:extLst>
          </p:cNvPr>
          <p:cNvSpPr>
            <a:spLocks noGrp="1"/>
          </p:cNvSpPr>
          <p:nvPr/>
        </p:nvSpPr>
        <p:spPr>
          <a:xfrm>
            <a:off x="7524750" y="5829300"/>
            <a:ext cx="2667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kumimoji="0" sz="975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A6747DD3-D084-4FD7-BCD2-BBBEDECDE676}"/>
              </a:ext>
            </a:extLst>
          </p:cNvPr>
          <p:cNvSpPr>
            <a:spLocks noGrp="1"/>
          </p:cNvSpPr>
          <p:nvPr/>
        </p:nvSpPr>
        <p:spPr>
          <a:xfrm>
            <a:off x="7924800" y="5810250"/>
            <a:ext cx="35433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000" lnSpcReduction="2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kumimoji="0" lang="zh-CN" altLang="zh-CN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icrosoft YaHei"/>
                <a:ea typeface="Microsoft YaHei"/>
              </a:rPr>
              <a:t>Build a separate identity-aware data variant for comparison without replacing the baseline.</a:t>
            </a:r>
            <a:endParaRPr kumimoji="0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A04AF6A-5C12-DA80-FA70-8C34865AB537}"/>
              </a:ext>
            </a:extLst>
          </p:cNvPr>
          <p:cNvSpPr txBox="1"/>
          <p:nvPr/>
        </p:nvSpPr>
        <p:spPr>
          <a:xfrm>
            <a:off x="7924800" y="5105286"/>
            <a:ext cx="34290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Calibri"/>
              </a:rPr>
              <a:t>Keep the official-compatible baseline as the control.</a:t>
            </a:r>
          </a:p>
        </p:txBody>
      </p:sp>
    </p:spTree>
    <p:extLst>
      <p:ext uri="{BB962C8B-B14F-4D97-AF65-F5344CB8AC3E}">
        <p14:creationId xmlns:p14="http://schemas.microsoft.com/office/powerpoint/2010/main" val="3373928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3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EE6008 · HUMAN POSE ANALYTICS</a:t>
            </a:r>
          </a:p>
        </p:txBody>
      </p:sp>
      <p:sp>
        <p:nvSpPr>
          <p:cNvPr id="6" name="Rectangle 6"/>
          <p:cNvSpPr/>
          <p:nvPr/>
        </p:nvSpPr>
        <p:spPr>
          <a:xfrm>
            <a:off x="514350" y="1000125"/>
            <a:ext cx="1524000" cy="47625"/>
          </a:xfrm>
          <a:prstGeom prst="rect">
            <a:avLst/>
          </a:prstGeom>
          <a:solidFill>
            <a:srgbClr val="D71440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Rectangle 7"/>
          <p:cNvSpPr/>
          <p:nvPr/>
        </p:nvSpPr>
        <p:spPr>
          <a:xfrm>
            <a:off x="514350" y="1428750"/>
            <a:ext cx="3143250" cy="4648200"/>
          </a:xfrm>
          <a:prstGeom prst="roundRect">
            <a:avLst>
              <a:gd name="adj" fmla="val 3636"/>
            </a:avLst>
          </a:prstGeom>
          <a:solidFill>
            <a:srgbClr val="EEF1FA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Rectangle 8"/>
          <p:cNvSpPr/>
          <p:nvPr/>
        </p:nvSpPr>
        <p:spPr>
          <a:xfrm>
            <a:off x="3905250" y="1428750"/>
            <a:ext cx="4762500" cy="4648200"/>
          </a:xfrm>
          <a:prstGeom prst="roundRect">
            <a:avLst>
              <a:gd name="adj" fmla="val 2459"/>
            </a:avLst>
          </a:prstGeom>
          <a:solidFill>
            <a:srgbClr val="FFFFFF"/>
          </a:solidFill>
          <a:ln w="19050">
            <a:solidFill>
              <a:srgbClr val="C8C8C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Rectangle 9"/>
          <p:cNvSpPr/>
          <p:nvPr/>
        </p:nvSpPr>
        <p:spPr>
          <a:xfrm>
            <a:off x="8915400" y="1428750"/>
            <a:ext cx="2705100" cy="4648200"/>
          </a:xfrm>
          <a:prstGeom prst="roundRect">
            <a:avLst>
              <a:gd name="adj" fmla="val 4225"/>
            </a:avLst>
          </a:prstGeom>
          <a:solidFill>
            <a:srgbClr val="181C62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Rectangle 10"/>
          <p:cNvSpPr/>
          <p:nvPr/>
        </p:nvSpPr>
        <p:spPr>
          <a:xfrm>
            <a:off x="8915400" y="1428750"/>
            <a:ext cx="2705100" cy="114300"/>
          </a:xfrm>
          <a:prstGeom prst="rect">
            <a:avLst/>
          </a:prstGeom>
          <a:solidFill>
            <a:srgbClr val="D71440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extBox 11"/>
          <p:cNvSpPr txBox="1"/>
          <p:nvPr/>
        </p:nvSpPr>
        <p:spPr>
          <a:xfrm>
            <a:off x="757047" y="1675924"/>
            <a:ext cx="690503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D7144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THIS WEEK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166997" y="1675924"/>
            <a:ext cx="3639757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181C62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WHY IT CANNOT SERVE AS OUR BACKBONE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158097" y="1704499"/>
            <a:ext cx="1415010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TECHNICAL TAKEAWAY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01396" y="543878"/>
            <a:ext cx="5486400" cy="498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550" b="1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Baseline Selection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53999" y="2154079"/>
            <a:ext cx="2120900" cy="2952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875"/>
              </a:lnSpc>
            </a:pPr>
            <a:r>
              <a:rPr lang="en-US" sz="1580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SkeletonX reviewed</a:t>
            </a:r>
          </a:p>
          <a:p>
            <a:pPr algn="l">
              <a:lnSpc>
                <a:spcPts val="1875"/>
              </a:lnSpc>
              <a:spcBef>
                <a:spcPts val="525"/>
              </a:spcBef>
            </a:pP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Mentor suggested SkeletonX as our</a:t>
            </a:r>
            <a:b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starting point. We went through the</a:t>
            </a:r>
            <a:b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paper and the released code:</a:t>
            </a:r>
            <a:b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sample pairing, decoupled pooling,</a:t>
            </a:r>
            <a:b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the loss set, the feeders and</a:t>
            </a:r>
            <a:b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both evaluation settings.</a:t>
            </a:r>
            <a:b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b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Finding: it is a training strategy</a:t>
            </a:r>
            <a:b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that wraps a backbone — not a</a:t>
            </a:r>
            <a:b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backbone, and therefore not a</a:t>
            </a:r>
            <a:b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baseline on its own.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164711" y="2170271"/>
            <a:ext cx="3568256" cy="7740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650"/>
              </a:lnSpc>
            </a:pPr>
            <a:r>
              <a:rPr lang="en-US" sz="14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A strategy, not a network</a:t>
            </a:r>
          </a:p>
          <a:p>
            <a:pPr algn="l">
              <a:lnSpc>
                <a:spcPts val="1650"/>
              </a:lnSpc>
              <a:spcBef>
                <a:spcPts val="600"/>
              </a:spcBef>
            </a:pP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Its own experiments plug the same pipeline into several</a:t>
            </a:r>
            <a:b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backbones to show the gain transfers.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155049" y="2173129"/>
            <a:ext cx="2331720" cy="10700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650"/>
              </a:lnSpc>
            </a:pPr>
            <a:r>
              <a:rPr lang="en-US" sz="1580" b="1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Two different</a:t>
            </a:r>
            <a:br>
              <a:rPr lang="en-US" sz="1580" b="1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580" b="1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"identities"</a:t>
            </a:r>
          </a:p>
          <a:p>
            <a:pPr algn="l">
              <a:lnSpc>
                <a:spcPts val="1650"/>
              </a:lnSpc>
              <a:spcBef>
                <a:spcPts val="900"/>
              </a:spcBef>
            </a:pPr>
            <a:r>
              <a:rPr lang="en-US" sz="1050" dirty="0">
                <a:solidFill>
                  <a:srgbClr val="C8C8C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Why it matters:</a:t>
            </a:r>
          </a:p>
          <a:p>
            <a:pPr algn="l">
              <a:lnSpc>
                <a:spcPts val="1650"/>
              </a:lnSpc>
              <a:spcBef>
                <a:spcPts val="150"/>
              </a:spcBef>
            </a:pPr>
            <a:r>
              <a:rPr lang="en-US" sz="112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SkeletonX "subject" = who performed</a:t>
            </a:r>
            <a:br>
              <a:rPr lang="en-US" sz="112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12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the clip. A sample-level attribute,</a:t>
            </a:r>
            <a:br>
              <a:rPr lang="en-US" sz="112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12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separated so the prediction does</a:t>
            </a:r>
            <a:br>
              <a:rPr lang="en-US" sz="112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12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not depend on who performs it.</a:t>
            </a:r>
            <a:br>
              <a:rPr lang="en-US" sz="112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br>
              <a:rPr lang="en-US" sz="112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12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Ours = who is who inside a single</a:t>
            </a:r>
            <a:br>
              <a:rPr lang="en-US" sz="112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12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sequence, i.e. the role each person</a:t>
            </a:r>
            <a:br>
              <a:rPr lang="en-US" sz="112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12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plays in the interaction.</a:t>
            </a:r>
            <a:br>
              <a:rPr lang="en-US" sz="112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br>
              <a:rPr lang="en-US" sz="112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12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Same word, different problem. So it</a:t>
            </a:r>
            <a:br>
              <a:rPr lang="en-US" sz="112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12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is related work, not our baseline.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3840480" y="6665595"/>
            <a:ext cx="3291840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SkeletonX · IEEE TMM 2025 · arXiv:2504.11749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085233" y="6665595"/>
            <a:ext cx="88003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05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24528" y="3017520"/>
            <a:ext cx="4160520" cy="420624"/>
          </a:xfrm>
          <a:prstGeom prst="roundRect">
            <a:avLst>
              <a:gd name="adj" fmla="val 22000"/>
            </a:avLst>
          </a:prstGeom>
          <a:solidFill>
            <a:srgbClr val="FCE9EE"/>
          </a:solidFill>
          <a:ln w="12700">
            <a:solidFill>
              <a:srgbClr val="D71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1">
                <a:solidFill>
                  <a:srgbClr val="D71440"/>
                </a:solidFill>
                <a:latin typeface="Arial" panose="020B0604020202090204"/>
              </a:rPr>
              <a:t>SkeletonX  ·  training strategy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6144768" y="3529584"/>
            <a:ext cx="310896" cy="384048"/>
          </a:xfrm>
          <a:prstGeom prst="downArrow">
            <a:avLst/>
          </a:prstGeom>
          <a:solidFill>
            <a:srgbClr val="B9C0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37960" y="3621024"/>
            <a:ext cx="146304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5E6478"/>
                </a:solidFill>
                <a:latin typeface="Arial" panose="020B0604020202090204"/>
              </a:rPr>
              <a:t>plugs into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24528" y="4041648"/>
            <a:ext cx="1325880" cy="47548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1">
                <a:solidFill>
                  <a:srgbClr val="20243A"/>
                </a:solidFill>
                <a:latin typeface="Arial" panose="020B0604020202090204"/>
              </a:rPr>
              <a:t>ST-GCN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41848" y="4041648"/>
            <a:ext cx="1325880" cy="475488"/>
          </a:xfrm>
          <a:prstGeom prst="roundRect">
            <a:avLst>
              <a:gd name="adj" fmla="val 18000"/>
            </a:avLst>
          </a:prstGeom>
          <a:solidFill>
            <a:srgbClr val="181C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 panose="020B0604020202090204"/>
              </a:rPr>
              <a:t>CTR-GCN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59168" y="4041648"/>
            <a:ext cx="1325880" cy="47548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1">
                <a:solidFill>
                  <a:srgbClr val="20243A"/>
                </a:solidFill>
                <a:latin typeface="Arial" panose="020B0604020202090204"/>
              </a:rPr>
              <a:t>TCA-GCN</a:t>
            </a:r>
          </a:p>
        </p:txBody>
      </p:sp>
      <p:sp>
        <p:nvSpPr>
          <p:cNvPr id="26" name="Up Arrow 25"/>
          <p:cNvSpPr/>
          <p:nvPr/>
        </p:nvSpPr>
        <p:spPr>
          <a:xfrm>
            <a:off x="6144768" y="4590288"/>
            <a:ext cx="274320" cy="310896"/>
          </a:xfrm>
          <a:prstGeom prst="upArrow">
            <a:avLst/>
          </a:prstGeom>
          <a:solidFill>
            <a:srgbClr val="D71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846320" y="4956048"/>
            <a:ext cx="329184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>
                <a:solidFill>
                  <a:srgbClr val="D71440"/>
                </a:solidFill>
                <a:latin typeface="Arial" panose="020B0604020202090204"/>
              </a:rPr>
              <a:t>our backbone and baseline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24528" y="5376672"/>
            <a:ext cx="420624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>
                <a:solidFill>
                  <a:srgbClr val="5E6478"/>
                </a:solidFill>
                <a:latin typeface="Arial" panose="020B0604020202090204"/>
              </a:rPr>
              <a:t>The backbone is an argument to the method, so</a:t>
            </a:r>
          </a:p>
          <a:p>
            <a:pPr algn="l"/>
            <a:r>
              <a:rPr sz="1050" b="0">
                <a:solidFill>
                  <a:srgbClr val="5E6478"/>
                </a:solidFill>
                <a:latin typeface="Arial" panose="020B0604020202090204"/>
              </a:rPr>
              <a:t>"SkeletonX" alone does not define a runnable system.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3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EE6008 · HUMAN POSE ANALYTICS</a:t>
            </a:r>
          </a:p>
        </p:txBody>
      </p:sp>
      <p:sp>
        <p:nvSpPr>
          <p:cNvPr id="6" name="Rectangle 6"/>
          <p:cNvSpPr/>
          <p:nvPr/>
        </p:nvSpPr>
        <p:spPr>
          <a:xfrm>
            <a:off x="514350" y="1000125"/>
            <a:ext cx="1524000" cy="47625"/>
          </a:xfrm>
          <a:prstGeom prst="rect">
            <a:avLst/>
          </a:prstGeom>
          <a:solidFill>
            <a:srgbClr val="D71440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Rectangle 7"/>
          <p:cNvSpPr/>
          <p:nvPr/>
        </p:nvSpPr>
        <p:spPr>
          <a:xfrm>
            <a:off x="514350" y="1304925"/>
            <a:ext cx="11106150" cy="704850"/>
          </a:xfrm>
          <a:prstGeom prst="roundRect">
            <a:avLst>
              <a:gd name="adj" fmla="val 13514"/>
            </a:avLst>
          </a:prstGeom>
          <a:solidFill>
            <a:srgbClr val="FCE9EE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Rectangle 8"/>
          <p:cNvSpPr/>
          <p:nvPr/>
        </p:nvSpPr>
        <p:spPr>
          <a:xfrm>
            <a:off x="514350" y="2238375"/>
            <a:ext cx="7467600" cy="3838575"/>
          </a:xfrm>
          <a:prstGeom prst="roundRect">
            <a:avLst>
              <a:gd name="adj" fmla="val 2978"/>
            </a:avLst>
          </a:prstGeom>
          <a:solidFill>
            <a:srgbClr val="FFFFFF"/>
          </a:solidFill>
          <a:ln w="19050">
            <a:solidFill>
              <a:srgbClr val="C8C8C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Rectangle 9"/>
          <p:cNvSpPr/>
          <p:nvPr/>
        </p:nvSpPr>
        <p:spPr>
          <a:xfrm>
            <a:off x="8229600" y="2238375"/>
            <a:ext cx="3390900" cy="3838575"/>
          </a:xfrm>
          <a:prstGeom prst="roundRect">
            <a:avLst>
              <a:gd name="adj" fmla="val 3371"/>
            </a:avLst>
          </a:prstGeom>
          <a:solidFill>
            <a:srgbClr val="EEF1FA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Rectangle 10"/>
          <p:cNvSpPr/>
          <p:nvPr/>
        </p:nvSpPr>
        <p:spPr>
          <a:xfrm>
            <a:off x="8229600" y="2238375"/>
            <a:ext cx="3390900" cy="457200"/>
          </a:xfrm>
          <a:prstGeom prst="rect">
            <a:avLst/>
          </a:prstGeom>
          <a:solidFill>
            <a:srgbClr val="181C62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extBox 11"/>
          <p:cNvSpPr txBox="1"/>
          <p:nvPr/>
        </p:nvSpPr>
        <p:spPr>
          <a:xfrm>
            <a:off x="738188" y="1407795"/>
            <a:ext cx="1078139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00" b="1" dirty="0">
                <a:solidFill>
                  <a:srgbClr val="D7144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BASELINE DEFINITION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757047" y="2466499"/>
            <a:ext cx="2827431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181C62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CODEBASE · DATA · TRAINING · EVALUATION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471916" y="2429828"/>
            <a:ext cx="928063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b="1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KEY FINDINGS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01396" y="543878"/>
            <a:ext cx="7315200" cy="498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550" b="1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CTR-GCN Baseline · Setup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34949" y="1639729"/>
            <a:ext cx="10058400" cy="30803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580" b="1" dirty="0">
                <a:solidFill>
                  <a:srgbClr val="D7144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CTR-GCN · joint stream only · NTU RGB+D 120 mutual subset (26 classes) · X-Sub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754761" y="2894171"/>
            <a:ext cx="7040880" cy="78352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725"/>
              </a:lnSpc>
            </a:pPr>
            <a:r>
              <a:rPr lang="en-US" sz="14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Repository already mapped</a:t>
            </a:r>
          </a:p>
          <a:p>
            <a:pPr algn="l">
              <a:lnSpc>
                <a:spcPts val="1725"/>
              </a:lnSpc>
              <a:spcBef>
                <a:spcPts val="525"/>
              </a:spcBef>
            </a:pP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main.py (train / test entry)  ·  config/ (per-dataset yaml)  ·  model/ (CTR-GCN)  ·  feeders/ (data loading)</a:t>
            </a:r>
            <a:b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graph/ (skeleton topology)  ·  data/ (preprocessing scripts)  ·  ensemble.py (multi-stream late fusion)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469630" y="2945130"/>
            <a:ext cx="2376424" cy="11125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950"/>
              </a:lnSpc>
            </a:pPr>
            <a:r>
              <a:rPr lang="en-US" sz="1500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Reproduction risks</a:t>
            </a:r>
          </a:p>
          <a:p>
            <a:pPr algn="l">
              <a:lnSpc>
                <a:spcPts val="1950"/>
              </a:lnSpc>
              <a:spcBef>
                <a:spcPts val="600"/>
              </a:spcBef>
            </a:pPr>
            <a: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1 · Headline numbers use four-</a:t>
            </a:r>
            <a:b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stream fusion; single stream is</a:t>
            </a:r>
            <a:b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lower. We state which we ran.</a:t>
            </a:r>
            <a:b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b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2 · ensemble.py aligns streams</a:t>
            </a:r>
            <a:b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by row index, not sample name.</a:t>
            </a:r>
            <a:b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Test order must never change.</a:t>
            </a:r>
            <a:b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b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3 · No official mutual subset —</a:t>
            </a:r>
            <a:b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our filter rule goes in report.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3840480" y="6665595"/>
            <a:ext cx="2926080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CTR-GCN · Chen et al., ICCV 2021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085233" y="6665595"/>
            <a:ext cx="88003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06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794760"/>
            <a:ext cx="1572768" cy="914400"/>
          </a:xfrm>
          <a:prstGeom prst="roundRect">
            <a:avLst>
              <a:gd name="adj" fmla="val 14000"/>
            </a:avLst>
          </a:prstGeom>
          <a:solidFill>
            <a:srgbClr val="EE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150" b="1">
                <a:solidFill>
                  <a:srgbClr val="20243A"/>
                </a:solidFill>
                <a:latin typeface="Arial" panose="020B0604020202090204"/>
              </a:rPr>
              <a:t>data/</a:t>
            </a:r>
          </a:p>
          <a:p>
            <a:pPr algn="ctr"/>
            <a:r>
              <a:rPr sz="900" b="0">
                <a:solidFill>
                  <a:srgbClr val="5E6478"/>
                </a:solidFill>
                <a:latin typeface="Arial" panose="020B0604020202090204"/>
              </a:rPr>
              <a:t>.skeleton → denoise</a:t>
            </a:r>
          </a:p>
          <a:p>
            <a:pPr algn="ctr"/>
            <a:r>
              <a:rPr sz="900" b="0">
                <a:solidFill>
                  <a:srgbClr val="5E6478"/>
                </a:solidFill>
                <a:latin typeface="Arial" panose="020B0604020202090204"/>
              </a:rPr>
              <a:t>→ .npz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2368296" y="4160520"/>
            <a:ext cx="182880" cy="182880"/>
          </a:xfrm>
          <a:prstGeom prst="rightArrow">
            <a:avLst/>
          </a:prstGeom>
          <a:solidFill>
            <a:srgbClr val="B9C0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2569464" y="3794760"/>
            <a:ext cx="1572768" cy="914400"/>
          </a:xfrm>
          <a:prstGeom prst="roundRect">
            <a:avLst>
              <a:gd name="adj" fmla="val 14000"/>
            </a:avLst>
          </a:prstGeom>
          <a:solidFill>
            <a:srgbClr val="EEF1FA"/>
          </a:solidFill>
          <a:ln w="19050">
            <a:solidFill>
              <a:srgbClr val="D71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150" b="1">
                <a:solidFill>
                  <a:srgbClr val="20243A"/>
                </a:solidFill>
                <a:latin typeface="Arial" panose="020B0604020202090204"/>
              </a:rPr>
              <a:t>feeders/</a:t>
            </a:r>
          </a:p>
          <a:p>
            <a:pPr algn="ctr"/>
            <a:r>
              <a:rPr sz="900" b="0">
                <a:solidFill>
                  <a:srgbClr val="5E6478"/>
                </a:solidFill>
                <a:latin typeface="Arial" panose="020B0604020202090204"/>
              </a:rPr>
              <a:t>joint | bone</a:t>
            </a:r>
          </a:p>
          <a:p>
            <a:pPr algn="ctr"/>
            <a:r>
              <a:rPr sz="900" b="0">
                <a:solidFill>
                  <a:srgbClr val="5E6478"/>
                </a:solidFill>
                <a:latin typeface="Arial" panose="020B0604020202090204"/>
              </a:rPr>
              <a:t>joint-mot. | bone-mot.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4160520" y="4160520"/>
            <a:ext cx="182880" cy="182880"/>
          </a:xfrm>
          <a:prstGeom prst="rightArrow">
            <a:avLst/>
          </a:prstGeom>
          <a:solidFill>
            <a:srgbClr val="B9C0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4361688" y="3794760"/>
            <a:ext cx="1572768" cy="914400"/>
          </a:xfrm>
          <a:prstGeom prst="roundRect">
            <a:avLst>
              <a:gd name="adj" fmla="val 14000"/>
            </a:avLst>
          </a:prstGeom>
          <a:solidFill>
            <a:srgbClr val="EE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150" b="1">
                <a:solidFill>
                  <a:srgbClr val="20243A"/>
                </a:solidFill>
                <a:latin typeface="Arial" panose="020B0604020202090204"/>
              </a:rPr>
              <a:t>model/ + main.py</a:t>
            </a:r>
          </a:p>
          <a:p>
            <a:pPr algn="ctr"/>
            <a:r>
              <a:rPr sz="900" b="0">
                <a:solidFill>
                  <a:srgbClr val="5E6478"/>
                </a:solidFill>
                <a:latin typeface="Arial" panose="020B0604020202090204"/>
              </a:rPr>
              <a:t>CTR-GCN, SGD+Nesterov</a:t>
            </a:r>
          </a:p>
          <a:p>
            <a:pPr algn="ctr"/>
            <a:r>
              <a:rPr sz="900" b="0">
                <a:solidFill>
                  <a:srgbClr val="5E6478"/>
                </a:solidFill>
                <a:latin typeface="Arial" panose="020B0604020202090204"/>
              </a:rPr>
              <a:t>65 epochs, lr 0.1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5952743" y="4160520"/>
            <a:ext cx="182880" cy="182880"/>
          </a:xfrm>
          <a:prstGeom prst="rightArrow">
            <a:avLst/>
          </a:prstGeom>
          <a:solidFill>
            <a:srgbClr val="B9C0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6153912" y="3794760"/>
            <a:ext cx="157276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150" b="1">
                <a:solidFill>
                  <a:srgbClr val="5E6478"/>
                </a:solidFill>
                <a:latin typeface="Arial" panose="020B0604020202090204"/>
              </a:rPr>
              <a:t>ensemble.py</a:t>
            </a:r>
          </a:p>
          <a:p>
            <a:pPr algn="ctr"/>
            <a:r>
              <a:rPr sz="900" b="0">
                <a:solidFill>
                  <a:srgbClr val="5E6478"/>
                </a:solidFill>
                <a:latin typeface="Arial" panose="020B0604020202090204"/>
              </a:rPr>
              <a:t>weighted late fusion</a:t>
            </a:r>
          </a:p>
          <a:p>
            <a:pPr algn="ctr"/>
            <a:r>
              <a:rPr sz="900" b="0">
                <a:solidFill>
                  <a:srgbClr val="5E6478"/>
                </a:solidFill>
                <a:latin typeface="Arial" panose="020B0604020202090204"/>
              </a:rPr>
              <a:t>0.6 / 0.6 / 0.4 / 0.4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69464" y="4791456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D71440"/>
                </a:solidFill>
                <a:latin typeface="Arial" panose="020B0604020202090204"/>
              </a:rPr>
              <a:t>Week 4: joint only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175504"/>
            <a:ext cx="70408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>
                <a:solidFill>
                  <a:srgbClr val="5E6478"/>
                </a:solidFill>
                <a:latin typeface="Arial" panose="020B0604020202090204"/>
              </a:rPr>
              <a:t>Four-stream fusion is how CTR-GCN reports its SOTA numbers; we defer it and state the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5E6478"/>
                </a:solidFill>
                <a:latin typeface="Arial" panose="020B0604020202090204"/>
              </a:rPr>
              <a:t>single-stream setting explicitly so our results stay internally comparable.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3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EE6008 · HUMAN POSE ANALYTICS</a:t>
            </a:r>
          </a:p>
        </p:txBody>
      </p:sp>
      <p:sp>
        <p:nvSpPr>
          <p:cNvPr id="6" name="Rectangle 6"/>
          <p:cNvSpPr/>
          <p:nvPr/>
        </p:nvSpPr>
        <p:spPr>
          <a:xfrm>
            <a:off x="514350" y="1000125"/>
            <a:ext cx="1524000" cy="47625"/>
          </a:xfrm>
          <a:prstGeom prst="rect">
            <a:avLst/>
          </a:prstGeom>
          <a:solidFill>
            <a:srgbClr val="D71440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Rectangle 7"/>
          <p:cNvSpPr/>
          <p:nvPr/>
        </p:nvSpPr>
        <p:spPr>
          <a:xfrm>
            <a:off x="514350" y="1304925"/>
            <a:ext cx="11106150" cy="4772025"/>
          </a:xfrm>
          <a:prstGeom prst="roundRect">
            <a:avLst>
              <a:gd name="adj" fmla="val 1996"/>
            </a:avLst>
          </a:prstGeom>
          <a:solidFill>
            <a:srgbClr val="FFFFFF"/>
          </a:solidFill>
          <a:ln w="19050">
            <a:solidFill>
              <a:srgbClr val="C8C8C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TextBox 8"/>
          <p:cNvSpPr txBox="1"/>
          <p:nvPr/>
        </p:nvSpPr>
        <p:spPr>
          <a:xfrm>
            <a:off x="501396" y="543878"/>
            <a:ext cx="7315200" cy="498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550" b="1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Where the person axis disappears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3657600" y="6665595"/>
            <a:ext cx="3840480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CTR-GCN model/ctrgcn.py · SkeletonX model/stdecouple.py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1085233" y="6665595"/>
            <a:ext cx="88003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07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88920" y="1572768"/>
            <a:ext cx="2103120" cy="47548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50" b="1">
                <a:solidFill>
                  <a:srgbClr val="20243A"/>
                </a:solidFill>
                <a:latin typeface="Arial" panose="020B0604020202090204"/>
              </a:rPr>
              <a:t>GCN backbone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946903" y="1719072"/>
            <a:ext cx="201168" cy="182880"/>
          </a:xfrm>
          <a:prstGeom prst="rightArrow">
            <a:avLst/>
          </a:prstGeom>
          <a:solidFill>
            <a:srgbClr val="B9C0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5202936" y="1572768"/>
            <a:ext cx="2377440" cy="475488"/>
          </a:xfrm>
          <a:prstGeom prst="roundRect">
            <a:avLst>
              <a:gd name="adj" fmla="val 14000"/>
            </a:avLst>
          </a:prstGeom>
          <a:solidFill>
            <a:srgbClr val="FCE9EE"/>
          </a:solidFill>
          <a:ln w="19050">
            <a:solidFill>
              <a:srgbClr val="D71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50" b="1">
                <a:solidFill>
                  <a:srgbClr val="D71440"/>
                </a:solidFill>
                <a:latin typeface="Arial" panose="020B0604020202090204"/>
              </a:rPr>
              <a:t>pool  T · V · M  →  vector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635240" y="1719072"/>
            <a:ext cx="201168" cy="182880"/>
          </a:xfrm>
          <a:prstGeom prst="rightArrow">
            <a:avLst/>
          </a:prstGeom>
          <a:solidFill>
            <a:srgbClr val="B9C0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7891271" y="1572768"/>
            <a:ext cx="1920240" cy="47548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50" b="1">
                <a:solidFill>
                  <a:srgbClr val="20243A"/>
                </a:solidFill>
                <a:latin typeface="Arial" panose="020B0604020202090204"/>
              </a:rPr>
              <a:t>FC classifier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1645920"/>
            <a:ext cx="1874519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50" b="0">
                <a:solidFill>
                  <a:srgbClr val="5E6478"/>
                </a:solidFill>
                <a:latin typeface="Arial" panose="020B0604020202090204"/>
              </a:rPr>
              <a:t>Both methods act</a:t>
            </a:r>
          </a:p>
          <a:p>
            <a:pPr algn="r"/>
            <a:r>
              <a:rPr sz="1050" b="0">
                <a:solidFill>
                  <a:srgbClr val="5E6478"/>
                </a:solidFill>
                <a:latin typeface="Arial" panose="020B0604020202090204"/>
              </a:rPr>
              <a:t>at this one step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2359152"/>
            <a:ext cx="3383280" cy="356616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78408" y="2542032"/>
            <a:ext cx="2980944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>
                <a:solidFill>
                  <a:srgbClr val="D71440"/>
                </a:solidFill>
                <a:latin typeface="Arial" panose="020B0604020202090204"/>
              </a:rPr>
              <a:t>CTR-GCN  ·  OUR BASELINE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" y="2889504"/>
            <a:ext cx="2980944" cy="896112"/>
          </a:xfrm>
          <a:prstGeom prst="roundRect">
            <a:avLst>
              <a:gd name="adj" fmla="val 14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l"/>
            <a:r>
              <a:rPr sz="950" b="0">
                <a:solidFill>
                  <a:srgbClr val="20243A"/>
                </a:solidFill>
                <a:latin typeface="Courier New" panose="02070409020205090404"/>
              </a:rPr>
              <a:t>x = x.view(N, M, c_new, -1)</a:t>
            </a:r>
          </a:p>
          <a:p>
            <a:pPr algn="l"/>
            <a:r>
              <a:rPr sz="950" b="1">
                <a:solidFill>
                  <a:srgbClr val="D71440"/>
                </a:solidFill>
                <a:latin typeface="Courier New" panose="02070409020205090404"/>
              </a:rPr>
              <a:t>x = x.mean(3).mean(1)</a:t>
            </a:r>
          </a:p>
          <a:p>
            <a:pPr algn="l"/>
            <a:r>
              <a:rPr sz="950" b="0">
                <a:solidFill>
                  <a:srgbClr val="20243A"/>
                </a:solidFill>
                <a:latin typeface="Courier New" panose="02070409020205090404"/>
              </a:rPr>
              <a:t>return self.fc(x)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" y="3931920"/>
            <a:ext cx="2980944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5E6478"/>
                </a:solidFill>
                <a:latin typeface="Arial" panose="020B0604020202090204"/>
              </a:rPr>
              <a:t>mean(3)  collapses time and joints.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5E6478"/>
                </a:solidFill>
                <a:latin typeface="Arial" panose="020B0604020202090204"/>
              </a:rPr>
              <a:t>mean(1)  collapses M, the person axis.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20243A"/>
                </a:solidFill>
                <a:latin typeface="Arial" panose="020B0604020202090204"/>
              </a:rPr>
              <a:t>Each person is encoded separately, then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20243A"/>
                </a:solidFill>
                <a:latin typeface="Arial" panose="020B0604020202090204"/>
              </a:rPr>
              <a:t>the two feature vectors are averaged.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20243A"/>
                </a:solidFill>
                <a:latin typeface="Arial" panose="020B0604020202090204"/>
              </a:rPr>
              <a:t>The network never compares them.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26280" y="2359152"/>
            <a:ext cx="3383280" cy="356616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727448" y="2542032"/>
            <a:ext cx="2980944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>
                <a:solidFill>
                  <a:srgbClr val="D71440"/>
                </a:solidFill>
                <a:latin typeface="Arial" panose="020B0604020202090204"/>
              </a:rPr>
              <a:t>SKELETONX  ·  RELATED WORK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27448" y="2889504"/>
            <a:ext cx="2980944" cy="896112"/>
          </a:xfrm>
          <a:prstGeom prst="roundRect">
            <a:avLst>
              <a:gd name="adj" fmla="val 14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l"/>
            <a:r>
              <a:rPr sz="950" b="1">
                <a:solidFill>
                  <a:srgbClr val="D71440"/>
                </a:solidFill>
                <a:latin typeface="Courier New" panose="02070409020205090404"/>
              </a:rPr>
              <a:t>x = ST_DecoupleNet(x)</a:t>
            </a:r>
          </a:p>
          <a:p>
            <a:pPr algn="l"/>
            <a:r>
              <a:rPr sz="950" b="0">
                <a:solidFill>
                  <a:srgbClr val="20243A"/>
                </a:solidFill>
                <a:latin typeface="Courier New" panose="02070409020205090404"/>
              </a:rPr>
              <a:t>  mean over T -&gt; F_s  "subject"</a:t>
            </a:r>
          </a:p>
          <a:p>
            <a:pPr algn="l"/>
            <a:r>
              <a:rPr sz="950" b="0">
                <a:solidFill>
                  <a:srgbClr val="20243A"/>
                </a:solidFill>
                <a:latin typeface="Courier New" panose="02070409020205090404"/>
              </a:rPr>
              <a:t>  mean over V -&gt; F_t  "action"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27448" y="3931920"/>
            <a:ext cx="2980944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5E6478"/>
                </a:solidFill>
                <a:latin typeface="Arial" panose="020B0604020202090204"/>
              </a:rPr>
              <a:t>The same step, replaced by a learnable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5E6478"/>
                </a:solidFill>
                <a:latin typeface="Arial" panose="020B0604020202090204"/>
              </a:rPr>
              <a:t>pooling that splits the feature in two.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20243A"/>
                </a:solidFill>
                <a:latin typeface="Arial" panose="020B0604020202090204"/>
              </a:rPr>
              <a:t>It separates who from what — but "who"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20243A"/>
                </a:solidFill>
                <a:latin typeface="Arial" panose="020B0604020202090204"/>
              </a:rPr>
              <a:t>means which performer recorded the clip.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20243A"/>
                </a:solidFill>
                <a:latin typeface="Arial" panose="020B0604020202090204"/>
              </a:rPr>
              <a:t>Still one label per sample.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83879" y="2359152"/>
            <a:ext cx="3383280" cy="3566160"/>
          </a:xfrm>
          <a:prstGeom prst="roundRect">
            <a:avLst>
              <a:gd name="adj" fmla="val 14000"/>
            </a:avLst>
          </a:prstGeom>
          <a:solidFill>
            <a:srgbClr val="181C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385048" y="2542032"/>
            <a:ext cx="2980944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 panose="020B0604020202090204"/>
              </a:rPr>
              <a:t>OUR QUESTION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85048" y="2926080"/>
            <a:ext cx="2980944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Arial" panose="020B0604020202090204"/>
              </a:rPr>
              <a:t>M is where instance identity lives.</a:t>
            </a:r>
          </a:p>
          <a:p>
            <a:pPr algn="l">
              <a:spcBef>
                <a:spcPts val="500"/>
              </a:spcBef>
            </a:pPr>
            <a:r>
              <a:rPr sz="1100" b="0">
                <a:solidFill>
                  <a:srgbClr val="FFFFFF"/>
                </a:solidFill>
                <a:latin typeface="Arial" panose="020B0604020202090204"/>
              </a:rPr>
              <a:t>Averaging over M is a symmetric</a:t>
            </a:r>
          </a:p>
          <a:p>
            <a:pPr algn="l">
              <a:spcBef>
                <a:spcPts val="500"/>
              </a:spcBef>
            </a:pPr>
            <a:r>
              <a:rPr sz="1100" b="0">
                <a:solidFill>
                  <a:srgbClr val="FFFFFF"/>
                </a:solidFill>
                <a:latin typeface="Arial" panose="020B0604020202090204"/>
              </a:rPr>
              <a:t>operation: swap the two people and</a:t>
            </a:r>
          </a:p>
          <a:p>
            <a:pPr algn="l">
              <a:spcBef>
                <a:spcPts val="500"/>
              </a:spcBef>
            </a:pPr>
            <a:r>
              <a:rPr sz="1100" b="0">
                <a:solidFill>
                  <a:srgbClr val="FFFFFF"/>
                </a:solidFill>
                <a:latin typeface="Arial" panose="020B0604020202090204"/>
              </a:rPr>
              <a:t>the pooled vector is unchanged.</a:t>
            </a:r>
          </a:p>
          <a:p>
            <a:pPr algn="l">
              <a:spcBef>
                <a:spcPts val="500"/>
              </a:spcBef>
            </a:pPr>
            <a:r>
              <a:rPr sz="1100" b="1">
                <a:solidFill>
                  <a:srgbClr val="FFB3C4"/>
                </a:solidFill>
                <a:latin typeface="Arial" panose="020B0604020202090204"/>
              </a:rPr>
              <a:t>So "A punches B" and "B punches A"</a:t>
            </a:r>
          </a:p>
          <a:p>
            <a:pPr algn="l">
              <a:spcBef>
                <a:spcPts val="500"/>
              </a:spcBef>
            </a:pPr>
            <a:r>
              <a:rPr sz="1100" b="1">
                <a:solidFill>
                  <a:srgbClr val="FFB3C4"/>
                </a:solidFill>
                <a:latin typeface="Arial" panose="020B0604020202090204"/>
              </a:rPr>
              <a:t>cannot be told apart at this point,</a:t>
            </a:r>
          </a:p>
          <a:p>
            <a:pPr algn="l">
              <a:spcBef>
                <a:spcPts val="500"/>
              </a:spcBef>
            </a:pPr>
            <a:r>
              <a:rPr sz="1100" b="1">
                <a:solidFill>
                  <a:srgbClr val="FFB3C4"/>
                </a:solidFill>
                <a:latin typeface="Arial" panose="020B0604020202090204"/>
              </a:rPr>
              <a:t>by construction.</a:t>
            </a:r>
          </a:p>
          <a:p>
            <a:pPr algn="l">
              <a:spcBef>
                <a:spcPts val="500"/>
              </a:spcBef>
            </a:pPr>
            <a:r>
              <a:rPr sz="1100" b="0">
                <a:solidFill>
                  <a:srgbClr val="C8C8C8"/>
                </a:solidFill>
                <a:latin typeface="Arial" panose="020B0604020202090204"/>
              </a:rPr>
              <a:t>Next: measure how much identity even</a:t>
            </a:r>
          </a:p>
          <a:p>
            <a:pPr algn="l">
              <a:spcBef>
                <a:spcPts val="500"/>
              </a:spcBef>
            </a:pPr>
            <a:r>
              <a:rPr sz="1100" b="0">
                <a:solidFill>
                  <a:srgbClr val="C8C8C8"/>
                </a:solidFill>
                <a:latin typeface="Arial" panose="020B0604020202090204"/>
              </a:rPr>
              <a:t>survives preprocessing (ID switches),</a:t>
            </a:r>
          </a:p>
          <a:p>
            <a:pPr algn="l">
              <a:spcBef>
                <a:spcPts val="500"/>
              </a:spcBef>
            </a:pPr>
            <a:r>
              <a:rPr sz="1100" b="0">
                <a:solidFill>
                  <a:srgbClr val="C8C8C8"/>
                </a:solidFill>
                <a:latin typeface="Arial" panose="020B0604020202090204"/>
              </a:rPr>
              <a:t>then decide what to do at this step.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3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EE6008 · HUMAN POSE ANALYTICS</a:t>
            </a:r>
          </a:p>
        </p:txBody>
      </p:sp>
      <p:sp>
        <p:nvSpPr>
          <p:cNvPr id="6" name="Rectangle 6"/>
          <p:cNvSpPr/>
          <p:nvPr/>
        </p:nvSpPr>
        <p:spPr>
          <a:xfrm>
            <a:off x="514350" y="1000125"/>
            <a:ext cx="1524000" cy="47625"/>
          </a:xfrm>
          <a:prstGeom prst="rect">
            <a:avLst/>
          </a:prstGeom>
          <a:solidFill>
            <a:srgbClr val="D71440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Rectangle 7"/>
          <p:cNvSpPr/>
          <p:nvPr/>
        </p:nvSpPr>
        <p:spPr>
          <a:xfrm>
            <a:off x="514350" y="1428750"/>
            <a:ext cx="5286375" cy="2057400"/>
          </a:xfrm>
          <a:prstGeom prst="roundRect">
            <a:avLst>
              <a:gd name="adj" fmla="val 5556"/>
            </a:avLst>
          </a:prstGeom>
          <a:solidFill>
            <a:srgbClr val="FCE9EE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Rectangle 8"/>
          <p:cNvSpPr/>
          <p:nvPr/>
        </p:nvSpPr>
        <p:spPr>
          <a:xfrm>
            <a:off x="6048375" y="1428750"/>
            <a:ext cx="5572125" cy="205740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9050">
            <a:solidFill>
              <a:srgbClr val="D7144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Rectangle 9"/>
          <p:cNvSpPr/>
          <p:nvPr/>
        </p:nvSpPr>
        <p:spPr>
          <a:xfrm>
            <a:off x="514350" y="3714750"/>
            <a:ext cx="5286375" cy="2362200"/>
          </a:xfrm>
          <a:prstGeom prst="roundRect">
            <a:avLst>
              <a:gd name="adj" fmla="val 4839"/>
            </a:avLst>
          </a:prstGeom>
          <a:solidFill>
            <a:srgbClr val="EEF1FA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Rectangle 10"/>
          <p:cNvSpPr/>
          <p:nvPr/>
        </p:nvSpPr>
        <p:spPr>
          <a:xfrm>
            <a:off x="6048375" y="3714750"/>
            <a:ext cx="5572125" cy="2362200"/>
          </a:xfrm>
          <a:prstGeom prst="roundRect">
            <a:avLst>
              <a:gd name="adj" fmla="val 4839"/>
            </a:avLst>
          </a:prstGeom>
          <a:solidFill>
            <a:srgbClr val="181C62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Rectangle 11"/>
          <p:cNvSpPr/>
          <p:nvPr/>
        </p:nvSpPr>
        <p:spPr>
          <a:xfrm>
            <a:off x="514350" y="1428750"/>
            <a:ext cx="95250" cy="2057400"/>
          </a:xfrm>
          <a:prstGeom prst="rect">
            <a:avLst/>
          </a:prstGeom>
          <a:solidFill>
            <a:srgbClr val="D71440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Rectangle 12"/>
          <p:cNvSpPr/>
          <p:nvPr/>
        </p:nvSpPr>
        <p:spPr>
          <a:xfrm>
            <a:off x="6048375" y="3714750"/>
            <a:ext cx="95250" cy="2362200"/>
          </a:xfrm>
          <a:prstGeom prst="rect">
            <a:avLst/>
          </a:prstGeom>
          <a:solidFill>
            <a:srgbClr val="D71440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TextBox 13"/>
          <p:cNvSpPr txBox="1"/>
          <p:nvPr/>
        </p:nvSpPr>
        <p:spPr>
          <a:xfrm>
            <a:off x="794766" y="1639252"/>
            <a:ext cx="1131928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b="1" dirty="0">
                <a:solidFill>
                  <a:srgbClr val="D7144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RISK / BLOCKER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328791" y="1639252"/>
            <a:ext cx="3092173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b="1" dirty="0">
                <a:solidFill>
                  <a:srgbClr val="D7144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IMPACT ON SCOPE, EVIDENCE, OR TIMELINE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94766" y="3925252"/>
            <a:ext cx="2496259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b="1" dirty="0">
                <a:solidFill>
                  <a:srgbClr val="181C62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MITIGATION / OWNER / CHECK DATE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328791" y="3925252"/>
            <a:ext cx="2151256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b="1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DECISION OR SUPPORT NEEDED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501396" y="543878"/>
            <a:ext cx="2969122" cy="498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550" b="1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Risks &amp; Decisions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792099" y="2077879"/>
            <a:ext cx="3269742" cy="6033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2325"/>
              </a:lnSpc>
            </a:pPr>
            <a:r>
              <a:rPr lang="en-US" sz="1580" b="1" dirty="0">
                <a:solidFill>
                  <a:srgbClr val="D7144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{{RISKS}}</a:t>
            </a:r>
          </a:p>
          <a:p>
            <a:pPr algn="l">
              <a:lnSpc>
                <a:spcPts val="2325"/>
              </a:lnSpc>
            </a:pP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Describe the failure mode, trigger, and evidence.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326124" y="2077879"/>
            <a:ext cx="3843147" cy="6033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2325"/>
              </a:lnSpc>
            </a:pPr>
            <a:r>
              <a:rPr lang="en-US" sz="1580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{{IMPACT}}</a:t>
            </a:r>
          </a:p>
          <a:p>
            <a:pPr algn="l">
              <a:lnSpc>
                <a:spcPts val="2325"/>
              </a:lnSpc>
            </a:pP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Quantify delay, compute cost, metric risk, or lost scope.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792099" y="4363879"/>
            <a:ext cx="2456307" cy="6033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2325"/>
              </a:lnSpc>
            </a:pPr>
            <a:r>
              <a:rPr lang="en-US" sz="1580" dirty="0">
                <a:solidFill>
                  <a:srgbClr val="181C62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{{MITIGATION}}</a:t>
            </a:r>
          </a:p>
          <a:p>
            <a:pPr algn="l">
              <a:lnSpc>
                <a:spcPts val="2325"/>
              </a:lnSpc>
            </a:pP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Owner: … | Check date: … | Fallback: …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326124" y="4363879"/>
            <a:ext cx="3423095" cy="6033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2325"/>
              </a:lnSpc>
            </a:pPr>
            <a:r>
              <a:rPr lang="en-US" sz="1580" b="1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{{DECISION_NEEDED}}</a:t>
            </a:r>
          </a:p>
          <a:p>
            <a:pPr algn="l">
              <a:lnSpc>
                <a:spcPts val="2325"/>
              </a:lnSpc>
            </a:pPr>
            <a:r>
              <a:rPr lang="en-US" sz="1050" dirty="0">
                <a:solidFill>
                  <a:srgbClr val="C8C8C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State the choice, approver, and latest useful date.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1085233" y="6665595"/>
            <a:ext cx="88003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{{PAGE_NUM}}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3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EE6008 · HUMAN POSE ANALYTICS</a:t>
            </a:r>
          </a:p>
        </p:txBody>
      </p:sp>
      <p:sp>
        <p:nvSpPr>
          <p:cNvPr id="6" name="Rectangle 6"/>
          <p:cNvSpPr/>
          <p:nvPr/>
        </p:nvSpPr>
        <p:spPr>
          <a:xfrm>
            <a:off x="514350" y="1000125"/>
            <a:ext cx="1524000" cy="47625"/>
          </a:xfrm>
          <a:prstGeom prst="rect">
            <a:avLst/>
          </a:prstGeom>
          <a:solidFill>
            <a:srgbClr val="D71440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Line 7"/>
          <p:cNvSpPr/>
          <p:nvPr/>
        </p:nvSpPr>
        <p:spPr>
          <a:xfrm>
            <a:off x="1009650" y="2238375"/>
            <a:ext cx="9525" cy="3076575"/>
          </a:xfrm>
          <a:custGeom>
            <a:avLst/>
            <a:gdLst/>
            <a:ahLst/>
            <a:cxnLst/>
            <a:rect l="l" t="t" r="r" b="b"/>
            <a:pathLst>
              <a:path w="9525" h="3076575">
                <a:moveTo>
                  <a:pt x="0" y="0"/>
                </a:moveTo>
                <a:lnTo>
                  <a:pt x="0" y="3076575"/>
                </a:lnTo>
              </a:path>
            </a:pathLst>
          </a:custGeom>
          <a:noFill/>
          <a:ln w="47625">
            <a:solidFill>
              <a:srgbClr val="C8C8C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Ellipse 8"/>
          <p:cNvSpPr/>
          <p:nvPr/>
        </p:nvSpPr>
        <p:spPr>
          <a:xfrm>
            <a:off x="819150" y="2047875"/>
            <a:ext cx="381000" cy="381000"/>
          </a:xfrm>
          <a:prstGeom prst="ellipse">
            <a:avLst/>
          </a:prstGeom>
          <a:solidFill>
            <a:srgbClr val="D71440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Ellipse 9"/>
          <p:cNvSpPr/>
          <p:nvPr/>
        </p:nvSpPr>
        <p:spPr>
          <a:xfrm>
            <a:off x="819150" y="3590925"/>
            <a:ext cx="381000" cy="381000"/>
          </a:xfrm>
          <a:prstGeom prst="ellipse">
            <a:avLst/>
          </a:prstGeom>
          <a:solidFill>
            <a:srgbClr val="181C62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Ellipse 10"/>
          <p:cNvSpPr/>
          <p:nvPr/>
        </p:nvSpPr>
        <p:spPr>
          <a:xfrm>
            <a:off x="819150" y="5124450"/>
            <a:ext cx="381000" cy="381000"/>
          </a:xfrm>
          <a:prstGeom prst="ellipse">
            <a:avLst/>
          </a:prstGeom>
          <a:solidFill>
            <a:srgbClr val="D71440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Rectangle 11"/>
          <p:cNvSpPr/>
          <p:nvPr/>
        </p:nvSpPr>
        <p:spPr>
          <a:xfrm>
            <a:off x="1466850" y="1619250"/>
            <a:ext cx="6667500" cy="1238250"/>
          </a:xfrm>
          <a:prstGeom prst="roundRect">
            <a:avLst>
              <a:gd name="adj" fmla="val 9231"/>
            </a:avLst>
          </a:prstGeom>
          <a:solidFill>
            <a:srgbClr val="FCE9EE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Rectangle 12"/>
          <p:cNvSpPr/>
          <p:nvPr/>
        </p:nvSpPr>
        <p:spPr>
          <a:xfrm>
            <a:off x="1466850" y="3162300"/>
            <a:ext cx="6667500" cy="1238250"/>
          </a:xfrm>
          <a:prstGeom prst="roundRect">
            <a:avLst>
              <a:gd name="adj" fmla="val 9231"/>
            </a:avLst>
          </a:prstGeom>
          <a:solidFill>
            <a:srgbClr val="EEF1FA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Rectangle 13"/>
          <p:cNvSpPr/>
          <p:nvPr/>
        </p:nvSpPr>
        <p:spPr>
          <a:xfrm>
            <a:off x="1466850" y="4695825"/>
            <a:ext cx="6667500" cy="1238250"/>
          </a:xfrm>
          <a:prstGeom prst="roundRect">
            <a:avLst>
              <a:gd name="adj" fmla="val 9231"/>
            </a:avLst>
          </a:prstGeom>
          <a:solidFill>
            <a:srgbClr val="FCE9EE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Rectangle 14"/>
          <p:cNvSpPr/>
          <p:nvPr/>
        </p:nvSpPr>
        <p:spPr>
          <a:xfrm>
            <a:off x="8420100" y="1619250"/>
            <a:ext cx="3200400" cy="4314825"/>
          </a:xfrm>
          <a:prstGeom prst="roundRect">
            <a:avLst>
              <a:gd name="adj" fmla="val 3571"/>
            </a:avLst>
          </a:prstGeom>
          <a:solidFill>
            <a:srgbClr val="181C62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TextBox 15"/>
          <p:cNvSpPr txBox="1"/>
          <p:nvPr/>
        </p:nvSpPr>
        <p:spPr>
          <a:xfrm>
            <a:off x="950315" y="2159318"/>
            <a:ext cx="118669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350" b="1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1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950315" y="3702368"/>
            <a:ext cx="118669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350" b="1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2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50315" y="5235892"/>
            <a:ext cx="118669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350" b="1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3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747647" y="1809274"/>
            <a:ext cx="1517465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D7144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DELIVERABLE 1 · BUILD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747647" y="3352324"/>
            <a:ext cx="1758967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181C62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DELIVERABLE 2 · VALIDATE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747647" y="4885849"/>
            <a:ext cx="185410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D7144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DELIVERABLE 3 · DOCUMENT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700516" y="1896428"/>
            <a:ext cx="259819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b="1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OWNER · DUE DATE · SUCCESS CHECK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501396" y="543878"/>
            <a:ext cx="4335356" cy="498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550" b="1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Next-Week Commitments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744599" y="2173129"/>
            <a:ext cx="2916365" cy="5461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875"/>
              </a:lnSpc>
            </a:pPr>
            <a:r>
              <a:rPr lang="en-US" sz="1580" b="1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{{NEXT_ACTION_1}}</a:t>
            </a:r>
          </a:p>
          <a:p>
            <a:pPr algn="l">
              <a:lnSpc>
                <a:spcPts val="1875"/>
              </a:lnSpc>
            </a:pP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Output: code, dataset, or runnable module.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744599" y="3716179"/>
            <a:ext cx="3336417" cy="5461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875"/>
              </a:lnSpc>
            </a:pPr>
            <a:r>
              <a:rPr lang="en-US" sz="1580" b="1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{{NEXT_ACTION_2}}</a:t>
            </a:r>
          </a:p>
          <a:p>
            <a:pPr algn="l">
              <a:lnSpc>
                <a:spcPts val="1875"/>
              </a:lnSpc>
            </a:pP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Output: metric table, control, or ablation result.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744599" y="5249704"/>
            <a:ext cx="3369755" cy="5461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875"/>
              </a:lnSpc>
            </a:pPr>
            <a:r>
              <a:rPr lang="en-US" sz="1580" b="1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{{NEXT_ACTION_3}}</a:t>
            </a:r>
          </a:p>
          <a:p>
            <a:pPr algn="l">
              <a:lnSpc>
                <a:spcPts val="1875"/>
              </a:lnSpc>
            </a:pP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Output: updated figure, notes, or report section.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8697849" y="2382679"/>
            <a:ext cx="2474087" cy="14415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2025"/>
              </a:lnSpc>
            </a:pPr>
            <a:r>
              <a:rPr lang="en-US" sz="158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{{OWNER_AND_DEADLINE}}</a:t>
            </a:r>
          </a:p>
          <a:p>
            <a:pPr algn="l">
              <a:lnSpc>
                <a:spcPts val="2025"/>
              </a:lnSpc>
              <a:spcBef>
                <a:spcPts val="825"/>
              </a:spcBef>
            </a:pPr>
            <a:r>
              <a:rPr lang="en-US" sz="1050" dirty="0">
                <a:solidFill>
                  <a:srgbClr val="C8C8C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Owner: …</a:t>
            </a:r>
            <a:br>
              <a:rPr lang="en-US" sz="1050" dirty="0">
                <a:solidFill>
                  <a:srgbClr val="C8C8C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050" dirty="0">
                <a:solidFill>
                  <a:srgbClr val="C8C8C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Due: …</a:t>
            </a:r>
            <a:br>
              <a:rPr lang="en-US" sz="1050" dirty="0">
                <a:solidFill>
                  <a:srgbClr val="C8C8C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050" dirty="0">
                <a:solidFill>
                  <a:srgbClr val="C8C8C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Success check: observable output</a:t>
            </a:r>
            <a:br>
              <a:rPr lang="en-US" sz="1050" dirty="0">
                <a:solidFill>
                  <a:srgbClr val="C8C8C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050" dirty="0">
                <a:solidFill>
                  <a:srgbClr val="C8C8C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or agreed metric threshold.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085233" y="6665595"/>
            <a:ext cx="88003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{{PAGE_NUM}}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3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EE6008 · HUMAN POSE ANALYTICS</a:t>
            </a:r>
          </a:p>
        </p:txBody>
      </p:sp>
      <p:sp>
        <p:nvSpPr>
          <p:cNvPr id="6" name="Rectangle 6"/>
          <p:cNvSpPr/>
          <p:nvPr/>
        </p:nvSpPr>
        <p:spPr>
          <a:xfrm>
            <a:off x="514350" y="1000125"/>
            <a:ext cx="1524000" cy="47625"/>
          </a:xfrm>
          <a:prstGeom prst="rect">
            <a:avLst/>
          </a:prstGeom>
          <a:solidFill>
            <a:srgbClr val="D71440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Rectangle 7"/>
          <p:cNvSpPr/>
          <p:nvPr/>
        </p:nvSpPr>
        <p:spPr>
          <a:xfrm>
            <a:off x="514350" y="1304925"/>
            <a:ext cx="11106150" cy="4772025"/>
          </a:xfrm>
          <a:prstGeom prst="roundRect">
            <a:avLst>
              <a:gd name="adj" fmla="val 1996"/>
            </a:avLst>
          </a:prstGeom>
          <a:solidFill>
            <a:srgbClr val="FFFFFF"/>
          </a:solidFill>
          <a:ln w="19050">
            <a:solidFill>
              <a:srgbClr val="C8C8C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TextBox 8"/>
          <p:cNvSpPr txBox="1"/>
          <p:nvPr/>
        </p:nvSpPr>
        <p:spPr>
          <a:xfrm>
            <a:off x="501396" y="543878"/>
            <a:ext cx="2213061" cy="498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550" b="1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Open Canvas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218546" y="6665595"/>
            <a:ext cx="73921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{{SOURCE}}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1085233" y="6665595"/>
            <a:ext cx="88003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{{PAGE_NUM}}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3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EE6008 · HUMAN POSE ANALYTICS</a:t>
            </a:r>
          </a:p>
        </p:txBody>
      </p:sp>
      <p:sp>
        <p:nvSpPr>
          <p:cNvPr id="6" name="Rectangle 6"/>
          <p:cNvSpPr/>
          <p:nvPr/>
        </p:nvSpPr>
        <p:spPr>
          <a:xfrm>
            <a:off x="514350" y="1000125"/>
            <a:ext cx="1524000" cy="47625"/>
          </a:xfrm>
          <a:prstGeom prst="rect">
            <a:avLst/>
          </a:prstGeom>
          <a:solidFill>
            <a:srgbClr val="D71440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Rectangle 7"/>
          <p:cNvSpPr/>
          <p:nvPr/>
        </p:nvSpPr>
        <p:spPr>
          <a:xfrm>
            <a:off x="514350" y="1304925"/>
            <a:ext cx="7810500" cy="4772025"/>
          </a:xfrm>
          <a:prstGeom prst="roundRect">
            <a:avLst>
              <a:gd name="adj" fmla="val 1996"/>
            </a:avLst>
          </a:prstGeom>
          <a:solidFill>
            <a:srgbClr val="FFFFFF"/>
          </a:solidFill>
          <a:ln w="19050">
            <a:solidFill>
              <a:srgbClr val="C8C8C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Rectangle 8"/>
          <p:cNvSpPr/>
          <p:nvPr/>
        </p:nvSpPr>
        <p:spPr>
          <a:xfrm>
            <a:off x="8572500" y="1304925"/>
            <a:ext cx="3048000" cy="4772025"/>
          </a:xfrm>
          <a:prstGeom prst="roundRect">
            <a:avLst>
              <a:gd name="adj" fmla="val 3125"/>
            </a:avLst>
          </a:prstGeom>
          <a:solidFill>
            <a:srgbClr val="EEF1FA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Rectangle 9"/>
          <p:cNvSpPr/>
          <p:nvPr/>
        </p:nvSpPr>
        <p:spPr>
          <a:xfrm>
            <a:off x="8572500" y="1304925"/>
            <a:ext cx="3048000" cy="114300"/>
          </a:xfrm>
          <a:prstGeom prst="rect">
            <a:avLst/>
          </a:prstGeom>
          <a:solidFill>
            <a:srgbClr val="D71440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TextBox 10"/>
          <p:cNvSpPr txBox="1"/>
          <p:nvPr/>
        </p:nvSpPr>
        <p:spPr>
          <a:xfrm>
            <a:off x="8815197" y="1647349"/>
            <a:ext cx="1290599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181C62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IMAGE DESCRIPTION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01396" y="543878"/>
            <a:ext cx="3340770" cy="498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550" b="1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Single-Image Story</a:t>
            </a:r>
          </a:p>
        </p:txBody>
      </p:sp>
      <p:pic>
        <p:nvPicPr>
          <p:cNvPr id="12" name="Image 12"/>
          <p:cNvPicPr>
            <a:picLocks noChangeAspect="1"/>
          </p:cNvPicPr>
          <p:nvPr/>
        </p:nvPicPr>
        <p:blipFill>
          <a:blip r:embed="rId3"/>
          <a:srcRect l="4974" r="4973"/>
          <a:stretch>
            <a:fillRect/>
          </a:stretch>
        </p:blipFill>
        <p:spPr>
          <a:xfrm>
            <a:off x="552450" y="1343025"/>
            <a:ext cx="7734300" cy="4695825"/>
          </a:xfrm>
          <a:prstGeom prst="rect">
            <a:avLst/>
          </a:prstGeom>
        </p:spPr>
      </p:pic>
      <p:sp>
        <p:nvSpPr>
          <p:cNvPr id="13" name="TextBox 13"/>
          <p:cNvSpPr txBox="1"/>
          <p:nvPr/>
        </p:nvSpPr>
        <p:spPr>
          <a:xfrm>
            <a:off x="8812149" y="2173129"/>
            <a:ext cx="2298954" cy="2146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650"/>
              </a:lnSpc>
            </a:pPr>
            <a:r>
              <a:rPr lang="en-US" sz="1580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{{IMAGE_DESCRIPTION}}</a:t>
            </a:r>
          </a:p>
          <a:p>
            <a:pPr algn="l">
              <a:lnSpc>
                <a:spcPts val="1650"/>
              </a:lnSpc>
              <a:spcBef>
                <a:spcPts val="900"/>
              </a:spcBef>
            </a:pPr>
            <a: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What does the image show?</a:t>
            </a:r>
          </a:p>
          <a:p>
            <a:pPr algn="l">
              <a:lnSpc>
                <a:spcPts val="1650"/>
              </a:lnSpc>
              <a:spcBef>
                <a:spcPts val="375"/>
              </a:spcBef>
            </a:pPr>
            <a: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Why is it relevant this week?</a:t>
            </a:r>
          </a:p>
          <a:p>
            <a:pPr algn="l">
              <a:lnSpc>
                <a:spcPts val="1650"/>
              </a:lnSpc>
              <a:spcBef>
                <a:spcPts val="375"/>
              </a:spcBef>
            </a:pPr>
            <a: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What should the audience notice?</a:t>
            </a:r>
          </a:p>
          <a:p>
            <a:pPr algn="l">
              <a:lnSpc>
                <a:spcPts val="1650"/>
              </a:lnSpc>
              <a:spcBef>
                <a:spcPts val="1050"/>
              </a:spcBef>
            </a:pPr>
            <a:r>
              <a:rPr lang="en-US" sz="1050" b="1" dirty="0">
                <a:solidFill>
                  <a:srgbClr val="D7144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TIP</a:t>
            </a:r>
          </a:p>
          <a:p>
            <a:pPr algn="l">
              <a:lnSpc>
                <a:spcPts val="1650"/>
              </a:lnSpc>
              <a:spcBef>
                <a:spcPts val="225"/>
              </a:spcBef>
            </a:pP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Use one annotated result, system</a:t>
            </a:r>
            <a:b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overview, qualitative example,</a:t>
            </a:r>
            <a:b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or implementation photograph.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4218546" y="6665595"/>
            <a:ext cx="73921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{{SOURCE}}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085233" y="6665595"/>
            <a:ext cx="88003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{{PAGE_NUM}}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3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EE6008 · HUMAN POSE ANALYTICS</a:t>
            </a:r>
          </a:p>
        </p:txBody>
      </p:sp>
      <p:sp>
        <p:nvSpPr>
          <p:cNvPr id="6" name="Rectangle 6"/>
          <p:cNvSpPr/>
          <p:nvPr/>
        </p:nvSpPr>
        <p:spPr>
          <a:xfrm>
            <a:off x="514350" y="1000125"/>
            <a:ext cx="1524000" cy="47625"/>
          </a:xfrm>
          <a:prstGeom prst="rect">
            <a:avLst/>
          </a:prstGeom>
          <a:solidFill>
            <a:srgbClr val="D71440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TextBox 7"/>
          <p:cNvSpPr txBox="1"/>
          <p:nvPr/>
        </p:nvSpPr>
        <p:spPr>
          <a:xfrm>
            <a:off x="8416388" y="713899"/>
            <a:ext cx="1056415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80" b="1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USE 2–4 IMAGES</a:t>
            </a:r>
          </a:p>
        </p:txBody>
      </p:sp>
      <p:sp>
        <p:nvSpPr>
          <p:cNvPr id="8" name="Rectangle 8"/>
          <p:cNvSpPr/>
          <p:nvPr/>
        </p:nvSpPr>
        <p:spPr>
          <a:xfrm>
            <a:off x="514350" y="1304925"/>
            <a:ext cx="5391150" cy="220980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9050">
            <a:solidFill>
              <a:srgbClr val="C8C8C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Rectangle 9"/>
          <p:cNvSpPr/>
          <p:nvPr/>
        </p:nvSpPr>
        <p:spPr>
          <a:xfrm>
            <a:off x="514350" y="3152775"/>
            <a:ext cx="5391150" cy="361950"/>
          </a:xfrm>
          <a:prstGeom prst="rect">
            <a:avLst/>
          </a:prstGeom>
          <a:solidFill>
            <a:srgbClr val="EEF1FA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Rectangle 10"/>
          <p:cNvSpPr/>
          <p:nvPr/>
        </p:nvSpPr>
        <p:spPr>
          <a:xfrm>
            <a:off x="6229350" y="1304925"/>
            <a:ext cx="5391150" cy="220980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9050">
            <a:solidFill>
              <a:srgbClr val="C8C8C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Rectangle 11"/>
          <p:cNvSpPr/>
          <p:nvPr/>
        </p:nvSpPr>
        <p:spPr>
          <a:xfrm>
            <a:off x="6229350" y="3152775"/>
            <a:ext cx="5391150" cy="361950"/>
          </a:xfrm>
          <a:prstGeom prst="rect">
            <a:avLst/>
          </a:prstGeom>
          <a:solidFill>
            <a:srgbClr val="EEF1FA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Rectangle 12"/>
          <p:cNvSpPr/>
          <p:nvPr/>
        </p:nvSpPr>
        <p:spPr>
          <a:xfrm>
            <a:off x="514350" y="3686175"/>
            <a:ext cx="5391150" cy="220980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9050">
            <a:solidFill>
              <a:srgbClr val="C8C8C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Rectangle 13"/>
          <p:cNvSpPr/>
          <p:nvPr/>
        </p:nvSpPr>
        <p:spPr>
          <a:xfrm>
            <a:off x="514350" y="5534025"/>
            <a:ext cx="5391150" cy="361950"/>
          </a:xfrm>
          <a:prstGeom prst="rect">
            <a:avLst/>
          </a:prstGeom>
          <a:solidFill>
            <a:srgbClr val="EEF1FA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Rectangle 14"/>
          <p:cNvSpPr/>
          <p:nvPr/>
        </p:nvSpPr>
        <p:spPr>
          <a:xfrm>
            <a:off x="6229350" y="3686175"/>
            <a:ext cx="5391150" cy="220980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9050">
            <a:solidFill>
              <a:srgbClr val="C8C8C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Rectangle 15"/>
          <p:cNvSpPr/>
          <p:nvPr/>
        </p:nvSpPr>
        <p:spPr>
          <a:xfrm>
            <a:off x="6229350" y="5534025"/>
            <a:ext cx="5391150" cy="361950"/>
          </a:xfrm>
          <a:prstGeom prst="rect">
            <a:avLst/>
          </a:prstGeom>
          <a:solidFill>
            <a:srgbClr val="EEF1FA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TextBox 16"/>
          <p:cNvSpPr txBox="1"/>
          <p:nvPr/>
        </p:nvSpPr>
        <p:spPr>
          <a:xfrm>
            <a:off x="501396" y="543878"/>
            <a:ext cx="3215507" cy="498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550" b="1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Multi-Image Story</a:t>
            </a:r>
          </a:p>
        </p:txBody>
      </p:sp>
      <p:pic>
        <p:nvPicPr>
          <p:cNvPr id="17" name="Image 17"/>
          <p:cNvPicPr>
            <a:picLocks noChangeAspect="1"/>
          </p:cNvPicPr>
          <p:nvPr/>
        </p:nvPicPr>
        <p:blipFill>
          <a:blip r:embed="rId3"/>
          <a:srcRect t="19517" b="19517"/>
          <a:stretch>
            <a:fillRect/>
          </a:stretch>
        </p:blipFill>
        <p:spPr>
          <a:xfrm>
            <a:off x="552450" y="1343025"/>
            <a:ext cx="5314950" cy="1771650"/>
          </a:xfrm>
          <a:prstGeom prst="rect">
            <a:avLst/>
          </a:prstGeom>
        </p:spPr>
      </p:pic>
      <p:pic>
        <p:nvPicPr>
          <p:cNvPr id="18" name="Image 18"/>
          <p:cNvPicPr>
            <a:picLocks noChangeAspect="1"/>
          </p:cNvPicPr>
          <p:nvPr/>
        </p:nvPicPr>
        <p:blipFill>
          <a:blip r:embed="rId4"/>
          <a:srcRect t="14228" b="14227"/>
          <a:stretch>
            <a:fillRect/>
          </a:stretch>
        </p:blipFill>
        <p:spPr>
          <a:xfrm>
            <a:off x="6267450" y="1343025"/>
            <a:ext cx="5314950" cy="1771650"/>
          </a:xfrm>
          <a:prstGeom prst="rect">
            <a:avLst/>
          </a:prstGeom>
        </p:spPr>
      </p:pic>
      <p:pic>
        <p:nvPicPr>
          <p:cNvPr id="19" name="Image 19"/>
          <p:cNvPicPr>
            <a:picLocks noChangeAspect="1"/>
          </p:cNvPicPr>
          <p:nvPr/>
        </p:nvPicPr>
        <p:blipFill>
          <a:blip r:embed="rId5"/>
          <a:srcRect t="25000" b="25000"/>
          <a:stretch>
            <a:fillRect/>
          </a:stretch>
        </p:blipFill>
        <p:spPr>
          <a:xfrm>
            <a:off x="552450" y="3724275"/>
            <a:ext cx="5314950" cy="1771650"/>
          </a:xfrm>
          <a:prstGeom prst="rect">
            <a:avLst/>
          </a:prstGeom>
        </p:spPr>
      </p:pic>
      <p:pic>
        <p:nvPicPr>
          <p:cNvPr id="20" name="Image 20"/>
          <p:cNvPicPr>
            <a:picLocks noChangeAspect="1"/>
          </p:cNvPicPr>
          <p:nvPr/>
        </p:nvPicPr>
        <p:blipFill>
          <a:blip r:embed="rId6"/>
          <a:srcRect t="28986" b="28987"/>
          <a:stretch>
            <a:fillRect/>
          </a:stretch>
        </p:blipFill>
        <p:spPr>
          <a:xfrm>
            <a:off x="6267450" y="3724275"/>
            <a:ext cx="5314950" cy="1771650"/>
          </a:xfrm>
          <a:prstGeom prst="rect">
            <a:avLst/>
          </a:prstGeom>
        </p:spPr>
      </p:pic>
      <p:sp>
        <p:nvSpPr>
          <p:cNvPr id="21" name="TextBox 21"/>
          <p:cNvSpPr txBox="1"/>
          <p:nvPr/>
        </p:nvSpPr>
        <p:spPr>
          <a:xfrm>
            <a:off x="680085" y="3269456"/>
            <a:ext cx="114252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{{CAPTION_1}}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6395085" y="3269456"/>
            <a:ext cx="114252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{{CAPTION_2}}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80085" y="5650706"/>
            <a:ext cx="114252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{{CAPTION_3}}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6395085" y="5650706"/>
            <a:ext cx="114252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{{CAPTION_4}}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4218546" y="6665595"/>
            <a:ext cx="73921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{{SOURCE}}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1085233" y="6665595"/>
            <a:ext cx="88003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{{PAGE_NUM}}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3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EE6008 · HUMAN POSE ANALYTICS</a:t>
            </a:r>
          </a:p>
        </p:txBody>
      </p:sp>
      <p:pic>
        <p:nvPicPr>
          <p:cNvPr id="6" name="Imag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450" y="0"/>
            <a:ext cx="12020550" cy="6572250"/>
          </a:xfrm>
          <a:prstGeom prst="rect">
            <a:avLst/>
          </a:prstGeom>
        </p:spPr>
      </p:pic>
      <p:sp>
        <p:nvSpPr>
          <p:cNvPr id="7" name="Rectangle 7"/>
          <p:cNvSpPr/>
          <p:nvPr/>
        </p:nvSpPr>
        <p:spPr>
          <a:xfrm>
            <a:off x="171450" y="0"/>
            <a:ext cx="12020550" cy="6572250"/>
          </a:xfrm>
          <a:prstGeom prst="rect">
            <a:avLst/>
          </a:prstGeom>
          <a:solidFill>
            <a:srgbClr val="FFFFFF">
              <a:alpha val="72000"/>
            </a:srgbClr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Rectangle 8"/>
          <p:cNvSpPr/>
          <p:nvPr/>
        </p:nvSpPr>
        <p:spPr>
          <a:xfrm>
            <a:off x="9620250" y="171450"/>
            <a:ext cx="2266950" cy="838200"/>
          </a:xfrm>
          <a:prstGeom prst="roundRect">
            <a:avLst>
              <a:gd name="adj" fmla="val 6818"/>
            </a:avLst>
          </a:prstGeom>
          <a:solidFill>
            <a:srgbClr val="FFFFFF">
              <a:alpha val="94000"/>
            </a:srgbClr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" name="Imag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98435" y="247650"/>
            <a:ext cx="1910579" cy="685800"/>
          </a:xfrm>
          <a:prstGeom prst="rect">
            <a:avLst/>
          </a:prstGeom>
        </p:spPr>
      </p:pic>
      <p:sp>
        <p:nvSpPr>
          <p:cNvPr id="10" name="TextBox 10"/>
          <p:cNvSpPr txBox="1"/>
          <p:nvPr/>
        </p:nvSpPr>
        <p:spPr>
          <a:xfrm>
            <a:off x="4822500" y="2404110"/>
            <a:ext cx="271845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200" b="1" dirty="0">
                <a:solidFill>
                  <a:srgbClr val="181C62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EE6008 · HUMAN POSE ANALYTICS</a:t>
            </a:r>
          </a:p>
        </p:txBody>
      </p:sp>
      <p:sp>
        <p:nvSpPr>
          <p:cNvPr id="11" name="Rectangle 11"/>
          <p:cNvSpPr/>
          <p:nvPr/>
        </p:nvSpPr>
        <p:spPr>
          <a:xfrm>
            <a:off x="5419725" y="3524250"/>
            <a:ext cx="1524000" cy="57150"/>
          </a:xfrm>
          <a:prstGeom prst="rect">
            <a:avLst/>
          </a:prstGeom>
          <a:solidFill>
            <a:srgbClr val="D71440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TextBox 12"/>
          <p:cNvSpPr txBox="1"/>
          <p:nvPr/>
        </p:nvSpPr>
        <p:spPr>
          <a:xfrm>
            <a:off x="4798329" y="2858452"/>
            <a:ext cx="2766791" cy="7905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4050" b="1" dirty="0">
                <a:solidFill>
                  <a:srgbClr val="181C62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eekly_five_minute_research_update">
  <a:themeElements>
    <a:clrScheme name="weekly_five_minute_research_updat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weekly_five_minute_research_updat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eekly_five_minute_research_upda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weekly_five_minute_research_update">
  <a:themeElements>
    <a:clrScheme name="weekly_five_minute_research_updat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weekly_five_minute_research_updat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eekly_five_minute_research_upda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ChatGPT">
  <a:themeElements>
    <a:clrScheme name="NTU Human Pose">
      <a:dk1>
        <a:srgbClr val="000000"/>
      </a:dk1>
      <a:lt1>
        <a:srgbClr val="FFFFFF"/>
      </a:lt1>
      <a:dk2>
        <a:srgbClr val="181C62"/>
      </a:dk2>
      <a:lt2>
        <a:srgbClr val="D9DDEA"/>
      </a:lt2>
      <a:accent1>
        <a:srgbClr val="E31346"/>
      </a:accent1>
      <a:accent2>
        <a:srgbClr val="181C62"/>
      </a:accent2>
      <a:accent3>
        <a:srgbClr val="38B6A5"/>
      </a:accent3>
      <a:accent4>
        <a:srgbClr val="F2B84B"/>
      </a:accent4>
      <a:accent5>
        <a:srgbClr val="7B61FF"/>
      </a:accent5>
      <a:accent6>
        <a:srgbClr val="4C8BF5"/>
      </a:accent6>
      <a:hlink>
        <a:srgbClr val="E31346"/>
      </a:hlink>
      <a:folHlink>
        <a:srgbClr val="8F2A52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TU Human Pos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125</TotalTime>
  <Words>2312</Words>
  <Application>Microsoft Office PowerPoint</Application>
  <PresentationFormat>宽屏</PresentationFormat>
  <Paragraphs>276</Paragraphs>
  <Slides>15</Slides>
  <Notes>3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3</vt:i4>
      </vt:variant>
      <vt:variant>
        <vt:lpstr>幻灯片标题</vt:lpstr>
      </vt:variant>
      <vt:variant>
        <vt:i4>15</vt:i4>
      </vt:variant>
    </vt:vector>
  </HeadingPairs>
  <TitlesOfParts>
    <vt:vector size="25" baseType="lpstr">
      <vt:lpstr>等线</vt:lpstr>
      <vt:lpstr>Microsoft YaHei</vt:lpstr>
      <vt:lpstr>Microsoft YaHei</vt:lpstr>
      <vt:lpstr>Arial</vt:lpstr>
      <vt:lpstr>Calibri</vt:lpstr>
      <vt:lpstr>Calibri Light</vt:lpstr>
      <vt:lpstr>Courier New</vt:lpstr>
      <vt:lpstr>weekly_five_minute_research_update</vt:lpstr>
      <vt:lpstr>1_weekly_five_minute_research_update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t1323</cp:lastModifiedBy>
  <cp:revision>6</cp:revision>
  <dcterms:created xsi:type="dcterms:W3CDTF">2026-09-07T03:43:48Z</dcterms:created>
  <dcterms:modified xsi:type="dcterms:W3CDTF">2026-09-08T08:31:06Z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4550AFB6D8548345DB2B9E6A74E4738F_42</vt:lpwstr>
  </property>
  <property fmtid="{D5CDD505-2E9C-101B-9397-08002B2CF9AE}" pid="3" name="KSOProductBuildVer">
    <vt:lpwstr>2052-12.1.26046.26046</vt:lpwstr>
  </property>
</Properties>
</file>