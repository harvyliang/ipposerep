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This presentation introduces our Week 3 research framing and early technical findings. Our specific direction is instance-preserving pose representation for multi-person action recognition.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eekly_five_minute_research_updat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DA1744">
                  <a:alpha val="75000"/>
                  <a:lumMod val="85000"/>
                </a:srgbClr>
              </a:gs>
              <a:gs pos="10000">
                <a:schemeClr val="bg1">
                  <a:alpha val="0"/>
                </a:schemeClr>
              </a:gs>
              <a:gs pos="75000">
                <a:srgbClr val="84A1C8">
                  <a:alpha val="75000"/>
                </a:srgbClr>
              </a:gs>
              <a:gs pos="50000">
                <a:schemeClr val="bg1">
                  <a:alpha val="0"/>
                </a:schemeClr>
              </a:gs>
              <a:gs pos="100000">
                <a:srgbClr val="084391"/>
              </a:gs>
            </a:gsLst>
            <a:lin ang="10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557784"/>
            <a:ext cx="64008" cy="438912"/>
          </a:xfrm>
          <a:prstGeom prst="rect">
            <a:avLst/>
          </a:prstGeom>
          <a:solidFill>
            <a:srgbClr val="DA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577088"/>
            <a:ext cx="507492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72262"/>
                </a:solidFill>
                <a:latin typeface="Arial" panose="020B0604020202020204"/>
              </a:rPr>
              <a:t>EE6008</a:t>
            </a:r>
            <a:endParaRPr sz="1400" b="1">
              <a:solidFill>
                <a:srgbClr val="17226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841248"/>
            <a:ext cx="3017520" cy="146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chemeClr val="bg1"/>
                </a:solidFill>
                <a:latin typeface="Arial" panose="020B0604020202020204"/>
              </a:rPr>
              <a:t>WEEKLY PRESENTATION</a:t>
            </a:r>
            <a:endParaRPr sz="950" b="0">
              <a:solidFill>
                <a:schemeClr val="bg1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2" y="1874519"/>
            <a:ext cx="6172200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91D2C"/>
                </a:solidFill>
                <a:latin typeface="Arial" panose="020B0604020202020204"/>
              </a:rPr>
              <a:t>Human Pose Analytics</a:t>
            </a:r>
            <a:endParaRPr sz="2800" b="1">
              <a:solidFill>
                <a:srgbClr val="191D2C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91D2C"/>
                </a:solidFill>
                <a:latin typeface="Arial" panose="020B0604020202020204"/>
              </a:rPr>
              <a:t>Using Artificial Intelligence</a:t>
            </a:r>
            <a:endParaRPr sz="2800" b="1">
              <a:solidFill>
                <a:srgbClr val="191D2C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1520" y="3319272"/>
            <a:ext cx="585216" cy="50292"/>
          </a:xfrm>
          <a:prstGeom prst="rect">
            <a:avLst/>
          </a:prstGeom>
          <a:solidFill>
            <a:srgbClr val="DA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529584"/>
            <a:ext cx="5715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chemeClr val="bg1"/>
                </a:solidFill>
                <a:latin typeface="Arial" panose="020B0604020202020204"/>
              </a:rPr>
              <a:t>Instance-Preserving Pose Representation</a:t>
            </a:r>
            <a:endParaRPr sz="1600" b="1">
              <a:solidFill>
                <a:schemeClr val="bg1"/>
              </a:solidFill>
              <a:latin typeface="Arial" panose="020B060402020202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31520" y="4727448"/>
            <a:ext cx="1170432" cy="448056"/>
          </a:xfrm>
          <a:prstGeom prst="rect">
            <a:avLst/>
          </a:prstGeom>
          <a:solidFill>
            <a:srgbClr val="172262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27448"/>
            <a:ext cx="1170432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 panose="020B0604020202020204"/>
              </a:rPr>
              <a:t>WEEK 3</a:t>
            </a:r>
            <a:endParaRPr sz="11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901952" y="4727448"/>
            <a:ext cx="2423160" cy="448056"/>
          </a:xfrm>
          <a:prstGeom prst="rect">
            <a:avLst/>
          </a:prstGeom>
          <a:solidFill>
            <a:srgbClr val="ECEEF3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01952" y="4843844"/>
            <a:ext cx="2423160" cy="215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5F6575"/>
                </a:solidFill>
                <a:latin typeface="Arial" panose="020B0604020202020204"/>
              </a:rPr>
              <a:t>Group 14</a:t>
            </a:r>
            <a:endParaRPr sz="1400" b="1">
              <a:solidFill>
                <a:srgbClr val="5F6575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5971032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5F6575"/>
                </a:solidFill>
                <a:latin typeface="Arial" panose="020B0604020202020204"/>
              </a:rPr>
              <a:t>Week ending · 2026-09-01</a:t>
            </a:r>
            <a:endParaRPr sz="800" b="0">
              <a:solidFill>
                <a:srgbClr val="5F6575"/>
              </a:solidFill>
              <a:latin typeface="Arial" panose="020B0604020202020204"/>
            </a:endParaRPr>
          </a:p>
        </p:txBody>
      </p:sp>
      <p:pic>
        <p:nvPicPr>
          <p:cNvPr id="17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3075" y="570230"/>
            <a:ext cx="1311910" cy="472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14350" y="1428750"/>
            <a:ext cx="7524750" cy="1381125"/>
          </a:xfrm>
          <a:prstGeom prst="roundRect">
            <a:avLst>
              <a:gd name="adj" fmla="val 8276"/>
            </a:avLst>
          </a:prstGeom>
          <a:solidFill>
            <a:srgbClr val="EEF1FA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305800" y="1428750"/>
            <a:ext cx="3314700" cy="1381125"/>
          </a:xfrm>
          <a:prstGeom prst="roundRect">
            <a:avLst>
              <a:gd name="adj" fmla="val 8276"/>
            </a:avLst>
          </a:prstGeom>
          <a:solidFill>
            <a:srgbClr val="181C62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14350" y="3105150"/>
            <a:ext cx="11106150" cy="28956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E6E6E6"/>
            </a:solidFill>
          </a:ln>
        </p:spPr>
      </p:sp>
      <p:sp>
        <p:nvSpPr>
          <p:cNvPr id="10" name="Line 10"/>
          <p:cNvSpPr/>
          <p:nvPr/>
        </p:nvSpPr>
        <p:spPr>
          <a:xfrm>
            <a:off x="1181100" y="5143500"/>
            <a:ext cx="9772650" cy="9525"/>
          </a:xfrm>
          <a:custGeom>
            <a:avLst/>
            <a:gdLst/>
            <a:ahLst/>
            <a:cxnLst/>
            <a:rect l="l" t="t" r="r" b="b"/>
            <a:pathLst>
              <a:path w="9772650" h="9525">
                <a:moveTo>
                  <a:pt x="0" y="0"/>
                </a:moveTo>
                <a:lnTo>
                  <a:pt x="9772650" y="0"/>
                </a:lnTo>
              </a:path>
            </a:pathLst>
          </a:custGeom>
          <a:noFill/>
          <a:ln w="38100">
            <a:solidFill>
              <a:srgbClr val="C8C8C8"/>
            </a:solidFill>
          </a:ln>
        </p:spPr>
      </p:sp>
      <p:sp>
        <p:nvSpPr>
          <p:cNvPr id="11" name="Ellipse 11"/>
          <p:cNvSpPr/>
          <p:nvPr/>
        </p:nvSpPr>
        <p:spPr>
          <a:xfrm>
            <a:off x="1076325" y="5038725"/>
            <a:ext cx="209550" cy="209550"/>
          </a:xfrm>
          <a:prstGeom prst="ellipse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3028950" y="5038725"/>
            <a:ext cx="209550" cy="209550"/>
          </a:xfrm>
          <a:prstGeom prst="ellipse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4953000" y="5010150"/>
            <a:ext cx="266700" cy="266700"/>
          </a:xfrm>
          <a:prstGeom prst="ellipse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6934200" y="5038725"/>
            <a:ext cx="209550" cy="209550"/>
          </a:xfrm>
          <a:prstGeom prst="ellipse">
            <a:avLst/>
          </a:prstGeom>
          <a:solidFill>
            <a:srgbClr val="E6E6E6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8886825" y="5038725"/>
            <a:ext cx="209550" cy="209550"/>
          </a:xfrm>
          <a:prstGeom prst="ellipse">
            <a:avLst/>
          </a:prstGeom>
          <a:solidFill>
            <a:srgbClr val="E6E6E6"/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10848975" y="5038725"/>
            <a:ext cx="209550" cy="209550"/>
          </a:xfrm>
          <a:prstGeom prst="ellipse">
            <a:avLst/>
          </a:prstGeom>
          <a:solidFill>
            <a:srgbClr val="E6E6E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6097" y="1590199"/>
            <a:ext cx="123937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WEEKLY TAKEAWAY</a:t>
            </a:r>
            <a:endParaRPr lang="en-US" sz="98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398351" y="1590199"/>
            <a:ext cx="112959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PROJECT STATUS</a:t>
            </a:r>
            <a:endParaRPr lang="en-US" sz="98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94766" y="3296602"/>
            <a:ext cx="45349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CURRENT MILESTONE · EVIDENCE · BLOCKER · NEXT CHECKPOINT</a:t>
            </a:r>
            <a:endParaRPr lang="en-US" sz="105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22902" y="5408295"/>
            <a:ext cx="51639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Kick-off</a:t>
            </a:r>
            <a:endParaRPr lang="en-US" sz="9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993803" y="5408295"/>
            <a:ext cx="27984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</a:t>
            </a:r>
            <a:endParaRPr lang="en-US" sz="9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796752" y="5408295"/>
            <a:ext cx="57919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Baselines</a:t>
            </a:r>
            <a:endParaRPr lang="en-US" sz="90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762007" y="5408295"/>
            <a:ext cx="55393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IP Module</a:t>
            </a:r>
            <a:endParaRPr lang="en-US" sz="9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621493" y="5408295"/>
            <a:ext cx="74021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Experiments</a:t>
            </a:r>
            <a:endParaRPr lang="en-US" sz="9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590953" y="5408295"/>
            <a:ext cx="7255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Final Report</a:t>
            </a:r>
            <a:endParaRPr lang="en-US" sz="90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01396" y="543878"/>
            <a:ext cx="5018619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Weekly Snapshot &amp; Milestone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71906" y="1939290"/>
            <a:ext cx="4298823" cy="6187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80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{{KEY_MESSAGE}}</a:t>
            </a:r>
            <a:endParaRPr lang="en-US" sz="180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2100"/>
              </a:lnSpc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State the one result or decision the supervisor should remember.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079294" y="1893094"/>
            <a:ext cx="1767713" cy="623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8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{{STATUS}}</a:t>
            </a:r>
            <a:endParaRPr lang="en-US" sz="188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lnSpc>
                <a:spcPts val="2025"/>
              </a:lnSpc>
            </a:pPr>
            <a:r>
              <a:rPr lang="en-US" sz="98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 TRACK · AT RISK · BLOCKED</a:t>
            </a:r>
            <a:endParaRPr lang="en-US" sz="980" dirty="0">
              <a:solidFill>
                <a:srgbClr val="C8C8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92099" y="3792379"/>
            <a:ext cx="4404106" cy="5937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8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{{MILESTONE}}</a:t>
            </a:r>
            <a:endParaRPr lang="en-US" sz="158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2250"/>
              </a:lnSpc>
            </a:pP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Evidence completed: … | Current blocker: … | Next checkpoint: …</a:t>
            </a:r>
            <a:endParaRPr lang="en-US" sz="112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4218546" y="6665595"/>
            <a:ext cx="73921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{{SOURCE}}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{{PAGE_NUM}}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14350" y="1428750"/>
            <a:ext cx="3143250" cy="4648200"/>
          </a:xfrm>
          <a:prstGeom prst="roundRect">
            <a:avLst>
              <a:gd name="adj" fmla="val 3636"/>
            </a:avLst>
          </a:prstGeom>
          <a:solidFill>
            <a:srgbClr val="EEF1FA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3905250" y="1428750"/>
            <a:ext cx="4762500" cy="4648200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915400" y="1428750"/>
            <a:ext cx="2705100" cy="4648200"/>
          </a:xfrm>
          <a:prstGeom prst="roundRect">
            <a:avLst>
              <a:gd name="adj" fmla="val 4225"/>
            </a:avLst>
          </a:prstGeom>
          <a:solidFill>
            <a:srgbClr val="181C62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8915400" y="1428750"/>
            <a:ext cx="2705100" cy="1143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57047" y="1675924"/>
            <a:ext cx="69050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THIS WEEK</a:t>
            </a:r>
            <a:endParaRPr lang="en-US" sz="98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166997" y="1675924"/>
            <a:ext cx="36397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PIPELINE / ARCHITECTURE / IMPLEMENTATION EVIDENCE</a:t>
            </a:r>
            <a:endParaRPr lang="en-US" sz="98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158097" y="1704499"/>
            <a:ext cx="141501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TECHNICAL TAKEAWAY</a:t>
            </a:r>
            <a:endParaRPr lang="en-US" sz="98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01396" y="543878"/>
            <a:ext cx="334594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Technical Progress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53999" y="2154079"/>
            <a:ext cx="3356420" cy="8509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8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{{TECHNICAL_PROGRESS}}</a:t>
            </a:r>
            <a:endParaRPr lang="en-US" sz="158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875"/>
              </a:lnSpc>
              <a:spcBef>
                <a:spcPts val="525"/>
              </a:spcBef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Completed · In progress · Blocked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Include the concrete output, not only the activity.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164711" y="2170271"/>
            <a:ext cx="3568256" cy="7740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4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{{CONTENT_AREA}}</a:t>
            </a:r>
            <a:endParaRPr lang="en-US" sz="142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600"/>
              </a:spcBef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Recommended: module diagram, interface contract,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training pipeline, code evidence, or data-flow change.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155049" y="2173129"/>
            <a:ext cx="1943354" cy="10700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5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{{KEY_FINDING}}</a:t>
            </a:r>
            <a:endParaRPr lang="en-US" sz="158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900"/>
              </a:spcBef>
            </a:pPr>
            <a: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Why it matters:</a:t>
            </a:r>
            <a:endParaRPr lang="en-US" sz="1050" dirty="0">
              <a:solidFill>
                <a:srgbClr val="C8C8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150"/>
              </a:spcBef>
            </a:pPr>
            <a: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What changed in the design,</a:t>
            </a:r>
            <a:b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evidence, or next decision?</a:t>
            </a:r>
            <a:endParaRPr lang="en-US" sz="112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218546" y="6665595"/>
            <a:ext cx="73921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{{SOURCE}}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{{PAGE_NUM}}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14350" y="1304925"/>
            <a:ext cx="11106150" cy="704850"/>
          </a:xfrm>
          <a:prstGeom prst="roundRect">
            <a:avLst>
              <a:gd name="adj" fmla="val 13514"/>
            </a:avLst>
          </a:prstGeom>
          <a:solidFill>
            <a:srgbClr val="FCE9E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14350" y="2238375"/>
            <a:ext cx="7467600" cy="3838575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229600" y="2238375"/>
            <a:ext cx="3390900" cy="3838575"/>
          </a:xfrm>
          <a:prstGeom prst="roundRect">
            <a:avLst>
              <a:gd name="adj" fmla="val 3371"/>
            </a:avLst>
          </a:prstGeom>
          <a:solidFill>
            <a:srgbClr val="EEF1FA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8229600" y="2238375"/>
            <a:ext cx="3390900" cy="45720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38188" y="1407795"/>
            <a:ext cx="10781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ONE-LINE RESULT</a:t>
            </a:r>
            <a:endParaRPr lang="en-US" sz="90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57047" y="2466499"/>
            <a:ext cx="282743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EVIDENCE · BASELINE · CONTROL · METRIC</a:t>
            </a:r>
            <a:endParaRPr lang="en-US" sz="98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471916" y="2429828"/>
            <a:ext cx="92806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 FINDINGS</a:t>
            </a:r>
            <a:endParaRPr lang="en-US" sz="105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01396" y="543878"/>
            <a:ext cx="3922625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Experimental Evidence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34949" y="1639729"/>
            <a:ext cx="2010001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{{KEY_MESSAGE}}</a:t>
            </a:r>
            <a:endParaRPr lang="en-US" sz="158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54761" y="2894171"/>
            <a:ext cx="4555046" cy="7835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sz="14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{{CONTENT_AREA}}</a:t>
            </a:r>
            <a:endParaRPr lang="en-US" sz="142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725"/>
              </a:lnSpc>
              <a:spcBef>
                <a:spcPts val="525"/>
              </a:spcBef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Insert one chart, table, confusion matrix, or controlled comparison.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Label the baseline, evaluation split, metric, and uncertainty.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469630" y="3076575"/>
            <a:ext cx="2376424" cy="1112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50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{{FINDINGS}}</a:t>
            </a:r>
            <a:endParaRPr lang="en-US" sz="150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950"/>
              </a:lnSpc>
              <a:spcBef>
                <a:spcPts val="600"/>
              </a:spcBef>
            </a:pP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· What changed versus baseline?</a:t>
            </a:r>
            <a:b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· Which class or case still fails?</a:t>
            </a:r>
            <a:b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· What experiment comes next?</a:t>
            </a:r>
            <a:endParaRPr lang="en-US" sz="112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218546" y="6665595"/>
            <a:ext cx="73921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{{SOURCE}}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{{PAGE_NUM}}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14350" y="1428750"/>
            <a:ext cx="5286375" cy="2057400"/>
          </a:xfrm>
          <a:prstGeom prst="roundRect">
            <a:avLst>
              <a:gd name="adj" fmla="val 5556"/>
            </a:avLst>
          </a:prstGeom>
          <a:solidFill>
            <a:srgbClr val="FCE9E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6048375" y="1428750"/>
            <a:ext cx="5572125" cy="20574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D7144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14350" y="3714750"/>
            <a:ext cx="5286375" cy="2362200"/>
          </a:xfrm>
          <a:prstGeom prst="roundRect">
            <a:avLst>
              <a:gd name="adj" fmla="val 4839"/>
            </a:avLst>
          </a:prstGeom>
          <a:solidFill>
            <a:srgbClr val="EEF1FA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6048375" y="3714750"/>
            <a:ext cx="5572125" cy="2362200"/>
          </a:xfrm>
          <a:prstGeom prst="roundRect">
            <a:avLst>
              <a:gd name="adj" fmla="val 4839"/>
            </a:avLst>
          </a:prstGeom>
          <a:solidFill>
            <a:srgbClr val="181C62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14350" y="1428750"/>
            <a:ext cx="95250" cy="20574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048375" y="3714750"/>
            <a:ext cx="95250" cy="23622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94766" y="1639252"/>
            <a:ext cx="1131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RISK / BLOCKER</a:t>
            </a:r>
            <a:endParaRPr lang="en-US" sz="105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328791" y="1639252"/>
            <a:ext cx="30921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IMPACT ON SCOPE, EVIDENCE, OR TIMELINE</a:t>
            </a:r>
            <a:endParaRPr lang="en-US" sz="105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94766" y="3925252"/>
            <a:ext cx="249625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MITIGATION / OWNER / CHECK DATE</a:t>
            </a:r>
            <a:endParaRPr lang="en-US" sz="105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328791" y="3925252"/>
            <a:ext cx="21512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DECISION OR SUPPORT NEEDED</a:t>
            </a:r>
            <a:endParaRPr lang="en-US" sz="105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01396" y="543878"/>
            <a:ext cx="2969122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Risks &amp; Decisions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92099" y="2077879"/>
            <a:ext cx="3269742" cy="603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58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{{RISKS}}</a:t>
            </a:r>
            <a:endParaRPr lang="en-US" sz="158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2325"/>
              </a:lnSpc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Describe the failure mode, trigger, and evidence.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326124" y="2077879"/>
            <a:ext cx="3843147" cy="603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58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{{IMPACT}}</a:t>
            </a:r>
            <a:endParaRPr lang="en-US" sz="158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2325"/>
              </a:lnSpc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Quantify delay, compute cost, metric risk, or lost scope.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92099" y="4363879"/>
            <a:ext cx="2456307" cy="603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580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{{MITIGATION}}</a:t>
            </a:r>
            <a:endParaRPr lang="en-US" sz="1580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2325"/>
              </a:lnSpc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Owner: … | Check date: … | Fallback: …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326124" y="4363879"/>
            <a:ext cx="3423095" cy="603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325"/>
              </a:lnSpc>
            </a:pPr>
            <a:r>
              <a:rPr lang="en-US" sz="158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{{DECISION_NEEDED}}</a:t>
            </a:r>
            <a:endParaRPr lang="en-US" sz="158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2325"/>
              </a:lnSpc>
            </a:pPr>
            <a: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State the choice, approver, and latest useful date.</a:t>
            </a:r>
            <a:endParaRPr lang="en-US" sz="1050" dirty="0">
              <a:solidFill>
                <a:srgbClr val="C8C8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{{PAGE_NUM}}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1009650" y="2238375"/>
            <a:ext cx="9525" cy="3076575"/>
          </a:xfrm>
          <a:custGeom>
            <a:avLst/>
            <a:gdLst/>
            <a:ahLst/>
            <a:cxnLst/>
            <a:rect l="l" t="t" r="r" b="b"/>
            <a:pathLst>
              <a:path w="9525" h="3076575">
                <a:moveTo>
                  <a:pt x="0" y="0"/>
                </a:moveTo>
                <a:lnTo>
                  <a:pt x="0" y="3076575"/>
                </a:lnTo>
              </a:path>
            </a:pathLst>
          </a:custGeom>
          <a:noFill/>
          <a:ln w="47625">
            <a:solidFill>
              <a:srgbClr val="C8C8C8"/>
            </a:solidFill>
          </a:ln>
        </p:spPr>
      </p:sp>
      <p:sp>
        <p:nvSpPr>
          <p:cNvPr id="8" name="Ellipse 8"/>
          <p:cNvSpPr/>
          <p:nvPr/>
        </p:nvSpPr>
        <p:spPr>
          <a:xfrm>
            <a:off x="819150" y="2047875"/>
            <a:ext cx="381000" cy="381000"/>
          </a:xfrm>
          <a:prstGeom prst="ellipse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819150" y="3590925"/>
            <a:ext cx="381000" cy="381000"/>
          </a:xfrm>
          <a:prstGeom prst="ellipse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819150" y="5124450"/>
            <a:ext cx="381000" cy="381000"/>
          </a:xfrm>
          <a:prstGeom prst="ellipse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1466850" y="1619250"/>
            <a:ext cx="6667500" cy="1238250"/>
          </a:xfrm>
          <a:prstGeom prst="roundRect">
            <a:avLst>
              <a:gd name="adj" fmla="val 9231"/>
            </a:avLst>
          </a:prstGeom>
          <a:solidFill>
            <a:srgbClr val="FCE9EE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1466850" y="3162300"/>
            <a:ext cx="6667500" cy="1238250"/>
          </a:xfrm>
          <a:prstGeom prst="roundRect">
            <a:avLst>
              <a:gd name="adj" fmla="val 9231"/>
            </a:avLst>
          </a:prstGeom>
          <a:solidFill>
            <a:srgbClr val="EEF1FA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1466850" y="4695825"/>
            <a:ext cx="6667500" cy="1238250"/>
          </a:xfrm>
          <a:prstGeom prst="roundRect">
            <a:avLst>
              <a:gd name="adj" fmla="val 9231"/>
            </a:avLst>
          </a:prstGeom>
          <a:solidFill>
            <a:srgbClr val="FCE9EE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8420100" y="1619250"/>
            <a:ext cx="3200400" cy="4314825"/>
          </a:xfrm>
          <a:prstGeom prst="roundRect">
            <a:avLst>
              <a:gd name="adj" fmla="val 3571"/>
            </a:avLst>
          </a:prstGeom>
          <a:solidFill>
            <a:srgbClr val="181C6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50315" y="21593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lang="en-US" sz="135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50315" y="370236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lang="en-US" sz="135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50315" y="5235892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lang="en-US" sz="135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747647" y="1809274"/>
            <a:ext cx="15174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DELIVERABLE 1 · BUILD</a:t>
            </a:r>
            <a:endParaRPr lang="en-US" sz="98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747647" y="3352324"/>
            <a:ext cx="17589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DELIVERABLE 2 · VALIDATE</a:t>
            </a:r>
            <a:endParaRPr lang="en-US" sz="98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747647" y="4885849"/>
            <a:ext cx="18541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DELIVERABLE 3 · DOCUMENT</a:t>
            </a:r>
            <a:endParaRPr lang="en-US" sz="98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700516" y="1896428"/>
            <a:ext cx="25981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OWNER · DUE DATE · SUCCESS CHECK</a:t>
            </a:r>
            <a:endParaRPr lang="en-US" sz="105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01396" y="543878"/>
            <a:ext cx="4335356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Next-Week Commitments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744599" y="2173129"/>
            <a:ext cx="2916365" cy="5461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8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{{NEXT_ACTION_1}}</a:t>
            </a:r>
            <a:endParaRPr lang="en-US" sz="158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875"/>
              </a:lnSpc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Output: code, dataset, or runnable module.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744599" y="3716179"/>
            <a:ext cx="3336417" cy="5461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8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{{NEXT_ACTION_2}}</a:t>
            </a:r>
            <a:endParaRPr lang="en-US" sz="158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875"/>
              </a:lnSpc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Output: metric table, control, or ablation result.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744599" y="5249704"/>
            <a:ext cx="3369755" cy="5461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58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{{NEXT_ACTION_3}}</a:t>
            </a:r>
            <a:endParaRPr lang="en-US" sz="158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875"/>
              </a:lnSpc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Output: updated figure, notes, or report section.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697849" y="2382679"/>
            <a:ext cx="2474087" cy="14415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{{OWNER_AND_DEADLINE}}</a:t>
            </a:r>
            <a:endParaRPr lang="en-US" sz="15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2025"/>
              </a:lnSpc>
              <a:spcBef>
                <a:spcPts val="825"/>
              </a:spcBef>
            </a:pPr>
            <a: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Owner: …</a:t>
            </a:r>
            <a:b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Due: …</a:t>
            </a:r>
            <a:b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Success check: observable output</a:t>
            </a:r>
            <a:b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C8C8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or agreed metric threshold.</a:t>
            </a:r>
            <a:endParaRPr lang="en-US" sz="1050" dirty="0">
              <a:solidFill>
                <a:srgbClr val="C8C8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{{PAGE_NUM}}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14350" y="1304925"/>
            <a:ext cx="11106150" cy="4772025"/>
          </a:xfrm>
          <a:prstGeom prst="roundRect">
            <a:avLst>
              <a:gd name="adj" fmla="val 1996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01396" y="543878"/>
            <a:ext cx="2213061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Open Canvas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218546" y="6665595"/>
            <a:ext cx="73921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{{SOURCE}}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{{PAGE_NUM}}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14350" y="1304925"/>
            <a:ext cx="7810500" cy="4772025"/>
          </a:xfrm>
          <a:prstGeom prst="roundRect">
            <a:avLst>
              <a:gd name="adj" fmla="val 1996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0" y="1304925"/>
            <a:ext cx="3048000" cy="4772025"/>
          </a:xfrm>
          <a:prstGeom prst="roundRect">
            <a:avLst>
              <a:gd name="adj" fmla="val 3125"/>
            </a:avLst>
          </a:prstGeom>
          <a:solidFill>
            <a:srgbClr val="EEF1FA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8572500" y="1304925"/>
            <a:ext cx="3048000" cy="1143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815197" y="1647349"/>
            <a:ext cx="12905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IMAGE DESCRIPTION</a:t>
            </a:r>
            <a:endParaRPr lang="en-US" sz="98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01396" y="543878"/>
            <a:ext cx="334077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Single-Image Story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2" name="Image 12"/>
          <p:cNvPicPr>
            <a:picLocks noChangeAspect="1"/>
          </p:cNvPicPr>
          <p:nvPr/>
        </p:nvPicPr>
        <p:blipFill>
          <a:blip r:embed="rId2"/>
          <a:srcRect l="4974" r="4973"/>
          <a:stretch>
            <a:fillRect/>
          </a:stretch>
        </p:blipFill>
        <p:spPr>
          <a:xfrm>
            <a:off x="552450" y="1343025"/>
            <a:ext cx="7734300" cy="4695825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8812149" y="2173129"/>
            <a:ext cx="2298954" cy="2146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58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{{IMAGE_DESCRIPTION}}</a:t>
            </a:r>
            <a:endParaRPr lang="en-US" sz="158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900"/>
              </a:spcBef>
            </a:pP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What does the image show?</a:t>
            </a:r>
            <a:endParaRPr lang="en-US" sz="112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375"/>
              </a:spcBef>
            </a:pP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Why is it relevant this week?</a:t>
            </a:r>
            <a:endParaRPr lang="en-US" sz="112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375"/>
              </a:spcBef>
            </a:pPr>
            <a:r>
              <a:rPr lang="en-US" sz="112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What should the audience notice?</a:t>
            </a:r>
            <a:endParaRPr lang="en-US" sz="112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1050"/>
              </a:spcBef>
            </a:pPr>
            <a:r>
              <a:rPr lang="en-US" sz="1050" b="1" dirty="0">
                <a:solidFill>
                  <a:srgbClr val="D7144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TIP</a:t>
            </a:r>
            <a:endParaRPr lang="en-US" sz="1050" b="1" dirty="0">
              <a:solidFill>
                <a:srgbClr val="D7144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ts val="1650"/>
              </a:lnSpc>
              <a:spcBef>
                <a:spcPts val="225"/>
              </a:spcBef>
            </a:pP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 one annotated result, system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overview, qualitative example,</a:t>
            </a:r>
            <a:b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r>
              <a:rPr lang="en-US" sz="1050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or implementation photograph.</a:t>
            </a:r>
            <a:endParaRPr lang="en-US" sz="1050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218546" y="6665595"/>
            <a:ext cx="73921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{{SOURCE}}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{{PAGE_NUM}}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416388" y="713899"/>
            <a:ext cx="10564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b="1" dirty="0">
                <a:solidFill>
                  <a:srgbClr val="5E647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 2–4 IMAGES</a:t>
            </a:r>
            <a:endParaRPr lang="en-US" sz="980" b="1" dirty="0">
              <a:solidFill>
                <a:srgbClr val="5E647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514350" y="1304925"/>
            <a:ext cx="5391150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14350" y="3152775"/>
            <a:ext cx="5391150" cy="361950"/>
          </a:xfrm>
          <a:prstGeom prst="rect">
            <a:avLst/>
          </a:prstGeom>
          <a:solidFill>
            <a:srgbClr val="EEF1FA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6229350" y="1304925"/>
            <a:ext cx="5391150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6229350" y="3152775"/>
            <a:ext cx="5391150" cy="361950"/>
          </a:xfrm>
          <a:prstGeom prst="rect">
            <a:avLst/>
          </a:prstGeom>
          <a:solidFill>
            <a:srgbClr val="EEF1FA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14350" y="3686175"/>
            <a:ext cx="5391150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514350" y="5534025"/>
            <a:ext cx="5391150" cy="361950"/>
          </a:xfrm>
          <a:prstGeom prst="rect">
            <a:avLst/>
          </a:prstGeom>
          <a:solidFill>
            <a:srgbClr val="EEF1FA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6229350" y="3686175"/>
            <a:ext cx="5391150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6229350" y="5534025"/>
            <a:ext cx="5391150" cy="361950"/>
          </a:xfrm>
          <a:prstGeom prst="rect">
            <a:avLst/>
          </a:prstGeom>
          <a:solidFill>
            <a:srgbClr val="EEF1F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01396" y="543878"/>
            <a:ext cx="3215507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Multi-Image Story</a:t>
            </a:r>
            <a:endParaRPr lang="en-US" sz="2550" b="1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7" name="Image 17"/>
          <p:cNvPicPr>
            <a:picLocks noChangeAspect="1"/>
          </p:cNvPicPr>
          <p:nvPr/>
        </p:nvPicPr>
        <p:blipFill>
          <a:blip r:embed="rId2"/>
          <a:srcRect t="19517" b="19517"/>
          <a:stretch>
            <a:fillRect/>
          </a:stretch>
        </p:blipFill>
        <p:spPr>
          <a:xfrm>
            <a:off x="552450" y="1343025"/>
            <a:ext cx="5314950" cy="1771650"/>
          </a:xfrm>
          <a:prstGeom prst="rect">
            <a:avLst/>
          </a:prstGeom>
        </p:spPr>
      </p:pic>
      <p:pic>
        <p:nvPicPr>
          <p:cNvPr id="18" name="Image 18"/>
          <p:cNvPicPr>
            <a:picLocks noChangeAspect="1"/>
          </p:cNvPicPr>
          <p:nvPr/>
        </p:nvPicPr>
        <p:blipFill>
          <a:blip r:embed="rId3"/>
          <a:srcRect t="14228" b="14227"/>
          <a:stretch>
            <a:fillRect/>
          </a:stretch>
        </p:blipFill>
        <p:spPr>
          <a:xfrm>
            <a:off x="6267450" y="1343025"/>
            <a:ext cx="5314950" cy="1771650"/>
          </a:xfrm>
          <a:prstGeom prst="rect">
            <a:avLst/>
          </a:prstGeom>
        </p:spPr>
      </p:pic>
      <p:pic>
        <p:nvPicPr>
          <p:cNvPr id="19" name="Image 19"/>
          <p:cNvPicPr>
            <a:picLocks noChangeAspect="1"/>
          </p:cNvPicPr>
          <p:nvPr/>
        </p:nvPicPr>
        <p:blipFill>
          <a:blip r:embed="rId4"/>
          <a:srcRect t="25000" b="25000"/>
          <a:stretch>
            <a:fillRect/>
          </a:stretch>
        </p:blipFill>
        <p:spPr>
          <a:xfrm>
            <a:off x="552450" y="3724275"/>
            <a:ext cx="5314950" cy="1771650"/>
          </a:xfrm>
          <a:prstGeom prst="rect">
            <a:avLst/>
          </a:prstGeom>
        </p:spPr>
      </p:pic>
      <p:pic>
        <p:nvPicPr>
          <p:cNvPr id="20" name="Image 20"/>
          <p:cNvPicPr>
            <a:picLocks noChangeAspect="1"/>
          </p:cNvPicPr>
          <p:nvPr/>
        </p:nvPicPr>
        <p:blipFill>
          <a:blip r:embed="rId5"/>
          <a:srcRect t="28986" b="28987"/>
          <a:stretch>
            <a:fillRect/>
          </a:stretch>
        </p:blipFill>
        <p:spPr>
          <a:xfrm>
            <a:off x="6267450" y="3724275"/>
            <a:ext cx="5314950" cy="177165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680085" y="3269456"/>
            <a:ext cx="11425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{{CAPTION_1}}</a:t>
            </a:r>
            <a:endParaRPr lang="en-US" sz="112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395085" y="3269456"/>
            <a:ext cx="11425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{{CAPTION_2}}</a:t>
            </a:r>
            <a:endParaRPr lang="en-US" sz="112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80085" y="5650706"/>
            <a:ext cx="11425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{{CAPTION_3}}</a:t>
            </a:r>
            <a:endParaRPr lang="en-US" sz="112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395085" y="5650706"/>
            <a:ext cx="11425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20243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{{CAPTION_4}}</a:t>
            </a:r>
            <a:endParaRPr lang="en-US" sz="1120" dirty="0">
              <a:solidFill>
                <a:srgbClr val="20243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218546" y="6665595"/>
            <a:ext cx="73921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{{SOURCE}}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1085233" y="6665595"/>
            <a:ext cx="8800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{{PAGE_NUM}}</a:t>
            </a:r>
            <a:endParaRPr lang="en-US" sz="90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980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0"/>
            <a:ext cx="12020550" cy="6572250"/>
          </a:xfrm>
          <a:prstGeom prst="rect">
            <a:avLst/>
          </a:prstGeom>
        </p:spPr>
      </p:pic>
      <p:sp>
        <p:nvSpPr>
          <p:cNvPr id="7" name="Rectangle 7"/>
          <p:cNvSpPr/>
          <p:nvPr/>
        </p:nvSpPr>
        <p:spPr>
          <a:xfrm>
            <a:off x="171450" y="0"/>
            <a:ext cx="12020550" cy="6572250"/>
          </a:xfrm>
          <a:prstGeom prst="rect">
            <a:avLst/>
          </a:prstGeom>
          <a:solidFill>
            <a:srgbClr val="FFFFFF">
              <a:alpha val="72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620250" y="171450"/>
            <a:ext cx="2266950" cy="838200"/>
          </a:xfrm>
          <a:prstGeom prst="roundRect">
            <a:avLst>
              <a:gd name="adj" fmla="val 6818"/>
            </a:avLst>
          </a:prstGeom>
          <a:solidFill>
            <a:srgbClr val="FFFFFF">
              <a:alpha val="94000"/>
            </a:srgbClr>
          </a:solidFill>
          <a:ln>
            <a:noFill/>
          </a:ln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8435" y="247650"/>
            <a:ext cx="1910579" cy="685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4822500" y="2404110"/>
            <a:ext cx="27184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EE6008 · HUMAN POSE ANALYTICS</a:t>
            </a:r>
            <a:endParaRPr lang="en-US" sz="120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angle 11"/>
          <p:cNvSpPr/>
          <p:nvPr/>
        </p:nvSpPr>
        <p:spPr>
          <a:xfrm>
            <a:off x="5419725" y="3524250"/>
            <a:ext cx="1524000" cy="5715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798329" y="2858452"/>
            <a:ext cx="2766791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050" b="1" dirty="0">
                <a:solidFill>
                  <a:srgbClr val="181C6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Thank You</a:t>
            </a:r>
            <a:endParaRPr lang="en-US" sz="4050" b="1" dirty="0">
              <a:solidFill>
                <a:srgbClr val="181C6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ekly_five_minute_research_update">
  <a:themeElements>
    <a:clrScheme name="weekly_five_minute_research_upda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eekly_five_minute_research_updat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ekly_five_minute_research_upd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2851</Words>
  <Application>WPS 演示</Application>
  <PresentationFormat>On-screen Show (16:9)</PresentationFormat>
  <Paragraphs>203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weekly_five_minute_research_update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梁含璋</cp:lastModifiedBy>
  <cp:revision>3</cp:revision>
  <dcterms:created xsi:type="dcterms:W3CDTF">2026-08-30T08:07:00Z</dcterms:created>
  <dcterms:modified xsi:type="dcterms:W3CDTF">2026-09-01T19:37:20Z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1DA66F9949424E69AE3A6924A34D360B_12</vt:lpwstr>
  </property>
  <property fmtid="{D5CDD505-2E9C-101B-9397-08002B2CF9AE}" pid="3" name="KSOProductBuildVer">
    <vt:lpwstr>2052-12.1.0.28505</vt:lpwstr>
  </property>
</Properties>
</file>