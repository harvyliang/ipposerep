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type="screen4x3"/>
  <p:notesSz cx="6858000" cy="9144000"/>
  <p:custDataLst>
    <p:tags r:id="rId1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0" userDrawn="1">
          <p15:clr>
            <a:srgbClr val="A4A3A4"/>
          </p15:clr>
        </p15:guide>
        <p15:guide id="2" pos="2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4F72"/>
    <a:srgbClr val="DA1744"/>
    <a:srgbClr val="911130"/>
    <a:srgbClr val="E01443"/>
    <a:srgbClr val="084391"/>
    <a:srgbClr val="034296"/>
    <a:srgbClr val="1A25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220"/>
        <p:guide pos="287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presentation introduces our Week 3 research framing and early technical findings. Our specific direction is instance-preserving pose representation for multi-person action recognition.</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project direction is now fixed around preserving person identity before multi-person fusion. Week 3 is on track: the interaction subset has been audited, and the next checkpoint is an identity-aware loader plus a reproducible baseline.</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problem is simple: common multi-person pose pipelines fuse people before the model has preserved who performed each motion. This can remove person identity, relative geometry, and role-specific information. The loss is especially important when two people perform different roles in the same action.</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Our goal is to preserve each person's motion before fusion without materially increasing backbone complexity. M1 keeps independent person streams, and M2 adds relative displacement, distance, and velocity. Controlled comparisons will test whether any gain comes from representation design rather than additional parameters.</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With the problem and goal defined, we scoped the NTU RGB+D 120 mutual-interaction subset. The audit covers twenty-six classes and preserves the official Cross-Subject and Cross-Setup logic. The next data step is a parser that retains body identity and tracking state.</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raw skeleton files contain much more than joint coordinates. They include body identity, tracking state, per-joint reliability, and multiple coordinate and orientation fields. Our code review found that common preprocessing can merge identities and can also miss checks for action IDs above one hundred.</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These data findings connect directly to the baseline choice. SkeletonX is our main development baseline, while PoseC3D is the representation-level control for multi-person heatmap fusion. CTR-GCN remains the fallback if the SkeletonX environment cannot be stabilized early.</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summary, we are testing whether preserving person identity and relative geometry improves multi-person interaction recognition under controlled baselines. Thank you, and we welcome questions.</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weekly_five_minute_research_updat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wrap="square"/>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wrap="square"/>
          <a:lstStyle/>
          <a:p>
            <a:endParaRPr lang="en-US"/>
          </a:p>
        </p:txBody>
      </p:sp>
      <p:sp>
        <p:nvSpPr>
          <p:cNvPr id="4" name="Slide Number Placeholder 3"/>
          <p:cNvSpPr>
            <a:spLocks noGrp="1"/>
          </p:cNvSpPr>
          <p:nvPr>
            <p:ph type="sldNum" sz="quarter" idx="12"/>
          </p:nvPr>
        </p:nvSpPr>
        <p:spPr/>
        <p:txBody>
          <a:bodyPr wrap="square"/>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12192635" cy="6858000"/>
          </a:xfrm>
          <a:prstGeom prst="rect">
            <a:avLst/>
          </a:prstGeom>
          <a:gradFill>
            <a:gsLst>
              <a:gs pos="0">
                <a:srgbClr val="DA1744">
                  <a:alpha val="75000"/>
                  <a:lumMod val="85000"/>
                </a:srgbClr>
              </a:gs>
              <a:gs pos="10000">
                <a:schemeClr val="bg1">
                  <a:alpha val="0"/>
                </a:schemeClr>
              </a:gs>
              <a:gs pos="75000">
                <a:srgbClr val="84A1C8">
                  <a:alpha val="75000"/>
                </a:srgbClr>
              </a:gs>
              <a:gs pos="50000">
                <a:schemeClr val="bg1">
                  <a:alpha val="0"/>
                </a:schemeClr>
              </a:gs>
              <a:gs pos="100000">
                <a:srgbClr val="084391"/>
              </a:gs>
            </a:gsLst>
            <a:lin ang="108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557784"/>
            <a:ext cx="64008" cy="438912"/>
          </a:xfrm>
          <a:prstGeom prst="rect">
            <a:avLst/>
          </a:prstGeom>
          <a:solidFill>
            <a:srgbClr val="DA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77088"/>
            <a:ext cx="5074920" cy="215265"/>
          </a:xfrm>
          <a:prstGeom prst="rect">
            <a:avLst/>
          </a:prstGeom>
          <a:noFill/>
        </p:spPr>
        <p:txBody>
          <a:bodyPr wrap="square" lIns="0" tIns="0" rIns="0" bIns="0" anchor="t">
            <a:spAutoFit/>
          </a:bodyPr>
          <a:lstStyle/>
          <a:p>
            <a:pPr algn="l">
              <a:lnSpc>
                <a:spcPct val="100000"/>
              </a:lnSpc>
              <a:spcAft>
                <a:spcPts val="0"/>
              </a:spcAft>
            </a:pPr>
            <a:r>
              <a:rPr sz="1400" b="1">
                <a:solidFill>
                  <a:srgbClr val="172262"/>
                </a:solidFill>
                <a:latin typeface="Arial" panose="020B0604020202020204"/>
              </a:rPr>
              <a:t>EE6008</a:t>
            </a:r>
            <a:endParaRPr sz="1400" b="1">
              <a:solidFill>
                <a:srgbClr val="172262"/>
              </a:solidFill>
              <a:latin typeface="Arial" panose="020B0604020202020204"/>
            </a:endParaRPr>
          </a:p>
        </p:txBody>
      </p:sp>
      <p:sp>
        <p:nvSpPr>
          <p:cNvPr id="8" name="TextBox 7"/>
          <p:cNvSpPr txBox="1"/>
          <p:nvPr/>
        </p:nvSpPr>
        <p:spPr>
          <a:xfrm>
            <a:off x="896112" y="841248"/>
            <a:ext cx="3017520" cy="146050"/>
          </a:xfrm>
          <a:prstGeom prst="rect">
            <a:avLst/>
          </a:prstGeom>
          <a:noFill/>
        </p:spPr>
        <p:txBody>
          <a:bodyPr wrap="square" lIns="0" tIns="0" rIns="0" bIns="0" anchor="t">
            <a:spAutoFit/>
          </a:bodyPr>
          <a:lstStyle/>
          <a:p>
            <a:pPr algn="l">
              <a:lnSpc>
                <a:spcPct val="100000"/>
              </a:lnSpc>
              <a:spcAft>
                <a:spcPts val="0"/>
              </a:spcAft>
            </a:pPr>
            <a:r>
              <a:rPr sz="950" b="0">
                <a:solidFill>
                  <a:schemeClr val="bg1"/>
                </a:solidFill>
                <a:latin typeface="Arial" panose="020B0604020202020204"/>
              </a:rPr>
              <a:t>WEEKLY PRESENTATION</a:t>
            </a:r>
            <a:endParaRPr sz="950" b="0">
              <a:solidFill>
                <a:schemeClr val="bg1"/>
              </a:solidFill>
              <a:latin typeface="Arial" panose="020B0604020202020204"/>
            </a:endParaRPr>
          </a:p>
        </p:txBody>
      </p:sp>
      <p:sp>
        <p:nvSpPr>
          <p:cNvPr id="9" name="TextBox 8"/>
          <p:cNvSpPr txBox="1"/>
          <p:nvPr/>
        </p:nvSpPr>
        <p:spPr>
          <a:xfrm>
            <a:off x="713232" y="1874519"/>
            <a:ext cx="6172200" cy="1298448"/>
          </a:xfrm>
          <a:prstGeom prst="rect">
            <a:avLst/>
          </a:prstGeom>
          <a:noFill/>
        </p:spPr>
        <p:txBody>
          <a:bodyPr wrap="square" lIns="0" tIns="0" rIns="0" bIns="0" anchor="ctr">
            <a:spAutoFit/>
          </a:bodyPr>
          <a:lstStyle/>
          <a:p>
            <a:pPr algn="l">
              <a:lnSpc>
                <a:spcPct val="100000"/>
              </a:lnSpc>
              <a:spcAft>
                <a:spcPts val="0"/>
              </a:spcAft>
            </a:pPr>
            <a:r>
              <a:rPr sz="2800" b="1">
                <a:solidFill>
                  <a:srgbClr val="191D2C"/>
                </a:solidFill>
                <a:latin typeface="Arial" panose="020B0604020202020204"/>
              </a:rPr>
              <a:t>Human Pose Analytics</a:t>
            </a:r>
            <a:endParaRPr sz="2800" b="1">
              <a:solidFill>
                <a:srgbClr val="191D2C"/>
              </a:solidFill>
              <a:latin typeface="Arial" panose="020B0604020202020204"/>
            </a:endParaRPr>
          </a:p>
          <a:p>
            <a:pPr algn="l">
              <a:lnSpc>
                <a:spcPct val="100000"/>
              </a:lnSpc>
              <a:spcAft>
                <a:spcPts val="0"/>
              </a:spcAft>
            </a:pPr>
            <a:r>
              <a:rPr sz="2800" b="1">
                <a:solidFill>
                  <a:srgbClr val="191D2C"/>
                </a:solidFill>
                <a:latin typeface="Arial" panose="020B0604020202020204"/>
              </a:rPr>
              <a:t>Using Artificial Intelligence</a:t>
            </a:r>
            <a:endParaRPr sz="2800" b="1">
              <a:solidFill>
                <a:srgbClr val="191D2C"/>
              </a:solidFill>
              <a:latin typeface="Arial" panose="020B0604020202020204"/>
            </a:endParaRPr>
          </a:p>
        </p:txBody>
      </p:sp>
      <p:sp>
        <p:nvSpPr>
          <p:cNvPr id="10" name="Rectangle 9"/>
          <p:cNvSpPr/>
          <p:nvPr/>
        </p:nvSpPr>
        <p:spPr>
          <a:xfrm>
            <a:off x="731520" y="3319272"/>
            <a:ext cx="585216" cy="50292"/>
          </a:xfrm>
          <a:prstGeom prst="rect">
            <a:avLst/>
          </a:prstGeom>
          <a:solidFill>
            <a:srgbClr val="DA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529584"/>
            <a:ext cx="5715000" cy="457200"/>
          </a:xfrm>
          <a:prstGeom prst="rect">
            <a:avLst/>
          </a:prstGeom>
          <a:noFill/>
        </p:spPr>
        <p:txBody>
          <a:bodyPr wrap="square" lIns="0" tIns="0" rIns="0" bIns="0" anchor="t">
            <a:spAutoFit/>
          </a:bodyPr>
          <a:lstStyle/>
          <a:p>
            <a:pPr algn="ctr">
              <a:lnSpc>
                <a:spcPct val="100000"/>
              </a:lnSpc>
              <a:spcAft>
                <a:spcPts val="0"/>
              </a:spcAft>
            </a:pPr>
            <a:r>
              <a:rPr sz="1600" b="1">
                <a:solidFill>
                  <a:schemeClr val="bg1"/>
                </a:solidFill>
                <a:latin typeface="Arial" panose="020B0604020202020204"/>
              </a:rPr>
              <a:t>Instance-Preserving Pose Representation</a:t>
            </a:r>
            <a:endParaRPr sz="1600" b="1">
              <a:solidFill>
                <a:schemeClr val="bg1"/>
              </a:solidFill>
              <a:latin typeface="Arial" panose="020B0604020202020204"/>
            </a:endParaRPr>
          </a:p>
        </p:txBody>
      </p:sp>
      <p:sp>
        <p:nvSpPr>
          <p:cNvPr id="12" name="Rectangle 11"/>
          <p:cNvSpPr/>
          <p:nvPr/>
        </p:nvSpPr>
        <p:spPr>
          <a:xfrm>
            <a:off x="731520" y="4727448"/>
            <a:ext cx="1170432" cy="448056"/>
          </a:xfrm>
          <a:prstGeom prst="rect">
            <a:avLst/>
          </a:prstGeom>
          <a:solidFill>
            <a:srgbClr val="172262">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727448"/>
            <a:ext cx="1170432" cy="448056"/>
          </a:xfrm>
          <a:prstGeom prst="rect">
            <a:avLst/>
          </a:prstGeom>
          <a:noFill/>
        </p:spPr>
        <p:txBody>
          <a:bodyPr wrap="square" lIns="0" tIns="0" rIns="0" bIns="0" anchor="ctr">
            <a:spAutoFit/>
          </a:bodyPr>
          <a:lstStyle/>
          <a:p>
            <a:pPr algn="ctr">
              <a:lnSpc>
                <a:spcPct val="100000"/>
              </a:lnSpc>
              <a:spcAft>
                <a:spcPts val="0"/>
              </a:spcAft>
            </a:pPr>
            <a:r>
              <a:rPr sz="1100" b="1">
                <a:solidFill>
                  <a:srgbClr val="FFFFFF"/>
                </a:solidFill>
                <a:latin typeface="Arial" panose="020B0604020202020204"/>
              </a:rPr>
              <a:t>WEEK 3</a:t>
            </a:r>
            <a:endParaRPr sz="1100" b="1">
              <a:solidFill>
                <a:srgbClr val="FFFFFF"/>
              </a:solidFill>
              <a:latin typeface="Arial" panose="020B0604020202020204"/>
            </a:endParaRPr>
          </a:p>
        </p:txBody>
      </p:sp>
      <p:sp>
        <p:nvSpPr>
          <p:cNvPr id="14" name="Rectangle 13"/>
          <p:cNvSpPr/>
          <p:nvPr/>
        </p:nvSpPr>
        <p:spPr>
          <a:xfrm>
            <a:off x="1901952" y="4727448"/>
            <a:ext cx="2423160" cy="448056"/>
          </a:xfrm>
          <a:prstGeom prst="rect">
            <a:avLst/>
          </a:prstGeom>
          <a:solidFill>
            <a:srgbClr val="ECEEF3">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01952" y="4843844"/>
            <a:ext cx="2423160" cy="215265"/>
          </a:xfrm>
          <a:prstGeom prst="rect">
            <a:avLst/>
          </a:prstGeom>
          <a:noFill/>
        </p:spPr>
        <p:txBody>
          <a:bodyPr wrap="square" lIns="0" tIns="0" rIns="0" bIns="0" anchor="ctr">
            <a:spAutoFit/>
          </a:bodyPr>
          <a:lstStyle/>
          <a:p>
            <a:pPr algn="ctr">
              <a:lnSpc>
                <a:spcPct val="100000"/>
              </a:lnSpc>
              <a:spcAft>
                <a:spcPts val="0"/>
              </a:spcAft>
            </a:pPr>
            <a:r>
              <a:rPr sz="1400" b="1">
                <a:solidFill>
                  <a:srgbClr val="5F6575"/>
                </a:solidFill>
                <a:latin typeface="Arial" panose="020B0604020202020204"/>
              </a:rPr>
              <a:t>Group 14</a:t>
            </a:r>
            <a:endParaRPr sz="1400" b="1">
              <a:solidFill>
                <a:srgbClr val="5F6575"/>
              </a:solidFill>
              <a:latin typeface="Arial" panose="020B0604020202020204"/>
            </a:endParaRPr>
          </a:p>
        </p:txBody>
      </p:sp>
      <p:sp>
        <p:nvSpPr>
          <p:cNvPr id="16" name="TextBox 15"/>
          <p:cNvSpPr txBox="1"/>
          <p:nvPr/>
        </p:nvSpPr>
        <p:spPr>
          <a:xfrm>
            <a:off x="731520" y="5971032"/>
            <a:ext cx="3474720" cy="184150"/>
          </a:xfrm>
          <a:prstGeom prst="rect">
            <a:avLst/>
          </a:prstGeom>
          <a:noFill/>
        </p:spPr>
        <p:txBody>
          <a:bodyPr wrap="square" lIns="0" tIns="0" rIns="0" bIns="0" anchor="t">
            <a:spAutoFit/>
          </a:bodyPr>
          <a:lstStyle/>
          <a:p>
            <a:pPr algn="l">
              <a:lnSpc>
                <a:spcPct val="100000"/>
              </a:lnSpc>
              <a:spcAft>
                <a:spcPts val="0"/>
              </a:spcAft>
            </a:pPr>
            <a:r>
              <a:rPr sz="1200" b="0">
                <a:solidFill>
                  <a:schemeClr val="bg1"/>
                </a:solidFill>
                <a:latin typeface="Arial" panose="020B0604020202020204"/>
              </a:rPr>
              <a:t>Week ending · 2026-09-01</a:t>
            </a:r>
            <a:endParaRPr sz="1200" b="0">
              <a:solidFill>
                <a:schemeClr val="bg1"/>
              </a:solidFill>
              <a:latin typeface="Arial" panose="020B0604020202020204"/>
            </a:endParaRPr>
          </a:p>
        </p:txBody>
      </p:sp>
      <p:pic>
        <p:nvPicPr>
          <p:cNvPr id="17" name="Image 3"/>
          <p:cNvPicPr>
            <a:picLocks noChangeAspect="1"/>
          </p:cNvPicPr>
          <p:nvPr/>
        </p:nvPicPr>
        <p:blipFill>
          <a:blip r:embed="rId2"/>
          <a:stretch>
            <a:fillRect/>
          </a:stretch>
        </p:blipFill>
        <p:spPr>
          <a:xfrm>
            <a:off x="10633075" y="570230"/>
            <a:ext cx="1311910" cy="472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D71440"/>
          </a:solidFill>
          <a:ln>
            <a:noFill/>
          </a:ln>
        </p:spPr>
        <p:txBody>
          <a:bodyPr wrap="square"/>
          <a:p/>
        </p:txBody>
      </p:sp>
      <p:pic>
        <p:nvPicPr>
          <p:cNvPr id="3" name="Image 3"/>
          <p:cNvPicPr>
            <a:picLocks noChangeAspect="1"/>
          </p:cNvPicPr>
          <p:nvPr/>
        </p:nvPicPr>
        <p:blipFill>
          <a:blip r:embed="rId1"/>
          <a:stretch>
            <a:fillRect/>
          </a:stretch>
        </p:blipFill>
        <p:spPr>
          <a:xfrm>
            <a:off x="9810750" y="228600"/>
            <a:ext cx="1905000" cy="685800"/>
          </a:xfrm>
          <a:prstGeom prst="rect">
            <a:avLst/>
          </a:prstGeom>
        </p:spPr>
      </p:pic>
      <p:sp>
        <p:nvSpPr>
          <p:cNvPr id="4" name="Rectangle 4"/>
          <p:cNvSpPr/>
          <p:nvPr/>
        </p:nvSpPr>
        <p:spPr>
          <a:xfrm>
            <a:off x="171450" y="6572250"/>
            <a:ext cx="12020550" cy="285750"/>
          </a:xfrm>
          <a:prstGeom prst="rect">
            <a:avLst/>
          </a:prstGeom>
          <a:solidFill>
            <a:srgbClr val="181C62"/>
          </a:solidFill>
          <a:ln>
            <a:noFill/>
          </a:ln>
        </p:spPr>
        <p:txBody>
          <a:bodyPr wrap="square"/>
          <a:p/>
        </p:txBody>
      </p:sp>
      <p:sp>
        <p:nvSpPr>
          <p:cNvPr id="5" name="TextBox 5"/>
          <p:cNvSpPr txBox="1"/>
          <p:nvPr/>
        </p:nvSpPr>
        <p:spPr>
          <a:xfrm>
            <a:off x="471170" y="6666230"/>
            <a:ext cx="3678555" cy="191135"/>
          </a:xfrm>
          <a:prstGeom prst="rect">
            <a:avLst/>
          </a:prstGeom>
          <a:noFill/>
          <a:ln>
            <a:noFill/>
          </a:ln>
        </p:spPr>
        <p:txBody>
          <a:bodyPr wrap="square" lIns="0" tIns="0" rIns="0" bIns="0" anchor="t" anchorCtr="0">
            <a:noAutofit/>
          </a:bodyPr>
          <a:lstStyle/>
          <a:p>
            <a:pPr algn="l"/>
            <a:r>
              <a:rPr lang="en-US" sz="1080" dirty="0">
                <a:solidFill>
                  <a:srgbClr val="FFFFFF"/>
                </a:solidFill>
                <a:latin typeface="Arial" panose="020B0604020202020204"/>
                <a:ea typeface="Arial" panose="020B0604020202020204"/>
                <a:cs typeface="Arial" panose="020B0604020202020204"/>
              </a:rPr>
              <a:t>EE6008 · </a:t>
            </a:r>
            <a:r>
              <a:rPr sz="1080" b="1">
                <a:solidFill>
                  <a:schemeClr val="bg1"/>
                </a:solidFill>
                <a:latin typeface="Arial" panose="020B0604020202020204"/>
                <a:sym typeface="+mn-ea"/>
              </a:rPr>
              <a:t>Instance-Preserving Pose Representation</a:t>
            </a:r>
            <a:endParaRPr lang="en-US" sz="1080" b="1" dirty="0">
              <a:solidFill>
                <a:schemeClr val="bg1"/>
              </a:solidFill>
              <a:latin typeface="Arial" panose="020B0604020202020204"/>
              <a:ea typeface="Arial" panose="020B0604020202020204"/>
              <a:cs typeface="Arial" panose="020B0604020202020204"/>
              <a:sym typeface="+mn-ea"/>
            </a:endParaRPr>
          </a:p>
        </p:txBody>
      </p:sp>
      <p:sp>
        <p:nvSpPr>
          <p:cNvPr id="6" name="Rectangle 6"/>
          <p:cNvSpPr/>
          <p:nvPr/>
        </p:nvSpPr>
        <p:spPr>
          <a:xfrm>
            <a:off x="514350" y="1000125"/>
            <a:ext cx="1524000" cy="47625"/>
          </a:xfrm>
          <a:prstGeom prst="rect">
            <a:avLst/>
          </a:prstGeom>
          <a:solidFill>
            <a:srgbClr val="D71440"/>
          </a:solidFill>
          <a:ln>
            <a:noFill/>
          </a:ln>
        </p:spPr>
        <p:txBody>
          <a:bodyPr wrap="square"/>
          <a:p/>
        </p:txBody>
      </p:sp>
      <p:sp>
        <p:nvSpPr>
          <p:cNvPr id="7" name="Rectangle 7"/>
          <p:cNvSpPr/>
          <p:nvPr/>
        </p:nvSpPr>
        <p:spPr>
          <a:xfrm>
            <a:off x="514350" y="1428750"/>
            <a:ext cx="7524750" cy="1381125"/>
          </a:xfrm>
          <a:prstGeom prst="roundRect">
            <a:avLst>
              <a:gd name="adj" fmla="val 8276"/>
            </a:avLst>
          </a:prstGeom>
          <a:solidFill>
            <a:srgbClr val="EEF1FA"/>
          </a:solidFill>
          <a:ln>
            <a:noFill/>
          </a:ln>
        </p:spPr>
        <p:txBody>
          <a:bodyPr wrap="square"/>
          <a:p/>
        </p:txBody>
      </p:sp>
      <p:sp>
        <p:nvSpPr>
          <p:cNvPr id="8" name="Rectangle 8"/>
          <p:cNvSpPr/>
          <p:nvPr/>
        </p:nvSpPr>
        <p:spPr>
          <a:xfrm>
            <a:off x="8305800" y="1428750"/>
            <a:ext cx="3314700" cy="1381125"/>
          </a:xfrm>
          <a:prstGeom prst="roundRect">
            <a:avLst>
              <a:gd name="adj" fmla="val 8276"/>
            </a:avLst>
          </a:prstGeom>
          <a:solidFill>
            <a:srgbClr val="181C62"/>
          </a:solidFill>
          <a:ln>
            <a:noFill/>
          </a:ln>
        </p:spPr>
        <p:txBody>
          <a:bodyPr wrap="square"/>
          <a:p/>
        </p:txBody>
      </p:sp>
      <p:sp>
        <p:nvSpPr>
          <p:cNvPr id="9" name="Rectangle 9"/>
          <p:cNvSpPr/>
          <p:nvPr/>
        </p:nvSpPr>
        <p:spPr>
          <a:xfrm>
            <a:off x="514350" y="3105150"/>
            <a:ext cx="11106150" cy="2895600"/>
          </a:xfrm>
          <a:prstGeom prst="roundRect">
            <a:avLst>
              <a:gd name="adj" fmla="val 3947"/>
            </a:avLst>
          </a:prstGeom>
          <a:solidFill>
            <a:srgbClr val="FFFFFF"/>
          </a:solidFill>
          <a:ln w="19050">
            <a:solidFill>
              <a:srgbClr val="E6E6E6"/>
            </a:solidFill>
          </a:ln>
        </p:spPr>
        <p:txBody>
          <a:bodyPr wrap="square"/>
          <a:p/>
        </p:txBody>
      </p:sp>
      <p:sp>
        <p:nvSpPr>
          <p:cNvPr id="10" name="Line 10"/>
          <p:cNvSpPr/>
          <p:nvPr/>
        </p:nvSpPr>
        <p:spPr>
          <a:xfrm>
            <a:off x="1181100" y="5143500"/>
            <a:ext cx="9772650" cy="9525"/>
          </a:xfrm>
          <a:custGeom>
            <a:avLst/>
            <a:gdLst/>
            <a:ahLst/>
            <a:cxnLst/>
            <a:rect l="l" t="t" r="r" b="b"/>
            <a:pathLst>
              <a:path w="9772650" h="9525">
                <a:moveTo>
                  <a:pt x="0" y="0"/>
                </a:moveTo>
                <a:lnTo>
                  <a:pt x="9772650" y="0"/>
                </a:lnTo>
              </a:path>
            </a:pathLst>
          </a:custGeom>
          <a:noFill/>
          <a:ln w="38100">
            <a:solidFill>
              <a:srgbClr val="C8C8C8"/>
            </a:solidFill>
          </a:ln>
        </p:spPr>
        <p:txBody>
          <a:bodyPr wrap="square"/>
          <a:p/>
        </p:txBody>
      </p:sp>
      <p:sp>
        <p:nvSpPr>
          <p:cNvPr id="11" name="Ellipse 11"/>
          <p:cNvSpPr/>
          <p:nvPr/>
        </p:nvSpPr>
        <p:spPr>
          <a:xfrm>
            <a:off x="1076325" y="5038725"/>
            <a:ext cx="209550" cy="209550"/>
          </a:xfrm>
          <a:prstGeom prst="ellipse">
            <a:avLst/>
          </a:prstGeom>
          <a:solidFill>
            <a:srgbClr val="181C62"/>
          </a:solidFill>
          <a:ln>
            <a:noFill/>
          </a:ln>
        </p:spPr>
        <p:txBody>
          <a:bodyPr wrap="square"/>
          <a:p/>
        </p:txBody>
      </p:sp>
      <p:sp>
        <p:nvSpPr>
          <p:cNvPr id="12" name="Ellipse 12"/>
          <p:cNvSpPr/>
          <p:nvPr/>
        </p:nvSpPr>
        <p:spPr>
          <a:xfrm>
            <a:off x="3028950" y="5038725"/>
            <a:ext cx="209550" cy="209550"/>
          </a:xfrm>
          <a:prstGeom prst="ellipse">
            <a:avLst/>
          </a:prstGeom>
          <a:solidFill>
            <a:srgbClr val="181C62"/>
          </a:solidFill>
          <a:ln>
            <a:noFill/>
          </a:ln>
        </p:spPr>
        <p:txBody>
          <a:bodyPr wrap="square"/>
          <a:p/>
        </p:txBody>
      </p:sp>
      <p:sp>
        <p:nvSpPr>
          <p:cNvPr id="13" name="Ellipse 13"/>
          <p:cNvSpPr/>
          <p:nvPr/>
        </p:nvSpPr>
        <p:spPr>
          <a:xfrm>
            <a:off x="4953000" y="5010150"/>
            <a:ext cx="266700" cy="266700"/>
          </a:xfrm>
          <a:prstGeom prst="ellipse">
            <a:avLst/>
          </a:prstGeom>
          <a:solidFill>
            <a:srgbClr val="D71440"/>
          </a:solidFill>
          <a:ln>
            <a:noFill/>
          </a:ln>
        </p:spPr>
        <p:txBody>
          <a:bodyPr wrap="square"/>
          <a:p/>
        </p:txBody>
      </p:sp>
      <p:sp>
        <p:nvSpPr>
          <p:cNvPr id="14" name="Ellipse 14"/>
          <p:cNvSpPr/>
          <p:nvPr/>
        </p:nvSpPr>
        <p:spPr>
          <a:xfrm>
            <a:off x="6934200" y="5038725"/>
            <a:ext cx="209550" cy="209550"/>
          </a:xfrm>
          <a:prstGeom prst="ellipse">
            <a:avLst/>
          </a:prstGeom>
          <a:solidFill>
            <a:srgbClr val="E6E6E6"/>
          </a:solidFill>
          <a:ln>
            <a:noFill/>
          </a:ln>
        </p:spPr>
        <p:txBody>
          <a:bodyPr wrap="square"/>
          <a:p/>
        </p:txBody>
      </p:sp>
      <p:sp>
        <p:nvSpPr>
          <p:cNvPr id="15" name="Ellipse 15"/>
          <p:cNvSpPr/>
          <p:nvPr/>
        </p:nvSpPr>
        <p:spPr>
          <a:xfrm>
            <a:off x="8886825" y="5038725"/>
            <a:ext cx="209550" cy="209550"/>
          </a:xfrm>
          <a:prstGeom prst="ellipse">
            <a:avLst/>
          </a:prstGeom>
          <a:solidFill>
            <a:srgbClr val="E6E6E6"/>
          </a:solidFill>
          <a:ln>
            <a:noFill/>
          </a:ln>
        </p:spPr>
        <p:txBody>
          <a:bodyPr wrap="square"/>
          <a:p/>
        </p:txBody>
      </p:sp>
      <p:sp>
        <p:nvSpPr>
          <p:cNvPr id="16" name="Ellipse 16"/>
          <p:cNvSpPr/>
          <p:nvPr/>
        </p:nvSpPr>
        <p:spPr>
          <a:xfrm>
            <a:off x="10848975" y="5038725"/>
            <a:ext cx="209550" cy="209550"/>
          </a:xfrm>
          <a:prstGeom prst="ellipse">
            <a:avLst/>
          </a:prstGeom>
          <a:solidFill>
            <a:srgbClr val="E6E6E6"/>
          </a:solidFill>
          <a:ln>
            <a:noFill/>
          </a:ln>
        </p:spPr>
        <p:txBody>
          <a:bodyPr wrap="square"/>
          <a:p/>
        </p:txBody>
      </p:sp>
      <p:sp>
        <p:nvSpPr>
          <p:cNvPr id="17" name="TextBox 17"/>
          <p:cNvSpPr txBox="1"/>
          <p:nvPr/>
        </p:nvSpPr>
        <p:spPr>
          <a:xfrm>
            <a:off x="775970" y="1590040"/>
            <a:ext cx="1990090" cy="190500"/>
          </a:xfrm>
          <a:prstGeom prst="rect">
            <a:avLst/>
          </a:prstGeom>
          <a:noFill/>
          <a:ln>
            <a:noFill/>
          </a:ln>
        </p:spPr>
        <p:txBody>
          <a:bodyPr wrap="square" lIns="0" tIns="0" rIns="0" bIns="0" anchor="t" anchorCtr="0">
            <a:noAutofit/>
          </a:bodyPr>
          <a:lstStyle/>
          <a:p>
            <a:pPr algn="l"/>
            <a:r>
              <a:rPr lang="en-US" sz="980" b="1" dirty="0">
                <a:solidFill>
                  <a:srgbClr val="D71440"/>
                </a:solidFill>
                <a:latin typeface="Arial" panose="020B0604020202020204"/>
                <a:ea typeface="Arial" panose="020B0604020202020204"/>
                <a:cs typeface="Arial" panose="020B0604020202020204"/>
              </a:rPr>
              <a:t>WEEKLY TAKEAWAY</a:t>
            </a:r>
            <a:endParaRPr lang="en-US" sz="980" b="1" dirty="0">
              <a:solidFill>
                <a:srgbClr val="D71440"/>
              </a:solidFill>
              <a:latin typeface="Arial" panose="020B0604020202020204"/>
              <a:ea typeface="Arial" panose="020B0604020202020204"/>
              <a:cs typeface="Arial" panose="020B0604020202020204"/>
            </a:endParaRPr>
          </a:p>
        </p:txBody>
      </p:sp>
      <p:sp>
        <p:nvSpPr>
          <p:cNvPr id="18" name="TextBox 18"/>
          <p:cNvSpPr txBox="1"/>
          <p:nvPr/>
        </p:nvSpPr>
        <p:spPr>
          <a:xfrm>
            <a:off x="9398351" y="1590199"/>
            <a:ext cx="1129598" cy="190690"/>
          </a:xfrm>
          <a:prstGeom prst="rect">
            <a:avLst/>
          </a:prstGeom>
          <a:noFill/>
          <a:ln>
            <a:noFill/>
          </a:ln>
        </p:spPr>
        <p:txBody>
          <a:bodyPr wrap="square" lIns="0" tIns="0" rIns="0" bIns="0" anchor="t" anchorCtr="0">
            <a:spAutoFit/>
          </a:bodyPr>
          <a:lstStyle/>
          <a:p>
            <a:pPr algn="ctr"/>
            <a:r>
              <a:rPr lang="en-US" sz="980" b="1" dirty="0">
                <a:solidFill>
                  <a:srgbClr val="FFFFFF"/>
                </a:solidFill>
                <a:latin typeface="Arial" panose="020B0604020202020204"/>
                <a:ea typeface="Arial" panose="020B0604020202020204"/>
                <a:cs typeface="Arial" panose="020B0604020202020204"/>
              </a:rPr>
              <a:t>PROJECT STATUS</a:t>
            </a:r>
            <a:endParaRPr lang="en-US" sz="980" b="1" dirty="0">
              <a:solidFill>
                <a:srgbClr val="FFFFFF"/>
              </a:solidFill>
              <a:latin typeface="Arial" panose="020B0604020202020204"/>
              <a:ea typeface="Arial" panose="020B0604020202020204"/>
              <a:cs typeface="Arial" panose="020B0604020202020204"/>
            </a:endParaRPr>
          </a:p>
        </p:txBody>
      </p:sp>
      <p:sp>
        <p:nvSpPr>
          <p:cNvPr id="19" name="TextBox 19"/>
          <p:cNvSpPr txBox="1"/>
          <p:nvPr/>
        </p:nvSpPr>
        <p:spPr>
          <a:xfrm>
            <a:off x="794766" y="3296602"/>
            <a:ext cx="4534913" cy="205359"/>
          </a:xfrm>
          <a:prstGeom prst="rect">
            <a:avLst/>
          </a:prstGeom>
          <a:noFill/>
          <a:ln>
            <a:noFill/>
          </a:ln>
        </p:spPr>
        <p:txBody>
          <a:bodyPr wrap="square" lIns="0" tIns="0" rIns="0" bIns="0" anchor="t" anchorCtr="0">
            <a:spAutoFit/>
          </a:bodyPr>
          <a:lstStyle/>
          <a:p>
            <a:pPr algn="l"/>
            <a:r>
              <a:rPr lang="en-US" sz="1050" b="1" dirty="0">
                <a:solidFill>
                  <a:srgbClr val="181C62"/>
                </a:solidFill>
                <a:latin typeface="Arial" panose="020B0604020202020204"/>
                <a:ea typeface="Arial" panose="020B0604020202020204"/>
                <a:cs typeface="Arial" panose="020B0604020202020204"/>
              </a:rPr>
              <a:t>CURRENT MILESTONE · EVIDENCE · BLOCKER · NEXT CHECKPOINT</a:t>
            </a:r>
            <a:endParaRPr lang="en-US" sz="1050" b="1" dirty="0">
              <a:solidFill>
                <a:srgbClr val="181C62"/>
              </a:solidFill>
              <a:latin typeface="Arial" panose="020B0604020202020204"/>
              <a:ea typeface="Arial" panose="020B0604020202020204"/>
              <a:cs typeface="Arial" panose="020B0604020202020204"/>
            </a:endParaRPr>
          </a:p>
        </p:txBody>
      </p:sp>
      <p:sp>
        <p:nvSpPr>
          <p:cNvPr id="20" name="TextBox 20"/>
          <p:cNvSpPr txBox="1"/>
          <p:nvPr/>
        </p:nvSpPr>
        <p:spPr>
          <a:xfrm>
            <a:off x="922902" y="5408295"/>
            <a:ext cx="516397" cy="176212"/>
          </a:xfrm>
          <a:prstGeom prst="rect">
            <a:avLst/>
          </a:prstGeom>
          <a:noFill/>
          <a:ln>
            <a:noFill/>
          </a:ln>
        </p:spPr>
        <p:txBody>
          <a:bodyPr wrap="square" lIns="0" tIns="0" rIns="0" bIns="0" anchor="t" anchorCtr="0">
            <a:spAutoFit/>
          </a:bodyPr>
          <a:lstStyle/>
          <a:p>
            <a:pPr algn="ctr"/>
            <a:r>
              <a:rPr lang="en-US" sz="900" dirty="0">
                <a:solidFill>
                  <a:srgbClr val="5E6478"/>
                </a:solidFill>
                <a:latin typeface="Arial" panose="020B0604020202020204"/>
                <a:ea typeface="Arial" panose="020B0604020202020204"/>
                <a:cs typeface="Arial" panose="020B0604020202020204"/>
              </a:rPr>
              <a:t>Kick-off</a:t>
            </a:r>
            <a:endParaRPr lang="en-US" sz="900" dirty="0">
              <a:solidFill>
                <a:srgbClr val="5E6478"/>
              </a:solidFill>
              <a:latin typeface="Arial" panose="020B0604020202020204"/>
              <a:ea typeface="Arial" panose="020B0604020202020204"/>
              <a:cs typeface="Arial" panose="020B0604020202020204"/>
            </a:endParaRPr>
          </a:p>
        </p:txBody>
      </p:sp>
      <p:sp>
        <p:nvSpPr>
          <p:cNvPr id="21" name="TextBox 21"/>
          <p:cNvSpPr txBox="1"/>
          <p:nvPr/>
        </p:nvSpPr>
        <p:spPr>
          <a:xfrm>
            <a:off x="2993803" y="5408295"/>
            <a:ext cx="279845" cy="176212"/>
          </a:xfrm>
          <a:prstGeom prst="rect">
            <a:avLst/>
          </a:prstGeom>
          <a:noFill/>
          <a:ln>
            <a:noFill/>
          </a:ln>
        </p:spPr>
        <p:txBody>
          <a:bodyPr wrap="square" lIns="0" tIns="0" rIns="0" bIns="0" anchor="t" anchorCtr="0">
            <a:spAutoFit/>
          </a:bodyPr>
          <a:lstStyle/>
          <a:p>
            <a:pPr algn="ctr"/>
            <a:r>
              <a:rPr lang="en-US" sz="900" dirty="0">
                <a:solidFill>
                  <a:srgbClr val="5E6478"/>
                </a:solidFill>
                <a:latin typeface="Arial" panose="020B0604020202020204"/>
                <a:ea typeface="Arial" panose="020B0604020202020204"/>
                <a:cs typeface="Arial" panose="020B0604020202020204"/>
              </a:rPr>
              <a:t>Data</a:t>
            </a:r>
            <a:endParaRPr lang="en-US" sz="900" dirty="0">
              <a:solidFill>
                <a:srgbClr val="5E6478"/>
              </a:solidFill>
              <a:latin typeface="Arial" panose="020B0604020202020204"/>
              <a:ea typeface="Arial" panose="020B0604020202020204"/>
              <a:cs typeface="Arial" panose="020B0604020202020204"/>
            </a:endParaRPr>
          </a:p>
        </p:txBody>
      </p:sp>
      <p:sp>
        <p:nvSpPr>
          <p:cNvPr id="22" name="TextBox 22"/>
          <p:cNvSpPr txBox="1"/>
          <p:nvPr/>
        </p:nvSpPr>
        <p:spPr>
          <a:xfrm>
            <a:off x="4796752" y="5408295"/>
            <a:ext cx="579196" cy="176212"/>
          </a:xfrm>
          <a:prstGeom prst="rect">
            <a:avLst/>
          </a:prstGeom>
          <a:noFill/>
          <a:ln>
            <a:noFill/>
          </a:ln>
        </p:spPr>
        <p:txBody>
          <a:bodyPr wrap="square" lIns="0" tIns="0" rIns="0" bIns="0" anchor="t" anchorCtr="0">
            <a:spAutoFit/>
          </a:bodyPr>
          <a:lstStyle/>
          <a:p>
            <a:pPr algn="ctr"/>
            <a:r>
              <a:rPr lang="en-US" sz="900" b="1" dirty="0">
                <a:solidFill>
                  <a:srgbClr val="D71440"/>
                </a:solidFill>
                <a:latin typeface="Arial" panose="020B0604020202020204"/>
                <a:ea typeface="Arial" panose="020B0604020202020204"/>
                <a:cs typeface="Arial" panose="020B0604020202020204"/>
              </a:rPr>
              <a:t>Baselines</a:t>
            </a:r>
            <a:endParaRPr lang="en-US" sz="900" b="1" dirty="0">
              <a:solidFill>
                <a:srgbClr val="D71440"/>
              </a:solidFill>
              <a:latin typeface="Arial" panose="020B0604020202020204"/>
              <a:ea typeface="Arial" panose="020B0604020202020204"/>
              <a:cs typeface="Arial" panose="020B0604020202020204"/>
            </a:endParaRPr>
          </a:p>
        </p:txBody>
      </p:sp>
      <p:sp>
        <p:nvSpPr>
          <p:cNvPr id="23" name="TextBox 23"/>
          <p:cNvSpPr txBox="1"/>
          <p:nvPr/>
        </p:nvSpPr>
        <p:spPr>
          <a:xfrm>
            <a:off x="6762007" y="5408295"/>
            <a:ext cx="553936" cy="176212"/>
          </a:xfrm>
          <a:prstGeom prst="rect">
            <a:avLst/>
          </a:prstGeom>
          <a:noFill/>
          <a:ln>
            <a:noFill/>
          </a:ln>
        </p:spPr>
        <p:txBody>
          <a:bodyPr wrap="square" lIns="0" tIns="0" rIns="0" bIns="0" anchor="t" anchorCtr="0">
            <a:spAutoFit/>
          </a:bodyPr>
          <a:lstStyle/>
          <a:p>
            <a:pPr algn="ctr"/>
            <a:r>
              <a:rPr lang="en-US" sz="900" dirty="0">
                <a:solidFill>
                  <a:srgbClr val="5E6478"/>
                </a:solidFill>
                <a:latin typeface="Arial" panose="020B0604020202020204"/>
                <a:ea typeface="Arial" panose="020B0604020202020204"/>
                <a:cs typeface="Arial" panose="020B0604020202020204"/>
              </a:rPr>
              <a:t>IP Module</a:t>
            </a:r>
            <a:endParaRPr lang="en-US" sz="900" dirty="0">
              <a:solidFill>
                <a:srgbClr val="5E6478"/>
              </a:solidFill>
              <a:latin typeface="Arial" panose="020B0604020202020204"/>
              <a:ea typeface="Arial" panose="020B0604020202020204"/>
              <a:cs typeface="Arial" panose="020B0604020202020204"/>
            </a:endParaRPr>
          </a:p>
        </p:txBody>
      </p:sp>
      <p:sp>
        <p:nvSpPr>
          <p:cNvPr id="24" name="TextBox 24"/>
          <p:cNvSpPr txBox="1"/>
          <p:nvPr/>
        </p:nvSpPr>
        <p:spPr>
          <a:xfrm>
            <a:off x="8621493" y="5408295"/>
            <a:ext cx="740214" cy="176212"/>
          </a:xfrm>
          <a:prstGeom prst="rect">
            <a:avLst/>
          </a:prstGeom>
          <a:noFill/>
          <a:ln>
            <a:noFill/>
          </a:ln>
        </p:spPr>
        <p:txBody>
          <a:bodyPr wrap="square" lIns="0" tIns="0" rIns="0" bIns="0" anchor="t" anchorCtr="0">
            <a:spAutoFit/>
          </a:bodyPr>
          <a:lstStyle/>
          <a:p>
            <a:pPr algn="ctr"/>
            <a:r>
              <a:rPr lang="en-US" sz="900" dirty="0">
                <a:solidFill>
                  <a:srgbClr val="5E6478"/>
                </a:solidFill>
                <a:latin typeface="Arial" panose="020B0604020202020204"/>
                <a:ea typeface="Arial" panose="020B0604020202020204"/>
                <a:cs typeface="Arial" panose="020B0604020202020204"/>
              </a:rPr>
              <a:t>Experiments</a:t>
            </a:r>
            <a:endParaRPr lang="en-US" sz="900" dirty="0">
              <a:solidFill>
                <a:srgbClr val="5E6478"/>
              </a:solidFill>
              <a:latin typeface="Arial" panose="020B0604020202020204"/>
              <a:ea typeface="Arial" panose="020B0604020202020204"/>
              <a:cs typeface="Arial" panose="020B0604020202020204"/>
            </a:endParaRPr>
          </a:p>
        </p:txBody>
      </p:sp>
      <p:sp>
        <p:nvSpPr>
          <p:cNvPr id="25" name="TextBox 25"/>
          <p:cNvSpPr txBox="1"/>
          <p:nvPr/>
        </p:nvSpPr>
        <p:spPr>
          <a:xfrm>
            <a:off x="10590953" y="5408295"/>
            <a:ext cx="725594" cy="176212"/>
          </a:xfrm>
          <a:prstGeom prst="rect">
            <a:avLst/>
          </a:prstGeom>
          <a:noFill/>
          <a:ln>
            <a:noFill/>
          </a:ln>
        </p:spPr>
        <p:txBody>
          <a:bodyPr wrap="square" lIns="0" tIns="0" rIns="0" bIns="0" anchor="t" anchorCtr="0">
            <a:spAutoFit/>
          </a:bodyPr>
          <a:lstStyle/>
          <a:p>
            <a:pPr algn="ctr"/>
            <a:r>
              <a:rPr lang="en-US" sz="900" dirty="0">
                <a:solidFill>
                  <a:srgbClr val="5E6478"/>
                </a:solidFill>
                <a:latin typeface="Arial" panose="020B0604020202020204"/>
                <a:ea typeface="Arial" panose="020B0604020202020204"/>
                <a:cs typeface="Arial" panose="020B0604020202020204"/>
              </a:rPr>
              <a:t>Final Report</a:t>
            </a:r>
            <a:endParaRPr lang="en-US" sz="900" dirty="0">
              <a:solidFill>
                <a:srgbClr val="5E6478"/>
              </a:solidFill>
              <a:latin typeface="Arial" panose="020B0604020202020204"/>
              <a:ea typeface="Arial" panose="020B0604020202020204"/>
              <a:cs typeface="Arial" panose="020B0604020202020204"/>
            </a:endParaRPr>
          </a:p>
        </p:txBody>
      </p:sp>
      <p:sp>
        <p:nvSpPr>
          <p:cNvPr id="26" name="TextBox 26"/>
          <p:cNvSpPr txBox="1"/>
          <p:nvPr/>
        </p:nvSpPr>
        <p:spPr>
          <a:xfrm>
            <a:off x="501650" y="558800"/>
            <a:ext cx="7537450" cy="483870"/>
          </a:xfrm>
          <a:prstGeom prst="rect">
            <a:avLst/>
          </a:prstGeom>
          <a:noFill/>
          <a:ln>
            <a:noFill/>
          </a:ln>
        </p:spPr>
        <p:txBody>
          <a:bodyPr wrap="square" lIns="0" tIns="0" rIns="0" bIns="0" anchor="t" anchorCtr="0">
            <a:noAutofit/>
          </a:bodyPr>
          <a:lstStyle/>
          <a:p>
            <a:pPr algn="l"/>
            <a:r>
              <a:rPr lang="en-US" sz="2550" b="1" dirty="0">
                <a:solidFill>
                  <a:srgbClr val="20243A"/>
                </a:solidFill>
                <a:latin typeface="Arial" panose="020B0604020202020204"/>
                <a:ea typeface="Arial" panose="020B0604020202020204"/>
                <a:cs typeface="Arial" panose="020B0604020202020204"/>
              </a:rPr>
              <a:t>Weekly Snapshot &amp; Milestone</a:t>
            </a:r>
            <a:endParaRPr lang="en-US" sz="2550" b="1" dirty="0">
              <a:solidFill>
                <a:srgbClr val="20243A"/>
              </a:solidFill>
              <a:latin typeface="Arial" panose="020B0604020202020204"/>
              <a:ea typeface="Arial" panose="020B0604020202020204"/>
              <a:cs typeface="Arial" panose="020B0604020202020204"/>
            </a:endParaRPr>
          </a:p>
        </p:txBody>
      </p:sp>
      <p:sp>
        <p:nvSpPr>
          <p:cNvPr id="27" name="TextBox 27"/>
          <p:cNvSpPr txBox="1"/>
          <p:nvPr/>
        </p:nvSpPr>
        <p:spPr>
          <a:xfrm>
            <a:off x="771906" y="1939290"/>
            <a:ext cx="4298823" cy="618744"/>
          </a:xfrm>
          <a:prstGeom prst="rect">
            <a:avLst/>
          </a:prstGeom>
          <a:noFill/>
          <a:ln>
            <a:noFill/>
          </a:ln>
        </p:spPr>
        <p:txBody>
          <a:bodyPr wrap="square" lIns="0" tIns="0" rIns="0" bIns="0" anchor="t" anchorCtr="0">
            <a:spAutoFit/>
          </a:bodyPr>
          <a:lstStyle/>
          <a:p>
            <a:pPr algn="l">
              <a:lnSpc>
                <a:spcPts val="2100"/>
              </a:lnSpc>
            </a:pPr>
            <a:r>
              <a:rPr lang="en-US" sz="1800" b="1" dirty="0">
                <a:solidFill>
                  <a:srgbClr val="181C62"/>
                </a:solidFill>
                <a:latin typeface="Arial" panose="020B0604020202020204"/>
                <a:ea typeface="Arial" panose="020B0604020202020204"/>
                <a:cs typeface="Arial" panose="020B0604020202020204"/>
              </a:rPr>
              <a:t>Direction fixed</a:t>
            </a:r>
            <a:endParaRPr lang="en-US" sz="1800" b="1" dirty="0">
              <a:solidFill>
                <a:srgbClr val="181C62"/>
              </a:solidFill>
              <a:latin typeface="Arial" panose="020B0604020202020204"/>
              <a:ea typeface="Arial" panose="020B0604020202020204"/>
              <a:cs typeface="Arial" panose="020B0604020202020204"/>
            </a:endParaRPr>
          </a:p>
          <a:p>
            <a:pPr algn="l">
              <a:lnSpc>
                <a:spcPts val="2100"/>
              </a:lnSpc>
            </a:pPr>
            <a:r>
              <a:rPr lang="en-US" sz="1050" dirty="0">
                <a:solidFill>
                  <a:srgbClr val="5E6478"/>
                </a:solidFill>
                <a:latin typeface="Arial" panose="020B0604020202020204"/>
                <a:ea typeface="Arial" panose="020B0604020202020204"/>
                <a:cs typeface="Arial" panose="020B0604020202020204"/>
              </a:rPr>
              <a:t>Preserve person identity before multi-person fusion</a:t>
            </a:r>
            <a:endParaRPr lang="en-US" sz="1050" dirty="0">
              <a:solidFill>
                <a:srgbClr val="5E6478"/>
              </a:solidFill>
              <a:latin typeface="Arial" panose="020B0604020202020204"/>
              <a:ea typeface="Arial" panose="020B0604020202020204"/>
              <a:cs typeface="Arial" panose="020B0604020202020204"/>
            </a:endParaRPr>
          </a:p>
        </p:txBody>
      </p:sp>
      <p:sp>
        <p:nvSpPr>
          <p:cNvPr id="28" name="TextBox 28"/>
          <p:cNvSpPr txBox="1"/>
          <p:nvPr/>
        </p:nvSpPr>
        <p:spPr>
          <a:xfrm>
            <a:off x="9079294" y="1893094"/>
            <a:ext cx="1767713" cy="623888"/>
          </a:xfrm>
          <a:prstGeom prst="rect">
            <a:avLst/>
          </a:prstGeom>
          <a:noFill/>
          <a:ln>
            <a:noFill/>
          </a:ln>
        </p:spPr>
        <p:txBody>
          <a:bodyPr wrap="square" lIns="0" tIns="0" rIns="0" bIns="0" anchor="t" anchorCtr="0">
            <a:spAutoFit/>
          </a:bodyPr>
          <a:lstStyle/>
          <a:p>
            <a:pPr algn="ctr">
              <a:lnSpc>
                <a:spcPts val="2025"/>
              </a:lnSpc>
            </a:pPr>
            <a:r>
              <a:rPr lang="en-US" sz="1880" b="1" dirty="0">
                <a:solidFill>
                  <a:srgbClr val="FFFFFF"/>
                </a:solidFill>
                <a:latin typeface="Arial" panose="020B0604020202020204"/>
                <a:ea typeface="Arial" panose="020B0604020202020204"/>
                <a:cs typeface="Arial" panose="020B0604020202020204"/>
              </a:rPr>
              <a:t>ON TRACK</a:t>
            </a:r>
            <a:endParaRPr lang="en-US" sz="1880" b="1" dirty="0">
              <a:solidFill>
                <a:srgbClr val="FFFFFF"/>
              </a:solidFill>
              <a:latin typeface="Arial" panose="020B0604020202020204"/>
              <a:ea typeface="Arial" panose="020B0604020202020204"/>
              <a:cs typeface="Arial" panose="020B0604020202020204"/>
            </a:endParaRPr>
          </a:p>
          <a:p>
            <a:pPr algn="ctr">
              <a:lnSpc>
                <a:spcPts val="2025"/>
              </a:lnSpc>
            </a:pPr>
            <a:r>
              <a:rPr lang="en-US" sz="980" dirty="0">
                <a:solidFill>
                  <a:srgbClr val="C8C8C8"/>
                </a:solidFill>
                <a:latin typeface="Arial" panose="020B0604020202020204"/>
                <a:ea typeface="Arial" panose="020B0604020202020204"/>
                <a:cs typeface="Arial" panose="020B0604020202020204"/>
              </a:rPr>
              <a:t>Scope defined</a:t>
            </a:r>
            <a:endParaRPr lang="en-US" sz="980" dirty="0">
              <a:solidFill>
                <a:srgbClr val="C8C8C8"/>
              </a:solidFill>
              <a:latin typeface="Arial" panose="020B0604020202020204"/>
              <a:ea typeface="Arial" panose="020B0604020202020204"/>
              <a:cs typeface="Arial" panose="020B0604020202020204"/>
            </a:endParaRPr>
          </a:p>
        </p:txBody>
      </p:sp>
      <p:sp>
        <p:nvSpPr>
          <p:cNvPr id="29" name="TextBox 29"/>
          <p:cNvSpPr txBox="1"/>
          <p:nvPr/>
        </p:nvSpPr>
        <p:spPr>
          <a:xfrm>
            <a:off x="792099" y="3792379"/>
            <a:ext cx="4404106" cy="593788"/>
          </a:xfrm>
          <a:prstGeom prst="rect">
            <a:avLst/>
          </a:prstGeom>
          <a:noFill/>
          <a:ln>
            <a:noFill/>
          </a:ln>
        </p:spPr>
        <p:txBody>
          <a:bodyPr wrap="square" lIns="0" tIns="0" rIns="0" bIns="0" anchor="t" anchorCtr="0">
            <a:spAutoFit/>
          </a:bodyPr>
          <a:lstStyle/>
          <a:p>
            <a:pPr algn="l">
              <a:lnSpc>
                <a:spcPts val="2250"/>
              </a:lnSpc>
            </a:pPr>
            <a:r>
              <a:rPr lang="en-US" sz="1580" dirty="0">
                <a:solidFill>
                  <a:srgbClr val="20243A"/>
                </a:solidFill>
                <a:latin typeface="Arial" panose="020B0604020202020204"/>
                <a:ea typeface="Arial" panose="020B0604020202020204"/>
                <a:cs typeface="Arial" panose="020B0604020202020204"/>
              </a:rPr>
              <a:t>Week 3 · Data + baseline setup</a:t>
            </a:r>
            <a:endParaRPr lang="en-US" sz="1580" dirty="0">
              <a:solidFill>
                <a:srgbClr val="20243A"/>
              </a:solidFill>
              <a:latin typeface="Arial" panose="020B0604020202020204"/>
              <a:ea typeface="Arial" panose="020B0604020202020204"/>
              <a:cs typeface="Arial" panose="020B0604020202020204"/>
            </a:endParaRPr>
          </a:p>
          <a:p>
            <a:pPr algn="l">
              <a:lnSpc>
                <a:spcPts val="2250"/>
              </a:lnSpc>
            </a:pPr>
            <a:r>
              <a:rPr lang="en-US" sz="1120" dirty="0">
                <a:solidFill>
                  <a:srgbClr val="5E6478"/>
                </a:solidFill>
                <a:latin typeface="Arial" panose="020B0604020202020204"/>
                <a:ea typeface="Arial" panose="020B0604020202020204"/>
                <a:cs typeface="Arial" panose="020B0604020202020204"/>
              </a:rPr>
              <a:t>NTU120 audit complete → identity-aware loader next</a:t>
            </a:r>
            <a:endParaRPr lang="en-US" sz="1120" dirty="0">
              <a:solidFill>
                <a:srgbClr val="5E6478"/>
              </a:solidFill>
              <a:latin typeface="Arial" panose="020B0604020202020204"/>
              <a:ea typeface="Arial" panose="020B0604020202020204"/>
              <a:cs typeface="Arial" panose="020B0604020202020204"/>
            </a:endParaRPr>
          </a:p>
        </p:txBody>
      </p:sp>
      <p:sp>
        <p:nvSpPr>
          <p:cNvPr id="31" name="TextBox 31"/>
          <p:cNvSpPr txBox="1"/>
          <p:nvPr/>
        </p:nvSpPr>
        <p:spPr>
          <a:xfrm>
            <a:off x="11085233" y="6665595"/>
            <a:ext cx="880034" cy="176212"/>
          </a:xfrm>
          <a:prstGeom prst="rect">
            <a:avLst/>
          </a:prstGeom>
          <a:noFill/>
          <a:ln>
            <a:noFill/>
          </a:ln>
        </p:spPr>
        <p:txBody>
          <a:bodyPr wrap="square" lIns="0" tIns="0" rIns="0" bIns="0" anchor="t" anchorCtr="0">
            <a:spAutoFit/>
          </a:bodyPr>
          <a:lstStyle/>
          <a:p>
            <a:pPr algn="ctr"/>
            <a:r>
              <a:rPr lang="en-US" sz="900" dirty="0">
                <a:solidFill>
                  <a:srgbClr val="FFFFFF"/>
                </a:solidFill>
                <a:latin typeface="Arial" panose="020B0604020202020204"/>
                <a:ea typeface="Arial" panose="020B0604020202020204"/>
                <a:cs typeface="Arial" panose="020B0604020202020204"/>
              </a:rPr>
              <a:t>2</a:t>
            </a:r>
            <a:endParaRPr lang="en-US" sz="900" dirty="0">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D71440"/>
          </a:solidFill>
          <a:ln>
            <a:noFill/>
          </a:ln>
        </p:spPr>
        <p:txBody>
          <a:bodyPr wrap="square"/>
          <a:p/>
        </p:txBody>
      </p:sp>
      <p:pic>
        <p:nvPicPr>
          <p:cNvPr id="3" name="Image 3"/>
          <p:cNvPicPr>
            <a:picLocks noChangeAspect="1"/>
          </p:cNvPicPr>
          <p:nvPr/>
        </p:nvPicPr>
        <p:blipFill>
          <a:blip r:embed="rId1"/>
          <a:stretch>
            <a:fillRect/>
          </a:stretch>
        </p:blipFill>
        <p:spPr>
          <a:xfrm>
            <a:off x="9810750" y="228600"/>
            <a:ext cx="1905000" cy="685800"/>
          </a:xfrm>
          <a:prstGeom prst="rect">
            <a:avLst/>
          </a:prstGeom>
        </p:spPr>
      </p:pic>
      <p:sp>
        <p:nvSpPr>
          <p:cNvPr id="4" name="Rectangle 4"/>
          <p:cNvSpPr/>
          <p:nvPr/>
        </p:nvSpPr>
        <p:spPr>
          <a:xfrm>
            <a:off x="171450" y="6572250"/>
            <a:ext cx="12020550" cy="285750"/>
          </a:xfrm>
          <a:prstGeom prst="rect">
            <a:avLst/>
          </a:prstGeom>
          <a:solidFill>
            <a:srgbClr val="181C62"/>
          </a:solidFill>
          <a:ln>
            <a:noFill/>
          </a:ln>
        </p:spPr>
        <p:txBody>
          <a:bodyPr wrap="square"/>
          <a:p/>
        </p:txBody>
      </p:sp>
      <p:sp>
        <p:nvSpPr>
          <p:cNvPr id="6" name="Rectangle 6"/>
          <p:cNvSpPr/>
          <p:nvPr/>
        </p:nvSpPr>
        <p:spPr>
          <a:xfrm>
            <a:off x="514350" y="1000125"/>
            <a:ext cx="1524000" cy="47625"/>
          </a:xfrm>
          <a:prstGeom prst="rect">
            <a:avLst/>
          </a:prstGeom>
          <a:solidFill>
            <a:srgbClr val="D71440"/>
          </a:solidFill>
          <a:ln>
            <a:noFill/>
          </a:ln>
        </p:spPr>
        <p:txBody>
          <a:bodyPr wrap="square"/>
          <a:p/>
        </p:txBody>
      </p:sp>
      <p:sp>
        <p:nvSpPr>
          <p:cNvPr id="7" name="Rectangle 7"/>
          <p:cNvSpPr/>
          <p:nvPr/>
        </p:nvSpPr>
        <p:spPr>
          <a:xfrm>
            <a:off x="514350" y="1428750"/>
            <a:ext cx="5286375" cy="2057400"/>
          </a:xfrm>
          <a:prstGeom prst="roundRect">
            <a:avLst>
              <a:gd name="adj" fmla="val 5556"/>
            </a:avLst>
          </a:prstGeom>
          <a:solidFill>
            <a:srgbClr val="FCE9EE"/>
          </a:solidFill>
          <a:ln>
            <a:noFill/>
          </a:ln>
        </p:spPr>
        <p:txBody>
          <a:bodyPr wrap="square"/>
          <a:p/>
        </p:txBody>
      </p:sp>
      <p:sp>
        <p:nvSpPr>
          <p:cNvPr id="8" name="Rectangle 8"/>
          <p:cNvSpPr/>
          <p:nvPr/>
        </p:nvSpPr>
        <p:spPr>
          <a:xfrm>
            <a:off x="6048375" y="1428750"/>
            <a:ext cx="5572125" cy="2057400"/>
          </a:xfrm>
          <a:prstGeom prst="roundRect">
            <a:avLst>
              <a:gd name="adj" fmla="val 5556"/>
            </a:avLst>
          </a:prstGeom>
          <a:solidFill>
            <a:srgbClr val="FFFFFF"/>
          </a:solidFill>
          <a:ln w="19050">
            <a:solidFill>
              <a:srgbClr val="D71440"/>
            </a:solidFill>
          </a:ln>
        </p:spPr>
        <p:txBody>
          <a:bodyPr wrap="square"/>
          <a:p/>
        </p:txBody>
      </p:sp>
      <p:sp>
        <p:nvSpPr>
          <p:cNvPr id="9" name="Rectangle 9"/>
          <p:cNvSpPr/>
          <p:nvPr/>
        </p:nvSpPr>
        <p:spPr>
          <a:xfrm>
            <a:off x="514350" y="3714750"/>
            <a:ext cx="5286375" cy="2362200"/>
          </a:xfrm>
          <a:prstGeom prst="roundRect">
            <a:avLst>
              <a:gd name="adj" fmla="val 4839"/>
            </a:avLst>
          </a:prstGeom>
          <a:solidFill>
            <a:srgbClr val="EEF1FA"/>
          </a:solidFill>
          <a:ln>
            <a:noFill/>
          </a:ln>
        </p:spPr>
        <p:txBody>
          <a:bodyPr wrap="square"/>
          <a:p/>
        </p:txBody>
      </p:sp>
      <p:sp>
        <p:nvSpPr>
          <p:cNvPr id="10" name="Rectangle 10"/>
          <p:cNvSpPr/>
          <p:nvPr/>
        </p:nvSpPr>
        <p:spPr>
          <a:xfrm>
            <a:off x="6048375" y="3714750"/>
            <a:ext cx="5572125" cy="2362200"/>
          </a:xfrm>
          <a:prstGeom prst="roundRect">
            <a:avLst>
              <a:gd name="adj" fmla="val 4839"/>
            </a:avLst>
          </a:prstGeom>
          <a:solidFill>
            <a:srgbClr val="181C62"/>
          </a:solidFill>
          <a:ln>
            <a:noFill/>
          </a:ln>
        </p:spPr>
        <p:txBody>
          <a:bodyPr wrap="square"/>
          <a:p/>
        </p:txBody>
      </p:sp>
      <p:sp>
        <p:nvSpPr>
          <p:cNvPr id="11" name="Rectangle 11"/>
          <p:cNvSpPr/>
          <p:nvPr/>
        </p:nvSpPr>
        <p:spPr>
          <a:xfrm>
            <a:off x="514350" y="1428750"/>
            <a:ext cx="95250" cy="2057400"/>
          </a:xfrm>
          <a:prstGeom prst="rect">
            <a:avLst/>
          </a:prstGeom>
          <a:solidFill>
            <a:srgbClr val="D71440"/>
          </a:solidFill>
          <a:ln>
            <a:noFill/>
          </a:ln>
        </p:spPr>
        <p:txBody>
          <a:bodyPr wrap="square"/>
          <a:p/>
        </p:txBody>
      </p:sp>
      <p:sp>
        <p:nvSpPr>
          <p:cNvPr id="12" name="Rectangle 12"/>
          <p:cNvSpPr/>
          <p:nvPr/>
        </p:nvSpPr>
        <p:spPr>
          <a:xfrm>
            <a:off x="6048375" y="3714750"/>
            <a:ext cx="95250" cy="2362200"/>
          </a:xfrm>
          <a:prstGeom prst="rect">
            <a:avLst/>
          </a:prstGeom>
          <a:solidFill>
            <a:srgbClr val="D71440"/>
          </a:solidFill>
          <a:ln>
            <a:noFill/>
          </a:ln>
        </p:spPr>
        <p:txBody>
          <a:bodyPr wrap="square"/>
          <a:p/>
        </p:txBody>
      </p:sp>
      <p:sp>
        <p:nvSpPr>
          <p:cNvPr id="13" name="TextBox 13"/>
          <p:cNvSpPr txBox="1"/>
          <p:nvPr/>
        </p:nvSpPr>
        <p:spPr>
          <a:xfrm>
            <a:off x="795020" y="1633220"/>
            <a:ext cx="3526790" cy="282575"/>
          </a:xfrm>
          <a:prstGeom prst="rect">
            <a:avLst/>
          </a:prstGeom>
          <a:noFill/>
          <a:ln>
            <a:noFill/>
          </a:ln>
        </p:spPr>
        <p:txBody>
          <a:bodyPr wrap="square" lIns="0" tIns="0" rIns="0" bIns="0" anchor="t" anchorCtr="0">
            <a:noAutofit/>
          </a:bodyPr>
          <a:lstStyle/>
          <a:p>
            <a:pPr algn="l"/>
            <a:r>
              <a:rPr lang="en-US" b="1" dirty="0">
                <a:solidFill>
                  <a:srgbClr val="D71440"/>
                </a:solidFill>
                <a:latin typeface="Arial" panose="020B0604020202020204"/>
                <a:ea typeface="Arial" panose="020B0604020202020204"/>
                <a:cs typeface="Arial" panose="020B0604020202020204"/>
              </a:rPr>
              <a:t>FUSED REPRESENTATION</a:t>
            </a:r>
            <a:endParaRPr lang="en-US" b="1" dirty="0">
              <a:solidFill>
                <a:srgbClr val="D71440"/>
              </a:solidFill>
              <a:latin typeface="Arial" panose="020B0604020202020204"/>
              <a:ea typeface="Arial" panose="020B0604020202020204"/>
              <a:cs typeface="Arial" panose="020B0604020202020204"/>
            </a:endParaRPr>
          </a:p>
        </p:txBody>
      </p:sp>
      <p:sp>
        <p:nvSpPr>
          <p:cNvPr id="14" name="TextBox 14"/>
          <p:cNvSpPr txBox="1"/>
          <p:nvPr/>
        </p:nvSpPr>
        <p:spPr>
          <a:xfrm>
            <a:off x="6328791" y="1639252"/>
            <a:ext cx="3272155" cy="276860"/>
          </a:xfrm>
          <a:prstGeom prst="rect">
            <a:avLst/>
          </a:prstGeom>
          <a:noFill/>
          <a:ln>
            <a:noFill/>
          </a:ln>
        </p:spPr>
        <p:txBody>
          <a:bodyPr wrap="square" lIns="0" tIns="0" rIns="0" bIns="0" anchor="t" anchorCtr="0">
            <a:spAutoFit/>
          </a:bodyPr>
          <a:lstStyle/>
          <a:p>
            <a:pPr algn="l"/>
            <a:r>
              <a:rPr lang="en-US" b="1" dirty="0">
                <a:solidFill>
                  <a:srgbClr val="D71440"/>
                </a:solidFill>
                <a:latin typeface="Arial" panose="020B0604020202020204"/>
                <a:ea typeface="Arial" panose="020B0604020202020204"/>
                <a:cs typeface="Arial" panose="020B0604020202020204"/>
              </a:rPr>
              <a:t>LOST INFORMATION</a:t>
            </a:r>
            <a:endParaRPr lang="en-US" b="1" dirty="0">
              <a:solidFill>
                <a:srgbClr val="D71440"/>
              </a:solidFill>
              <a:latin typeface="Arial" panose="020B0604020202020204"/>
              <a:ea typeface="Arial" panose="020B0604020202020204"/>
              <a:cs typeface="Arial" panose="020B0604020202020204"/>
            </a:endParaRPr>
          </a:p>
        </p:txBody>
      </p:sp>
      <p:sp>
        <p:nvSpPr>
          <p:cNvPr id="15" name="TextBox 15"/>
          <p:cNvSpPr txBox="1"/>
          <p:nvPr/>
        </p:nvSpPr>
        <p:spPr>
          <a:xfrm>
            <a:off x="794766" y="3925252"/>
            <a:ext cx="3771265" cy="276860"/>
          </a:xfrm>
          <a:prstGeom prst="rect">
            <a:avLst/>
          </a:prstGeom>
          <a:noFill/>
          <a:ln>
            <a:noFill/>
          </a:ln>
        </p:spPr>
        <p:txBody>
          <a:bodyPr wrap="square" lIns="0" tIns="0" rIns="0" bIns="0" anchor="t" anchorCtr="0">
            <a:spAutoFit/>
          </a:bodyPr>
          <a:lstStyle/>
          <a:p>
            <a:pPr algn="l"/>
            <a:r>
              <a:rPr lang="en-US" b="1" dirty="0">
                <a:solidFill>
                  <a:srgbClr val="181C62"/>
                </a:solidFill>
                <a:latin typeface="Arial" panose="020B0604020202020204"/>
                <a:ea typeface="Arial" panose="020B0604020202020204"/>
                <a:cs typeface="Arial" panose="020B0604020202020204"/>
              </a:rPr>
              <a:t>WHY IT MATTERS</a:t>
            </a:r>
            <a:endParaRPr lang="en-US" sz="1800" b="1" dirty="0">
              <a:solidFill>
                <a:srgbClr val="181C62"/>
              </a:solidFill>
              <a:latin typeface="Arial" panose="020B0604020202020204"/>
              <a:ea typeface="Arial" panose="020B0604020202020204"/>
              <a:cs typeface="Arial" panose="020B0604020202020204"/>
            </a:endParaRPr>
          </a:p>
        </p:txBody>
      </p:sp>
      <p:sp>
        <p:nvSpPr>
          <p:cNvPr id="16" name="TextBox 16"/>
          <p:cNvSpPr txBox="1"/>
          <p:nvPr/>
        </p:nvSpPr>
        <p:spPr>
          <a:xfrm>
            <a:off x="6328791" y="3925252"/>
            <a:ext cx="3437255" cy="276860"/>
          </a:xfrm>
          <a:prstGeom prst="rect">
            <a:avLst/>
          </a:prstGeom>
          <a:noFill/>
          <a:ln>
            <a:noFill/>
          </a:ln>
        </p:spPr>
        <p:txBody>
          <a:bodyPr wrap="square" lIns="0" tIns="0" rIns="0" bIns="0" anchor="t" anchorCtr="0">
            <a:spAutoFit/>
          </a:bodyPr>
          <a:lstStyle/>
          <a:p>
            <a:pPr algn="l"/>
            <a:r>
              <a:rPr lang="en-US" b="1" dirty="0">
                <a:solidFill>
                  <a:srgbClr val="FFFFFF"/>
                </a:solidFill>
                <a:latin typeface="Arial" panose="020B0604020202020204"/>
                <a:ea typeface="Arial" panose="020B0604020202020204"/>
                <a:cs typeface="Arial" panose="020B0604020202020204"/>
              </a:rPr>
              <a:t>RESEARCH QUESTION</a:t>
            </a:r>
            <a:endParaRPr lang="en-US" b="1" dirty="0">
              <a:solidFill>
                <a:srgbClr val="FFFFFF"/>
              </a:solidFill>
              <a:latin typeface="Arial" panose="020B0604020202020204"/>
              <a:ea typeface="Arial" panose="020B0604020202020204"/>
              <a:cs typeface="Arial" panose="020B0604020202020204"/>
            </a:endParaRPr>
          </a:p>
        </p:txBody>
      </p:sp>
      <p:sp>
        <p:nvSpPr>
          <p:cNvPr id="17" name="TextBox 17"/>
          <p:cNvSpPr txBox="1"/>
          <p:nvPr/>
        </p:nvSpPr>
        <p:spPr>
          <a:xfrm>
            <a:off x="501650" y="532130"/>
            <a:ext cx="8948420" cy="403860"/>
          </a:xfrm>
          <a:prstGeom prst="rect">
            <a:avLst/>
          </a:prstGeom>
          <a:noFill/>
          <a:ln>
            <a:noFill/>
          </a:ln>
        </p:spPr>
        <p:txBody>
          <a:bodyPr wrap="square" lIns="0" tIns="0" rIns="0" bIns="0" anchor="t" anchorCtr="0">
            <a:noAutofit/>
          </a:bodyPr>
          <a:lstStyle/>
          <a:p>
            <a:pPr algn="l"/>
            <a:r>
              <a:rPr lang="en-US" sz="2550" b="1" dirty="0">
                <a:solidFill>
                  <a:srgbClr val="20243A"/>
                </a:solidFill>
                <a:latin typeface="Arial" panose="020B0604020202020204"/>
                <a:ea typeface="Arial" panose="020B0604020202020204"/>
                <a:cs typeface="Arial" panose="020B0604020202020204"/>
              </a:rPr>
              <a:t>The Problem: Identity Is Lost During Fusion</a:t>
            </a:r>
            <a:endParaRPr lang="en-US" sz="2550" b="1" dirty="0">
              <a:solidFill>
                <a:srgbClr val="20243A"/>
              </a:solidFill>
              <a:latin typeface="Arial" panose="020B0604020202020204"/>
              <a:ea typeface="Arial" panose="020B0604020202020204"/>
              <a:cs typeface="Arial" panose="020B0604020202020204"/>
            </a:endParaRPr>
          </a:p>
        </p:txBody>
      </p:sp>
      <p:sp>
        <p:nvSpPr>
          <p:cNvPr id="18" name="TextBox 18"/>
          <p:cNvSpPr txBox="1"/>
          <p:nvPr/>
        </p:nvSpPr>
        <p:spPr>
          <a:xfrm>
            <a:off x="791845" y="2077720"/>
            <a:ext cx="4071620" cy="1192530"/>
          </a:xfrm>
          <a:prstGeom prst="rect">
            <a:avLst/>
          </a:prstGeom>
          <a:noFill/>
          <a:ln>
            <a:noFill/>
          </a:ln>
        </p:spPr>
        <p:txBody>
          <a:bodyPr wrap="square" lIns="0" tIns="0" rIns="0" bIns="0" anchor="t" anchorCtr="0">
            <a:spAutoFit/>
          </a:bodyPr>
          <a:lstStyle/>
          <a:p>
            <a:pPr algn="l">
              <a:lnSpc>
                <a:spcPts val="2325"/>
              </a:lnSpc>
            </a:pPr>
            <a:r>
              <a:rPr lang="en-US" sz="1600" b="1" dirty="0">
                <a:solidFill>
                  <a:srgbClr val="FF0000"/>
                </a:solidFill>
                <a:latin typeface="Arial" panose="020B0604020202020204"/>
                <a:ea typeface="Arial" panose="020B0604020202020204"/>
                <a:cs typeface="Arial" panose="020B0604020202020204"/>
              </a:rPr>
              <a:t>People are merged before classification</a:t>
            </a:r>
            <a:endParaRPr lang="en-US" sz="105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Person-specific motion is blurred</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Roles become ambiguous</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endParaRPr lang="en-US" sz="1600" dirty="0">
              <a:solidFill>
                <a:srgbClr val="5E6478"/>
              </a:solidFill>
              <a:latin typeface="Arial" panose="020B0604020202020204"/>
              <a:ea typeface="Arial" panose="020B0604020202020204"/>
              <a:cs typeface="Arial" panose="020B0604020202020204"/>
            </a:endParaRPr>
          </a:p>
        </p:txBody>
      </p:sp>
      <p:sp>
        <p:nvSpPr>
          <p:cNvPr id="19" name="TextBox 19"/>
          <p:cNvSpPr txBox="1"/>
          <p:nvPr/>
        </p:nvSpPr>
        <p:spPr>
          <a:xfrm>
            <a:off x="6325870" y="2077720"/>
            <a:ext cx="3451860" cy="1192530"/>
          </a:xfrm>
          <a:prstGeom prst="rect">
            <a:avLst/>
          </a:prstGeom>
          <a:noFill/>
          <a:ln>
            <a:noFill/>
          </a:ln>
        </p:spPr>
        <p:txBody>
          <a:bodyPr wrap="square" lIns="0" tIns="0" rIns="0" bIns="0" anchor="t" anchorCtr="0">
            <a:spAutoFit/>
          </a:bodyPr>
          <a:lstStyle/>
          <a:p>
            <a:pPr algn="l">
              <a:lnSpc>
                <a:spcPts val="2325"/>
              </a:lnSpc>
            </a:pPr>
            <a:r>
              <a:rPr lang="en-US" sz="1600" b="1" dirty="0">
                <a:solidFill>
                  <a:srgbClr val="FF0000"/>
                </a:solidFill>
                <a:latin typeface="Arial" panose="020B0604020202020204"/>
                <a:ea typeface="Arial" panose="020B0604020202020204"/>
                <a:cs typeface="Arial" panose="020B0604020202020204"/>
              </a:rPr>
              <a:t>• Who performed each motion</a:t>
            </a:r>
            <a:endParaRPr lang="en-US" sz="1600" b="1" dirty="0">
              <a:solidFill>
                <a:srgbClr val="FF0000"/>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Relative inter-person geometry</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Role-specific movement</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endParaRPr lang="en-US" sz="1050" dirty="0">
              <a:solidFill>
                <a:srgbClr val="5E6478"/>
              </a:solidFill>
              <a:latin typeface="Arial" panose="020B0604020202020204"/>
              <a:ea typeface="Arial" panose="020B0604020202020204"/>
              <a:cs typeface="Arial" panose="020B0604020202020204"/>
            </a:endParaRPr>
          </a:p>
        </p:txBody>
      </p:sp>
      <p:sp>
        <p:nvSpPr>
          <p:cNvPr id="20" name="TextBox 20"/>
          <p:cNvSpPr txBox="1"/>
          <p:nvPr/>
        </p:nvSpPr>
        <p:spPr>
          <a:xfrm>
            <a:off x="791845" y="4363720"/>
            <a:ext cx="4086860" cy="1192530"/>
          </a:xfrm>
          <a:prstGeom prst="rect">
            <a:avLst/>
          </a:prstGeom>
          <a:noFill/>
          <a:ln>
            <a:noFill/>
          </a:ln>
        </p:spPr>
        <p:txBody>
          <a:bodyPr wrap="square" lIns="0" tIns="0" rIns="0" bIns="0" anchor="t" anchorCtr="0">
            <a:spAutoFit/>
          </a:bodyPr>
          <a:lstStyle/>
          <a:p>
            <a:pPr algn="l">
              <a:lnSpc>
                <a:spcPts val="2325"/>
              </a:lnSpc>
            </a:pPr>
            <a:r>
              <a:rPr lang="en-US" sz="1600" b="1" dirty="0">
                <a:solidFill>
                  <a:srgbClr val="5E6478"/>
                </a:solidFill>
                <a:latin typeface="Arial" panose="020B0604020202020204"/>
                <a:ea typeface="Arial" panose="020B0604020202020204"/>
                <a:cs typeface="Arial" panose="020B0604020202020204"/>
              </a:rPr>
              <a:t>Role-asymmetric actions depend on who does what</a:t>
            </a:r>
            <a:endParaRPr lang="en-US" sz="1600" b="1"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Fused representations may erase this distinction</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endParaRPr lang="en-US" sz="1600" dirty="0">
              <a:solidFill>
                <a:srgbClr val="5E6478"/>
              </a:solidFill>
              <a:latin typeface="Arial" panose="020B0604020202020204"/>
              <a:ea typeface="Arial" panose="020B0604020202020204"/>
              <a:cs typeface="Arial" panose="020B0604020202020204"/>
            </a:endParaRPr>
          </a:p>
        </p:txBody>
      </p:sp>
      <p:sp>
        <p:nvSpPr>
          <p:cNvPr id="21" name="TextBox 21"/>
          <p:cNvSpPr txBox="1"/>
          <p:nvPr/>
        </p:nvSpPr>
        <p:spPr>
          <a:xfrm>
            <a:off x="6325870" y="4363720"/>
            <a:ext cx="3272155" cy="894080"/>
          </a:xfrm>
          <a:prstGeom prst="rect">
            <a:avLst/>
          </a:prstGeom>
          <a:noFill/>
          <a:ln>
            <a:noFill/>
          </a:ln>
        </p:spPr>
        <p:txBody>
          <a:bodyPr wrap="square" lIns="0" tIns="0" rIns="0" bIns="0" anchor="t" anchorCtr="0">
            <a:spAutoFit/>
          </a:bodyPr>
          <a:lstStyle/>
          <a:p>
            <a:pPr algn="l">
              <a:lnSpc>
                <a:spcPts val="2325"/>
              </a:lnSpc>
            </a:pPr>
            <a:r>
              <a:rPr lang="en-US" sz="1600" dirty="0">
                <a:solidFill>
                  <a:srgbClr val="C8C8C8"/>
                </a:solidFill>
                <a:latin typeface="Arial" panose="020B0604020202020204"/>
                <a:ea typeface="Arial" panose="020B0604020202020204"/>
                <a:cs typeface="Arial" panose="020B0604020202020204"/>
              </a:rPr>
              <a:t>Can identity + relative geometry improve recognition?</a:t>
            </a:r>
            <a:endParaRPr lang="en-US" sz="1600" dirty="0">
              <a:solidFill>
                <a:srgbClr val="C8C8C8"/>
              </a:solidFill>
              <a:latin typeface="Arial" panose="020B0604020202020204"/>
              <a:ea typeface="Arial" panose="020B0604020202020204"/>
              <a:cs typeface="Arial" panose="020B0604020202020204"/>
            </a:endParaRPr>
          </a:p>
          <a:p>
            <a:pPr algn="l">
              <a:lnSpc>
                <a:spcPts val="2325"/>
              </a:lnSpc>
            </a:pPr>
            <a:endParaRPr lang="en-US" sz="1600" dirty="0">
              <a:solidFill>
                <a:srgbClr val="C8C8C8"/>
              </a:solidFill>
              <a:latin typeface="Arial" panose="020B0604020202020204"/>
              <a:ea typeface="Arial" panose="020B0604020202020204"/>
              <a:cs typeface="Arial" panose="020B0604020202020204"/>
            </a:endParaRPr>
          </a:p>
        </p:txBody>
      </p:sp>
      <p:sp>
        <p:nvSpPr>
          <p:cNvPr id="22" name="TextBox 22"/>
          <p:cNvSpPr txBox="1"/>
          <p:nvPr/>
        </p:nvSpPr>
        <p:spPr>
          <a:xfrm>
            <a:off x="11085233" y="6665595"/>
            <a:ext cx="880034" cy="176212"/>
          </a:xfrm>
          <a:prstGeom prst="rect">
            <a:avLst/>
          </a:prstGeom>
          <a:noFill/>
          <a:ln>
            <a:noFill/>
          </a:ln>
        </p:spPr>
        <p:txBody>
          <a:bodyPr wrap="square" lIns="0" tIns="0" rIns="0" bIns="0" anchor="t" anchorCtr="0">
            <a:spAutoFit/>
          </a:bodyPr>
          <a:lstStyle/>
          <a:p>
            <a:pPr algn="ctr"/>
            <a:r>
              <a:rPr lang="en-US" sz="900" dirty="0">
                <a:solidFill>
                  <a:srgbClr val="FFFFFF"/>
                </a:solidFill>
                <a:latin typeface="Arial" panose="020B0604020202020204"/>
                <a:ea typeface="Arial" panose="020B0604020202020204"/>
                <a:cs typeface="Arial" panose="020B0604020202020204"/>
              </a:rPr>
              <a:t>3</a:t>
            </a:r>
            <a:endParaRPr lang="en-US" sz="900" dirty="0">
              <a:solidFill>
                <a:srgbClr val="FFFFFF"/>
              </a:solidFill>
              <a:latin typeface="Arial" panose="020B0604020202020204"/>
              <a:ea typeface="Arial" panose="020B0604020202020204"/>
              <a:cs typeface="Arial" panose="020B0604020202020204"/>
            </a:endParaRPr>
          </a:p>
        </p:txBody>
      </p:sp>
      <p:sp>
        <p:nvSpPr>
          <p:cNvPr id="23" name="TextBox 5"/>
          <p:cNvSpPr txBox="1"/>
          <p:nvPr/>
        </p:nvSpPr>
        <p:spPr>
          <a:xfrm>
            <a:off x="471170" y="6666230"/>
            <a:ext cx="3678555" cy="191135"/>
          </a:xfrm>
          <a:prstGeom prst="rect">
            <a:avLst/>
          </a:prstGeom>
          <a:noFill/>
          <a:ln>
            <a:noFill/>
          </a:ln>
        </p:spPr>
        <p:txBody>
          <a:bodyPr wrap="square" lIns="0" tIns="0" rIns="0" bIns="0" anchor="t" anchorCtr="0">
            <a:noAutofit/>
          </a:bodyPr>
          <a:lstStyle/>
          <a:p>
            <a:pPr algn="l"/>
            <a:r>
              <a:rPr lang="en-US" sz="1080" dirty="0">
                <a:solidFill>
                  <a:srgbClr val="FFFFFF"/>
                </a:solidFill>
                <a:latin typeface="Arial" panose="020B0604020202020204"/>
                <a:ea typeface="Arial" panose="020B0604020202020204"/>
                <a:cs typeface="Arial" panose="020B0604020202020204"/>
              </a:rPr>
              <a:t>EE6008 · </a:t>
            </a:r>
            <a:r>
              <a:rPr sz="1080" b="1">
                <a:solidFill>
                  <a:schemeClr val="bg1"/>
                </a:solidFill>
                <a:latin typeface="Arial" panose="020B0604020202020204"/>
                <a:sym typeface="+mn-ea"/>
              </a:rPr>
              <a:t>Instance-Preserving Pose Representation</a:t>
            </a:r>
            <a:endParaRPr lang="en-US" sz="1080" b="1" dirty="0">
              <a:solidFill>
                <a:schemeClr val="bg1"/>
              </a:solidFill>
              <a:latin typeface="Arial" panose="020B0604020202020204"/>
              <a:ea typeface="Arial" panose="020B0604020202020204"/>
              <a:cs typeface="Arial" panose="020B0604020202020204"/>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D71440"/>
          </a:solidFill>
          <a:ln>
            <a:noFill/>
          </a:ln>
        </p:spPr>
        <p:txBody>
          <a:bodyPr wrap="square"/>
          <a:p/>
        </p:txBody>
      </p:sp>
      <p:pic>
        <p:nvPicPr>
          <p:cNvPr id="3" name="Image 3"/>
          <p:cNvPicPr>
            <a:picLocks noChangeAspect="1"/>
          </p:cNvPicPr>
          <p:nvPr/>
        </p:nvPicPr>
        <p:blipFill>
          <a:blip r:embed="rId1"/>
          <a:stretch>
            <a:fillRect/>
          </a:stretch>
        </p:blipFill>
        <p:spPr>
          <a:xfrm>
            <a:off x="9810750" y="228600"/>
            <a:ext cx="1905000" cy="685800"/>
          </a:xfrm>
          <a:prstGeom prst="rect">
            <a:avLst/>
          </a:prstGeom>
        </p:spPr>
      </p:pic>
      <p:sp>
        <p:nvSpPr>
          <p:cNvPr id="4" name="Rectangle 4"/>
          <p:cNvSpPr/>
          <p:nvPr/>
        </p:nvSpPr>
        <p:spPr>
          <a:xfrm>
            <a:off x="171450" y="6572250"/>
            <a:ext cx="12020550" cy="285750"/>
          </a:xfrm>
          <a:prstGeom prst="rect">
            <a:avLst/>
          </a:prstGeom>
          <a:solidFill>
            <a:srgbClr val="181C62"/>
          </a:solidFill>
          <a:ln>
            <a:noFill/>
          </a:ln>
        </p:spPr>
        <p:txBody>
          <a:bodyPr wrap="square"/>
          <a:p/>
        </p:txBody>
      </p:sp>
      <p:sp>
        <p:nvSpPr>
          <p:cNvPr id="6" name="Rectangle 6"/>
          <p:cNvSpPr/>
          <p:nvPr/>
        </p:nvSpPr>
        <p:spPr>
          <a:xfrm>
            <a:off x="514350" y="1000125"/>
            <a:ext cx="1524000" cy="47625"/>
          </a:xfrm>
          <a:prstGeom prst="rect">
            <a:avLst/>
          </a:prstGeom>
          <a:solidFill>
            <a:srgbClr val="D71440"/>
          </a:solidFill>
          <a:ln>
            <a:noFill/>
          </a:ln>
        </p:spPr>
        <p:txBody>
          <a:bodyPr wrap="square"/>
          <a:p/>
        </p:txBody>
      </p:sp>
      <p:sp>
        <p:nvSpPr>
          <p:cNvPr id="7" name="Rectangle 7"/>
          <p:cNvSpPr/>
          <p:nvPr/>
        </p:nvSpPr>
        <p:spPr>
          <a:xfrm>
            <a:off x="514350" y="1304925"/>
            <a:ext cx="11106150" cy="704850"/>
          </a:xfrm>
          <a:prstGeom prst="roundRect">
            <a:avLst>
              <a:gd name="adj" fmla="val 13514"/>
            </a:avLst>
          </a:prstGeom>
          <a:solidFill>
            <a:srgbClr val="FCE9EE"/>
          </a:solidFill>
          <a:ln>
            <a:noFill/>
          </a:ln>
        </p:spPr>
        <p:txBody>
          <a:bodyPr wrap="square"/>
          <a:p/>
        </p:txBody>
      </p:sp>
      <p:sp>
        <p:nvSpPr>
          <p:cNvPr id="8" name="Rectangle 8"/>
          <p:cNvSpPr/>
          <p:nvPr/>
        </p:nvSpPr>
        <p:spPr>
          <a:xfrm>
            <a:off x="514350" y="2238375"/>
            <a:ext cx="7467600" cy="3838575"/>
          </a:xfrm>
          <a:prstGeom prst="roundRect">
            <a:avLst>
              <a:gd name="adj" fmla="val 2978"/>
            </a:avLst>
          </a:prstGeom>
          <a:solidFill>
            <a:srgbClr val="FFFFFF"/>
          </a:solidFill>
          <a:ln w="19050">
            <a:solidFill>
              <a:srgbClr val="C8C8C8"/>
            </a:solidFill>
          </a:ln>
        </p:spPr>
        <p:txBody>
          <a:bodyPr wrap="square"/>
          <a:p/>
        </p:txBody>
      </p:sp>
      <p:sp>
        <p:nvSpPr>
          <p:cNvPr id="9" name="Rectangle 9"/>
          <p:cNvSpPr/>
          <p:nvPr/>
        </p:nvSpPr>
        <p:spPr>
          <a:xfrm>
            <a:off x="8229600" y="2238375"/>
            <a:ext cx="3390900" cy="3838575"/>
          </a:xfrm>
          <a:prstGeom prst="roundRect">
            <a:avLst>
              <a:gd name="adj" fmla="val 3371"/>
            </a:avLst>
          </a:prstGeom>
          <a:solidFill>
            <a:srgbClr val="EEF1FA"/>
          </a:solidFill>
          <a:ln>
            <a:noFill/>
          </a:ln>
        </p:spPr>
        <p:txBody>
          <a:bodyPr wrap="square"/>
          <a:p/>
        </p:txBody>
      </p:sp>
      <p:sp>
        <p:nvSpPr>
          <p:cNvPr id="10" name="Rectangle 10"/>
          <p:cNvSpPr/>
          <p:nvPr/>
        </p:nvSpPr>
        <p:spPr>
          <a:xfrm>
            <a:off x="8229600" y="2238375"/>
            <a:ext cx="3390900" cy="457200"/>
          </a:xfrm>
          <a:prstGeom prst="rect">
            <a:avLst/>
          </a:prstGeom>
          <a:solidFill>
            <a:srgbClr val="181C62"/>
          </a:solidFill>
          <a:ln>
            <a:noFill/>
          </a:ln>
        </p:spPr>
        <p:txBody>
          <a:bodyPr wrap="square"/>
          <a:p/>
        </p:txBody>
      </p:sp>
      <p:sp>
        <p:nvSpPr>
          <p:cNvPr id="11" name="TextBox 11"/>
          <p:cNvSpPr txBox="1"/>
          <p:nvPr/>
        </p:nvSpPr>
        <p:spPr>
          <a:xfrm>
            <a:off x="738188" y="1407795"/>
            <a:ext cx="1078139" cy="176212"/>
          </a:xfrm>
          <a:prstGeom prst="rect">
            <a:avLst/>
          </a:prstGeom>
          <a:noFill/>
          <a:ln>
            <a:noFill/>
          </a:ln>
        </p:spPr>
        <p:txBody>
          <a:bodyPr wrap="square" lIns="0" tIns="0" rIns="0" bIns="0" anchor="t" anchorCtr="0">
            <a:spAutoFit/>
          </a:bodyPr>
          <a:lstStyle/>
          <a:p>
            <a:pPr algn="l"/>
            <a:r>
              <a:rPr lang="en-US" sz="900" b="1" dirty="0">
                <a:solidFill>
                  <a:srgbClr val="D71440"/>
                </a:solidFill>
                <a:latin typeface="Arial" panose="020B0604020202020204"/>
                <a:ea typeface="Arial" panose="020B0604020202020204"/>
                <a:cs typeface="Arial" panose="020B0604020202020204"/>
              </a:rPr>
              <a:t>EXPECTED GOAL</a:t>
            </a:r>
            <a:endParaRPr lang="en-US" sz="900" b="1" dirty="0">
              <a:solidFill>
                <a:srgbClr val="D71440"/>
              </a:solidFill>
              <a:latin typeface="Arial" panose="020B0604020202020204"/>
              <a:ea typeface="Arial" panose="020B0604020202020204"/>
              <a:cs typeface="Arial" panose="020B0604020202020204"/>
            </a:endParaRPr>
          </a:p>
        </p:txBody>
      </p:sp>
      <p:sp>
        <p:nvSpPr>
          <p:cNvPr id="12" name="TextBox 12"/>
          <p:cNvSpPr txBox="1"/>
          <p:nvPr/>
        </p:nvSpPr>
        <p:spPr>
          <a:xfrm>
            <a:off x="757047" y="2466499"/>
            <a:ext cx="2827431" cy="190690"/>
          </a:xfrm>
          <a:prstGeom prst="rect">
            <a:avLst/>
          </a:prstGeom>
          <a:noFill/>
          <a:ln>
            <a:noFill/>
          </a:ln>
        </p:spPr>
        <p:txBody>
          <a:bodyPr wrap="square" lIns="0" tIns="0" rIns="0" bIns="0" anchor="t" anchorCtr="0">
            <a:spAutoFit/>
          </a:bodyPr>
          <a:lstStyle/>
          <a:p>
            <a:pPr algn="l"/>
            <a:r>
              <a:rPr lang="en-US" sz="980" b="1" dirty="0">
                <a:solidFill>
                  <a:srgbClr val="181C62"/>
                </a:solidFill>
                <a:latin typeface="Arial" panose="020B0604020202020204"/>
                <a:ea typeface="Arial" panose="020B0604020202020204"/>
                <a:cs typeface="Arial" panose="020B0604020202020204"/>
              </a:rPr>
              <a:t>PROPOSED REPRESENTATION</a:t>
            </a:r>
            <a:endParaRPr lang="en-US" sz="980" b="1" dirty="0">
              <a:solidFill>
                <a:srgbClr val="181C62"/>
              </a:solidFill>
              <a:latin typeface="Arial" panose="020B0604020202020204"/>
              <a:ea typeface="Arial" panose="020B0604020202020204"/>
              <a:cs typeface="Arial" panose="020B0604020202020204"/>
            </a:endParaRPr>
          </a:p>
        </p:txBody>
      </p:sp>
      <p:sp>
        <p:nvSpPr>
          <p:cNvPr id="13" name="TextBox 13"/>
          <p:cNvSpPr txBox="1"/>
          <p:nvPr/>
        </p:nvSpPr>
        <p:spPr>
          <a:xfrm>
            <a:off x="8472170" y="2368550"/>
            <a:ext cx="1339215" cy="226695"/>
          </a:xfrm>
          <a:prstGeom prst="rect">
            <a:avLst/>
          </a:prstGeom>
          <a:noFill/>
          <a:ln>
            <a:noFill/>
          </a:ln>
        </p:spPr>
        <p:txBody>
          <a:bodyPr wrap="square" lIns="0" tIns="0" rIns="0" bIns="0" anchor="t" anchorCtr="0">
            <a:noAutofit/>
          </a:bodyPr>
          <a:lstStyle/>
          <a:p>
            <a:pPr algn="l"/>
            <a:r>
              <a:rPr lang="en-US" sz="1400" b="1" dirty="0">
                <a:solidFill>
                  <a:srgbClr val="FFFFFF"/>
                </a:solidFill>
                <a:latin typeface="Arial" panose="020B0604020202020204"/>
                <a:ea typeface="Arial" panose="020B0604020202020204"/>
                <a:cs typeface="Arial" panose="020B0604020202020204"/>
              </a:rPr>
              <a:t>EVIDENCE</a:t>
            </a:r>
            <a:endParaRPr lang="en-US" sz="1400" b="1" dirty="0">
              <a:solidFill>
                <a:srgbClr val="FFFFFF"/>
              </a:solidFill>
              <a:latin typeface="Arial" panose="020B0604020202020204"/>
              <a:ea typeface="Arial" panose="020B0604020202020204"/>
              <a:cs typeface="Arial" panose="020B0604020202020204"/>
            </a:endParaRPr>
          </a:p>
        </p:txBody>
      </p:sp>
      <p:sp>
        <p:nvSpPr>
          <p:cNvPr id="14" name="TextBox 14"/>
          <p:cNvSpPr txBox="1"/>
          <p:nvPr/>
        </p:nvSpPr>
        <p:spPr>
          <a:xfrm>
            <a:off x="501396" y="543878"/>
            <a:ext cx="4448810" cy="391795"/>
          </a:xfrm>
          <a:prstGeom prst="rect">
            <a:avLst/>
          </a:prstGeom>
          <a:noFill/>
          <a:ln>
            <a:noFill/>
          </a:ln>
        </p:spPr>
        <p:txBody>
          <a:bodyPr wrap="square" lIns="0" tIns="0" rIns="0" bIns="0" anchor="t" anchorCtr="0">
            <a:spAutoFit/>
          </a:bodyPr>
          <a:lstStyle/>
          <a:p>
            <a:pPr algn="l"/>
            <a:r>
              <a:rPr lang="en-US" altLang="zh-CN" sz="2550" b="1" dirty="0">
                <a:solidFill>
                  <a:srgbClr val="20243A"/>
                </a:solidFill>
                <a:latin typeface="Arial" panose="020B0604020202020204"/>
                <a:ea typeface="Arial" panose="020B0604020202020204"/>
                <a:cs typeface="Arial" panose="020B0604020202020204"/>
              </a:rPr>
              <a:t>Expected Goal</a:t>
            </a:r>
            <a:endParaRPr lang="en-US" altLang="zh-CN" sz="2550" b="1" dirty="0">
              <a:solidFill>
                <a:srgbClr val="20243A"/>
              </a:solidFill>
              <a:latin typeface="Arial" panose="020B0604020202020204"/>
              <a:ea typeface="Arial" panose="020B0604020202020204"/>
              <a:cs typeface="Arial" panose="020B0604020202020204"/>
            </a:endParaRPr>
          </a:p>
        </p:txBody>
      </p:sp>
      <p:sp>
        <p:nvSpPr>
          <p:cNvPr id="15" name="TextBox 15"/>
          <p:cNvSpPr txBox="1"/>
          <p:nvPr/>
        </p:nvSpPr>
        <p:spPr>
          <a:xfrm>
            <a:off x="734695" y="1649095"/>
            <a:ext cx="3115945" cy="215265"/>
          </a:xfrm>
          <a:prstGeom prst="rect">
            <a:avLst/>
          </a:prstGeom>
          <a:noFill/>
          <a:ln>
            <a:noFill/>
          </a:ln>
        </p:spPr>
        <p:txBody>
          <a:bodyPr wrap="square" lIns="0" tIns="0" rIns="0" bIns="0" anchor="t" anchorCtr="0">
            <a:spAutoFit/>
          </a:bodyPr>
          <a:lstStyle/>
          <a:p>
            <a:pPr algn="l"/>
            <a:r>
              <a:rPr lang="en-US" sz="1400" b="1" dirty="0">
                <a:solidFill>
                  <a:srgbClr val="D71440"/>
                </a:solidFill>
                <a:latin typeface="Arial" panose="020B0604020202020204"/>
                <a:ea typeface="Arial" panose="020B0604020202020204"/>
                <a:cs typeface="Arial" panose="020B0604020202020204"/>
              </a:rPr>
              <a:t>Preserve identity before fusion</a:t>
            </a:r>
            <a:endParaRPr lang="en-US" sz="1400" b="1" dirty="0">
              <a:solidFill>
                <a:srgbClr val="D71440"/>
              </a:solidFill>
              <a:latin typeface="Arial" panose="020B0604020202020204"/>
              <a:ea typeface="Arial" panose="020B0604020202020204"/>
              <a:cs typeface="Arial" panose="020B0604020202020204"/>
            </a:endParaRPr>
          </a:p>
        </p:txBody>
      </p:sp>
      <p:sp>
        <p:nvSpPr>
          <p:cNvPr id="16" name="TextBox 16"/>
          <p:cNvSpPr txBox="1"/>
          <p:nvPr/>
        </p:nvSpPr>
        <p:spPr>
          <a:xfrm>
            <a:off x="754761" y="2894171"/>
            <a:ext cx="4555046" cy="783526"/>
          </a:xfrm>
          <a:prstGeom prst="rect">
            <a:avLst/>
          </a:prstGeom>
          <a:noFill/>
          <a:ln>
            <a:noFill/>
          </a:ln>
        </p:spPr>
        <p:txBody>
          <a:bodyPr wrap="square" lIns="0" tIns="0" rIns="0" bIns="0" anchor="t" anchorCtr="0">
            <a:spAutoFit/>
          </a:bodyPr>
          <a:lstStyle/>
          <a:p>
            <a:pPr algn="l">
              <a:lnSpc>
                <a:spcPts val="1725"/>
              </a:lnSpc>
            </a:pPr>
            <a:r>
              <a:rPr lang="en-US" sz="1420" dirty="0">
                <a:solidFill>
                  <a:srgbClr val="5E6478"/>
                </a:solidFill>
                <a:latin typeface="Arial" panose="020B0604020202020204"/>
                <a:ea typeface="Arial" panose="020B0604020202020204"/>
                <a:cs typeface="Arial" panose="020B0604020202020204"/>
              </a:rPr>
              <a:t>M1 · independent person streams</a:t>
            </a:r>
            <a:endParaRPr lang="en-US" sz="1420" dirty="0">
              <a:solidFill>
                <a:srgbClr val="5E6478"/>
              </a:solidFill>
              <a:latin typeface="Arial" panose="020B0604020202020204"/>
              <a:ea typeface="Arial" panose="020B0604020202020204"/>
              <a:cs typeface="Arial" panose="020B0604020202020204"/>
            </a:endParaRPr>
          </a:p>
          <a:p>
            <a:pPr algn="l">
              <a:lnSpc>
                <a:spcPts val="1725"/>
              </a:lnSpc>
              <a:spcBef>
                <a:spcPts val="525"/>
              </a:spcBef>
            </a:pPr>
            <a:r>
              <a:rPr lang="en-US" sz="1050" dirty="0">
                <a:solidFill>
                  <a:srgbClr val="5E6478"/>
                </a:solidFill>
                <a:latin typeface="Arial" panose="020B0604020202020204"/>
                <a:ea typeface="Arial" panose="020B0604020202020204"/>
                <a:cs typeface="Arial" panose="020B0604020202020204"/>
              </a:rPr>
              <a:t>M2 · + relative displacement, distance, velocity
Backbone largely unchanged</a:t>
            </a:r>
            <a:br>
              <a:rPr lang="en-US" sz="1050" dirty="0">
                <a:solidFill>
                  <a:srgbClr val="5E6478"/>
                </a:solidFill>
                <a:latin typeface="Arial" panose="020B0604020202020204"/>
                <a:ea typeface="Arial" panose="020B0604020202020204"/>
                <a:cs typeface="Arial" panose="020B0604020202020204"/>
              </a:rPr>
            </a:br>
            <a:endParaRPr lang="en-US" sz="1050" dirty="0">
              <a:solidFill>
                <a:srgbClr val="5E6478"/>
              </a:solidFill>
              <a:latin typeface="Arial" panose="020B0604020202020204"/>
              <a:ea typeface="Arial" panose="020B0604020202020204"/>
              <a:cs typeface="Arial" panose="020B0604020202020204"/>
            </a:endParaRPr>
          </a:p>
        </p:txBody>
      </p:sp>
      <p:sp>
        <p:nvSpPr>
          <p:cNvPr id="17" name="TextBox 17"/>
          <p:cNvSpPr txBox="1"/>
          <p:nvPr/>
        </p:nvSpPr>
        <p:spPr>
          <a:xfrm>
            <a:off x="8469630" y="3076575"/>
            <a:ext cx="2376424" cy="1112520"/>
          </a:xfrm>
          <a:prstGeom prst="rect">
            <a:avLst/>
          </a:prstGeom>
          <a:noFill/>
          <a:ln>
            <a:noFill/>
          </a:ln>
        </p:spPr>
        <p:txBody>
          <a:bodyPr wrap="square" lIns="0" tIns="0" rIns="0" bIns="0" anchor="t" anchorCtr="0">
            <a:spAutoFit/>
          </a:bodyPr>
          <a:lstStyle/>
          <a:p>
            <a:pPr algn="l">
              <a:lnSpc>
                <a:spcPts val="1950"/>
              </a:lnSpc>
            </a:pPr>
            <a:r>
              <a:rPr lang="en-US" sz="1500" dirty="0">
                <a:solidFill>
                  <a:srgbClr val="20243A"/>
                </a:solidFill>
                <a:latin typeface="Arial" panose="020B0604020202020204"/>
                <a:ea typeface="Arial" panose="020B0604020202020204"/>
                <a:cs typeface="Arial" panose="020B0604020202020204"/>
              </a:rPr>
              <a:t>Better role-sensitive recognition</a:t>
            </a:r>
            <a:endParaRPr lang="en-US" sz="1500" dirty="0">
              <a:solidFill>
                <a:srgbClr val="20243A"/>
              </a:solidFill>
              <a:latin typeface="Arial" panose="020B0604020202020204"/>
              <a:ea typeface="Arial" panose="020B0604020202020204"/>
              <a:cs typeface="Arial" panose="020B0604020202020204"/>
            </a:endParaRPr>
          </a:p>
          <a:p>
            <a:pPr algn="l">
              <a:lnSpc>
                <a:spcPts val="1950"/>
              </a:lnSpc>
              <a:spcBef>
                <a:spcPts val="600"/>
              </a:spcBef>
            </a:pPr>
            <a:r>
              <a:rPr lang="en-US" sz="1120" dirty="0">
                <a:solidFill>
                  <a:srgbClr val="5E6478"/>
                </a:solidFill>
                <a:latin typeface="Arial" panose="020B0604020202020204"/>
                <a:ea typeface="Arial" panose="020B0604020202020204"/>
                <a:cs typeface="Arial" panose="020B0604020202020204"/>
              </a:rPr>
              <a:t>Parameter-conscious ablations
Identity-swap sensitivity</a:t>
            </a: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endParaRPr lang="en-US" sz="1120" dirty="0">
              <a:solidFill>
                <a:srgbClr val="5E6478"/>
              </a:solidFill>
              <a:latin typeface="Arial" panose="020B0604020202020204"/>
              <a:ea typeface="Arial" panose="020B0604020202020204"/>
              <a:cs typeface="Arial" panose="020B0604020202020204"/>
            </a:endParaRPr>
          </a:p>
        </p:txBody>
      </p:sp>
      <p:sp>
        <p:nvSpPr>
          <p:cNvPr id="19" name="TextBox 19"/>
          <p:cNvSpPr txBox="1"/>
          <p:nvPr/>
        </p:nvSpPr>
        <p:spPr>
          <a:xfrm>
            <a:off x="11085233" y="6665595"/>
            <a:ext cx="880034" cy="176212"/>
          </a:xfrm>
          <a:prstGeom prst="rect">
            <a:avLst/>
          </a:prstGeom>
          <a:noFill/>
          <a:ln>
            <a:noFill/>
          </a:ln>
        </p:spPr>
        <p:txBody>
          <a:bodyPr wrap="square" lIns="0" tIns="0" rIns="0" bIns="0" anchor="t" anchorCtr="0">
            <a:spAutoFit/>
          </a:bodyPr>
          <a:lstStyle/>
          <a:p>
            <a:pPr algn="ctr"/>
            <a:r>
              <a:rPr lang="en-US" sz="900" dirty="0">
                <a:solidFill>
                  <a:srgbClr val="FFFFFF"/>
                </a:solidFill>
                <a:latin typeface="Arial" panose="020B0604020202020204"/>
                <a:ea typeface="Arial" panose="020B0604020202020204"/>
                <a:cs typeface="Arial" panose="020B0604020202020204"/>
              </a:rPr>
              <a:t>4</a:t>
            </a:r>
            <a:endParaRPr lang="en-US" sz="900" dirty="0">
              <a:solidFill>
                <a:srgbClr val="FFFFFF"/>
              </a:solidFill>
              <a:latin typeface="Arial" panose="020B0604020202020204"/>
              <a:ea typeface="Arial" panose="020B0604020202020204"/>
              <a:cs typeface="Arial" panose="020B0604020202020204"/>
            </a:endParaRPr>
          </a:p>
        </p:txBody>
      </p:sp>
      <p:pic>
        <p:nvPicPr>
          <p:cNvPr id="901" name="WhatSurvivesFigure"/>
          <p:cNvPicPr>
            <a:picLocks noChangeAspect="1"/>
          </p:cNvPicPr>
          <p:nvPr/>
        </p:nvPicPr>
        <p:blipFill>
          <a:blip r:embed="rId2"/>
          <a:stretch>
            <a:fillRect/>
          </a:stretch>
        </p:blipFill>
        <p:spPr>
          <a:xfrm>
            <a:off x="774000" y="3816000"/>
            <a:ext cx="6660000" cy="2159641"/>
          </a:xfrm>
          <a:prstGeom prst="rect">
            <a:avLst/>
          </a:prstGeom>
        </p:spPr>
      </p:pic>
      <p:sp>
        <p:nvSpPr>
          <p:cNvPr id="20" name="TextBox 5"/>
          <p:cNvSpPr txBox="1"/>
          <p:nvPr/>
        </p:nvSpPr>
        <p:spPr>
          <a:xfrm>
            <a:off x="471170" y="6666230"/>
            <a:ext cx="3678555" cy="191135"/>
          </a:xfrm>
          <a:prstGeom prst="rect">
            <a:avLst/>
          </a:prstGeom>
          <a:noFill/>
          <a:ln>
            <a:noFill/>
          </a:ln>
        </p:spPr>
        <p:txBody>
          <a:bodyPr wrap="square" lIns="0" tIns="0" rIns="0" bIns="0" anchor="t" anchorCtr="0">
            <a:noAutofit/>
          </a:bodyPr>
          <a:lstStyle/>
          <a:p>
            <a:pPr algn="l"/>
            <a:r>
              <a:rPr lang="en-US" sz="1080" dirty="0">
                <a:solidFill>
                  <a:srgbClr val="FFFFFF"/>
                </a:solidFill>
                <a:latin typeface="Arial" panose="020B0604020202020204"/>
                <a:ea typeface="Arial" panose="020B0604020202020204"/>
                <a:cs typeface="Arial" panose="020B0604020202020204"/>
              </a:rPr>
              <a:t>EE6008 · </a:t>
            </a:r>
            <a:r>
              <a:rPr sz="1080" b="1">
                <a:solidFill>
                  <a:schemeClr val="bg1"/>
                </a:solidFill>
                <a:latin typeface="Arial" panose="020B0604020202020204"/>
                <a:sym typeface="+mn-ea"/>
              </a:rPr>
              <a:t>Instance-Preserving Pose Representation</a:t>
            </a:r>
            <a:endParaRPr lang="en-US" sz="1080" b="1" dirty="0">
              <a:solidFill>
                <a:schemeClr val="bg1"/>
              </a:solidFill>
              <a:latin typeface="Arial" panose="020B0604020202020204"/>
              <a:ea typeface="Arial" panose="020B0604020202020204"/>
              <a:cs typeface="Arial" panose="020B0604020202020204"/>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D71440"/>
          </a:solidFill>
          <a:ln>
            <a:noFill/>
          </a:ln>
        </p:spPr>
        <p:txBody>
          <a:bodyPr wrap="square"/>
          <a:p/>
        </p:txBody>
      </p:sp>
      <p:pic>
        <p:nvPicPr>
          <p:cNvPr id="3" name="Image 3"/>
          <p:cNvPicPr>
            <a:picLocks noChangeAspect="1"/>
          </p:cNvPicPr>
          <p:nvPr/>
        </p:nvPicPr>
        <p:blipFill>
          <a:blip r:embed="rId1"/>
          <a:stretch>
            <a:fillRect/>
          </a:stretch>
        </p:blipFill>
        <p:spPr>
          <a:xfrm>
            <a:off x="9810750" y="228600"/>
            <a:ext cx="1905000" cy="685800"/>
          </a:xfrm>
          <a:prstGeom prst="rect">
            <a:avLst/>
          </a:prstGeom>
        </p:spPr>
      </p:pic>
      <p:sp>
        <p:nvSpPr>
          <p:cNvPr id="4" name="Rectangle 4"/>
          <p:cNvSpPr/>
          <p:nvPr/>
        </p:nvSpPr>
        <p:spPr>
          <a:xfrm>
            <a:off x="171450" y="6572250"/>
            <a:ext cx="12020550" cy="285750"/>
          </a:xfrm>
          <a:prstGeom prst="rect">
            <a:avLst/>
          </a:prstGeom>
          <a:solidFill>
            <a:srgbClr val="181C62"/>
          </a:solidFill>
          <a:ln>
            <a:noFill/>
          </a:ln>
        </p:spPr>
        <p:txBody>
          <a:bodyPr wrap="square"/>
          <a:p/>
        </p:txBody>
      </p:sp>
      <p:sp>
        <p:nvSpPr>
          <p:cNvPr id="6" name="Rectangle 6"/>
          <p:cNvSpPr/>
          <p:nvPr/>
        </p:nvSpPr>
        <p:spPr>
          <a:xfrm>
            <a:off x="514350" y="1000125"/>
            <a:ext cx="1524000" cy="47625"/>
          </a:xfrm>
          <a:prstGeom prst="rect">
            <a:avLst/>
          </a:prstGeom>
          <a:solidFill>
            <a:srgbClr val="D71440"/>
          </a:solidFill>
          <a:ln>
            <a:noFill/>
          </a:ln>
        </p:spPr>
        <p:txBody>
          <a:bodyPr wrap="square"/>
          <a:p/>
        </p:txBody>
      </p:sp>
      <p:sp>
        <p:nvSpPr>
          <p:cNvPr id="7" name="Rectangle 7"/>
          <p:cNvSpPr/>
          <p:nvPr/>
        </p:nvSpPr>
        <p:spPr>
          <a:xfrm>
            <a:off x="514350" y="1428750"/>
            <a:ext cx="3143250" cy="4648200"/>
          </a:xfrm>
          <a:prstGeom prst="roundRect">
            <a:avLst>
              <a:gd name="adj" fmla="val 3636"/>
            </a:avLst>
          </a:prstGeom>
          <a:solidFill>
            <a:srgbClr val="EEF1FA"/>
          </a:solidFill>
          <a:ln>
            <a:noFill/>
          </a:ln>
        </p:spPr>
        <p:txBody>
          <a:bodyPr wrap="square"/>
          <a:p/>
        </p:txBody>
      </p:sp>
      <p:sp>
        <p:nvSpPr>
          <p:cNvPr id="8" name="Rectangle 8"/>
          <p:cNvSpPr/>
          <p:nvPr/>
        </p:nvSpPr>
        <p:spPr>
          <a:xfrm>
            <a:off x="3905250" y="1428750"/>
            <a:ext cx="4762500" cy="4648200"/>
          </a:xfrm>
          <a:prstGeom prst="roundRect">
            <a:avLst>
              <a:gd name="adj" fmla="val 2459"/>
            </a:avLst>
          </a:prstGeom>
          <a:solidFill>
            <a:srgbClr val="FFFFFF"/>
          </a:solidFill>
          <a:ln w="19050">
            <a:solidFill>
              <a:srgbClr val="C8C8C8"/>
            </a:solidFill>
          </a:ln>
        </p:spPr>
        <p:txBody>
          <a:bodyPr wrap="square"/>
          <a:p/>
        </p:txBody>
      </p:sp>
      <p:sp>
        <p:nvSpPr>
          <p:cNvPr id="9" name="Rectangle 9"/>
          <p:cNvSpPr/>
          <p:nvPr/>
        </p:nvSpPr>
        <p:spPr>
          <a:xfrm>
            <a:off x="8915400" y="1428750"/>
            <a:ext cx="2705100" cy="4648200"/>
          </a:xfrm>
          <a:prstGeom prst="roundRect">
            <a:avLst>
              <a:gd name="adj" fmla="val 4225"/>
            </a:avLst>
          </a:prstGeom>
          <a:solidFill>
            <a:srgbClr val="181C62"/>
          </a:solidFill>
          <a:ln>
            <a:noFill/>
          </a:ln>
        </p:spPr>
        <p:txBody>
          <a:bodyPr wrap="square"/>
          <a:p/>
        </p:txBody>
      </p:sp>
      <p:sp>
        <p:nvSpPr>
          <p:cNvPr id="10" name="Rectangle 10"/>
          <p:cNvSpPr/>
          <p:nvPr/>
        </p:nvSpPr>
        <p:spPr>
          <a:xfrm>
            <a:off x="8915400" y="1428750"/>
            <a:ext cx="2705100" cy="114300"/>
          </a:xfrm>
          <a:prstGeom prst="rect">
            <a:avLst/>
          </a:prstGeom>
          <a:solidFill>
            <a:srgbClr val="D71440"/>
          </a:solidFill>
          <a:ln>
            <a:noFill/>
          </a:ln>
        </p:spPr>
        <p:txBody>
          <a:bodyPr wrap="square"/>
          <a:p/>
        </p:txBody>
      </p:sp>
      <p:sp>
        <p:nvSpPr>
          <p:cNvPr id="11" name="TextBox 11"/>
          <p:cNvSpPr txBox="1"/>
          <p:nvPr/>
        </p:nvSpPr>
        <p:spPr>
          <a:xfrm>
            <a:off x="756920" y="1685925"/>
            <a:ext cx="1524000" cy="180340"/>
          </a:xfrm>
          <a:prstGeom prst="rect">
            <a:avLst/>
          </a:prstGeom>
          <a:noFill/>
          <a:ln>
            <a:noFill/>
          </a:ln>
        </p:spPr>
        <p:txBody>
          <a:bodyPr wrap="square" lIns="0" tIns="0" rIns="0" bIns="0" anchor="t" anchorCtr="0">
            <a:noAutofit/>
          </a:bodyPr>
          <a:lstStyle/>
          <a:p>
            <a:pPr algn="l"/>
            <a:r>
              <a:rPr lang="en-US" sz="980" b="1" dirty="0">
                <a:solidFill>
                  <a:srgbClr val="D71440"/>
                </a:solidFill>
                <a:latin typeface="Arial" panose="020B0604020202020204"/>
                <a:ea typeface="Arial" panose="020B0604020202020204"/>
                <a:cs typeface="Arial" panose="020B0604020202020204"/>
              </a:rPr>
              <a:t>THIS WEEK</a:t>
            </a:r>
            <a:endParaRPr lang="en-US" sz="980" b="1" dirty="0">
              <a:solidFill>
                <a:srgbClr val="D71440"/>
              </a:solidFill>
              <a:latin typeface="Arial" panose="020B0604020202020204"/>
              <a:ea typeface="Arial" panose="020B0604020202020204"/>
              <a:cs typeface="Arial" panose="020B0604020202020204"/>
            </a:endParaRPr>
          </a:p>
        </p:txBody>
      </p:sp>
      <p:sp>
        <p:nvSpPr>
          <p:cNvPr id="12" name="TextBox 12"/>
          <p:cNvSpPr txBox="1"/>
          <p:nvPr/>
        </p:nvSpPr>
        <p:spPr>
          <a:xfrm>
            <a:off x="4166997" y="1675924"/>
            <a:ext cx="3639757" cy="190690"/>
          </a:xfrm>
          <a:prstGeom prst="rect">
            <a:avLst/>
          </a:prstGeom>
          <a:noFill/>
          <a:ln>
            <a:noFill/>
          </a:ln>
        </p:spPr>
        <p:txBody>
          <a:bodyPr wrap="square" lIns="0" tIns="0" rIns="0" bIns="0" anchor="t" anchorCtr="0">
            <a:spAutoFit/>
          </a:bodyPr>
          <a:lstStyle/>
          <a:p>
            <a:pPr algn="l"/>
            <a:r>
              <a:rPr lang="en-US" sz="980" b="1" dirty="0">
                <a:solidFill>
                  <a:srgbClr val="181C62"/>
                </a:solidFill>
                <a:latin typeface="Arial" panose="020B0604020202020204"/>
                <a:ea typeface="Arial" panose="020B0604020202020204"/>
                <a:cs typeface="Arial" panose="020B0604020202020204"/>
              </a:rPr>
              <a:t>PIPELINE / ARCHITECTURE / IMPLEMENTATION EVIDENCE</a:t>
            </a:r>
            <a:endParaRPr lang="en-US" sz="980" b="1" dirty="0">
              <a:solidFill>
                <a:srgbClr val="181C62"/>
              </a:solidFill>
              <a:latin typeface="Arial" panose="020B0604020202020204"/>
              <a:ea typeface="Arial" panose="020B0604020202020204"/>
              <a:cs typeface="Arial" panose="020B0604020202020204"/>
            </a:endParaRPr>
          </a:p>
        </p:txBody>
      </p:sp>
      <p:sp>
        <p:nvSpPr>
          <p:cNvPr id="13" name="TextBox 13"/>
          <p:cNvSpPr txBox="1"/>
          <p:nvPr/>
        </p:nvSpPr>
        <p:spPr>
          <a:xfrm>
            <a:off x="9157970" y="1718945"/>
            <a:ext cx="2093595" cy="175895"/>
          </a:xfrm>
          <a:prstGeom prst="rect">
            <a:avLst/>
          </a:prstGeom>
          <a:noFill/>
          <a:ln>
            <a:noFill/>
          </a:ln>
        </p:spPr>
        <p:txBody>
          <a:bodyPr wrap="square" lIns="0" tIns="0" rIns="0" bIns="0" anchor="t" anchorCtr="0">
            <a:noAutofit/>
          </a:bodyPr>
          <a:lstStyle/>
          <a:p>
            <a:pPr algn="l"/>
            <a:r>
              <a:rPr lang="en-US" sz="980" b="1" dirty="0">
                <a:solidFill>
                  <a:srgbClr val="FFFFFF"/>
                </a:solidFill>
                <a:latin typeface="Arial" panose="020B0604020202020204"/>
                <a:ea typeface="Arial" panose="020B0604020202020204"/>
                <a:cs typeface="Arial" panose="020B0604020202020204"/>
              </a:rPr>
              <a:t>TECHNICAL TAKEAWAY</a:t>
            </a:r>
            <a:endParaRPr lang="en-US" sz="980" b="1" dirty="0">
              <a:solidFill>
                <a:srgbClr val="FFFFFF"/>
              </a:solidFill>
              <a:latin typeface="Arial" panose="020B0604020202020204"/>
              <a:ea typeface="Arial" panose="020B0604020202020204"/>
              <a:cs typeface="Arial" panose="020B0604020202020204"/>
            </a:endParaRPr>
          </a:p>
        </p:txBody>
      </p:sp>
      <p:sp>
        <p:nvSpPr>
          <p:cNvPr id="14" name="TextBox 14"/>
          <p:cNvSpPr txBox="1"/>
          <p:nvPr/>
        </p:nvSpPr>
        <p:spPr>
          <a:xfrm>
            <a:off x="501396" y="543878"/>
            <a:ext cx="4773930" cy="391795"/>
          </a:xfrm>
          <a:prstGeom prst="rect">
            <a:avLst/>
          </a:prstGeom>
          <a:noFill/>
          <a:ln>
            <a:noFill/>
          </a:ln>
        </p:spPr>
        <p:txBody>
          <a:bodyPr wrap="square" lIns="0" tIns="0" rIns="0" bIns="0" anchor="t" anchorCtr="0">
            <a:spAutoFit/>
          </a:bodyPr>
          <a:lstStyle/>
          <a:p>
            <a:pPr algn="l"/>
            <a:r>
              <a:rPr lang="en-US" altLang="zh-CN" sz="2550" b="1" dirty="0">
                <a:solidFill>
                  <a:srgbClr val="20243A"/>
                </a:solidFill>
                <a:latin typeface="Arial" panose="020B0604020202020204"/>
                <a:ea typeface="Arial" panose="020B0604020202020204"/>
                <a:cs typeface="Arial" panose="020B0604020202020204"/>
              </a:rPr>
              <a:t>Scoping the Interaction Subset</a:t>
            </a:r>
            <a:endParaRPr lang="en-US" altLang="zh-CN" sz="2550" b="1" dirty="0">
              <a:solidFill>
                <a:srgbClr val="20243A"/>
              </a:solidFill>
              <a:latin typeface="Arial" panose="020B0604020202020204"/>
              <a:ea typeface="Arial" panose="020B0604020202020204"/>
              <a:cs typeface="Arial" panose="020B0604020202020204"/>
            </a:endParaRPr>
          </a:p>
        </p:txBody>
      </p:sp>
      <p:sp>
        <p:nvSpPr>
          <p:cNvPr id="15" name="TextBox 15"/>
          <p:cNvSpPr txBox="1"/>
          <p:nvPr/>
        </p:nvSpPr>
        <p:spPr>
          <a:xfrm>
            <a:off x="753999" y="2154079"/>
            <a:ext cx="3356420" cy="850964"/>
          </a:xfrm>
          <a:prstGeom prst="rect">
            <a:avLst/>
          </a:prstGeom>
          <a:noFill/>
          <a:ln>
            <a:noFill/>
          </a:ln>
        </p:spPr>
        <p:txBody>
          <a:bodyPr wrap="square" lIns="0" tIns="0" rIns="0" bIns="0" anchor="t" anchorCtr="0">
            <a:spAutoFit/>
          </a:bodyPr>
          <a:lstStyle/>
          <a:p>
            <a:pPr algn="l">
              <a:lnSpc>
                <a:spcPts val="1875"/>
              </a:lnSpc>
            </a:pPr>
            <a:r>
              <a:rPr lang="en-US" sz="1580" dirty="0">
                <a:solidFill>
                  <a:srgbClr val="20243A"/>
                </a:solidFill>
                <a:latin typeface="Arial" panose="020B0604020202020204"/>
                <a:ea typeface="Arial" panose="020B0604020202020204"/>
                <a:cs typeface="Arial" panose="020B0604020202020204"/>
              </a:rPr>
              <a:t>NTU RGB+D 120 dataset audit</a:t>
            </a:r>
            <a:br>
              <a:rPr lang="en-US" sz="1580" dirty="0">
                <a:solidFill>
                  <a:srgbClr val="20243A"/>
                </a:solidFill>
                <a:latin typeface="Arial" panose="020B0604020202020204"/>
                <a:ea typeface="Arial" panose="020B0604020202020204"/>
                <a:cs typeface="Arial" panose="020B0604020202020204"/>
              </a:rPr>
            </a:br>
            <a:endParaRPr lang="en-US" sz="1580" dirty="0">
              <a:solidFill>
                <a:srgbClr val="20243A"/>
              </a:solidFill>
              <a:latin typeface="Arial" panose="020B0604020202020204"/>
              <a:ea typeface="Arial" panose="020B0604020202020204"/>
              <a:cs typeface="Arial" panose="020B0604020202020204"/>
            </a:endParaRPr>
          </a:p>
          <a:p>
            <a:pPr algn="l">
              <a:lnSpc>
                <a:spcPts val="1875"/>
              </a:lnSpc>
              <a:spcBef>
                <a:spcPts val="525"/>
              </a:spcBef>
            </a:pPr>
            <a:r>
              <a:rPr lang="en-US" sz="1050" dirty="0">
                <a:solidFill>
                  <a:srgbClr val="5E6478"/>
                </a:solidFill>
                <a:latin typeface="Arial" panose="020B0604020202020204"/>
                <a:ea typeface="Arial" panose="020B0604020202020204"/>
                <a:cs typeface="Arial" panose="020B0604020202020204"/>
              </a:rPr>
              <a:t>Completed · format, splits, cleaning
Planned · parser that keeps bodyID</a:t>
            </a:r>
            <a:br>
              <a:rPr lang="en-US" sz="1050" dirty="0">
                <a:solidFill>
                  <a:srgbClr val="5E6478"/>
                </a:solidFill>
                <a:latin typeface="Arial" panose="020B0604020202020204"/>
                <a:ea typeface="Arial" panose="020B0604020202020204"/>
                <a:cs typeface="Arial" panose="020B0604020202020204"/>
              </a:rPr>
            </a:br>
            <a:endParaRPr lang="en-US" sz="1050" dirty="0">
              <a:solidFill>
                <a:srgbClr val="5E6478"/>
              </a:solidFill>
              <a:latin typeface="Arial" panose="020B0604020202020204"/>
              <a:ea typeface="Arial" panose="020B0604020202020204"/>
              <a:cs typeface="Arial" panose="020B0604020202020204"/>
            </a:endParaRPr>
          </a:p>
        </p:txBody>
      </p:sp>
      <p:sp>
        <p:nvSpPr>
          <p:cNvPr id="16" name="TextBox 16"/>
          <p:cNvSpPr txBox="1"/>
          <p:nvPr/>
        </p:nvSpPr>
        <p:spPr>
          <a:xfrm>
            <a:off x="4164711" y="2170271"/>
            <a:ext cx="3568256" cy="774002"/>
          </a:xfrm>
          <a:prstGeom prst="rect">
            <a:avLst/>
          </a:prstGeom>
          <a:noFill/>
          <a:ln>
            <a:noFill/>
          </a:ln>
        </p:spPr>
        <p:txBody>
          <a:bodyPr wrap="square" lIns="0" tIns="0" rIns="0" bIns="0" anchor="t" anchorCtr="0">
            <a:spAutoFit/>
          </a:bodyPr>
          <a:lstStyle/>
          <a:p>
            <a:pPr>
              <a:lnSpc>
                <a:spcPct val="100000"/>
              </a:lnSpc>
              <a:spcAft>
                <a:spcPts val="0"/>
              </a:spcAft>
            </a:pPr>
            <a:r>
              <a:rPr sz="1200"/>
              <a:t>26 mutual classes · 24,732 clips</a:t>
            </a:r>
            <a:endParaRPr sz="1200"/>
          </a:p>
          <a:p>
            <a:pPr>
              <a:lnSpc>
                <a:spcPct val="100000"/>
              </a:lnSpc>
              <a:spcAft>
                <a:spcPts val="0"/>
              </a:spcAft>
            </a:pPr>
            <a:r>
              <a:rPr sz="1200"/>
              <a:t>A050–A060 + A106–A120</a:t>
            </a:r>
            <a:endParaRPr sz="1200"/>
          </a:p>
          <a:p>
            <a:pPr>
              <a:lnSpc>
                <a:spcPct val="100000"/>
              </a:lnSpc>
              <a:spcAft>
                <a:spcPts val="0"/>
              </a:spcAft>
            </a:pPr>
            <a:r>
              <a:rPr sz="1200"/>
              <a:t>X-Sub · 53 / 53 | X-Set · even / odd</a:t>
            </a:r>
            <a:endParaRPr sz="1200"/>
          </a:p>
          <a:p>
            <a:pPr>
              <a:lnSpc>
                <a:spcPct val="100000"/>
              </a:lnSpc>
              <a:spcAft>
                <a:spcPts val="0"/>
              </a:spcAft>
            </a:pPr>
            <a:r>
              <a:rPr sz="1200"/>
              <a:t>Skeleton-only · 10.3 GB</a:t>
            </a:r>
            <a:endParaRPr sz="1200"/>
          </a:p>
        </p:txBody>
      </p:sp>
      <p:sp>
        <p:nvSpPr>
          <p:cNvPr id="17" name="TextBox 17"/>
          <p:cNvSpPr txBox="1"/>
          <p:nvPr/>
        </p:nvSpPr>
        <p:spPr>
          <a:xfrm>
            <a:off x="9155049" y="2173129"/>
            <a:ext cx="1943354" cy="1070038"/>
          </a:xfrm>
          <a:prstGeom prst="rect">
            <a:avLst/>
          </a:prstGeom>
          <a:noFill/>
          <a:ln>
            <a:noFill/>
          </a:ln>
        </p:spPr>
        <p:txBody>
          <a:bodyPr wrap="square" lIns="0" tIns="0" rIns="0" bIns="0" anchor="t" anchorCtr="0">
            <a:spAutoFit/>
          </a:bodyPr>
          <a:lstStyle/>
          <a:p>
            <a:pPr algn="l">
              <a:lnSpc>
                <a:spcPts val="1650"/>
              </a:lnSpc>
            </a:pPr>
            <a:r>
              <a:rPr lang="en-US" sz="1580" b="1" dirty="0">
                <a:solidFill>
                  <a:srgbClr val="FFFFFF"/>
                </a:solidFill>
                <a:latin typeface="Arial" panose="020B0604020202020204"/>
                <a:ea typeface="Arial" panose="020B0604020202020204"/>
                <a:cs typeface="Arial" panose="020B0604020202020204"/>
              </a:rPr>
              <a:t>Identity lost</a:t>
            </a:r>
            <a:br>
              <a:rPr lang="en-US" sz="1580" b="1" dirty="0">
                <a:solidFill>
                  <a:srgbClr val="FFFFFF"/>
                </a:solidFill>
                <a:latin typeface="Arial" panose="020B0604020202020204"/>
                <a:ea typeface="Arial" panose="020B0604020202020204"/>
                <a:cs typeface="Arial" panose="020B0604020202020204"/>
              </a:rPr>
            </a:br>
            <a:endParaRPr lang="en-US" sz="1580" b="1" dirty="0">
              <a:solidFill>
                <a:srgbClr val="FFFFFF"/>
              </a:solidFill>
              <a:latin typeface="Arial" panose="020B0604020202020204"/>
              <a:ea typeface="Arial" panose="020B0604020202020204"/>
              <a:cs typeface="Arial" panose="020B0604020202020204"/>
            </a:endParaRPr>
          </a:p>
          <a:p>
            <a:pPr algn="l">
              <a:lnSpc>
                <a:spcPts val="1650"/>
              </a:lnSpc>
              <a:spcBef>
                <a:spcPts val="900"/>
              </a:spcBef>
            </a:pPr>
            <a:r>
              <a:rPr lang="en-US" sz="1050" dirty="0">
                <a:solidFill>
                  <a:srgbClr val="C8C8C8"/>
                </a:solidFill>
                <a:latin typeface="Arial" panose="020B0604020202020204"/>
                <a:ea typeface="Arial" panose="020B0604020202020204"/>
                <a:cs typeface="Arial" panose="020B0604020202020204"/>
              </a:rPr>
              <a:t>bodyID + trackingState dropped</a:t>
            </a:r>
            <a:endParaRPr lang="en-US" sz="1050" dirty="0">
              <a:solidFill>
                <a:srgbClr val="C8C8C8"/>
              </a:solidFill>
              <a:latin typeface="Arial" panose="020B0604020202020204"/>
              <a:ea typeface="Arial" panose="020B0604020202020204"/>
              <a:cs typeface="Arial" panose="020B0604020202020204"/>
            </a:endParaRPr>
          </a:p>
          <a:p>
            <a:pPr algn="l">
              <a:lnSpc>
                <a:spcPts val="1650"/>
              </a:lnSpc>
              <a:spcBef>
                <a:spcPts val="150"/>
              </a:spcBef>
            </a:pPr>
            <a:r>
              <a:rPr lang="en-US" sz="1120" dirty="0">
                <a:solidFill>
                  <a:srgbClr val="FFFFFF"/>
                </a:solidFill>
                <a:latin typeface="Arial" panose="020B0604020202020204"/>
                <a:ea typeface="Arial" panose="020B0604020202020204"/>
                <a:cs typeface="Arial" panose="020B0604020202020204"/>
              </a:rPr>
              <a:t>Plan: retain both</a:t>
            </a:r>
            <a:br>
              <a:rPr lang="en-US" sz="1120" dirty="0">
                <a:solidFill>
                  <a:srgbClr val="FFFFFF"/>
                </a:solidFill>
                <a:latin typeface="Arial" panose="020B0604020202020204"/>
                <a:ea typeface="Arial" panose="020B0604020202020204"/>
                <a:cs typeface="Arial" panose="020B0604020202020204"/>
              </a:rPr>
            </a:br>
            <a:br>
              <a:rPr lang="en-US" sz="1120" dirty="0">
                <a:solidFill>
                  <a:srgbClr val="FFFFFF"/>
                </a:solidFill>
                <a:latin typeface="Arial" panose="020B0604020202020204"/>
                <a:ea typeface="Arial" panose="020B0604020202020204"/>
                <a:cs typeface="Arial" panose="020B0604020202020204"/>
              </a:rPr>
            </a:br>
            <a:br>
              <a:rPr lang="en-US" sz="1120" dirty="0">
                <a:solidFill>
                  <a:srgbClr val="FFFFFF"/>
                </a:solidFill>
                <a:latin typeface="Arial" panose="020B0604020202020204"/>
                <a:ea typeface="Arial" panose="020B0604020202020204"/>
                <a:cs typeface="Arial" panose="020B0604020202020204"/>
              </a:rPr>
            </a:br>
            <a:endParaRPr lang="en-US" sz="1120" dirty="0">
              <a:solidFill>
                <a:srgbClr val="FFFFFF"/>
              </a:solidFill>
              <a:latin typeface="Arial" panose="020B0604020202020204"/>
              <a:ea typeface="Arial" panose="020B0604020202020204"/>
              <a:cs typeface="Arial" panose="020B0604020202020204"/>
            </a:endParaRPr>
          </a:p>
        </p:txBody>
      </p:sp>
      <p:sp>
        <p:nvSpPr>
          <p:cNvPr id="19" name="TextBox 19"/>
          <p:cNvSpPr txBox="1"/>
          <p:nvPr/>
        </p:nvSpPr>
        <p:spPr>
          <a:xfrm>
            <a:off x="11085233" y="6665595"/>
            <a:ext cx="880034" cy="176212"/>
          </a:xfrm>
          <a:prstGeom prst="rect">
            <a:avLst/>
          </a:prstGeom>
          <a:noFill/>
          <a:ln>
            <a:noFill/>
          </a:ln>
        </p:spPr>
        <p:txBody>
          <a:bodyPr wrap="square" lIns="0" tIns="0" rIns="0" bIns="0" anchor="t" anchorCtr="0">
            <a:spAutoFit/>
          </a:bodyPr>
          <a:lstStyle/>
          <a:p>
            <a:pPr algn="ctr"/>
            <a:r>
              <a:rPr lang="en-US" sz="900" dirty="0">
                <a:solidFill>
                  <a:srgbClr val="FFFFFF"/>
                </a:solidFill>
                <a:latin typeface="Arial" panose="020B0604020202020204"/>
                <a:ea typeface="Arial" panose="020B0604020202020204"/>
                <a:cs typeface="Arial" panose="020B0604020202020204"/>
              </a:rPr>
              <a:t>5</a:t>
            </a:r>
            <a:endParaRPr lang="en-US" sz="900" dirty="0">
              <a:solidFill>
                <a:srgbClr val="FFFFFF"/>
              </a:solidFill>
              <a:latin typeface="Arial" panose="020B0604020202020204"/>
              <a:ea typeface="Arial" panose="020B0604020202020204"/>
              <a:cs typeface="Arial" panose="020B0604020202020204"/>
            </a:endParaRPr>
          </a:p>
        </p:txBody>
      </p:sp>
      <p:pic>
        <p:nvPicPr>
          <p:cNvPr id="900" name="MissingPerClassChart"/>
          <p:cNvPicPr>
            <a:picLocks noChangeAspect="1"/>
          </p:cNvPicPr>
          <p:nvPr/>
        </p:nvPicPr>
        <p:blipFill>
          <a:blip r:embed="rId2"/>
          <a:stretch>
            <a:fillRect/>
          </a:stretch>
        </p:blipFill>
        <p:spPr>
          <a:xfrm>
            <a:off x="4060000" y="3330000"/>
            <a:ext cx="4460000" cy="2619301"/>
          </a:xfrm>
          <a:prstGeom prst="rect">
            <a:avLst/>
          </a:prstGeom>
        </p:spPr>
      </p:pic>
      <p:sp>
        <p:nvSpPr>
          <p:cNvPr id="20" name="TextBox 5"/>
          <p:cNvSpPr txBox="1"/>
          <p:nvPr/>
        </p:nvSpPr>
        <p:spPr>
          <a:xfrm>
            <a:off x="471170" y="6666230"/>
            <a:ext cx="3678555" cy="191135"/>
          </a:xfrm>
          <a:prstGeom prst="rect">
            <a:avLst/>
          </a:prstGeom>
          <a:noFill/>
          <a:ln>
            <a:noFill/>
          </a:ln>
        </p:spPr>
        <p:txBody>
          <a:bodyPr wrap="square" lIns="0" tIns="0" rIns="0" bIns="0" anchor="t" anchorCtr="0">
            <a:noAutofit/>
          </a:bodyPr>
          <a:lstStyle/>
          <a:p>
            <a:pPr algn="l"/>
            <a:r>
              <a:rPr lang="en-US" sz="1080" dirty="0">
                <a:solidFill>
                  <a:srgbClr val="FFFFFF"/>
                </a:solidFill>
                <a:latin typeface="Arial" panose="020B0604020202020204"/>
                <a:ea typeface="Arial" panose="020B0604020202020204"/>
                <a:cs typeface="Arial" panose="020B0604020202020204"/>
              </a:rPr>
              <a:t>EE6008 · </a:t>
            </a:r>
            <a:r>
              <a:rPr sz="1080" b="1">
                <a:solidFill>
                  <a:schemeClr val="bg1"/>
                </a:solidFill>
                <a:latin typeface="Arial" panose="020B0604020202020204"/>
                <a:sym typeface="+mn-ea"/>
              </a:rPr>
              <a:t>Instance-Preserving Pose Representation</a:t>
            </a:r>
            <a:endParaRPr lang="en-US" sz="1080" b="1" dirty="0">
              <a:solidFill>
                <a:schemeClr val="bg1"/>
              </a:solidFill>
              <a:latin typeface="Arial" panose="020B0604020202020204"/>
              <a:ea typeface="Arial" panose="020B0604020202020204"/>
              <a:cs typeface="Arial" panose="020B0604020202020204"/>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D71440"/>
          </a:solidFill>
          <a:ln>
            <a:noFill/>
          </a:ln>
        </p:spPr>
        <p:txBody>
          <a:bodyPr wrap="square"/>
          <a:p/>
        </p:txBody>
      </p:sp>
      <p:pic>
        <p:nvPicPr>
          <p:cNvPr id="3" name="Image 3"/>
          <p:cNvPicPr>
            <a:picLocks noChangeAspect="1"/>
          </p:cNvPicPr>
          <p:nvPr/>
        </p:nvPicPr>
        <p:blipFill>
          <a:blip r:embed="rId1"/>
          <a:stretch>
            <a:fillRect/>
          </a:stretch>
        </p:blipFill>
        <p:spPr>
          <a:xfrm>
            <a:off x="9810750" y="228600"/>
            <a:ext cx="1905000" cy="685800"/>
          </a:xfrm>
          <a:prstGeom prst="rect">
            <a:avLst/>
          </a:prstGeom>
        </p:spPr>
      </p:pic>
      <p:sp>
        <p:nvSpPr>
          <p:cNvPr id="4" name="Rectangle 4"/>
          <p:cNvSpPr/>
          <p:nvPr/>
        </p:nvSpPr>
        <p:spPr>
          <a:xfrm>
            <a:off x="171450" y="6572250"/>
            <a:ext cx="12020550" cy="285750"/>
          </a:xfrm>
          <a:prstGeom prst="rect">
            <a:avLst/>
          </a:prstGeom>
          <a:solidFill>
            <a:srgbClr val="181C62"/>
          </a:solidFill>
          <a:ln>
            <a:noFill/>
          </a:ln>
        </p:spPr>
        <p:txBody>
          <a:bodyPr wrap="square"/>
          <a:p/>
        </p:txBody>
      </p:sp>
      <p:sp>
        <p:nvSpPr>
          <p:cNvPr id="6" name="Rectangle 6"/>
          <p:cNvSpPr/>
          <p:nvPr/>
        </p:nvSpPr>
        <p:spPr>
          <a:xfrm>
            <a:off x="514350" y="1000125"/>
            <a:ext cx="1524000" cy="47625"/>
          </a:xfrm>
          <a:prstGeom prst="rect">
            <a:avLst/>
          </a:prstGeom>
          <a:solidFill>
            <a:srgbClr val="D71440"/>
          </a:solidFill>
          <a:ln>
            <a:noFill/>
          </a:ln>
        </p:spPr>
        <p:txBody>
          <a:bodyPr wrap="square"/>
          <a:p/>
        </p:txBody>
      </p:sp>
      <p:sp>
        <p:nvSpPr>
          <p:cNvPr id="7" name="Rectangle 7"/>
          <p:cNvSpPr/>
          <p:nvPr/>
        </p:nvSpPr>
        <p:spPr>
          <a:xfrm>
            <a:off x="514350" y="1304925"/>
            <a:ext cx="11106150" cy="704850"/>
          </a:xfrm>
          <a:prstGeom prst="roundRect">
            <a:avLst>
              <a:gd name="adj" fmla="val 13514"/>
            </a:avLst>
          </a:prstGeom>
          <a:solidFill>
            <a:srgbClr val="FCE9EE"/>
          </a:solidFill>
          <a:ln>
            <a:noFill/>
          </a:ln>
        </p:spPr>
        <p:txBody>
          <a:bodyPr wrap="square"/>
          <a:p/>
        </p:txBody>
      </p:sp>
      <p:sp>
        <p:nvSpPr>
          <p:cNvPr id="8" name="Rectangle 8"/>
          <p:cNvSpPr/>
          <p:nvPr/>
        </p:nvSpPr>
        <p:spPr>
          <a:xfrm>
            <a:off x="514350" y="2238375"/>
            <a:ext cx="7467600" cy="3838575"/>
          </a:xfrm>
          <a:prstGeom prst="roundRect">
            <a:avLst>
              <a:gd name="adj" fmla="val 2978"/>
            </a:avLst>
          </a:prstGeom>
          <a:solidFill>
            <a:srgbClr val="FFFFFF"/>
          </a:solidFill>
          <a:ln w="19050">
            <a:solidFill>
              <a:srgbClr val="C8C8C8"/>
            </a:solidFill>
          </a:ln>
        </p:spPr>
        <p:txBody>
          <a:bodyPr wrap="square"/>
          <a:p/>
        </p:txBody>
      </p:sp>
      <p:sp>
        <p:nvSpPr>
          <p:cNvPr id="9" name="Rectangle 9"/>
          <p:cNvSpPr/>
          <p:nvPr/>
        </p:nvSpPr>
        <p:spPr>
          <a:xfrm>
            <a:off x="8229600" y="2238375"/>
            <a:ext cx="3390900" cy="3838575"/>
          </a:xfrm>
          <a:prstGeom prst="roundRect">
            <a:avLst>
              <a:gd name="adj" fmla="val 3371"/>
            </a:avLst>
          </a:prstGeom>
          <a:solidFill>
            <a:srgbClr val="EEF1FA"/>
          </a:solidFill>
          <a:ln>
            <a:noFill/>
          </a:ln>
        </p:spPr>
        <p:txBody>
          <a:bodyPr wrap="square"/>
          <a:p/>
        </p:txBody>
      </p:sp>
      <p:sp>
        <p:nvSpPr>
          <p:cNvPr id="10" name="Rectangle 10"/>
          <p:cNvSpPr/>
          <p:nvPr/>
        </p:nvSpPr>
        <p:spPr>
          <a:xfrm>
            <a:off x="8229600" y="2238375"/>
            <a:ext cx="3390900" cy="457200"/>
          </a:xfrm>
          <a:prstGeom prst="rect">
            <a:avLst/>
          </a:prstGeom>
          <a:solidFill>
            <a:srgbClr val="181C62"/>
          </a:solidFill>
          <a:ln>
            <a:noFill/>
          </a:ln>
        </p:spPr>
        <p:txBody>
          <a:bodyPr wrap="square"/>
          <a:p/>
        </p:txBody>
      </p:sp>
      <p:sp>
        <p:nvSpPr>
          <p:cNvPr id="11" name="TextBox 11"/>
          <p:cNvSpPr txBox="1"/>
          <p:nvPr/>
        </p:nvSpPr>
        <p:spPr>
          <a:xfrm>
            <a:off x="738188" y="1407795"/>
            <a:ext cx="1078139" cy="176212"/>
          </a:xfrm>
          <a:prstGeom prst="rect">
            <a:avLst/>
          </a:prstGeom>
          <a:noFill/>
          <a:ln>
            <a:noFill/>
          </a:ln>
        </p:spPr>
        <p:txBody>
          <a:bodyPr wrap="square" lIns="0" tIns="0" rIns="0" bIns="0" anchor="t" anchorCtr="0">
            <a:spAutoFit/>
          </a:bodyPr>
          <a:lstStyle/>
          <a:p>
            <a:pPr algn="l"/>
            <a:r>
              <a:rPr lang="en-US" sz="900" b="1" dirty="0">
                <a:solidFill>
                  <a:srgbClr val="D71440"/>
                </a:solidFill>
                <a:latin typeface="Arial" panose="020B0604020202020204"/>
                <a:ea typeface="Arial" panose="020B0604020202020204"/>
                <a:cs typeface="Arial" panose="020B0604020202020204"/>
              </a:rPr>
              <a:t>ONE-LINE RESULT</a:t>
            </a:r>
            <a:endParaRPr lang="en-US" sz="900" b="1" dirty="0">
              <a:solidFill>
                <a:srgbClr val="D71440"/>
              </a:solidFill>
              <a:latin typeface="Arial" panose="020B0604020202020204"/>
              <a:ea typeface="Arial" panose="020B0604020202020204"/>
              <a:cs typeface="Arial" panose="020B0604020202020204"/>
            </a:endParaRPr>
          </a:p>
        </p:txBody>
      </p:sp>
      <p:sp>
        <p:nvSpPr>
          <p:cNvPr id="12" name="TextBox 12"/>
          <p:cNvSpPr txBox="1"/>
          <p:nvPr/>
        </p:nvSpPr>
        <p:spPr>
          <a:xfrm>
            <a:off x="757047" y="2466499"/>
            <a:ext cx="2827431" cy="190690"/>
          </a:xfrm>
          <a:prstGeom prst="rect">
            <a:avLst/>
          </a:prstGeom>
          <a:noFill/>
          <a:ln>
            <a:noFill/>
          </a:ln>
        </p:spPr>
        <p:txBody>
          <a:bodyPr wrap="square" lIns="0" tIns="0" rIns="0" bIns="0" anchor="t" anchorCtr="0">
            <a:spAutoFit/>
          </a:bodyPr>
          <a:lstStyle/>
          <a:p>
            <a:pPr algn="l"/>
            <a:r>
              <a:rPr lang="en-US" sz="980" b="1" dirty="0">
                <a:solidFill>
                  <a:srgbClr val="181C62"/>
                </a:solidFill>
                <a:latin typeface="Arial" panose="020B0604020202020204"/>
                <a:ea typeface="Arial" panose="020B0604020202020204"/>
                <a:cs typeface="Arial" panose="020B0604020202020204"/>
              </a:rPr>
              <a:t>EVIDENCE · BASELINE · CONTROL · METRIC</a:t>
            </a:r>
            <a:endParaRPr lang="en-US" sz="980" b="1" dirty="0">
              <a:solidFill>
                <a:srgbClr val="181C62"/>
              </a:solidFill>
              <a:latin typeface="Arial" panose="020B0604020202020204"/>
              <a:ea typeface="Arial" panose="020B0604020202020204"/>
              <a:cs typeface="Arial" panose="020B0604020202020204"/>
            </a:endParaRPr>
          </a:p>
        </p:txBody>
      </p:sp>
      <p:sp>
        <p:nvSpPr>
          <p:cNvPr id="13" name="TextBox 13"/>
          <p:cNvSpPr txBox="1"/>
          <p:nvPr/>
        </p:nvSpPr>
        <p:spPr>
          <a:xfrm>
            <a:off x="8472170" y="2348230"/>
            <a:ext cx="1325245" cy="256540"/>
          </a:xfrm>
          <a:prstGeom prst="rect">
            <a:avLst/>
          </a:prstGeom>
          <a:noFill/>
          <a:ln>
            <a:noFill/>
          </a:ln>
        </p:spPr>
        <p:txBody>
          <a:bodyPr wrap="square" lIns="0" tIns="0" rIns="0" bIns="0" anchor="t" anchorCtr="0">
            <a:noAutofit/>
          </a:bodyPr>
          <a:lstStyle/>
          <a:p>
            <a:pPr algn="l"/>
            <a:r>
              <a:rPr lang="en-US" sz="1400" b="1" dirty="0">
                <a:solidFill>
                  <a:srgbClr val="FFFFFF"/>
                </a:solidFill>
                <a:latin typeface="Arial" panose="020B0604020202020204"/>
                <a:ea typeface="Arial" panose="020B0604020202020204"/>
                <a:cs typeface="Arial" panose="020B0604020202020204"/>
              </a:rPr>
              <a:t>KEY FINDINGS</a:t>
            </a:r>
            <a:endParaRPr lang="en-US" sz="1400" b="1" dirty="0">
              <a:solidFill>
                <a:srgbClr val="FFFFFF"/>
              </a:solidFill>
              <a:latin typeface="Arial" panose="020B0604020202020204"/>
              <a:ea typeface="Arial" panose="020B0604020202020204"/>
              <a:cs typeface="Arial" panose="020B0604020202020204"/>
            </a:endParaRPr>
          </a:p>
        </p:txBody>
      </p:sp>
      <p:sp>
        <p:nvSpPr>
          <p:cNvPr id="14" name="TextBox 14"/>
          <p:cNvSpPr txBox="1"/>
          <p:nvPr/>
        </p:nvSpPr>
        <p:spPr>
          <a:xfrm>
            <a:off x="501650" y="539115"/>
            <a:ext cx="7686675" cy="396875"/>
          </a:xfrm>
          <a:prstGeom prst="rect">
            <a:avLst/>
          </a:prstGeom>
          <a:noFill/>
          <a:ln>
            <a:noFill/>
          </a:ln>
        </p:spPr>
        <p:txBody>
          <a:bodyPr wrap="square" lIns="0" tIns="0" rIns="0" bIns="0" anchor="t" anchorCtr="0">
            <a:noAutofit/>
          </a:bodyPr>
          <a:lstStyle/>
          <a:p>
            <a:pPr algn="l"/>
            <a:r>
              <a:rPr lang="en-US" altLang="zh-CN" sz="2550" b="1" dirty="0">
                <a:solidFill>
                  <a:srgbClr val="20243A"/>
                </a:solidFill>
                <a:latin typeface="Arial" panose="020B0604020202020204"/>
                <a:ea typeface="Arial" panose="020B0604020202020204"/>
                <a:cs typeface="Arial" panose="020B0604020202020204"/>
              </a:rPr>
              <a:t>What the Raw File Still Holds</a:t>
            </a:r>
            <a:endParaRPr lang="en-US" altLang="zh-CN" sz="2550" b="1" dirty="0">
              <a:solidFill>
                <a:srgbClr val="20243A"/>
              </a:solidFill>
              <a:latin typeface="Arial" panose="020B0604020202020204"/>
              <a:ea typeface="Arial" panose="020B0604020202020204"/>
              <a:cs typeface="Arial" panose="020B0604020202020204"/>
            </a:endParaRPr>
          </a:p>
        </p:txBody>
      </p:sp>
      <p:sp>
        <p:nvSpPr>
          <p:cNvPr id="15" name="TextBox 15"/>
          <p:cNvSpPr txBox="1"/>
          <p:nvPr/>
        </p:nvSpPr>
        <p:spPr>
          <a:xfrm>
            <a:off x="734695" y="1659255"/>
            <a:ext cx="3136900" cy="215265"/>
          </a:xfrm>
          <a:prstGeom prst="rect">
            <a:avLst/>
          </a:prstGeom>
          <a:noFill/>
          <a:ln>
            <a:noFill/>
          </a:ln>
        </p:spPr>
        <p:txBody>
          <a:bodyPr wrap="square" lIns="0" tIns="0" rIns="0" bIns="0" anchor="t" anchorCtr="0">
            <a:spAutoFit/>
          </a:bodyPr>
          <a:lstStyle/>
          <a:p>
            <a:pPr algn="l"/>
            <a:r>
              <a:rPr lang="en-US" sz="1400" b="1" dirty="0">
                <a:solidFill>
                  <a:srgbClr val="D71440"/>
                </a:solidFill>
                <a:latin typeface="Arial" panose="020B0604020202020204"/>
                <a:ea typeface="Arial" panose="020B0604020202020204"/>
                <a:cs typeface="Arial" panose="020B0604020202020204"/>
              </a:rPr>
              <a:t>Raw file vs. preprocessed output</a:t>
            </a:r>
            <a:endParaRPr lang="en-US" sz="1400" b="1" dirty="0">
              <a:solidFill>
                <a:srgbClr val="D71440"/>
              </a:solidFill>
              <a:latin typeface="Arial" panose="020B0604020202020204"/>
              <a:ea typeface="Arial" panose="020B0604020202020204"/>
              <a:cs typeface="Arial" panose="020B0604020202020204"/>
            </a:endParaRPr>
          </a:p>
        </p:txBody>
      </p:sp>
      <p:sp>
        <p:nvSpPr>
          <p:cNvPr id="16" name="TextBox 16"/>
          <p:cNvSpPr txBox="1"/>
          <p:nvPr/>
        </p:nvSpPr>
        <p:spPr>
          <a:xfrm>
            <a:off x="754761" y="2894171"/>
            <a:ext cx="4555046" cy="783526"/>
          </a:xfrm>
          <a:prstGeom prst="rect">
            <a:avLst/>
          </a:prstGeom>
          <a:noFill/>
          <a:ln>
            <a:noFill/>
          </a:ln>
        </p:spPr>
        <p:txBody>
          <a:bodyPr wrap="square" lIns="0" tIns="0" rIns="0" bIns="0" anchor="t" anchorCtr="0">
            <a:spAutoFit/>
          </a:bodyPr>
          <a:lstStyle/>
          <a:p>
            <a:pPr algn="l">
              <a:lnSpc>
                <a:spcPts val="1725"/>
              </a:lnSpc>
            </a:pPr>
            <a:r>
              <a:rPr lang="en-US" sz="1420" dirty="0">
                <a:solidFill>
                  <a:srgbClr val="5E6478"/>
                </a:solidFill>
                <a:latin typeface="Arial" panose="020B0604020202020204"/>
                <a:ea typeface="Arial" panose="020B0604020202020204"/>
                <a:cs typeface="Arial" panose="020B0604020202020204"/>
              </a:rPr>
              <a:t>The .skeleton file carries more than coordinates</a:t>
            </a:r>
            <a:endParaRPr lang="en-US" sz="1420" dirty="0">
              <a:solidFill>
                <a:srgbClr val="5E6478"/>
              </a:solidFill>
              <a:latin typeface="Arial" panose="020B0604020202020204"/>
              <a:ea typeface="Arial" panose="020B0604020202020204"/>
              <a:cs typeface="Arial" panose="020B0604020202020204"/>
            </a:endParaRPr>
          </a:p>
          <a:p>
            <a:pPr algn="l">
              <a:lnSpc>
                <a:spcPts val="1725"/>
              </a:lnSpc>
              <a:spcBef>
                <a:spcPts val="525"/>
              </a:spcBef>
            </a:pPr>
            <a:r>
              <a:rPr lang="en-US" sz="1050" dirty="0">
                <a:solidFill>
                  <a:srgbClr val="5E6478"/>
                </a:solidFill>
                <a:latin typeface="Arial" panose="020B0604020202020204"/>
                <a:ea typeface="Arial" panose="020B0604020202020204"/>
                <a:cs typeface="Arial" panose="020B0604020202020204"/>
              </a:rPr>
              <a:t>Per body: bodyID, trackingState, lean, hand state
Per joint: 3D / 2D positions, orientation, reliability</a:t>
            </a:r>
            <a:br>
              <a:rPr lang="en-US" sz="1050" dirty="0">
                <a:solidFill>
                  <a:srgbClr val="5E6478"/>
                </a:solidFill>
                <a:latin typeface="Arial" panose="020B0604020202020204"/>
                <a:ea typeface="Arial" panose="020B0604020202020204"/>
                <a:cs typeface="Arial" panose="020B0604020202020204"/>
              </a:rPr>
            </a:br>
            <a:endParaRPr lang="en-US" sz="1050" dirty="0">
              <a:solidFill>
                <a:srgbClr val="5E6478"/>
              </a:solidFill>
              <a:latin typeface="Arial" panose="020B0604020202020204"/>
              <a:ea typeface="Arial" panose="020B0604020202020204"/>
              <a:cs typeface="Arial" panose="020B0604020202020204"/>
            </a:endParaRPr>
          </a:p>
        </p:txBody>
      </p:sp>
      <p:sp>
        <p:nvSpPr>
          <p:cNvPr id="17" name="TextBox 17"/>
          <p:cNvSpPr txBox="1"/>
          <p:nvPr/>
        </p:nvSpPr>
        <p:spPr>
          <a:xfrm>
            <a:off x="8469630" y="3076575"/>
            <a:ext cx="2376424" cy="1112520"/>
          </a:xfrm>
          <a:prstGeom prst="rect">
            <a:avLst/>
          </a:prstGeom>
          <a:noFill/>
          <a:ln>
            <a:noFill/>
          </a:ln>
        </p:spPr>
        <p:txBody>
          <a:bodyPr wrap="square" lIns="0" tIns="0" rIns="0" bIns="0" anchor="t" anchorCtr="0">
            <a:spAutoFit/>
          </a:bodyPr>
          <a:lstStyle/>
          <a:p>
            <a:pPr algn="l">
              <a:lnSpc>
                <a:spcPct val="100000"/>
              </a:lnSpc>
              <a:spcAft>
                <a:spcPts val="0"/>
              </a:spcAft>
            </a:pPr>
            <a:r>
              <a:rPr lang="en-US" sz="1400" dirty="0">
                <a:solidFill>
                  <a:srgbClr val="20243A"/>
                </a:solidFill>
                <a:latin typeface="Arial" panose="020B0604020202020204"/>
                <a:ea typeface="Arial" panose="020B0604020202020204"/>
                <a:cs typeface="Arial" panose="020B0604020202020204"/>
              </a:rPr>
              <a:t>Three issues</a:t>
            </a:r>
            <a:endParaRPr lang="en-US" sz="1500" dirty="0">
              <a:solidFill>
                <a:srgbClr val="20243A"/>
              </a:solidFill>
              <a:latin typeface="Arial" panose="020B0604020202020204"/>
              <a:ea typeface="Arial" panose="020B0604020202020204"/>
              <a:cs typeface="Arial" panose="020B0604020202020204"/>
            </a:endParaRPr>
          </a:p>
          <a:p>
            <a:pPr algn="l">
              <a:lnSpc>
                <a:spcPct val="100000"/>
              </a:lnSpc>
              <a:spcBef>
                <a:spcPts val="600"/>
              </a:spcBef>
              <a:spcAft>
                <a:spcPts val="0"/>
              </a:spcAft>
            </a:pPr>
            <a:r>
              <a:rPr lang="en-US" sz="1400" dirty="0">
                <a:solidFill>
                  <a:srgbClr val="5E6478"/>
                </a:solidFill>
                <a:latin typeface="Arial" panose="020B0604020202020204"/>
                <a:ea typeface="Arial" panose="020B0604020202020204"/>
                <a:cs typeface="Arial" panose="020B0604020202020204"/>
              </a:rPr>
              <a:t>• bodyID merging
• A106–A120 missed
• subset inconsistency</a:t>
            </a: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br>
              <a:rPr lang="en-US" sz="1120" dirty="0">
                <a:solidFill>
                  <a:srgbClr val="5E6478"/>
                </a:solidFill>
                <a:latin typeface="Arial" panose="020B0604020202020204"/>
                <a:ea typeface="Arial" panose="020B0604020202020204"/>
                <a:cs typeface="Arial" panose="020B0604020202020204"/>
              </a:rPr>
            </a:br>
            <a:endParaRPr lang="en-US" sz="1120" dirty="0">
              <a:solidFill>
                <a:srgbClr val="5E6478"/>
              </a:solidFill>
              <a:latin typeface="Arial" panose="020B0604020202020204"/>
              <a:ea typeface="Arial" panose="020B0604020202020204"/>
              <a:cs typeface="Arial" panose="020B0604020202020204"/>
            </a:endParaRPr>
          </a:p>
        </p:txBody>
      </p:sp>
      <p:sp>
        <p:nvSpPr>
          <p:cNvPr id="19" name="TextBox 19"/>
          <p:cNvSpPr txBox="1"/>
          <p:nvPr/>
        </p:nvSpPr>
        <p:spPr>
          <a:xfrm>
            <a:off x="11085233" y="6665595"/>
            <a:ext cx="880034" cy="176212"/>
          </a:xfrm>
          <a:prstGeom prst="rect">
            <a:avLst/>
          </a:prstGeom>
          <a:noFill/>
          <a:ln>
            <a:noFill/>
          </a:ln>
        </p:spPr>
        <p:txBody>
          <a:bodyPr wrap="square" lIns="0" tIns="0" rIns="0" bIns="0" anchor="t" anchorCtr="0">
            <a:spAutoFit/>
          </a:bodyPr>
          <a:lstStyle/>
          <a:p>
            <a:pPr algn="ctr"/>
            <a:r>
              <a:rPr lang="en-US" sz="900" dirty="0">
                <a:solidFill>
                  <a:srgbClr val="FFFFFF"/>
                </a:solidFill>
                <a:latin typeface="Arial" panose="020B0604020202020204"/>
                <a:ea typeface="Arial" panose="020B0604020202020204"/>
                <a:cs typeface="Arial" panose="020B0604020202020204"/>
              </a:rPr>
              <a:t>6</a:t>
            </a:r>
            <a:endParaRPr lang="en-US" sz="900" dirty="0">
              <a:solidFill>
                <a:srgbClr val="FFFFFF"/>
              </a:solidFill>
              <a:latin typeface="Arial" panose="020B0604020202020204"/>
              <a:ea typeface="Arial" panose="020B0604020202020204"/>
              <a:cs typeface="Arial" panose="020B0604020202020204"/>
            </a:endParaRPr>
          </a:p>
        </p:txBody>
      </p:sp>
      <p:pic>
        <p:nvPicPr>
          <p:cNvPr id="901" name="WhatSurvivesFigure"/>
          <p:cNvPicPr>
            <a:picLocks noChangeAspect="1"/>
          </p:cNvPicPr>
          <p:nvPr/>
        </p:nvPicPr>
        <p:blipFill>
          <a:blip r:embed="rId2"/>
          <a:stretch>
            <a:fillRect/>
          </a:stretch>
        </p:blipFill>
        <p:spPr>
          <a:xfrm>
            <a:off x="774000" y="3816000"/>
            <a:ext cx="6660000" cy="2159641"/>
          </a:xfrm>
          <a:prstGeom prst="rect">
            <a:avLst/>
          </a:prstGeom>
        </p:spPr>
      </p:pic>
      <p:sp>
        <p:nvSpPr>
          <p:cNvPr id="20" name="TextBox 5"/>
          <p:cNvSpPr txBox="1"/>
          <p:nvPr/>
        </p:nvSpPr>
        <p:spPr>
          <a:xfrm>
            <a:off x="471170" y="6666230"/>
            <a:ext cx="3678555" cy="191135"/>
          </a:xfrm>
          <a:prstGeom prst="rect">
            <a:avLst/>
          </a:prstGeom>
          <a:noFill/>
          <a:ln>
            <a:noFill/>
          </a:ln>
        </p:spPr>
        <p:txBody>
          <a:bodyPr wrap="square" lIns="0" tIns="0" rIns="0" bIns="0" anchor="t" anchorCtr="0">
            <a:noAutofit/>
          </a:bodyPr>
          <a:lstStyle/>
          <a:p>
            <a:pPr algn="l"/>
            <a:r>
              <a:rPr lang="en-US" sz="1080" dirty="0">
                <a:solidFill>
                  <a:srgbClr val="FFFFFF"/>
                </a:solidFill>
                <a:latin typeface="Arial" panose="020B0604020202020204"/>
                <a:ea typeface="Arial" panose="020B0604020202020204"/>
                <a:cs typeface="Arial" panose="020B0604020202020204"/>
              </a:rPr>
              <a:t>EE6008 · </a:t>
            </a:r>
            <a:r>
              <a:rPr sz="1080" b="1">
                <a:solidFill>
                  <a:schemeClr val="bg1"/>
                </a:solidFill>
                <a:latin typeface="Arial" panose="020B0604020202020204"/>
                <a:sym typeface="+mn-ea"/>
              </a:rPr>
              <a:t>Instance-Preserving Pose Representation</a:t>
            </a:r>
            <a:endParaRPr lang="en-US" sz="1080" b="1" dirty="0">
              <a:solidFill>
                <a:schemeClr val="bg1"/>
              </a:solidFill>
              <a:latin typeface="Arial" panose="020B0604020202020204"/>
              <a:ea typeface="Arial" panose="020B0604020202020204"/>
              <a:cs typeface="Arial" panose="020B0604020202020204"/>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D71440"/>
          </a:solidFill>
          <a:ln>
            <a:noFill/>
          </a:ln>
        </p:spPr>
        <p:txBody>
          <a:bodyPr wrap="square"/>
          <a:p/>
        </p:txBody>
      </p:sp>
      <p:pic>
        <p:nvPicPr>
          <p:cNvPr id="3" name="Image 3"/>
          <p:cNvPicPr>
            <a:picLocks noChangeAspect="1"/>
          </p:cNvPicPr>
          <p:nvPr/>
        </p:nvPicPr>
        <p:blipFill>
          <a:blip r:embed="rId1"/>
          <a:stretch>
            <a:fillRect/>
          </a:stretch>
        </p:blipFill>
        <p:spPr>
          <a:xfrm>
            <a:off x="9810750" y="228600"/>
            <a:ext cx="1905000" cy="685800"/>
          </a:xfrm>
          <a:prstGeom prst="rect">
            <a:avLst/>
          </a:prstGeom>
        </p:spPr>
      </p:pic>
      <p:sp>
        <p:nvSpPr>
          <p:cNvPr id="4" name="Rectangle 4"/>
          <p:cNvSpPr/>
          <p:nvPr/>
        </p:nvSpPr>
        <p:spPr>
          <a:xfrm>
            <a:off x="171450" y="6572250"/>
            <a:ext cx="12020550" cy="285750"/>
          </a:xfrm>
          <a:prstGeom prst="rect">
            <a:avLst/>
          </a:prstGeom>
          <a:solidFill>
            <a:srgbClr val="181C62"/>
          </a:solidFill>
          <a:ln>
            <a:noFill/>
          </a:ln>
        </p:spPr>
        <p:txBody>
          <a:bodyPr wrap="square"/>
          <a:p/>
        </p:txBody>
      </p:sp>
      <p:sp>
        <p:nvSpPr>
          <p:cNvPr id="6" name="Rectangle 6"/>
          <p:cNvSpPr/>
          <p:nvPr/>
        </p:nvSpPr>
        <p:spPr>
          <a:xfrm>
            <a:off x="514350" y="1000125"/>
            <a:ext cx="1524000" cy="47625"/>
          </a:xfrm>
          <a:prstGeom prst="rect">
            <a:avLst/>
          </a:prstGeom>
          <a:solidFill>
            <a:srgbClr val="D71440"/>
          </a:solidFill>
          <a:ln>
            <a:noFill/>
          </a:ln>
        </p:spPr>
        <p:txBody>
          <a:bodyPr wrap="square"/>
          <a:p/>
        </p:txBody>
      </p:sp>
      <p:sp>
        <p:nvSpPr>
          <p:cNvPr id="7" name="Rectangle 7"/>
          <p:cNvSpPr/>
          <p:nvPr/>
        </p:nvSpPr>
        <p:spPr>
          <a:xfrm>
            <a:off x="514350" y="1428750"/>
            <a:ext cx="5286375" cy="2057400"/>
          </a:xfrm>
          <a:prstGeom prst="roundRect">
            <a:avLst>
              <a:gd name="adj" fmla="val 5556"/>
            </a:avLst>
          </a:prstGeom>
          <a:solidFill>
            <a:srgbClr val="FCE9EE"/>
          </a:solidFill>
          <a:ln>
            <a:noFill/>
          </a:ln>
        </p:spPr>
        <p:txBody>
          <a:bodyPr wrap="square"/>
          <a:p/>
        </p:txBody>
      </p:sp>
      <p:sp>
        <p:nvSpPr>
          <p:cNvPr id="8" name="Rectangle 8"/>
          <p:cNvSpPr/>
          <p:nvPr/>
        </p:nvSpPr>
        <p:spPr>
          <a:xfrm>
            <a:off x="6048375" y="1428750"/>
            <a:ext cx="5572125" cy="2057400"/>
          </a:xfrm>
          <a:prstGeom prst="roundRect">
            <a:avLst>
              <a:gd name="adj" fmla="val 5556"/>
            </a:avLst>
          </a:prstGeom>
          <a:solidFill>
            <a:srgbClr val="FFFFFF"/>
          </a:solidFill>
          <a:ln w="19050">
            <a:solidFill>
              <a:srgbClr val="D71440"/>
            </a:solidFill>
          </a:ln>
        </p:spPr>
        <p:txBody>
          <a:bodyPr wrap="square"/>
          <a:p/>
        </p:txBody>
      </p:sp>
      <p:sp>
        <p:nvSpPr>
          <p:cNvPr id="9" name="Rectangle 9"/>
          <p:cNvSpPr/>
          <p:nvPr/>
        </p:nvSpPr>
        <p:spPr>
          <a:xfrm>
            <a:off x="514350" y="3714750"/>
            <a:ext cx="5286375" cy="2362200"/>
          </a:xfrm>
          <a:prstGeom prst="roundRect">
            <a:avLst>
              <a:gd name="adj" fmla="val 4839"/>
            </a:avLst>
          </a:prstGeom>
          <a:solidFill>
            <a:srgbClr val="EEF1FA"/>
          </a:solidFill>
          <a:ln>
            <a:noFill/>
          </a:ln>
        </p:spPr>
        <p:txBody>
          <a:bodyPr wrap="square"/>
          <a:p/>
        </p:txBody>
      </p:sp>
      <p:sp>
        <p:nvSpPr>
          <p:cNvPr id="10" name="Rectangle 10"/>
          <p:cNvSpPr/>
          <p:nvPr/>
        </p:nvSpPr>
        <p:spPr>
          <a:xfrm>
            <a:off x="6048375" y="3714750"/>
            <a:ext cx="5572125" cy="2362200"/>
          </a:xfrm>
          <a:prstGeom prst="roundRect">
            <a:avLst>
              <a:gd name="adj" fmla="val 4839"/>
            </a:avLst>
          </a:prstGeom>
          <a:solidFill>
            <a:srgbClr val="181C62"/>
          </a:solidFill>
          <a:ln>
            <a:noFill/>
          </a:ln>
        </p:spPr>
        <p:txBody>
          <a:bodyPr wrap="square"/>
          <a:p/>
        </p:txBody>
      </p:sp>
      <p:sp>
        <p:nvSpPr>
          <p:cNvPr id="11" name="Rectangle 11"/>
          <p:cNvSpPr/>
          <p:nvPr/>
        </p:nvSpPr>
        <p:spPr>
          <a:xfrm>
            <a:off x="514350" y="1428750"/>
            <a:ext cx="95250" cy="2057400"/>
          </a:xfrm>
          <a:prstGeom prst="rect">
            <a:avLst/>
          </a:prstGeom>
          <a:solidFill>
            <a:srgbClr val="D71440"/>
          </a:solidFill>
          <a:ln>
            <a:noFill/>
          </a:ln>
        </p:spPr>
        <p:txBody>
          <a:bodyPr wrap="square"/>
          <a:p/>
        </p:txBody>
      </p:sp>
      <p:sp>
        <p:nvSpPr>
          <p:cNvPr id="12" name="Rectangle 12"/>
          <p:cNvSpPr/>
          <p:nvPr/>
        </p:nvSpPr>
        <p:spPr>
          <a:xfrm>
            <a:off x="6048375" y="3714750"/>
            <a:ext cx="95250" cy="2362200"/>
          </a:xfrm>
          <a:prstGeom prst="rect">
            <a:avLst/>
          </a:prstGeom>
          <a:solidFill>
            <a:srgbClr val="D71440"/>
          </a:solidFill>
          <a:ln>
            <a:noFill/>
          </a:ln>
        </p:spPr>
        <p:txBody>
          <a:bodyPr wrap="square"/>
          <a:p/>
        </p:txBody>
      </p:sp>
      <p:sp>
        <p:nvSpPr>
          <p:cNvPr id="13" name="TextBox 13"/>
          <p:cNvSpPr txBox="1"/>
          <p:nvPr/>
        </p:nvSpPr>
        <p:spPr>
          <a:xfrm>
            <a:off x="794766" y="1639252"/>
            <a:ext cx="2374900" cy="276860"/>
          </a:xfrm>
          <a:prstGeom prst="rect">
            <a:avLst/>
          </a:prstGeom>
          <a:noFill/>
          <a:ln>
            <a:noFill/>
          </a:ln>
        </p:spPr>
        <p:txBody>
          <a:bodyPr wrap="square" lIns="0" tIns="0" rIns="0" bIns="0" anchor="t" anchorCtr="0">
            <a:spAutoFit/>
          </a:bodyPr>
          <a:lstStyle/>
          <a:p>
            <a:pPr algn="l"/>
            <a:r>
              <a:rPr lang="en-US" b="1" dirty="0">
                <a:solidFill>
                  <a:srgbClr val="D71440"/>
                </a:solidFill>
                <a:latin typeface="Arial" panose="020B0604020202020204"/>
                <a:ea typeface="Arial" panose="020B0604020202020204"/>
                <a:cs typeface="Arial" panose="020B0604020202020204"/>
              </a:rPr>
              <a:t>CTR-GCN · ICCV 2021</a:t>
            </a:r>
            <a:endParaRPr lang="en-US" b="1" dirty="0">
              <a:solidFill>
                <a:srgbClr val="D71440"/>
              </a:solidFill>
              <a:latin typeface="Arial" panose="020B0604020202020204"/>
              <a:ea typeface="Arial" panose="020B0604020202020204"/>
              <a:cs typeface="Arial" panose="020B0604020202020204"/>
            </a:endParaRPr>
          </a:p>
        </p:txBody>
      </p:sp>
      <p:sp>
        <p:nvSpPr>
          <p:cNvPr id="14" name="TextBox 14"/>
          <p:cNvSpPr txBox="1"/>
          <p:nvPr/>
        </p:nvSpPr>
        <p:spPr>
          <a:xfrm>
            <a:off x="6328791" y="1639252"/>
            <a:ext cx="3272155" cy="276860"/>
          </a:xfrm>
          <a:prstGeom prst="rect">
            <a:avLst/>
          </a:prstGeom>
          <a:noFill/>
          <a:ln>
            <a:noFill/>
          </a:ln>
        </p:spPr>
        <p:txBody>
          <a:bodyPr wrap="square" lIns="0" tIns="0" rIns="0" bIns="0" anchor="t" anchorCtr="0">
            <a:spAutoFit/>
          </a:bodyPr>
          <a:lstStyle/>
          <a:p>
            <a:pPr algn="l"/>
            <a:r>
              <a:rPr lang="en-US" b="1" dirty="0">
                <a:solidFill>
                  <a:srgbClr val="D71440"/>
                </a:solidFill>
                <a:latin typeface="Arial" panose="020B0604020202020204"/>
                <a:ea typeface="Arial" panose="020B0604020202020204"/>
                <a:cs typeface="Arial" panose="020B0604020202020204"/>
              </a:rPr>
              <a:t>SKELETONX · IEEE TMM 2025</a:t>
            </a:r>
            <a:endParaRPr lang="en-US" b="1" dirty="0">
              <a:solidFill>
                <a:srgbClr val="D71440"/>
              </a:solidFill>
              <a:latin typeface="Arial" panose="020B0604020202020204"/>
              <a:ea typeface="Arial" panose="020B0604020202020204"/>
              <a:cs typeface="Arial" panose="020B0604020202020204"/>
            </a:endParaRPr>
          </a:p>
        </p:txBody>
      </p:sp>
      <p:sp>
        <p:nvSpPr>
          <p:cNvPr id="15" name="TextBox 15"/>
          <p:cNvSpPr txBox="1"/>
          <p:nvPr/>
        </p:nvSpPr>
        <p:spPr>
          <a:xfrm>
            <a:off x="794766" y="3925252"/>
            <a:ext cx="3771265" cy="276860"/>
          </a:xfrm>
          <a:prstGeom prst="rect">
            <a:avLst/>
          </a:prstGeom>
          <a:noFill/>
          <a:ln>
            <a:noFill/>
          </a:ln>
        </p:spPr>
        <p:txBody>
          <a:bodyPr wrap="square" lIns="0" tIns="0" rIns="0" bIns="0" anchor="t" anchorCtr="0">
            <a:spAutoFit/>
          </a:bodyPr>
          <a:lstStyle/>
          <a:p>
            <a:pPr algn="l"/>
            <a:r>
              <a:rPr lang="en-US" b="1" dirty="0">
                <a:solidFill>
                  <a:srgbClr val="181C62"/>
                </a:solidFill>
                <a:latin typeface="Arial" panose="020B0604020202020204"/>
                <a:ea typeface="Arial" panose="020B0604020202020204"/>
                <a:cs typeface="Arial" panose="020B0604020202020204"/>
              </a:rPr>
              <a:t>RELATIONSHIP TO OUR PROJEC</a:t>
            </a:r>
            <a:r>
              <a:rPr lang="en-US" sz="1800" b="1" dirty="0">
                <a:solidFill>
                  <a:srgbClr val="181C62"/>
                </a:solidFill>
                <a:latin typeface="Arial" panose="020B0604020202020204"/>
                <a:ea typeface="Arial" panose="020B0604020202020204"/>
                <a:cs typeface="Arial" panose="020B0604020202020204"/>
              </a:rPr>
              <a:t>T</a:t>
            </a:r>
            <a:endParaRPr lang="en-US" sz="1800" b="1" dirty="0">
              <a:solidFill>
                <a:srgbClr val="181C62"/>
              </a:solidFill>
              <a:latin typeface="Arial" panose="020B0604020202020204"/>
              <a:ea typeface="Arial" panose="020B0604020202020204"/>
              <a:cs typeface="Arial" panose="020B0604020202020204"/>
            </a:endParaRPr>
          </a:p>
        </p:txBody>
      </p:sp>
      <p:sp>
        <p:nvSpPr>
          <p:cNvPr id="16" name="TextBox 16"/>
          <p:cNvSpPr txBox="1"/>
          <p:nvPr/>
        </p:nvSpPr>
        <p:spPr>
          <a:xfrm>
            <a:off x="6328791" y="3925252"/>
            <a:ext cx="3437255" cy="276860"/>
          </a:xfrm>
          <a:prstGeom prst="rect">
            <a:avLst/>
          </a:prstGeom>
          <a:noFill/>
          <a:ln>
            <a:noFill/>
          </a:ln>
        </p:spPr>
        <p:txBody>
          <a:bodyPr wrap="square" lIns="0" tIns="0" rIns="0" bIns="0" anchor="t" anchorCtr="0">
            <a:spAutoFit/>
          </a:bodyPr>
          <a:lstStyle/>
          <a:p>
            <a:pPr algn="l"/>
            <a:r>
              <a:rPr lang="en-US" b="1" dirty="0">
                <a:solidFill>
                  <a:srgbClr val="FFFFFF"/>
                </a:solidFill>
                <a:latin typeface="Arial" panose="020B0604020202020204"/>
                <a:ea typeface="Arial" panose="020B0604020202020204"/>
                <a:cs typeface="Arial" panose="020B0604020202020204"/>
              </a:rPr>
              <a:t>BASELINE RECOMMENDATION</a:t>
            </a:r>
            <a:endParaRPr lang="en-US" b="1" dirty="0">
              <a:solidFill>
                <a:srgbClr val="FFFFFF"/>
              </a:solidFill>
              <a:latin typeface="Arial" panose="020B0604020202020204"/>
              <a:ea typeface="Arial" panose="020B0604020202020204"/>
              <a:cs typeface="Arial" panose="020B0604020202020204"/>
            </a:endParaRPr>
          </a:p>
        </p:txBody>
      </p:sp>
      <p:sp>
        <p:nvSpPr>
          <p:cNvPr id="17" name="TextBox 17"/>
          <p:cNvSpPr txBox="1"/>
          <p:nvPr/>
        </p:nvSpPr>
        <p:spPr>
          <a:xfrm>
            <a:off x="501396" y="543878"/>
            <a:ext cx="6664325" cy="391795"/>
          </a:xfrm>
          <a:prstGeom prst="rect">
            <a:avLst/>
          </a:prstGeom>
          <a:noFill/>
          <a:ln>
            <a:noFill/>
          </a:ln>
        </p:spPr>
        <p:txBody>
          <a:bodyPr wrap="square" lIns="0" tIns="0" rIns="0" bIns="0" anchor="t" anchorCtr="0">
            <a:spAutoFit/>
          </a:bodyPr>
          <a:lstStyle/>
          <a:p>
            <a:pPr algn="l"/>
            <a:r>
              <a:rPr lang="en-US" sz="2550" b="1" dirty="0">
                <a:solidFill>
                  <a:srgbClr val="20243A"/>
                </a:solidFill>
                <a:latin typeface="Arial" panose="020B0604020202020204"/>
                <a:ea typeface="Arial" panose="020B0604020202020204"/>
                <a:cs typeface="Arial" panose="020B0604020202020204"/>
              </a:rPr>
              <a:t>Paper Review &amp; Baseline Recommendation</a:t>
            </a:r>
            <a:endParaRPr lang="en-US" sz="2550" b="1" dirty="0">
              <a:solidFill>
                <a:srgbClr val="20243A"/>
              </a:solidFill>
              <a:latin typeface="Arial" panose="020B0604020202020204"/>
              <a:ea typeface="Arial" panose="020B0604020202020204"/>
              <a:cs typeface="Arial" panose="020B0604020202020204"/>
            </a:endParaRPr>
          </a:p>
        </p:txBody>
      </p:sp>
      <p:sp>
        <p:nvSpPr>
          <p:cNvPr id="18" name="TextBox 18"/>
          <p:cNvSpPr txBox="1"/>
          <p:nvPr/>
        </p:nvSpPr>
        <p:spPr>
          <a:xfrm>
            <a:off x="791845" y="2077720"/>
            <a:ext cx="4071620" cy="1192530"/>
          </a:xfrm>
          <a:prstGeom prst="rect">
            <a:avLst/>
          </a:prstGeom>
          <a:noFill/>
          <a:ln>
            <a:noFill/>
          </a:ln>
        </p:spPr>
        <p:txBody>
          <a:bodyPr wrap="square" lIns="0" tIns="0" rIns="0" bIns="0" anchor="t" anchorCtr="0">
            <a:spAutoFit/>
          </a:bodyPr>
          <a:lstStyle/>
          <a:p>
            <a:pPr algn="l">
              <a:lnSpc>
                <a:spcPts val="2325"/>
              </a:lnSpc>
            </a:pPr>
            <a:r>
              <a:rPr lang="en-US" sz="1600" b="1" dirty="0">
                <a:solidFill>
                  <a:srgbClr val="FF0000"/>
                </a:solidFill>
                <a:latin typeface="Arial" panose="020B0604020202020204"/>
                <a:ea typeface="Arial" panose="020B0604020202020204"/>
                <a:cs typeface="Arial" panose="020B0604020202020204"/>
              </a:rPr>
              <a:t>Strong GCN Backbone</a:t>
            </a:r>
            <a:endParaRPr lang="en-US" sz="105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Dynamic joint topology</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Person slots encoded separately</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Final mean pooling removes the distinction</a:t>
            </a:r>
            <a:endParaRPr lang="en-US" sz="1600" dirty="0">
              <a:solidFill>
                <a:srgbClr val="5E6478"/>
              </a:solidFill>
              <a:latin typeface="Arial" panose="020B0604020202020204"/>
              <a:ea typeface="Arial" panose="020B0604020202020204"/>
              <a:cs typeface="Arial" panose="020B0604020202020204"/>
            </a:endParaRPr>
          </a:p>
        </p:txBody>
      </p:sp>
      <p:sp>
        <p:nvSpPr>
          <p:cNvPr id="19" name="TextBox 19"/>
          <p:cNvSpPr txBox="1"/>
          <p:nvPr/>
        </p:nvSpPr>
        <p:spPr>
          <a:xfrm>
            <a:off x="6325870" y="2077720"/>
            <a:ext cx="3451860" cy="1192530"/>
          </a:xfrm>
          <a:prstGeom prst="rect">
            <a:avLst/>
          </a:prstGeom>
          <a:noFill/>
          <a:ln>
            <a:noFill/>
          </a:ln>
        </p:spPr>
        <p:txBody>
          <a:bodyPr wrap="square" lIns="0" tIns="0" rIns="0" bIns="0" anchor="t" anchorCtr="0">
            <a:spAutoFit/>
          </a:bodyPr>
          <a:lstStyle/>
          <a:p>
            <a:pPr algn="l">
              <a:lnSpc>
                <a:spcPts val="2325"/>
              </a:lnSpc>
            </a:pPr>
            <a:r>
              <a:rPr lang="en-US" sz="1600" b="1" dirty="0">
                <a:solidFill>
                  <a:srgbClr val="FF0000"/>
                </a:solidFill>
                <a:latin typeface="Arial" panose="020B0604020202020204"/>
                <a:ea typeface="Arial" panose="020B0604020202020204"/>
                <a:cs typeface="Arial" panose="020B0604020202020204"/>
              </a:rPr>
              <a:t>Data-Efficient Framework</a:t>
            </a:r>
            <a:endParaRPr lang="en-US" sz="1600" b="1" dirty="0">
              <a:solidFill>
                <a:srgbClr val="FF0000"/>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Uses a GCN backbone</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Cross-sample feature aggregation</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Performer ID ≠ within-clip identity</a:t>
            </a:r>
            <a:r>
              <a:rPr lang="en-US" sz="1050" dirty="0">
                <a:solidFill>
                  <a:srgbClr val="5E6478"/>
                </a:solidFill>
                <a:latin typeface="Arial" panose="020B0604020202020204"/>
                <a:ea typeface="Arial" panose="020B0604020202020204"/>
                <a:cs typeface="Arial" panose="020B0604020202020204"/>
              </a:rPr>
              <a:t>.</a:t>
            </a:r>
            <a:endParaRPr lang="en-US" sz="1050" dirty="0">
              <a:solidFill>
                <a:srgbClr val="5E6478"/>
              </a:solidFill>
              <a:latin typeface="Arial" panose="020B0604020202020204"/>
              <a:ea typeface="Arial" panose="020B0604020202020204"/>
              <a:cs typeface="Arial" panose="020B0604020202020204"/>
            </a:endParaRPr>
          </a:p>
        </p:txBody>
      </p:sp>
      <p:sp>
        <p:nvSpPr>
          <p:cNvPr id="20" name="TextBox 20"/>
          <p:cNvSpPr txBox="1"/>
          <p:nvPr/>
        </p:nvSpPr>
        <p:spPr>
          <a:xfrm>
            <a:off x="791845" y="4363720"/>
            <a:ext cx="4086860" cy="1192530"/>
          </a:xfrm>
          <a:prstGeom prst="rect">
            <a:avLst/>
          </a:prstGeom>
          <a:noFill/>
          <a:ln>
            <a:noFill/>
          </a:ln>
        </p:spPr>
        <p:txBody>
          <a:bodyPr wrap="square" lIns="0" tIns="0" rIns="0" bIns="0" anchor="t" anchorCtr="0">
            <a:spAutoFit/>
          </a:bodyPr>
          <a:lstStyle/>
          <a:p>
            <a:pPr algn="l">
              <a:lnSpc>
                <a:spcPts val="2325"/>
              </a:lnSpc>
            </a:pPr>
            <a:r>
              <a:rPr lang="en-US" sz="1600" b="1" dirty="0">
                <a:solidFill>
                  <a:srgbClr val="5E6478"/>
                </a:solidFill>
                <a:latin typeface="Arial" panose="020B0604020202020204"/>
                <a:ea typeface="Arial" panose="020B0604020202020204"/>
                <a:cs typeface="Arial" panose="020B0604020202020204"/>
              </a:rPr>
              <a:t>Shared research gap</a:t>
            </a:r>
            <a:endParaRPr lang="en-US" sz="1600" b="1"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No explicit within-clip identity</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No explicit cross-person geometry</a:t>
            </a:r>
            <a:endParaRPr lang="en-US" sz="1600" dirty="0">
              <a:solidFill>
                <a:srgbClr val="5E6478"/>
              </a:solidFill>
              <a:latin typeface="Arial" panose="020B0604020202020204"/>
              <a:ea typeface="Arial" panose="020B0604020202020204"/>
              <a:cs typeface="Arial" panose="020B0604020202020204"/>
            </a:endParaRPr>
          </a:p>
          <a:p>
            <a:pPr algn="l">
              <a:lnSpc>
                <a:spcPts val="2325"/>
              </a:lnSpc>
            </a:pPr>
            <a:r>
              <a:rPr lang="en-US" sz="1600" dirty="0">
                <a:solidFill>
                  <a:srgbClr val="5E6478"/>
                </a:solidFill>
                <a:latin typeface="Arial" panose="020B0604020202020204"/>
                <a:ea typeface="Arial" panose="020B0604020202020204"/>
                <a:cs typeface="Arial" panose="020B0604020202020204"/>
              </a:rPr>
              <a:t>• No explicit role-aware modelling</a:t>
            </a:r>
            <a:endParaRPr lang="en-US" sz="1600" dirty="0">
              <a:solidFill>
                <a:srgbClr val="5E6478"/>
              </a:solidFill>
              <a:latin typeface="Arial" panose="020B0604020202020204"/>
              <a:ea typeface="Arial" panose="020B0604020202020204"/>
              <a:cs typeface="Arial" panose="020B0604020202020204"/>
            </a:endParaRPr>
          </a:p>
        </p:txBody>
      </p:sp>
      <p:sp>
        <p:nvSpPr>
          <p:cNvPr id="21" name="TextBox 21"/>
          <p:cNvSpPr txBox="1"/>
          <p:nvPr/>
        </p:nvSpPr>
        <p:spPr>
          <a:xfrm>
            <a:off x="6325870" y="4363720"/>
            <a:ext cx="3272155" cy="894080"/>
          </a:xfrm>
          <a:prstGeom prst="rect">
            <a:avLst/>
          </a:prstGeom>
          <a:noFill/>
          <a:ln>
            <a:noFill/>
          </a:ln>
        </p:spPr>
        <p:txBody>
          <a:bodyPr wrap="square" lIns="0" tIns="0" rIns="0" bIns="0" anchor="t" anchorCtr="0">
            <a:spAutoFit/>
          </a:bodyPr>
          <a:lstStyle/>
          <a:p>
            <a:pPr algn="l">
              <a:lnSpc>
                <a:spcPts val="2325"/>
              </a:lnSpc>
            </a:pPr>
            <a:r>
              <a:rPr lang="en-US" sz="1600" dirty="0">
                <a:solidFill>
                  <a:srgbClr val="C8C8C8"/>
                </a:solidFill>
                <a:latin typeface="Arial" panose="020B0604020202020204"/>
                <a:ea typeface="Arial" panose="020B0604020202020204"/>
                <a:cs typeface="Arial" panose="020B0604020202020204"/>
              </a:rPr>
              <a:t>Main · SkeletonX</a:t>
            </a:r>
            <a:endParaRPr lang="en-US" sz="1600" dirty="0">
              <a:solidFill>
                <a:srgbClr val="C8C8C8"/>
              </a:solidFill>
              <a:latin typeface="Arial" panose="020B0604020202020204"/>
              <a:ea typeface="Arial" panose="020B0604020202020204"/>
              <a:cs typeface="Arial" panose="020B0604020202020204"/>
            </a:endParaRPr>
          </a:p>
          <a:p>
            <a:pPr algn="l">
              <a:lnSpc>
                <a:spcPts val="2325"/>
              </a:lnSpc>
            </a:pPr>
            <a:r>
              <a:rPr lang="en-US" sz="1600" dirty="0">
                <a:solidFill>
                  <a:srgbClr val="C8C8C8"/>
                </a:solidFill>
                <a:latin typeface="Arial" panose="020B0604020202020204"/>
                <a:ea typeface="Arial" panose="020B0604020202020204"/>
                <a:cs typeface="Arial" panose="020B0604020202020204"/>
              </a:rPr>
              <a:t>Control · PoseC3D
Fallback · CTR-GCN</a:t>
            </a:r>
            <a:endParaRPr lang="en-US" sz="1600" dirty="0">
              <a:solidFill>
                <a:srgbClr val="C8C8C8"/>
              </a:solidFill>
              <a:latin typeface="Arial" panose="020B0604020202020204"/>
              <a:ea typeface="Arial" panose="020B0604020202020204"/>
              <a:cs typeface="Arial" panose="020B0604020202020204"/>
            </a:endParaRPr>
          </a:p>
        </p:txBody>
      </p:sp>
      <p:sp>
        <p:nvSpPr>
          <p:cNvPr id="22" name="TextBox 22"/>
          <p:cNvSpPr txBox="1"/>
          <p:nvPr/>
        </p:nvSpPr>
        <p:spPr>
          <a:xfrm>
            <a:off x="11085233" y="6665595"/>
            <a:ext cx="880034" cy="176212"/>
          </a:xfrm>
          <a:prstGeom prst="rect">
            <a:avLst/>
          </a:prstGeom>
          <a:noFill/>
          <a:ln>
            <a:noFill/>
          </a:ln>
        </p:spPr>
        <p:txBody>
          <a:bodyPr wrap="square" lIns="0" tIns="0" rIns="0" bIns="0" anchor="t" anchorCtr="0">
            <a:spAutoFit/>
          </a:bodyPr>
          <a:lstStyle/>
          <a:p>
            <a:pPr algn="ctr"/>
            <a:r>
              <a:rPr lang="en-US" sz="900" dirty="0">
                <a:solidFill>
                  <a:srgbClr val="FFFFFF"/>
                </a:solidFill>
                <a:latin typeface="Arial" panose="020B0604020202020204"/>
                <a:ea typeface="Arial" panose="020B0604020202020204"/>
                <a:cs typeface="Arial" panose="020B0604020202020204"/>
              </a:rPr>
              <a:t>7</a:t>
            </a:r>
            <a:endParaRPr lang="en-US" sz="900" dirty="0">
              <a:solidFill>
                <a:srgbClr val="FFFFFF"/>
              </a:solidFill>
              <a:latin typeface="Arial" panose="020B0604020202020204"/>
              <a:ea typeface="Arial" panose="020B0604020202020204"/>
              <a:cs typeface="Arial" panose="020B0604020202020204"/>
            </a:endParaRPr>
          </a:p>
        </p:txBody>
      </p:sp>
      <p:sp>
        <p:nvSpPr>
          <p:cNvPr id="23" name="TextBox 5"/>
          <p:cNvSpPr txBox="1"/>
          <p:nvPr/>
        </p:nvSpPr>
        <p:spPr>
          <a:xfrm>
            <a:off x="471170" y="6666230"/>
            <a:ext cx="3678555" cy="191135"/>
          </a:xfrm>
          <a:prstGeom prst="rect">
            <a:avLst/>
          </a:prstGeom>
          <a:noFill/>
          <a:ln>
            <a:noFill/>
          </a:ln>
        </p:spPr>
        <p:txBody>
          <a:bodyPr wrap="square" lIns="0" tIns="0" rIns="0" bIns="0" anchor="t" anchorCtr="0">
            <a:noAutofit/>
          </a:bodyPr>
          <a:lstStyle/>
          <a:p>
            <a:pPr algn="l"/>
            <a:r>
              <a:rPr lang="en-US" sz="1080" dirty="0">
                <a:solidFill>
                  <a:srgbClr val="FFFFFF"/>
                </a:solidFill>
                <a:latin typeface="Arial" panose="020B0604020202020204"/>
                <a:ea typeface="Arial" panose="020B0604020202020204"/>
                <a:cs typeface="Arial" panose="020B0604020202020204"/>
              </a:rPr>
              <a:t>EE6008 · </a:t>
            </a:r>
            <a:r>
              <a:rPr sz="1080" b="1">
                <a:solidFill>
                  <a:schemeClr val="bg1"/>
                </a:solidFill>
                <a:latin typeface="Arial" panose="020B0604020202020204"/>
                <a:sym typeface="+mn-ea"/>
              </a:rPr>
              <a:t>Instance-Preserving Pose Representation</a:t>
            </a:r>
            <a:endParaRPr lang="en-US" sz="1080" b="1" dirty="0">
              <a:solidFill>
                <a:schemeClr val="bg1"/>
              </a:solidFill>
              <a:latin typeface="Arial" panose="020B0604020202020204"/>
              <a:ea typeface="Arial" panose="020B0604020202020204"/>
              <a:cs typeface="Arial" panose="020B0604020202020204"/>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D71440"/>
          </a:solidFill>
          <a:ln>
            <a:noFill/>
          </a:ln>
        </p:spPr>
        <p:txBody>
          <a:bodyPr wrap="square"/>
          <a:p/>
        </p:txBody>
      </p:sp>
      <p:pic>
        <p:nvPicPr>
          <p:cNvPr id="3" name="Image 3"/>
          <p:cNvPicPr>
            <a:picLocks noChangeAspect="1"/>
          </p:cNvPicPr>
          <p:nvPr/>
        </p:nvPicPr>
        <p:blipFill>
          <a:blip r:embed="rId1"/>
          <a:stretch>
            <a:fillRect/>
          </a:stretch>
        </p:blipFill>
        <p:spPr>
          <a:xfrm>
            <a:off x="9810750" y="228600"/>
            <a:ext cx="1905000" cy="685800"/>
          </a:xfrm>
          <a:prstGeom prst="rect">
            <a:avLst/>
          </a:prstGeom>
        </p:spPr>
      </p:pic>
      <p:sp>
        <p:nvSpPr>
          <p:cNvPr id="4" name="Rectangle 4"/>
          <p:cNvSpPr/>
          <p:nvPr/>
        </p:nvSpPr>
        <p:spPr>
          <a:xfrm>
            <a:off x="171450" y="6572250"/>
            <a:ext cx="12020550" cy="285750"/>
          </a:xfrm>
          <a:prstGeom prst="rect">
            <a:avLst/>
          </a:prstGeom>
          <a:solidFill>
            <a:srgbClr val="181C62"/>
          </a:solidFill>
          <a:ln>
            <a:noFill/>
          </a:ln>
        </p:spPr>
        <p:txBody>
          <a:bodyPr wrap="square"/>
          <a:p/>
        </p:txBody>
      </p:sp>
      <p:pic>
        <p:nvPicPr>
          <p:cNvPr id="6" name="Image 6"/>
          <p:cNvPicPr>
            <a:picLocks noChangeAspect="1"/>
          </p:cNvPicPr>
          <p:nvPr/>
        </p:nvPicPr>
        <p:blipFill>
          <a:blip r:embed="rId2"/>
          <a:stretch>
            <a:fillRect/>
          </a:stretch>
        </p:blipFill>
        <p:spPr>
          <a:xfrm>
            <a:off x="171450" y="0"/>
            <a:ext cx="12020550" cy="6572250"/>
          </a:xfrm>
          <a:prstGeom prst="rect">
            <a:avLst/>
          </a:prstGeom>
        </p:spPr>
      </p:pic>
      <p:sp>
        <p:nvSpPr>
          <p:cNvPr id="7" name="Rectangle 7"/>
          <p:cNvSpPr/>
          <p:nvPr/>
        </p:nvSpPr>
        <p:spPr>
          <a:xfrm>
            <a:off x="171450" y="0"/>
            <a:ext cx="12020550" cy="6572250"/>
          </a:xfrm>
          <a:prstGeom prst="rect">
            <a:avLst/>
          </a:prstGeom>
          <a:solidFill>
            <a:srgbClr val="FFFFFF">
              <a:alpha val="72000"/>
            </a:srgbClr>
          </a:solidFill>
          <a:ln>
            <a:noFill/>
          </a:ln>
        </p:spPr>
        <p:txBody>
          <a:bodyPr wrap="square"/>
          <a:p/>
        </p:txBody>
      </p:sp>
      <p:sp>
        <p:nvSpPr>
          <p:cNvPr id="8" name="Rectangle 8"/>
          <p:cNvSpPr/>
          <p:nvPr/>
        </p:nvSpPr>
        <p:spPr>
          <a:xfrm>
            <a:off x="9620250" y="171450"/>
            <a:ext cx="2266950" cy="838200"/>
          </a:xfrm>
          <a:prstGeom prst="roundRect">
            <a:avLst>
              <a:gd name="adj" fmla="val 6818"/>
            </a:avLst>
          </a:prstGeom>
          <a:solidFill>
            <a:srgbClr val="FFFFFF">
              <a:alpha val="94000"/>
            </a:srgbClr>
          </a:solidFill>
          <a:ln>
            <a:noFill/>
          </a:ln>
        </p:spPr>
        <p:txBody>
          <a:bodyPr wrap="square"/>
          <a:p/>
        </p:txBody>
      </p:sp>
      <p:pic>
        <p:nvPicPr>
          <p:cNvPr id="9" name="Image 9"/>
          <p:cNvPicPr>
            <a:picLocks noChangeAspect="1"/>
          </p:cNvPicPr>
          <p:nvPr/>
        </p:nvPicPr>
        <p:blipFill>
          <a:blip r:embed="rId1"/>
          <a:stretch>
            <a:fillRect/>
          </a:stretch>
        </p:blipFill>
        <p:spPr>
          <a:xfrm>
            <a:off x="9798435" y="247650"/>
            <a:ext cx="1910579" cy="685800"/>
          </a:xfrm>
          <a:prstGeom prst="rect">
            <a:avLst/>
          </a:prstGeom>
        </p:spPr>
      </p:pic>
      <p:sp>
        <p:nvSpPr>
          <p:cNvPr id="10" name="TextBox 10"/>
          <p:cNvSpPr txBox="1"/>
          <p:nvPr/>
        </p:nvSpPr>
        <p:spPr>
          <a:xfrm>
            <a:off x="4822500" y="2404110"/>
            <a:ext cx="2718450" cy="234696"/>
          </a:xfrm>
          <a:prstGeom prst="rect">
            <a:avLst/>
          </a:prstGeom>
          <a:noFill/>
          <a:ln>
            <a:noFill/>
          </a:ln>
        </p:spPr>
        <p:txBody>
          <a:bodyPr wrap="square" lIns="0" tIns="0" rIns="0" bIns="0" anchor="t" anchorCtr="0">
            <a:spAutoFit/>
          </a:bodyPr>
          <a:lstStyle/>
          <a:p>
            <a:pPr algn="ctr"/>
            <a:r>
              <a:rPr lang="en-US" sz="1200" b="1" dirty="0">
                <a:solidFill>
                  <a:srgbClr val="181C62"/>
                </a:solidFill>
                <a:latin typeface="Arial" panose="020B0604020202020204"/>
                <a:ea typeface="Arial" panose="020B0604020202020204"/>
                <a:cs typeface="Arial" panose="020B0604020202020204"/>
              </a:rPr>
              <a:t>EE6008 · GROUP 14</a:t>
            </a:r>
            <a:endParaRPr lang="en-US" sz="1200" b="1" dirty="0">
              <a:solidFill>
                <a:srgbClr val="181C62"/>
              </a:solidFill>
              <a:latin typeface="Arial" panose="020B0604020202020204"/>
              <a:ea typeface="Arial" panose="020B0604020202020204"/>
              <a:cs typeface="Arial" panose="020B0604020202020204"/>
            </a:endParaRPr>
          </a:p>
        </p:txBody>
      </p:sp>
      <p:sp>
        <p:nvSpPr>
          <p:cNvPr id="11" name="Rectangle 11"/>
          <p:cNvSpPr/>
          <p:nvPr/>
        </p:nvSpPr>
        <p:spPr>
          <a:xfrm>
            <a:off x="5419725" y="3524250"/>
            <a:ext cx="1524000" cy="57150"/>
          </a:xfrm>
          <a:prstGeom prst="rect">
            <a:avLst/>
          </a:prstGeom>
          <a:solidFill>
            <a:srgbClr val="D71440"/>
          </a:solidFill>
          <a:ln>
            <a:noFill/>
          </a:ln>
        </p:spPr>
        <p:txBody>
          <a:bodyPr wrap="square"/>
          <a:p/>
        </p:txBody>
      </p:sp>
      <p:sp>
        <p:nvSpPr>
          <p:cNvPr id="12" name="TextBox 12"/>
          <p:cNvSpPr txBox="1"/>
          <p:nvPr/>
        </p:nvSpPr>
        <p:spPr>
          <a:xfrm>
            <a:off x="4798329" y="2858452"/>
            <a:ext cx="2766791" cy="790575"/>
          </a:xfrm>
          <a:prstGeom prst="rect">
            <a:avLst/>
          </a:prstGeom>
          <a:noFill/>
          <a:ln>
            <a:noFill/>
          </a:ln>
        </p:spPr>
        <p:txBody>
          <a:bodyPr wrap="square" lIns="0" tIns="0" rIns="0" bIns="0" anchor="t" anchorCtr="0">
            <a:spAutoFit/>
          </a:bodyPr>
          <a:lstStyle/>
          <a:p>
            <a:pPr algn="ctr"/>
            <a:r>
              <a:rPr lang="en-US" sz="4050" b="1" dirty="0">
                <a:solidFill>
                  <a:srgbClr val="181C62"/>
                </a:solidFill>
                <a:latin typeface="Arial" panose="020B0604020202020204"/>
                <a:ea typeface="Arial" panose="020B0604020202020204"/>
                <a:cs typeface="Arial" panose="020B0604020202020204"/>
              </a:rPr>
              <a:t>Thank You</a:t>
            </a:r>
            <a:endParaRPr lang="en-US" sz="4050" b="1" dirty="0">
              <a:solidFill>
                <a:srgbClr val="181C62"/>
              </a:solidFill>
              <a:latin typeface="Arial" panose="020B0604020202020204"/>
              <a:ea typeface="Arial" panose="020B0604020202020204"/>
              <a:cs typeface="Arial" panose="020B0604020202020204"/>
            </a:endParaRPr>
          </a:p>
        </p:txBody>
      </p:sp>
      <p:sp>
        <p:nvSpPr>
          <p:cNvPr id="13" name="TextBox 5"/>
          <p:cNvSpPr txBox="1"/>
          <p:nvPr/>
        </p:nvSpPr>
        <p:spPr>
          <a:xfrm>
            <a:off x="471170" y="6666230"/>
            <a:ext cx="3678555" cy="191135"/>
          </a:xfrm>
          <a:prstGeom prst="rect">
            <a:avLst/>
          </a:prstGeom>
          <a:noFill/>
          <a:ln>
            <a:noFill/>
          </a:ln>
        </p:spPr>
        <p:txBody>
          <a:bodyPr wrap="square" lIns="0" tIns="0" rIns="0" bIns="0" anchor="t" anchorCtr="0">
            <a:noAutofit/>
          </a:bodyPr>
          <a:lstStyle/>
          <a:p>
            <a:pPr algn="l"/>
            <a:r>
              <a:rPr lang="en-US" sz="1080" dirty="0">
                <a:solidFill>
                  <a:srgbClr val="FFFFFF"/>
                </a:solidFill>
                <a:latin typeface="Arial" panose="020B0604020202020204"/>
                <a:ea typeface="Arial" panose="020B0604020202020204"/>
                <a:cs typeface="Arial" panose="020B0604020202020204"/>
              </a:rPr>
              <a:t>EE6008 · </a:t>
            </a:r>
            <a:r>
              <a:rPr sz="1080" b="1">
                <a:solidFill>
                  <a:schemeClr val="bg1"/>
                </a:solidFill>
                <a:latin typeface="Arial" panose="020B0604020202020204"/>
                <a:sym typeface="+mn-ea"/>
              </a:rPr>
              <a:t>Instance-Preserving Pose Representation</a:t>
            </a:r>
            <a:endParaRPr lang="en-US" sz="1080" b="1" dirty="0">
              <a:solidFill>
                <a:schemeClr val="bg1"/>
              </a:solidFill>
              <a:latin typeface="Arial" panose="020B0604020202020204"/>
              <a:ea typeface="Arial" panose="020B0604020202020204"/>
              <a:cs typeface="Arial" panose="020B0604020202020204"/>
              <a:sym typeface="+mn-ea"/>
            </a:endParaRPr>
          </a:p>
        </p:txBody>
      </p:sp>
    </p:spTree>
  </p:cSld>
  <p:clrMapOvr>
    <a:masterClrMapping/>
  </p:clrMapOvr>
</p:sld>
</file>

<file path=ppt/tags/tag1.xml><?xml version="1.0" encoding="utf-8"?>
<p:tagLst xmlns:p="http://schemas.openxmlformats.org/presentationml/2006/main">
  <p:tag name="commondata" val="eyJoZGlkIjoiOWMxYzMwYjExMzFiOTI0NTgyNDM4YzE5NDkxZGE0MTIifQ=="/>
</p:tagLst>
</file>

<file path=ppt/theme/theme1.xml><?xml version="1.0" encoding="utf-8"?>
<a:theme xmlns:a="http://schemas.openxmlformats.org/drawingml/2006/main" name="weekly_five_minute_research_update">
  <a:themeElements>
    <a:clrScheme name="weekly_five_minute_research_updat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eekly_five_minute_research_updat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ekly_five_minute_research_upd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2863</Words>
  <Application>WPS 演示</Application>
  <PresentationFormat>On-screen Show (16:9)</PresentationFormat>
  <Paragraphs>182</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宋体</vt:lpstr>
      <vt:lpstr>Wingdings</vt:lpstr>
      <vt:lpstr>Arial</vt:lpstr>
      <vt:lpstr>Calibri</vt:lpstr>
      <vt:lpstr>微软雅黑</vt:lpstr>
      <vt:lpstr>Arial Unicode MS</vt:lpstr>
      <vt:lpstr>weekly_five_minute_research_update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梁含璋</cp:lastModifiedBy>
  <cp:revision>8</cp:revision>
  <dcterms:created xsi:type="dcterms:W3CDTF">2026-09-01T02:13:00Z</dcterms:created>
  <dcterms:modified xsi:type="dcterms:W3CDTF">2026-09-01T19:38:50Z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277FFAEB8781C16EE434966A0311D864_42</vt:lpwstr>
  </property>
  <property fmtid="{D5CDD505-2E9C-101B-9397-08002B2CF9AE}" pid="3" name="KSOProductBuildVer">
    <vt:lpwstr>2052-12.1.0.28505</vt:lpwstr>
  </property>
</Properties>
</file>