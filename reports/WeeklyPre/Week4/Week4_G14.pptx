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media/open_canvas_logo.png" ContentType="image/png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2" r:id="rId4"/>
  </p:sldMasterIdLst>
  <p:notesMasterIdLst>
    <p:notesMasterId r:id="rId6"/>
  </p:notesMasterIdLst>
  <p:sldIdLst>
    <p:sldId id="269" r:id="rId5"/>
    <p:sldId id="257" r:id="rId7"/>
    <p:sldId id="271" r:id="rId8"/>
    <p:sldId id="256" r:id="rId9"/>
    <p:sldId id="270" r:id="rId10"/>
    <p:sldId id="266" r:id="rId11"/>
    <p:sldId id="267" r:id="rId12"/>
    <p:sldId id="268" r:id="rId13"/>
    <p:sldId id="272" r:id="rIdCanvas1"/>
    <p:sldId id="273" r:id="rIdCanvas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1" d="100"/>
          <a:sy n="121" d="100"/>
        </p:scale>
        <p:origin x="28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Relationship Id="rIdCanvas1" Type="http://schemas.openxmlformats.org/officeDocument/2006/relationships/slide" Target="slides/slide10.xml"/><Relationship Id="rIdCanvas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EA052-84A9-4932-A04A-1E3FCF6916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B7A1-7707-4C15-A810-B41F61ED78A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presentation introduces our Week 3 research framing and early technical findings. Our specific direction is instance-preserving pose representation for multi-person action recognition.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eekly_five_minute_research_upda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eekly_five_minute_research_upda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1.xml"/><Relationship Id="rId1" Type="http://schemas.openxmlformats.org/officeDocument/2006/relationships/image" Target="/ppt/media/open_canvas_logo.png"/></Relationships>
</file>

<file path=ppt/slides/_rels/slide11.xml.rels><?xml version='1.0' encoding='UTF-8' standalone='yes'?>
<Relationships xmlns="http://schemas.openxmlformats.org/package/2006/relationships"><Relationship Id="rIdLayout" Type="http://schemas.openxmlformats.org/officeDocument/2006/relationships/slideLayout" Target="/ppt/slideLayouts/slideLayout1.xml"/><Relationship Id="rId1" Type="http://schemas.openxmlformats.org/officeDocument/2006/relationships/image" Target="/ppt/media/open_canvas_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DA1744">
                  <a:alpha val="75000"/>
                  <a:lumMod val="85000"/>
                </a:srgbClr>
              </a:gs>
              <a:gs pos="10000">
                <a:schemeClr val="bg1">
                  <a:alpha val="0"/>
                </a:schemeClr>
              </a:gs>
              <a:gs pos="75000">
                <a:srgbClr val="84A1C8">
                  <a:alpha val="75000"/>
                </a:srgbClr>
              </a:gs>
              <a:gs pos="50000">
                <a:schemeClr val="bg1">
                  <a:alpha val="0"/>
                </a:schemeClr>
              </a:gs>
              <a:gs pos="100000">
                <a:srgbClr val="084391"/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" y="557784"/>
            <a:ext cx="64008" cy="438912"/>
          </a:xfrm>
          <a:prstGeom prst="rect">
            <a:avLst/>
          </a:prstGeom>
          <a:solidFill>
            <a:srgbClr val="DA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577088"/>
            <a:ext cx="50749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7226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EE6008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17226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841248"/>
            <a:ext cx="301752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WEEKLY PRESENTATION</a:t>
            </a:r>
            <a:endParaRPr kumimoji="0" sz="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617220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91D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Human Pose Analytics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srgbClr val="191D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91D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Using Artificial Intelligence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srgbClr val="191D2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3319272"/>
            <a:ext cx="585216" cy="50292"/>
          </a:xfrm>
          <a:prstGeom prst="rect">
            <a:avLst/>
          </a:prstGeom>
          <a:solidFill>
            <a:srgbClr val="DA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529584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Instance-Preserving Pose Representation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4727448"/>
            <a:ext cx="1170432" cy="448056"/>
          </a:xfrm>
          <a:prstGeom prst="rect">
            <a:avLst/>
          </a:prstGeom>
          <a:solidFill>
            <a:srgbClr val="172262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4866837"/>
            <a:ext cx="117043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01952" y="4727448"/>
            <a:ext cx="2423160" cy="448056"/>
          </a:xfrm>
          <a:prstGeom prst="rect">
            <a:avLst/>
          </a:prstGeom>
          <a:solidFill>
            <a:srgbClr val="ECEEF3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01952" y="4843844"/>
            <a:ext cx="2423160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5F657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Group 14</a:t>
            </a: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5F657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971032"/>
            <a:ext cx="34747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 ending · 2026-09-0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7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075" y="570230"/>
            <a:ext cx="1311910" cy="472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3383280" cy="190690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514350" y="1428750"/>
            <a:ext cx="7524750" cy="1381125"/>
          </a:xfrm>
          <a:prstGeom prst="roundRect">
            <a:avLst>
              <a:gd name="adj" fmla="val 8276"/>
            </a:avLst>
          </a:prstGeom>
          <a:solidFill>
            <a:srgbClr val="EEF1FA"/>
          </a:solidFill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8305800" y="1428750"/>
            <a:ext cx="3314700" cy="1381125"/>
          </a:xfrm>
          <a:prstGeom prst="roundRect">
            <a:avLst>
              <a:gd name="adj" fmla="val 8276"/>
            </a:avLst>
          </a:prstGeom>
          <a:solidFill>
            <a:srgbClr val="181C62"/>
          </a:solidFill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514350" y="3105150"/>
            <a:ext cx="11106150" cy="28956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E6E6E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/>
          <p:cNvSpPr/>
          <p:nvPr/>
        </p:nvSpPr>
        <p:spPr>
          <a:xfrm>
            <a:off x="1181100" y="5143500"/>
            <a:ext cx="9772650" cy="9525"/>
          </a:xfrm>
          <a:custGeom>
            <a:avLst/>
            <a:gdLst/>
            <a:ahLst/>
            <a:cxnLst/>
            <a:rect l="l" t="t" r="r" b="b"/>
            <a:pathLst>
              <a:path w="9772650" h="9525">
                <a:moveTo>
                  <a:pt x="0" y="0"/>
                </a:moveTo>
                <a:lnTo>
                  <a:pt x="9772650" y="0"/>
                </a:lnTo>
              </a:path>
            </a:pathLst>
          </a:custGeom>
          <a:noFill/>
          <a:ln w="3810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Ellipse 11"/>
          <p:cNvSpPr/>
          <p:nvPr/>
        </p:nvSpPr>
        <p:spPr>
          <a:xfrm>
            <a:off x="1076325" y="5038725"/>
            <a:ext cx="209550" cy="209550"/>
          </a:xfrm>
          <a:prstGeom prst="ellipse">
            <a:avLst/>
          </a:prstGeom>
          <a:solidFill>
            <a:srgbClr val="181C62"/>
          </a:solidFill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Ellipse 12"/>
          <p:cNvSpPr/>
          <p:nvPr/>
        </p:nvSpPr>
        <p:spPr>
          <a:xfrm>
            <a:off x="3028950" y="5038725"/>
            <a:ext cx="209550" cy="209550"/>
          </a:xfrm>
          <a:prstGeom prst="ellipse">
            <a:avLst/>
          </a:prstGeom>
          <a:solidFill>
            <a:srgbClr val="181C62"/>
          </a:solidFill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Ellipse 13"/>
          <p:cNvSpPr/>
          <p:nvPr/>
        </p:nvSpPr>
        <p:spPr>
          <a:xfrm>
            <a:off x="4953000" y="5010150"/>
            <a:ext cx="266700" cy="266700"/>
          </a:xfrm>
          <a:prstGeom prst="ellipse">
            <a:avLst/>
          </a:prstGeom>
          <a:solidFill>
            <a:srgbClr val="D71440"/>
          </a:solidFill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Ellipse 14"/>
          <p:cNvSpPr/>
          <p:nvPr/>
        </p:nvSpPr>
        <p:spPr>
          <a:xfrm>
            <a:off x="6934200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Ellipse 15"/>
          <p:cNvSpPr/>
          <p:nvPr/>
        </p:nvSpPr>
        <p:spPr>
          <a:xfrm>
            <a:off x="8886825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Ellipse 16"/>
          <p:cNvSpPr/>
          <p:nvPr/>
        </p:nvSpPr>
        <p:spPr>
          <a:xfrm>
            <a:off x="10848975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776097" y="1590199"/>
            <a:ext cx="1990090" cy="190690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WEEKLY TAKEAWAY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398351" y="1590199"/>
            <a:ext cx="1129598" cy="190690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 STATUS</a:t>
            </a:r>
            <a:endParaRPr lang="en-US" sz="9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4766" y="3296602"/>
            <a:ext cx="7040880" cy="205359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 MILESTONE · EVIDENCE · BLOCKER · NEXT CHECKPOINT</a:t>
            </a:r>
            <a:endParaRPr lang="en-US" sz="105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22902" y="5408295"/>
            <a:ext cx="516397" cy="176212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Kick-off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993803" y="5408295"/>
            <a:ext cx="279845" cy="176212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796752" y="5408295"/>
            <a:ext cx="579196" cy="176212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Baselines</a:t>
            </a:r>
            <a:endParaRPr lang="en-US" sz="90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762007" y="5408295"/>
            <a:ext cx="553936" cy="176212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IP Module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621493" y="5408295"/>
            <a:ext cx="740214" cy="176212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Experiments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590953" y="5408295"/>
            <a:ext cx="725594" cy="176212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Final Report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01396" y="543878"/>
            <a:ext cx="7537450" cy="498729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Weekly Snapshot &amp; Milestone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71906" y="1939290"/>
            <a:ext cx="6812280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81C62"/>
                </a:solidFill>
                <a:latin typeface="Arial"/>
              </a:rPr>
              <a:t>Data ready; baseline clarified</a:t>
            </a:r>
            <a:endParaRPr lang="en-US" sz="180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E6478"/>
                </a:solidFill>
                <a:latin typeface="Arial"/>
              </a:rPr>
              <a:t>CTR-GCN selected; pair-preserving fusion is the next test.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2792" y="1893094"/>
            <a:ext cx="2679192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880" b="1">
                <a:solidFill>
                  <a:srgbClr val="FFFFFF"/>
                </a:solidFill>
                <a:latin typeface="Arial"/>
              </a:rPr>
              <a:t>IN PROGRESS</a:t>
            </a:r>
            <a:endParaRPr lang="en-US" sz="18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8C8C8"/>
                </a:solidFill>
                <a:latin typeface="Arial"/>
              </a:rPr>
              <a:t>Baseline setup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2099" y="3675887"/>
            <a:ext cx="10012680" cy="10241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80" b="0">
                <a:solidFill>
                  <a:srgbClr val="20243A"/>
                </a:solidFill>
                <a:latin typeface="Arial"/>
              </a:rPr>
              <a:t>Week 4 · Preprocessing complete; experiments designed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E6478"/>
                </a:solidFill>
                <a:latin typeface="Arial"/>
              </a:rPr>
              <a:t>Evidence: 24,732 interaction clips audited; four experiments specified.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E6478"/>
                </a:solidFill>
                <a:latin typeface="Arial"/>
              </a:rPr>
              <a:t>Pending: baseline results. Next: run joint-only CTR-GCN on X-Sub.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0">
                <a:solidFill>
                  <a:srgbClr val="FFFFFF"/>
                </a:solidFill>
                <a:latin typeface="Arial"/>
              </a:rPr>
              <a:t>2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304925"/>
            <a:ext cx="781050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86470" y="1304925"/>
            <a:ext cx="3048000" cy="4772025"/>
          </a:xfrm>
          <a:prstGeom prst="roundRect">
            <a:avLst>
              <a:gd name="adj" fmla="val 3125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572500" y="1304925"/>
            <a:ext cx="30480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815070" y="1647190"/>
            <a:ext cx="1720215" cy="282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2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IDENTITY IN OUR TASK</a:t>
            </a:r>
            <a:endParaRPr lang="en-US" sz="120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6966" y="228283"/>
            <a:ext cx="5313680" cy="391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identity means in our project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688070" y="1911985"/>
            <a:ext cx="2926715" cy="8388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Same skeleton track ↔ 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same person across frames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Stable person-specific motion trajectories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Separate person streams before fusion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5940" y="631825"/>
            <a:ext cx="5985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Anonymous instance continuity — not personal identification</a:t>
            </a:r>
            <a:endParaRPr lang="zh-CN" altLang="en-US"/>
          </a:p>
        </p:txBody>
      </p:sp>
      <p:pic>
        <p:nvPicPr>
          <p:cNvPr id="17" name="图片 16" descr="1052388c-54ea-43ac-8684-3306865178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" y="1304925"/>
            <a:ext cx="7826375" cy="4772025"/>
          </a:xfrm>
          <a:prstGeom prst="rect">
            <a:avLst/>
          </a:prstGeom>
        </p:spPr>
      </p:pic>
      <p:sp>
        <p:nvSpPr>
          <p:cNvPr id="18" name="TextBox 10"/>
          <p:cNvSpPr txBox="1"/>
          <p:nvPr>
            <p:custDataLst>
              <p:tags r:id="rId3"/>
            </p:custDataLst>
          </p:nvPr>
        </p:nvSpPr>
        <p:spPr>
          <a:xfrm>
            <a:off x="8815197" y="2992279"/>
            <a:ext cx="110172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en-US" sz="12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 THE </a:t>
            </a:r>
            <a:r>
              <a:rPr lang="en-US" sz="12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GOAl</a:t>
            </a:r>
            <a:endParaRPr lang="en-US" sz="120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3"/>
          <p:cNvSpPr txBox="1"/>
          <p:nvPr>
            <p:custDataLst>
              <p:tags r:id="rId4"/>
            </p:custDataLst>
          </p:nvPr>
        </p:nvSpPr>
        <p:spPr>
          <a:xfrm>
            <a:off x="8688324" y="3243739"/>
            <a:ext cx="2524125" cy="692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Face or name recognition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Fixed roles for P1/P2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2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SkeletonX performer ID across clips</a:t>
            </a:r>
            <a:endParaRPr lang="en-US" sz="12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734425" y="4239260"/>
            <a:ext cx="275209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Preserve trajectories before fusion</a:t>
            </a:r>
            <a:endParaRPr lang="zh-CN" altLang="en-US" sz="2000" b="1"/>
          </a:p>
          <a:p>
            <a:r>
              <a:rPr lang="en-US" altLang="zh-CN" sz="2000" b="1"/>
              <a:t>K</a:t>
            </a:r>
            <a:r>
              <a:rPr lang="zh-CN" altLang="en-US" sz="2000" b="1"/>
              <a:t>eep the final prediction invariant to person order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35940" y="4239260"/>
            <a:ext cx="1049655" cy="1857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Early pooling: motion source lost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279640" y="4568825"/>
            <a:ext cx="10623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Separate streams + relative relations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19757" y="366713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550" b="1">
                <a:solidFill>
                  <a:srgbClr val="181C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CTR-GCN </a:t>
            </a:r>
            <a:r>
              <a:rPr kumimoji="0" sz="25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compatible NTU </a:t>
            </a:r>
            <a:r>
              <a:rPr kumimoji="0" 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kumimoji="0" lang="en-US" altLang="zh-CN" sz="25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ata Preprocessing </a:t>
            </a:r>
            <a:endParaRPr kumimoji="0" sz="255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9601"/>
            <a:ext cx="1905000" cy="683797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14350" y="6591300"/>
            <a:ext cx="323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EE6008 · HUMAN POSE ANALYTICS</a:t>
            </a:r>
            <a:endParaRPr kumimoji="0" sz="82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514350" y="1238250"/>
            <a:ext cx="11106150" cy="514350"/>
          </a:xfrm>
          <a:prstGeom prst="roundRect">
            <a:avLst>
              <a:gd name="adj" fmla="val 14815"/>
            </a:avLst>
          </a:prstGeom>
          <a:solidFill>
            <a:srgbClr val="FBE8EF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314450"/>
            <a:ext cx="106870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81C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From Raw Kinect Skeleton Data to Trainable NPZ Files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1457325" y="2057400"/>
            <a:ext cx="1657350" cy="1981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628775" y="2228850"/>
            <a:ext cx="419100" cy="419100"/>
          </a:xfrm>
          <a:prstGeom prst="ellipse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28775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455256" y="2822750"/>
            <a:ext cx="1890088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81C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AW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Arial" panose="020B0604020202020204"/>
                <a:cs typeface="Arial" panose="020B0604020202020204"/>
              </a:rPr>
              <a:t>SOURCES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28775" y="3267075"/>
            <a:ext cx="1314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.skeleton files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official missing lists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3295650" y="2057400"/>
            <a:ext cx="1657350" cy="1981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3467100" y="2228850"/>
            <a:ext cx="419100" cy="419100"/>
          </a:xfrm>
          <a:prstGeom prst="ellipse">
            <a:avLst/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46710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73472" y="2833688"/>
            <a:ext cx="131445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SPLITS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467100" y="3267075"/>
            <a:ext cx="1314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manifest.csv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XSub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/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XView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/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XSet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: 圆角 20"/>
          <p:cNvSpPr>
            <a:spLocks noGrp="1"/>
          </p:cNvSpPr>
          <p:nvPr/>
        </p:nvSpPr>
        <p:spPr>
          <a:xfrm>
            <a:off x="5133975" y="2057400"/>
            <a:ext cx="1657350" cy="1981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5305425" y="2228850"/>
            <a:ext cx="419100" cy="419100"/>
          </a:xfrm>
          <a:prstGeom prst="ellipse">
            <a:avLst/>
          </a:prstGeom>
          <a:solidFill>
            <a:srgbClr val="38B6A5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05425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133975" y="2829056"/>
            <a:ext cx="1959325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81C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Arial" panose="020B0604020202020204"/>
                <a:cs typeface="Arial" panose="020B0604020202020204"/>
              </a:rPr>
              <a:t>TRAJECTORIES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05425" y="3267075"/>
            <a:ext cx="1314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11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parse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bodyID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filter and slot assignment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: 圆角 25"/>
          <p:cNvSpPr>
            <a:spLocks noGrp="1"/>
          </p:cNvSpPr>
          <p:nvPr/>
        </p:nvSpPr>
        <p:spPr>
          <a:xfrm>
            <a:off x="6972300" y="2057400"/>
            <a:ext cx="1657350" cy="1981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7143750" y="2228850"/>
            <a:ext cx="419100" cy="419100"/>
          </a:xfrm>
          <a:prstGeom prst="ellipse">
            <a:avLst/>
          </a:prstGeom>
          <a:solidFill>
            <a:srgbClr val="F2B84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143750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080425" y="2829056"/>
            <a:ext cx="1565122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81C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Arial" panose="020B0604020202020204"/>
                <a:cs typeface="Arial" panose="020B0604020202020204"/>
              </a:rPr>
              <a:t>NORMALIZE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43750" y="3267075"/>
            <a:ext cx="1314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: 圆角 30"/>
          <p:cNvSpPr>
            <a:spLocks noGrp="1"/>
          </p:cNvSpPr>
          <p:nvPr/>
        </p:nvSpPr>
        <p:spPr>
          <a:xfrm>
            <a:off x="8810625" y="2057400"/>
            <a:ext cx="1657350" cy="1981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D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8982075" y="2228850"/>
            <a:ext cx="419100" cy="419100"/>
          </a:xfrm>
          <a:prstGeom prst="ellipse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982075" y="22288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832894" y="2824162"/>
            <a:ext cx="1666875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OUTPUT + QA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982075" y="3267075"/>
            <a:ext cx="13144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NPZ export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validate and audit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110" name="直接箭头连接符 109"/>
          <p:cNvCxnSpPr>
            <a:stCxn id="11" idx="3"/>
            <a:endCxn id="16" idx="1"/>
          </p:cNvCxnSpPr>
          <p:nvPr/>
        </p:nvCxnSpPr>
        <p:spPr>
          <a:xfrm>
            <a:off x="3114675" y="3048000"/>
            <a:ext cx="180975" cy="0"/>
          </a:xfrm>
          <a:prstGeom prst="straightConnector1">
            <a:avLst/>
          </a:prstGeom>
          <a:ln w="19050">
            <a:solidFill>
              <a:srgbClr val="E31346"/>
            </a:solidFill>
            <a:prstDash val="solid"/>
            <a:tailEnd type="triangle" w="sm" len="sm"/>
          </a:ln>
        </p:spPr>
      </p:cxnSp>
      <p:cxnSp>
        <p:nvCxnSpPr>
          <p:cNvPr id="111" name="直接箭头连接符 110"/>
          <p:cNvCxnSpPr>
            <a:stCxn id="16" idx="3"/>
            <a:endCxn id="21" idx="1"/>
          </p:cNvCxnSpPr>
          <p:nvPr/>
        </p:nvCxnSpPr>
        <p:spPr>
          <a:xfrm>
            <a:off x="4953000" y="3048000"/>
            <a:ext cx="180975" cy="0"/>
          </a:xfrm>
          <a:prstGeom prst="straightConnector1">
            <a:avLst/>
          </a:prstGeom>
          <a:ln w="19050">
            <a:solidFill>
              <a:srgbClr val="E31346"/>
            </a:solidFill>
            <a:prstDash val="solid"/>
            <a:tailEnd type="triangle" w="sm" len="sm"/>
          </a:ln>
        </p:spPr>
      </p:cxnSp>
      <p:cxnSp>
        <p:nvCxnSpPr>
          <p:cNvPr id="112" name="直接箭头连接符 111"/>
          <p:cNvCxnSpPr>
            <a:stCxn id="21" idx="3"/>
            <a:endCxn id="26" idx="1"/>
          </p:cNvCxnSpPr>
          <p:nvPr/>
        </p:nvCxnSpPr>
        <p:spPr>
          <a:xfrm>
            <a:off x="6791325" y="3048000"/>
            <a:ext cx="180975" cy="0"/>
          </a:xfrm>
          <a:prstGeom prst="straightConnector1">
            <a:avLst/>
          </a:prstGeom>
          <a:ln w="19050">
            <a:solidFill>
              <a:srgbClr val="E31346"/>
            </a:solidFill>
            <a:prstDash val="solid"/>
            <a:tailEnd type="triangle" w="sm" len="sm"/>
          </a:ln>
        </p:spPr>
      </p:cxnSp>
      <p:cxnSp>
        <p:nvCxnSpPr>
          <p:cNvPr id="113" name="直接箭头连接符 112"/>
          <p:cNvCxnSpPr>
            <a:stCxn id="26" idx="3"/>
            <a:endCxn id="31" idx="1"/>
          </p:cNvCxnSpPr>
          <p:nvPr/>
        </p:nvCxnSpPr>
        <p:spPr>
          <a:xfrm>
            <a:off x="8629650" y="3048000"/>
            <a:ext cx="180975" cy="0"/>
          </a:xfrm>
          <a:prstGeom prst="straightConnector1">
            <a:avLst/>
          </a:prstGeom>
          <a:ln w="19050">
            <a:solidFill>
              <a:srgbClr val="E31346"/>
            </a:solidFill>
            <a:prstDash val="solid"/>
            <a:tailEnd type="triangle" w="sm" len="sm"/>
          </a:ln>
        </p:spPr>
      </p:cxnSp>
      <p:sp>
        <p:nvSpPr>
          <p:cNvPr id="46" name="矩形: 圆角 45"/>
          <p:cNvSpPr>
            <a:spLocks noGrp="1"/>
          </p:cNvSpPr>
          <p:nvPr/>
        </p:nvSpPr>
        <p:spPr>
          <a:xfrm>
            <a:off x="491884" y="4267200"/>
            <a:ext cx="7524750" cy="2038350"/>
          </a:xfrm>
          <a:prstGeom prst="roundRect">
            <a:avLst>
              <a:gd name="adj" fmla="val 5607"/>
            </a:avLst>
          </a:prstGeom>
          <a:solidFill>
            <a:srgbClr val="F6F7F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23900" y="44005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81C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r>
              <a:rPr kumimoji="0" lang="en-US" altLang="zh-CN" sz="16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inal output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23900" y="4810125"/>
            <a:ext cx="1571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75" b="1">
                <a:solidFill>
                  <a:srgbClr val="181C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56,578</a:t>
            </a:r>
            <a:endParaRPr kumimoji="0" sz="2175" b="1" i="0" u="none" strike="noStrike" kern="1200" cap="none" spc="0" normalizeH="0" baseline="0" noProof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23900" y="5219700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7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NTU60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F1B68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samples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23900" y="5514975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9738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 / CV</a:t>
            </a:r>
            <a:endParaRPr kumimoji="0" sz="975" b="0" i="0" u="none" strike="noStrike" kern="1200" cap="none" spc="0" normalizeH="0" baseline="0" noProof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390775" y="4905375"/>
            <a:ext cx="9525" cy="1104900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543175" y="4810125"/>
            <a:ext cx="1571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75" b="1">
                <a:solidFill>
                  <a:srgbClr val="181C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113,945</a:t>
            </a:r>
            <a:endParaRPr kumimoji="0" sz="2175" b="1" i="0" u="none" strike="noStrike" kern="1200" cap="none" spc="0" normalizeH="0" baseline="0" noProof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2543175" y="5219700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7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NTU120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F1B68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samples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2543175" y="5514975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9738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CSub / CSet</a:t>
            </a:r>
            <a:endParaRPr kumimoji="0" sz="975" b="0" i="0" u="none" strike="noStrike" kern="1200" cap="none" spc="0" normalizeH="0" baseline="0" noProof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210050" y="4905375"/>
            <a:ext cx="9525" cy="1104900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4362450" y="4810125"/>
            <a:ext cx="1571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75" b="1">
                <a:solidFill>
                  <a:srgbClr val="181C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2175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kumimoji="0" sz="2175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362450" y="5219700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7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en-US" sz="1125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r>
              <a:rPr kumimoji="0" lang="en-US" altLang="zh-CN" sz="1125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ull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split NPZ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362450" y="5514975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9738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overlap</a:t>
            </a:r>
            <a:endParaRPr kumimoji="0" sz="975" b="0" i="0" u="none" strike="noStrike" kern="1200" cap="none" spc="0" normalizeH="0" baseline="0" noProof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6029325" y="4905375"/>
            <a:ext cx="9525" cy="1104900"/>
          </a:xfrm>
          <a:prstGeom prst="rect">
            <a:avLst/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6181725" y="4810125"/>
            <a:ext cx="1571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175" b="1">
                <a:solidFill>
                  <a:srgbClr val="E313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2175" b="1" i="0" u="none" strike="noStrike" kern="1200" cap="none" spc="0" normalizeH="0" baseline="0" noProof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24,732</a:t>
            </a:r>
            <a:endParaRPr kumimoji="0" sz="2175" b="1" i="0" u="none" strike="noStrike" kern="1200" cap="none" spc="0" normalizeH="0" baseline="0" noProof="0">
              <a:ln>
                <a:noFill/>
              </a:ln>
              <a:solidFill>
                <a:srgbClr val="E3134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181725" y="5219700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7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Interaction-26</a:t>
            </a:r>
            <a:endParaRPr kumimoji="0" sz="1125" b="1" i="0" u="none" strike="noStrike" kern="1200" cap="none" spc="0" normalizeH="0" baseline="0" noProof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6181725" y="5514975"/>
            <a:ext cx="1571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9738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13,072 / 11,660</a:t>
            </a:r>
            <a:endParaRPr kumimoji="0" sz="975" b="0" i="0" u="none" strike="noStrike" kern="1200" cap="none" spc="0" normalizeH="0" baseline="0" noProof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23900" y="5905500"/>
            <a:ext cx="70485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38B6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 pass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manifest、label、NaN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0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Inf、zero-only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layout 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38B6A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: 圆角 63"/>
          <p:cNvSpPr>
            <a:spLocks noGrp="1"/>
          </p:cNvSpPr>
          <p:nvPr/>
        </p:nvSpPr>
        <p:spPr>
          <a:xfrm>
            <a:off x="8248650" y="4267200"/>
            <a:ext cx="3371850" cy="2038350"/>
          </a:xfrm>
          <a:prstGeom prst="roundRect">
            <a:avLst>
              <a:gd name="adj" fmla="val 5607"/>
            </a:avLst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8496300" y="44196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4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Training Interface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8496300" y="485775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F6A9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F6A9B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Offline Storage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F6A9B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496300" y="509587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(N, 300, 150) · float32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496300" y="5457825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F6A9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6A9B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Feeder runtime</a:t>
            </a:r>
            <a:endParaRPr kumimoji="0" sz="1050" b="1" i="0" u="none" strike="noStrike" kern="1200" cap="none" spc="0" normalizeH="0" baseline="0" noProof="0">
              <a:ln>
                <a:noFill/>
              </a:ln>
              <a:solidFill>
                <a:srgbClr val="F6A9B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496300" y="56959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(N, 3, 64, 25, 2)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24700" y="3248264"/>
            <a:ext cx="131445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joint-2 translation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7192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171927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zero restore and padding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171927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228600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550" b="1">
                <a:solidFill>
                  <a:srgbClr val="181C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255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Multi-person audit</a:t>
            </a:r>
            <a:endParaRPr kumimoji="0" sz="255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695325"/>
            <a:ext cx="85725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E313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Interaction-26 · 24,732 samples · </a:t>
            </a:r>
            <a:r>
              <a:rPr kumimoji="0" sz="1125" b="1" i="0" u="none" strike="noStrike" kern="1200" cap="none" spc="0" normalizeH="0" baseline="0" noProof="0" dirty="0" err="1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bodyID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1125" b="1" i="0" u="none" strike="noStrike" kern="1200" cap="none" spc="0" normalizeH="0" baseline="0" noProof="0" dirty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kumimoji="0" lang="zh-CN" altLang="zh-CN" sz="1125" b="1" i="0" u="none" strike="noStrike" kern="1200" cap="none" spc="0" normalizeH="0" baseline="0" noProof="0" dirty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sed for Quality Auditing Only</a:t>
            </a:r>
            <a:endParaRPr kumimoji="0" sz="1125" b="1" i="0" u="none" strike="noStrike" kern="1200" cap="none" spc="0" normalizeH="0" baseline="0" noProof="0" dirty="0">
              <a:ln>
                <a:noFill/>
              </a:ln>
              <a:solidFill>
                <a:srgbClr val="E3134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9601"/>
            <a:ext cx="1905000" cy="683797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14350" y="6591300"/>
            <a:ext cx="323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82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EE6008 · HUMAN POSE ANALYTICS</a:t>
            </a:r>
            <a:endParaRPr kumimoji="0" sz="82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514350" y="1238250"/>
            <a:ext cx="11106150" cy="514350"/>
          </a:xfrm>
          <a:prstGeom prst="roundRect">
            <a:avLst>
              <a:gd name="adj" fmla="val 14815"/>
            </a:avLst>
          </a:prstGeom>
          <a:solidFill>
            <a:srgbClr val="FBE8EF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314450"/>
            <a:ext cx="106870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81C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Conclusion: 96.7% of samples ultimately retain two persons; limited filtering, trajectory merging, and slot switching may weaken person-identity continuity.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514350" y="2000250"/>
            <a:ext cx="6477000" cy="4305300"/>
          </a:xfrm>
          <a:prstGeom prst="roundRect">
            <a:avLst>
              <a:gd name="adj" fmla="val 2655"/>
            </a:avLst>
          </a:prstGeom>
          <a:solidFill>
            <a:srgbClr val="F6F7F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25527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214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6973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69738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Final Person Slots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69738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1866900" y="2571750"/>
            <a:ext cx="4533900" cy="209550"/>
          </a:xfrm>
          <a:prstGeom prst="roundRect">
            <a:avLst>
              <a:gd name="adj" fmla="val 50000"/>
            </a:avLst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1866900" y="2571750"/>
            <a:ext cx="4381500" cy="209550"/>
          </a:xfrm>
          <a:prstGeom prst="roundRect">
            <a:avLst>
              <a:gd name="adj" fmla="val 50000"/>
            </a:avLst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981200" y="2552700"/>
            <a:ext cx="2286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97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Two Persons</a:t>
            </a:r>
            <a:r>
              <a:rPr kumimoji="0" lang="zh-CN" altLang="en-US" sz="97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23,917  ·  96.7%</a:t>
            </a:r>
            <a:endParaRPr kumimoji="0" sz="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810125" y="2552700"/>
            <a:ext cx="14763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718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E313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975" b="1" i="0" u="none" strike="noStrike" kern="1200" cap="none" spc="0" normalizeH="0" baseline="0" noProof="0" dirty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Single Person:</a:t>
            </a:r>
            <a:r>
              <a:rPr kumimoji="0" sz="975" b="1" i="0" u="none" strike="noStrike" kern="1200" cap="none" spc="0" normalizeH="0" baseline="0" noProof="0" dirty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815 · 3.3%</a:t>
            </a:r>
            <a:endParaRPr kumimoji="0" sz="975" b="1" i="0" u="none" strike="noStrike" kern="1200" cap="none" spc="0" normalizeH="0" baseline="0" noProof="0" dirty="0">
              <a:ln>
                <a:noFill/>
              </a:ln>
              <a:solidFill>
                <a:srgbClr val="E3134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31051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17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&gt;2 raw body IDs</a:t>
            </a:r>
            <a:endParaRPr kumimoji="0" sz="1050" b="1" i="0" u="none" strike="noStrike" kern="1200" cap="none" spc="0" normalizeH="0" baseline="0" noProof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2571750" y="3143250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矩形: 圆角 19"/>
          <p:cNvSpPr>
            <a:spLocks noGrp="1"/>
          </p:cNvSpPr>
          <p:nvPr/>
        </p:nvSpPr>
        <p:spPr>
          <a:xfrm>
            <a:off x="2571750" y="3143250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829300" y="31051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E313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E3134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1,224</a:t>
            </a:r>
            <a:endParaRPr kumimoji="0" sz="1125" b="1" i="0" u="none" strike="noStrike" kern="1200" cap="none" spc="0" normalizeH="0" baseline="0" noProof="0">
              <a:ln>
                <a:noFill/>
              </a:ln>
              <a:solidFill>
                <a:srgbClr val="E3134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23900" y="36576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17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removed trajectories</a:t>
            </a:r>
            <a:endParaRPr kumimoji="0" sz="1050" b="1" i="0" u="none" strike="noStrike" kern="1200" cap="none" spc="0" normalizeH="0" baseline="0" noProof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: 圆角 22"/>
          <p:cNvSpPr>
            <a:spLocks noGrp="1"/>
          </p:cNvSpPr>
          <p:nvPr/>
        </p:nvSpPr>
        <p:spPr>
          <a:xfrm>
            <a:off x="2571750" y="3695700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矩形: 圆角 23"/>
          <p:cNvSpPr>
            <a:spLocks noGrp="1"/>
          </p:cNvSpPr>
          <p:nvPr/>
        </p:nvSpPr>
        <p:spPr>
          <a:xfrm>
            <a:off x="2571750" y="3695700"/>
            <a:ext cx="2009775" cy="171450"/>
          </a:xfrm>
          <a:prstGeom prst="roundRect">
            <a:avLst>
              <a:gd name="adj" fmla="val 50000"/>
            </a:avLst>
          </a:prstGeom>
          <a:solidFill>
            <a:srgbClr val="F05A78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829300" y="36576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F05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F05A7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782</a:t>
            </a:r>
            <a:endParaRPr kumimoji="0" sz="1125" b="1" i="0" u="none" strike="noStrike" kern="1200" cap="none" spc="0" normalizeH="0" baseline="0" noProof="0">
              <a:ln>
                <a:noFill/>
              </a:ln>
              <a:solidFill>
                <a:srgbClr val="F05A7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23900" y="42100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17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unassigned trajectories</a:t>
            </a:r>
            <a:endParaRPr kumimoji="0" sz="1050" b="1" i="0" u="none" strike="noStrike" kern="1200" cap="none" spc="0" normalizeH="0" baseline="0" noProof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2571750" y="4248150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矩形: 圆角 27"/>
          <p:cNvSpPr>
            <a:spLocks noGrp="1"/>
          </p:cNvSpPr>
          <p:nvPr/>
        </p:nvSpPr>
        <p:spPr>
          <a:xfrm>
            <a:off x="2571750" y="4248150"/>
            <a:ext cx="1304925" cy="171450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829300" y="42100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F2B8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F2B84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509</a:t>
            </a:r>
            <a:endParaRPr kumimoji="0" sz="1125" b="1" i="0" u="none" strike="noStrike" kern="1200" cap="none" spc="0" normalizeH="0" baseline="0" noProof="0">
              <a:ln>
                <a:noFill/>
              </a:ln>
              <a:solidFill>
                <a:srgbClr val="F2B84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23900" y="47625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17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non-overlap merging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: 圆角 30"/>
          <p:cNvSpPr>
            <a:spLocks noGrp="1"/>
          </p:cNvSpPr>
          <p:nvPr/>
        </p:nvSpPr>
        <p:spPr>
          <a:xfrm>
            <a:off x="2571750" y="4800600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矩形: 圆角 31"/>
          <p:cNvSpPr>
            <a:spLocks noGrp="1"/>
          </p:cNvSpPr>
          <p:nvPr/>
        </p:nvSpPr>
        <p:spPr>
          <a:xfrm>
            <a:off x="2571750" y="4800600"/>
            <a:ext cx="238125" cy="171450"/>
          </a:xfrm>
          <a:prstGeom prst="roundRect">
            <a:avLst>
              <a:gd name="adj" fmla="val 50000"/>
            </a:avLst>
          </a:prstGeom>
          <a:solidFill>
            <a:srgbClr val="38B6A5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829300" y="476250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38B6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38B6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94</a:t>
            </a:r>
            <a:endParaRPr kumimoji="0" sz="1125" b="1" i="0" u="none" strike="noStrike" kern="1200" cap="none" spc="0" normalizeH="0" baseline="0" noProof="0">
              <a:ln>
                <a:noFill/>
              </a:ln>
              <a:solidFill>
                <a:srgbClr val="38B6A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14362" y="5295900"/>
            <a:ext cx="200977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lvl="0" defTabSz="914400">
              <a:defRPr sz="1050" b="1">
                <a:solidFill>
                  <a:srgbClr val="171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slot </a:t>
            </a:r>
            <a:r>
              <a:rPr kumimoji="0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bodyID</a:t>
            </a: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switches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71A2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000" b="1" dirty="0"/>
              <a:t>events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171A2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: 圆角 34"/>
          <p:cNvSpPr>
            <a:spLocks noGrp="1"/>
          </p:cNvSpPr>
          <p:nvPr/>
        </p:nvSpPr>
        <p:spPr>
          <a:xfrm>
            <a:off x="2571750" y="5353050"/>
            <a:ext cx="3143250" cy="171450"/>
          </a:xfrm>
          <a:prstGeom prst="roundRect">
            <a:avLst>
              <a:gd name="adj" fmla="val 50000"/>
            </a:avLst>
          </a:prstGeom>
          <a:solidFill>
            <a:srgbClr val="D9DDEA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矩形: 圆角 35"/>
          <p:cNvSpPr>
            <a:spLocks noGrp="1"/>
          </p:cNvSpPr>
          <p:nvPr/>
        </p:nvSpPr>
        <p:spPr>
          <a:xfrm>
            <a:off x="2571750" y="5353050"/>
            <a:ext cx="247650" cy="171450"/>
          </a:xfrm>
          <a:prstGeom prst="roundRect">
            <a:avLst>
              <a:gd name="adj" fmla="val 50000"/>
            </a:avLst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829300" y="5314950"/>
            <a:ext cx="819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1">
                <a:solidFill>
                  <a:srgbClr val="181C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181C6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kumimoji="0" sz="1125" b="1" i="0" u="none" strike="noStrike" kern="1200" cap="none" spc="0" normalizeH="0" baseline="0" noProof="0">
              <a:ln>
                <a:noFill/>
              </a:ln>
              <a:solidFill>
                <a:srgbClr val="181C6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: 圆角 38"/>
          <p:cNvSpPr>
            <a:spLocks noGrp="1"/>
          </p:cNvSpPr>
          <p:nvPr/>
        </p:nvSpPr>
        <p:spPr>
          <a:xfrm>
            <a:off x="7239000" y="2000250"/>
            <a:ext cx="4381500" cy="4305300"/>
          </a:xfrm>
          <a:prstGeom prst="roundRect">
            <a:avLst>
              <a:gd name="adj" fmla="val 2655"/>
            </a:avLst>
          </a:prstGeom>
          <a:solidFill>
            <a:srgbClr val="181C62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524750" y="217170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48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Potential Issues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椭圆 40"/>
          <p:cNvSpPr>
            <a:spLocks noGrp="1"/>
          </p:cNvSpPr>
          <p:nvPr/>
        </p:nvSpPr>
        <p:spPr>
          <a:xfrm>
            <a:off x="7543800" y="2647950"/>
            <a:ext cx="171450" cy="171450"/>
          </a:xfrm>
          <a:prstGeom prst="ellipse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543800" y="264795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kumimoji="0" sz="7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829550" y="25622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43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11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Motion ranking determines person 0 / 1 and does not represent semantic identity.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椭圆 43"/>
          <p:cNvSpPr>
            <a:spLocks noGrp="1"/>
          </p:cNvSpPr>
          <p:nvPr/>
        </p:nvSpPr>
        <p:spPr>
          <a:xfrm>
            <a:off x="7543800" y="3143250"/>
            <a:ext cx="171450" cy="171450"/>
          </a:xfrm>
          <a:prstGeom prst="ellipse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543800" y="314325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kumimoji="0" sz="7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829550" y="30575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11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Non-overlapping trajectories may be merged into the same slot, potentially causing Body ID switches.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7543800" y="3638550"/>
            <a:ext cx="171450" cy="17145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543800" y="363855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kumimoji="0" sz="7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829550" y="35528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11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Additional trajectories overlapping with both occupied slots may be discarded.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7543800" y="4133850"/>
            <a:ext cx="171450" cy="17145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543800" y="413385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kumimoji="0" sz="7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7829550" y="40481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11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The final NPZ does not preserve the original Body IDs, preventing direct identity tracing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524750" y="4591050"/>
            <a:ext cx="3714750" cy="19050"/>
          </a:xfrm>
          <a:prstGeom prst="rect">
            <a:avLst/>
          </a:prstGeom>
          <a:solidFill>
            <a:srgbClr val="454A88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524750" y="4733925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202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F6A9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en-US" altLang="zh-CN" sz="1425" b="1" i="0" u="none" strike="noStrike" kern="1200" cap="none" spc="0" normalizeH="0" baseline="0" noProof="0" dirty="0">
                <a:ln>
                  <a:noFill/>
                </a:ln>
                <a:solidFill>
                  <a:srgbClr val="F6A9B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Possible Solutions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F6A9B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: 圆角 54"/>
          <p:cNvSpPr>
            <a:spLocks noGrp="1"/>
          </p:cNvSpPr>
          <p:nvPr/>
        </p:nvSpPr>
        <p:spPr>
          <a:xfrm>
            <a:off x="7524750" y="51054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7524750" y="5105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924800" y="506730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: 圆角 57"/>
          <p:cNvSpPr>
            <a:spLocks noGrp="1"/>
          </p:cNvSpPr>
          <p:nvPr/>
        </p:nvSpPr>
        <p:spPr>
          <a:xfrm>
            <a:off x="7524750" y="546735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524750" y="546735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924800" y="5457825"/>
            <a:ext cx="37909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Evaluate results separately by switch / merge / &gt;2-trajectory cases.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: 圆角 60"/>
          <p:cNvSpPr>
            <a:spLocks noGrp="1"/>
          </p:cNvSpPr>
          <p:nvPr/>
        </p:nvSpPr>
        <p:spPr>
          <a:xfrm>
            <a:off x="7524750" y="58293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7524750" y="58293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924800" y="5810250"/>
            <a:ext cx="3543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kumimoji="0" lang="zh-CN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Build a separate identity-aware data variant for comparison without replacing the baseline.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24800" y="5105286"/>
            <a:ext cx="3429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Keep the official-compatible baseline as the control.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514350" y="1428750"/>
            <a:ext cx="3143250" cy="4648200"/>
          </a:xfrm>
          <a:prstGeom prst="roundRect">
            <a:avLst>
              <a:gd name="adj" fmla="val 3636"/>
            </a:avLst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3905250" y="1428750"/>
            <a:ext cx="4762500" cy="464820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8915400" y="1428750"/>
            <a:ext cx="2705100" cy="4648200"/>
          </a:xfrm>
          <a:prstGeom prst="roundRect">
            <a:avLst>
              <a:gd name="adj" fmla="val 4225"/>
            </a:avLst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8915400" y="1428750"/>
            <a:ext cx="27051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757047" y="1675924"/>
            <a:ext cx="6905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 WEEK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166997" y="1675924"/>
            <a:ext cx="36397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IT CANNOT SERVE AS OUR BACKBONE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158097" y="1704499"/>
            <a:ext cx="14150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TECHNICAL TAKEAWAY</a:t>
            </a:r>
            <a:endParaRPr lang="en-US" sz="9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1396" y="543878"/>
            <a:ext cx="54864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Baseline Selection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53999" y="2154079"/>
            <a:ext cx="2120900" cy="2952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SkeletonX reviewed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87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Mentor suggested SkeletonX as our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starting point. We went through the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paper and the released code: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sample pairing, decoupled pooling,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loss set, the feeders and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both evaluation settings.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Finding: it is a training strategy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that wraps a backbone — not a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backbone, and therefore not a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baseline on its own.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164711" y="2170271"/>
            <a:ext cx="3568256" cy="774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strategy, not a network</a:t>
            </a:r>
            <a:endParaRPr lang="en-US" sz="14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Its own experiments plug the same pipeline into several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backbones to show the gain transfers.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55049" y="2173129"/>
            <a:ext cx="2331720" cy="10700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Two different</a:t>
            </a:r>
            <a:b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"identities"</a:t>
            </a:r>
            <a:endParaRPr lang="en-US" sz="15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900"/>
              </a:spcBef>
            </a:pP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it matters:</a:t>
            </a:r>
            <a:endParaRPr lang="en-US" sz="105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150"/>
              </a:spcBef>
            </a:pP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SkeletonX "subject" = who performed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clip. A sample-level attribute,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separated so the prediction does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 depend on who performs it.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Ours = who is who inside a single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sequence, i.e. the role each person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plays in the interaction.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Same word, different problem. So it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 related work, not our baseline.</a:t>
            </a:r>
            <a:endParaRPr lang="en-US" sz="112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840480" y="6665595"/>
            <a:ext cx="32918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SkeletonX · IEEE TMM 2025 · arXiv:2504.11749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24528" y="3017520"/>
            <a:ext cx="4160520" cy="420624"/>
          </a:xfrm>
          <a:prstGeom prst="roundRect">
            <a:avLst>
              <a:gd name="adj" fmla="val 22000"/>
            </a:avLst>
          </a:prstGeom>
          <a:solidFill>
            <a:srgbClr val="FCE9EE"/>
          </a:solidFill>
          <a:ln w="12700">
            <a:solidFill>
              <a:srgbClr val="D71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D71440"/>
                </a:solidFill>
                <a:latin typeface="Arial" panose="020B0604020202020204"/>
              </a:rPr>
              <a:t>SkeletonX  ·  training strategy</a:t>
            </a:r>
            <a:endParaRPr sz="1200" b="1">
              <a:solidFill>
                <a:srgbClr val="D71440"/>
              </a:solidFill>
              <a:latin typeface="Arial" panose="020B0604020202020204"/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6144768" y="3529584"/>
            <a:ext cx="310896" cy="384048"/>
          </a:xfrm>
          <a:prstGeom prst="down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621024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E6478"/>
                </a:solidFill>
                <a:latin typeface="Arial" panose="020B0604020202020204"/>
              </a:rPr>
              <a:t>plugs into</a:t>
            </a:r>
            <a:endParaRPr sz="1000" b="0">
              <a:solidFill>
                <a:srgbClr val="5E6478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24528" y="4041648"/>
            <a:ext cx="13258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20243A"/>
                </a:solidFill>
                <a:latin typeface="Arial" panose="020B0604020202020204"/>
              </a:rPr>
              <a:t>ST-GCN</a:t>
            </a:r>
            <a:endParaRPr sz="1200" b="1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641848" y="4041648"/>
            <a:ext cx="1325880" cy="475488"/>
          </a:xfrm>
          <a:prstGeom prst="roundRect">
            <a:avLst>
              <a:gd name="adj" fmla="val 18000"/>
            </a:avLst>
          </a:prstGeom>
          <a:solidFill>
            <a:srgbClr val="181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CTR-GCN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059168" y="4041648"/>
            <a:ext cx="13258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20243A"/>
                </a:solidFill>
                <a:latin typeface="Arial" panose="020B0604020202020204"/>
              </a:rPr>
              <a:t>TCA-GCN</a:t>
            </a:r>
            <a:endParaRPr sz="1200" b="1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26" name="Up Arrow 25"/>
          <p:cNvSpPr/>
          <p:nvPr/>
        </p:nvSpPr>
        <p:spPr>
          <a:xfrm>
            <a:off x="6144768" y="4590288"/>
            <a:ext cx="274320" cy="310896"/>
          </a:xfrm>
          <a:prstGeom prst="upArrow">
            <a:avLst/>
          </a:prstGeom>
          <a:solidFill>
            <a:srgbClr val="D7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95604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71440"/>
                </a:solidFill>
                <a:latin typeface="Arial" panose="020B0604020202020204"/>
              </a:rPr>
              <a:t>our backbone and baseline</a:t>
            </a:r>
            <a:endParaRPr sz="1100" b="1">
              <a:solidFill>
                <a:srgbClr val="D71440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24528" y="5376672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E6478"/>
                </a:solidFill>
                <a:latin typeface="Arial" panose="020B0604020202020204"/>
              </a:rPr>
              <a:t>The backbone is an argument to the method, so</a:t>
            </a:r>
            <a:endParaRPr sz="1050" b="0">
              <a:solidFill>
                <a:srgbClr val="5E6478"/>
              </a:solidFill>
              <a:latin typeface="Arial" panose="020B0604020202020204"/>
            </a:endParaRPr>
          </a:p>
          <a:p>
            <a:pPr algn="l"/>
            <a:r>
              <a:rPr sz="1050" b="0">
                <a:solidFill>
                  <a:srgbClr val="5E6478"/>
                </a:solidFill>
                <a:latin typeface="Arial" panose="020B0604020202020204"/>
              </a:rPr>
              <a:t>"SkeletonX" alone does not define a runnable system.</a:t>
            </a:r>
            <a:endParaRPr sz="1050" b="0">
              <a:solidFill>
                <a:srgbClr val="5E647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514350" y="1304925"/>
            <a:ext cx="11106150" cy="704850"/>
          </a:xfrm>
          <a:prstGeom prst="roundRect">
            <a:avLst>
              <a:gd name="adj" fmla="val 13514"/>
            </a:avLst>
          </a:prstGeom>
          <a:solidFill>
            <a:srgbClr val="FCE9E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514350" y="2238375"/>
            <a:ext cx="7467600" cy="3838575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8229600" y="2238375"/>
            <a:ext cx="3390900" cy="3838575"/>
          </a:xfrm>
          <a:prstGeom prst="roundRect">
            <a:avLst>
              <a:gd name="adj" fmla="val 3371"/>
            </a:avLst>
          </a:prstGeom>
          <a:solidFill>
            <a:srgbClr val="EEF1F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8229600" y="2238375"/>
            <a:ext cx="3390900" cy="4572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738188" y="1407795"/>
            <a:ext cx="10781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BASELINE DEFINITION</a:t>
            </a:r>
            <a:endParaRPr lang="en-US" sz="90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57047" y="2466499"/>
            <a:ext cx="28274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CODEBASE · DATA · TRAINING · EVALUATION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471916" y="2429828"/>
            <a:ext cx="9280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FINDINGS</a:t>
            </a:r>
            <a:endParaRPr lang="en-US" sz="10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1396" y="543878"/>
            <a:ext cx="73152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CTR-GCN Baseline · Setup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34949" y="1639729"/>
            <a:ext cx="100584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CTR-GCN · joint stream only · NTU RGB+D 120 mutual subset (26 classes) · X-Sub</a:t>
            </a:r>
            <a:endParaRPr lang="en-US" sz="15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54761" y="2894171"/>
            <a:ext cx="7040880" cy="7835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Repository already mapped</a:t>
            </a:r>
            <a:endParaRPr lang="en-US" sz="14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72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main.py (train / test entry)  ·  config/ (per-dataset yaml)  ·  model/ (CTR-GCN)  ·  feeders/ (data loading)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graph/ (skeleton topology)  ·  data/ (preprocessing scripts)  ·  ensemble.py (multi-stream late fusion)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469630" y="2945130"/>
            <a:ext cx="2376424" cy="111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Reproduction risks</a:t>
            </a:r>
            <a:endParaRPr lang="en-US" sz="150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950"/>
              </a:lnSpc>
              <a:spcBef>
                <a:spcPts val="600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· Headline numbers use four-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stream fusion; single stream is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lower. We state which we ran.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· ensemble.py aligns streams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by row index, not sample name.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 order must never change.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· No official mutual subset —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our filter rule goes in report.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840480" y="6665595"/>
            <a:ext cx="292608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CTR-GCN · Chen et al., ICCV 2021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794760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20204"/>
              </a:rPr>
              <a:t>data/</a:t>
            </a:r>
            <a:endParaRPr sz="1150" b="1">
              <a:solidFill>
                <a:srgbClr val="20243A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.skeleton → denoise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→ .npz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2368296" y="4160520"/>
            <a:ext cx="182880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69464" y="3794760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EEF1FA"/>
          </a:solidFill>
          <a:ln w="19050">
            <a:solidFill>
              <a:srgbClr val="D71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20204"/>
              </a:rPr>
              <a:t>feeders/</a:t>
            </a:r>
            <a:endParaRPr sz="1150" b="1">
              <a:solidFill>
                <a:srgbClr val="20243A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joint | bone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joint-mot. | bone-mot.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4160520" y="4160520"/>
            <a:ext cx="182880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3794760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20204"/>
              </a:rPr>
              <a:t>model/ + main.py</a:t>
            </a:r>
            <a:endParaRPr sz="1150" b="1">
              <a:solidFill>
                <a:srgbClr val="20243A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CTR-GCN, SGD+Nesterov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65 epochs, lr 0.1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5952743" y="4160520"/>
            <a:ext cx="182880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53912" y="3794760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5E6478"/>
                </a:solidFill>
                <a:latin typeface="Arial" panose="020B0604020202020204"/>
              </a:rPr>
              <a:t>ensemble.py</a:t>
            </a:r>
            <a:endParaRPr sz="1150" b="1">
              <a:solidFill>
                <a:srgbClr val="5E6478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weighted late fusion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  <a:p>
            <a:pPr algn="ctr"/>
            <a:r>
              <a:rPr sz="900" b="0">
                <a:solidFill>
                  <a:srgbClr val="5E6478"/>
                </a:solidFill>
                <a:latin typeface="Arial" panose="020B0604020202020204"/>
              </a:rPr>
              <a:t>0.6 / 0.6 / 0.4 / 0.4</a:t>
            </a:r>
            <a:endParaRPr sz="900" b="0">
              <a:solidFill>
                <a:srgbClr val="5E6478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69464" y="4791456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D71440"/>
                </a:solidFill>
                <a:latin typeface="Arial" panose="020B0604020202020204"/>
              </a:rPr>
              <a:t>Week 4: joint only</a:t>
            </a:r>
            <a:endParaRPr sz="1000" b="1">
              <a:solidFill>
                <a:srgbClr val="D71440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5175504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E6478"/>
                </a:solidFill>
                <a:latin typeface="Arial" panose="020B0604020202020204"/>
              </a:rPr>
              <a:t>Four-stream fusion is how CTR-GCN reports its SOTA numbers; we defer it and state the</a:t>
            </a:r>
            <a:endParaRPr sz="1050" b="0">
              <a:solidFill>
                <a:srgbClr val="5E6478"/>
              </a:solidFill>
              <a:latin typeface="Arial" panose="020B0604020202020204"/>
            </a:endParaRP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5E6478"/>
                </a:solidFill>
                <a:latin typeface="Arial" panose="020B0604020202020204"/>
              </a:rPr>
              <a:t>single-stream setting explicitly so our results stay internally comparable.</a:t>
            </a:r>
            <a:endParaRPr sz="1050" b="0">
              <a:solidFill>
                <a:srgbClr val="5E647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514350" y="1304925"/>
            <a:ext cx="1110615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501396" y="543878"/>
            <a:ext cx="73152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Where the person axis disappears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657600" y="6665595"/>
            <a:ext cx="384048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CTR-GCN model/ctrgcn.py · SkeletonX model/stdecouple.py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88920" y="1572768"/>
            <a:ext cx="210312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20204"/>
              </a:rPr>
              <a:t>GCN backbone</a:t>
            </a:r>
            <a:endParaRPr sz="1150" b="1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946903" y="1719072"/>
            <a:ext cx="201168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02936" y="1572768"/>
            <a:ext cx="2377440" cy="475488"/>
          </a:xfrm>
          <a:prstGeom prst="roundRect">
            <a:avLst>
              <a:gd name="adj" fmla="val 14000"/>
            </a:avLst>
          </a:prstGeom>
          <a:solidFill>
            <a:srgbClr val="FCE9EE"/>
          </a:solidFill>
          <a:ln w="19050">
            <a:solidFill>
              <a:srgbClr val="D71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D71440"/>
                </a:solidFill>
                <a:latin typeface="Arial" panose="020B0604020202020204"/>
              </a:rPr>
              <a:t>pool  T · V · M  →  vector</a:t>
            </a:r>
            <a:endParaRPr sz="1150" b="1">
              <a:solidFill>
                <a:srgbClr val="D71440"/>
              </a:solidFill>
              <a:latin typeface="Arial" panose="020B0604020202020204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7635240" y="1719072"/>
            <a:ext cx="201168" cy="182880"/>
          </a:xfrm>
          <a:prstGeom prst="rightArrow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91271" y="1572768"/>
            <a:ext cx="1920240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20243A"/>
                </a:solidFill>
                <a:latin typeface="Arial" panose="020B0604020202020204"/>
              </a:rPr>
              <a:t>FC classifier</a:t>
            </a:r>
            <a:endParaRPr sz="1150" b="1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1645920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0">
                <a:solidFill>
                  <a:srgbClr val="5E6478"/>
                </a:solidFill>
                <a:latin typeface="Arial" panose="020B0604020202020204"/>
              </a:rPr>
              <a:t>Both methods act</a:t>
            </a:r>
            <a:endParaRPr sz="1050" b="0">
              <a:solidFill>
                <a:srgbClr val="5E6478"/>
              </a:solidFill>
              <a:latin typeface="Arial" panose="020B0604020202020204"/>
            </a:endParaRPr>
          </a:p>
          <a:p>
            <a:pPr algn="r"/>
            <a:r>
              <a:rPr sz="1050" b="0">
                <a:solidFill>
                  <a:srgbClr val="5E6478"/>
                </a:solidFill>
                <a:latin typeface="Arial" panose="020B0604020202020204"/>
              </a:rPr>
              <a:t>at this one step</a:t>
            </a:r>
            <a:endParaRPr sz="1050" b="0">
              <a:solidFill>
                <a:srgbClr val="5E6478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2359152"/>
            <a:ext cx="3383280" cy="3566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542032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71440"/>
                </a:solidFill>
                <a:latin typeface="Arial" panose="020B0604020202020204"/>
              </a:rPr>
              <a:t>CTR-GCN  ·  OUR BASELINE</a:t>
            </a:r>
            <a:endParaRPr sz="1000" b="1">
              <a:solidFill>
                <a:srgbClr val="D71440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78408" y="2889504"/>
            <a:ext cx="2980944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0">
                <a:solidFill>
                  <a:srgbClr val="20243A"/>
                </a:solidFill>
                <a:latin typeface="Courier New" panose="02070309020205020404"/>
              </a:rPr>
              <a:t>x = x.view(N, M, c_new, -1)</a:t>
            </a:r>
            <a:endParaRPr sz="950" b="0">
              <a:solidFill>
                <a:srgbClr val="20243A"/>
              </a:solidFill>
              <a:latin typeface="Courier New" panose="02070309020205020404"/>
            </a:endParaRPr>
          </a:p>
          <a:p>
            <a:pPr algn="l"/>
            <a:r>
              <a:rPr sz="950" b="1">
                <a:solidFill>
                  <a:srgbClr val="D71440"/>
                </a:solidFill>
                <a:latin typeface="Courier New" panose="02070309020205020404"/>
              </a:rPr>
              <a:t>x = x.mean(3).mean(1)</a:t>
            </a:r>
            <a:endParaRPr sz="950" b="1">
              <a:solidFill>
                <a:srgbClr val="D71440"/>
              </a:solidFill>
              <a:latin typeface="Courier New" panose="02070309020205020404"/>
            </a:endParaRPr>
          </a:p>
          <a:p>
            <a:pPr algn="l"/>
            <a:r>
              <a:rPr sz="950" b="0">
                <a:solidFill>
                  <a:srgbClr val="20243A"/>
                </a:solidFill>
                <a:latin typeface="Courier New" panose="02070309020205020404"/>
              </a:rPr>
              <a:t>return self.fc(x)</a:t>
            </a:r>
            <a:endParaRPr sz="950" b="0">
              <a:solidFill>
                <a:srgbClr val="20243A"/>
              </a:solidFill>
              <a:latin typeface="Courier New" panose="020703090202050204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8408" y="393192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E6478"/>
                </a:solidFill>
                <a:latin typeface="Arial" panose="020B0604020202020204"/>
              </a:rPr>
              <a:t>mean(3)  collapses time and joints.</a:t>
            </a:r>
            <a:endParaRPr sz="1100" b="0">
              <a:solidFill>
                <a:srgbClr val="5E6478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5E6478"/>
                </a:solidFill>
                <a:latin typeface="Arial" panose="020B0604020202020204"/>
              </a:rPr>
              <a:t>mean(1)  collapses M, the person axis.</a:t>
            </a:r>
            <a:endParaRPr sz="1100" b="0">
              <a:solidFill>
                <a:srgbClr val="5E6478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0243A"/>
                </a:solidFill>
                <a:latin typeface="Arial" panose="020B0604020202020204"/>
              </a:rPr>
              <a:t>Each person is encoded separately, then</a:t>
            </a:r>
            <a:endParaRPr sz="1100" b="0">
              <a:solidFill>
                <a:srgbClr val="20243A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0243A"/>
                </a:solidFill>
                <a:latin typeface="Arial" panose="020B0604020202020204"/>
              </a:rPr>
              <a:t>the two feature vectors are averaged.</a:t>
            </a:r>
            <a:endParaRPr sz="1100" b="0">
              <a:solidFill>
                <a:srgbClr val="20243A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0243A"/>
                </a:solidFill>
                <a:latin typeface="Arial" panose="020B0604020202020204"/>
              </a:rPr>
              <a:t>The network never compares them.</a:t>
            </a:r>
            <a:endParaRPr sz="1100" b="1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26280" y="2359152"/>
            <a:ext cx="3383280" cy="3566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2542032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71440"/>
                </a:solidFill>
                <a:latin typeface="Arial" panose="020B0604020202020204"/>
              </a:rPr>
              <a:t>SKELETONX  ·  RELATED WORK</a:t>
            </a:r>
            <a:endParaRPr sz="1000" b="1">
              <a:solidFill>
                <a:srgbClr val="D71440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727448" y="2889504"/>
            <a:ext cx="2980944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950" b="1">
                <a:solidFill>
                  <a:srgbClr val="D71440"/>
                </a:solidFill>
                <a:latin typeface="Courier New" panose="02070309020205020404"/>
              </a:rPr>
              <a:t>x = ST_DecoupleNet(x)</a:t>
            </a:r>
            <a:endParaRPr sz="950" b="1">
              <a:solidFill>
                <a:srgbClr val="D71440"/>
              </a:solidFill>
              <a:latin typeface="Courier New" panose="02070309020205020404"/>
            </a:endParaRPr>
          </a:p>
          <a:p>
            <a:pPr algn="l"/>
            <a:r>
              <a:rPr sz="950" b="0">
                <a:solidFill>
                  <a:srgbClr val="20243A"/>
                </a:solidFill>
                <a:latin typeface="Courier New" panose="02070309020205020404"/>
              </a:rPr>
              <a:t>  mean over T -&gt; F_s  "subject"</a:t>
            </a:r>
            <a:endParaRPr sz="950" b="0">
              <a:solidFill>
                <a:srgbClr val="20243A"/>
              </a:solidFill>
              <a:latin typeface="Courier New" panose="02070309020205020404"/>
            </a:endParaRPr>
          </a:p>
          <a:p>
            <a:pPr algn="l"/>
            <a:r>
              <a:rPr sz="950" b="0">
                <a:solidFill>
                  <a:srgbClr val="20243A"/>
                </a:solidFill>
                <a:latin typeface="Courier New" panose="02070309020205020404"/>
              </a:rPr>
              <a:t>  mean over V -&gt; F_t  "action"</a:t>
            </a:r>
            <a:endParaRPr sz="950" b="0">
              <a:solidFill>
                <a:srgbClr val="20243A"/>
              </a:solidFill>
              <a:latin typeface="Courier New" panose="020703090202050204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27448" y="3931920"/>
            <a:ext cx="298094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E6478"/>
                </a:solidFill>
                <a:latin typeface="Arial" panose="020B0604020202020204"/>
              </a:rPr>
              <a:t>The same step, replaced by a learnable</a:t>
            </a:r>
            <a:endParaRPr sz="1100" b="0">
              <a:solidFill>
                <a:srgbClr val="5E6478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5E6478"/>
                </a:solidFill>
                <a:latin typeface="Arial" panose="020B0604020202020204"/>
              </a:rPr>
              <a:t>pooling that splits the feature in two.</a:t>
            </a:r>
            <a:endParaRPr sz="1100" b="0">
              <a:solidFill>
                <a:srgbClr val="5E6478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0243A"/>
                </a:solidFill>
                <a:latin typeface="Arial" panose="020B0604020202020204"/>
              </a:rPr>
              <a:t>It separates who from what — but "who"</a:t>
            </a:r>
            <a:endParaRPr sz="1100" b="0">
              <a:solidFill>
                <a:srgbClr val="20243A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20243A"/>
                </a:solidFill>
                <a:latin typeface="Arial" panose="020B0604020202020204"/>
              </a:rPr>
              <a:t>means which performer recorded the clip.</a:t>
            </a:r>
            <a:endParaRPr sz="1100" b="0">
              <a:solidFill>
                <a:srgbClr val="20243A"/>
              </a:solidFill>
              <a:latin typeface="Arial" panose="020B0604020202020204"/>
            </a:endParaRP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20243A"/>
                </a:solidFill>
                <a:latin typeface="Arial" panose="020B0604020202020204"/>
              </a:rPr>
              <a:t>Still one label per sample.</a:t>
            </a:r>
            <a:endParaRPr sz="1100" b="1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83879" y="2359152"/>
            <a:ext cx="3383280" cy="3566160"/>
          </a:xfrm>
          <a:prstGeom prst="roundRect">
            <a:avLst>
              <a:gd name="adj" fmla="val 14000"/>
            </a:avLst>
          </a:prstGeom>
          <a:solidFill>
            <a:srgbClr val="181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2542032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 panose="020B0604020202020204"/>
              </a:rPr>
              <a:t>OUR QUESTION</a:t>
            </a:r>
            <a:endParaRPr sz="1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85048" y="2926080"/>
            <a:ext cx="298094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 panose="020B0604020202020204"/>
              </a:rPr>
              <a:t>M is where instance identity lives.</a:t>
            </a:r>
            <a:endParaRPr sz="125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Arial" panose="020B0604020202020204"/>
              </a:rPr>
              <a:t>Averaging over M is a symmetric</a:t>
            </a:r>
            <a:endParaRPr sz="11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Arial" panose="020B0604020202020204"/>
              </a:rPr>
              <a:t>operation: swap the two people and</a:t>
            </a:r>
            <a:endParaRPr sz="11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Arial" panose="020B0604020202020204"/>
              </a:rPr>
              <a:t>the pooled vector is unchanged.</a:t>
            </a:r>
            <a:endParaRPr sz="11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B3C4"/>
                </a:solidFill>
                <a:latin typeface="Arial" panose="020B0604020202020204"/>
              </a:rPr>
              <a:t>So "A punches B" and "B punches A"</a:t>
            </a:r>
            <a:endParaRPr sz="1100" b="1">
              <a:solidFill>
                <a:srgbClr val="FFB3C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B3C4"/>
                </a:solidFill>
                <a:latin typeface="Arial" panose="020B0604020202020204"/>
              </a:rPr>
              <a:t>cannot be told apart at this point,</a:t>
            </a:r>
            <a:endParaRPr sz="1100" b="1">
              <a:solidFill>
                <a:srgbClr val="FFB3C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FFB3C4"/>
                </a:solidFill>
                <a:latin typeface="Arial" panose="020B0604020202020204"/>
              </a:rPr>
              <a:t>by construction.</a:t>
            </a:r>
            <a:endParaRPr sz="1100" b="1">
              <a:solidFill>
                <a:srgbClr val="FFB3C4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8C8C8"/>
                </a:solidFill>
                <a:latin typeface="Arial" panose="020B0604020202020204"/>
              </a:rPr>
              <a:t>Next: measure how much identity even</a:t>
            </a:r>
            <a:endParaRPr sz="1100" b="0">
              <a:solidFill>
                <a:srgbClr val="C8C8C8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8C8C8"/>
                </a:solidFill>
                <a:latin typeface="Arial" panose="020B0604020202020204"/>
              </a:rPr>
              <a:t>survives preprocessing (ID switches),</a:t>
            </a:r>
            <a:endParaRPr sz="1100" b="0">
              <a:solidFill>
                <a:srgbClr val="C8C8C8"/>
              </a:solidFill>
              <a:latin typeface="Arial" panose="020B0604020202020204"/>
            </a:endParaRP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8C8C8"/>
                </a:solidFill>
                <a:latin typeface="Arial" panose="020B0604020202020204"/>
              </a:rPr>
              <a:t>then decide what to do at this step.</a:t>
            </a:r>
            <a:endParaRPr sz="1100" b="0">
              <a:solidFill>
                <a:srgbClr val="C8C8C8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329184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428750"/>
            <a:ext cx="5286375" cy="2057400"/>
          </a:xfrm>
          <a:prstGeom prst="roundRect">
            <a:avLst>
              <a:gd name="adj" fmla="val 5556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6048375" y="1428750"/>
            <a:ext cx="5572125" cy="20574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D7144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14350" y="3714750"/>
            <a:ext cx="5286375" cy="2362200"/>
          </a:xfrm>
          <a:prstGeom prst="roundRect">
            <a:avLst>
              <a:gd name="adj" fmla="val 4839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6048375" y="3714750"/>
            <a:ext cx="5572125" cy="2362200"/>
          </a:xfrm>
          <a:prstGeom prst="roundRect">
            <a:avLst>
              <a:gd name="adj" fmla="val 4839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14350" y="1428750"/>
            <a:ext cx="95250" cy="20574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48375" y="3714750"/>
            <a:ext cx="95250" cy="23622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94766" y="163925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71440"/>
                </a:solidFill>
                <a:latin typeface="Arial" panose="020B0604020202020204"/>
              </a:rPr>
              <a:t>Exp 1:</a:t>
            </a:r>
            <a:r>
              <a:rPr sz="1400" b="1">
                <a:solidFill>
                  <a:srgbClr val="D71440"/>
                </a:solidFill>
                <a:latin typeface="Arial" panose="020B0604020202020204"/>
              </a:rPr>
              <a:t> Information Loss</a:t>
            </a:r>
            <a:endParaRPr lang="en-US" sz="105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328791" y="1639252"/>
            <a:ext cx="5010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71440"/>
                </a:solidFill>
                <a:latin typeface="Arial" panose="020B0604020202020204"/>
              </a:rPr>
              <a:t>Exp 2:</a:t>
            </a:r>
            <a:r>
              <a:rPr sz="1400" b="1">
                <a:solidFill>
                  <a:srgbClr val="D71440"/>
                </a:solidFill>
                <a:latin typeface="Arial" panose="020B0604020202020204"/>
              </a:rPr>
              <a:t> Component Analysis</a:t>
            </a:r>
            <a:endParaRPr lang="en-US" sz="105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4766" y="392525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1C62"/>
                </a:solidFill>
                <a:latin typeface="Arial" panose="020B0604020202020204"/>
              </a:rPr>
              <a:t>EXP 1 · REPRESENTATION CONTROL &amp; GOAL</a:t>
            </a:r>
            <a:endParaRPr lang="en-US" sz="105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28791" y="3925252"/>
            <a:ext cx="5010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EXP 2 · CAPACITY CONTROLS &amp; GOAL</a:t>
            </a:r>
            <a:endParaRPr lang="en-US" sz="10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1396" y="543878"/>
            <a:ext cx="9006840" cy="4987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0243A"/>
                </a:solidFill>
                <a:latin typeface="Arial" panose="020B0604020202020204"/>
              </a:rPr>
              <a:t>Representation &amp; Component Analysis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92099" y="2029968"/>
            <a:ext cx="4681728" cy="1298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0243A"/>
                </a:solidFill>
                <a:latin typeface="Arial" panose="020B0604020202020204"/>
              </a:rPr>
              <a:t>Evaluating the contribution of training strategies vs. baseline architectures.</a:t>
            </a:r>
            <a:endParaRPr lang="en-US" sz="15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0243A"/>
                </a:solidFill>
                <a:latin typeface="Arial" panose="020B0604020202020204"/>
              </a:rPr>
              <a:t>B0:</a:t>
            </a:r>
            <a:r>
              <a:rPr sz="1200" b="0">
                <a:solidFill>
                  <a:srgbClr val="20243A"/>
                </a:solidFill>
                <a:latin typeface="Arial" panose="020B0604020202020204"/>
              </a:rPr>
              <a:t> Original CTR-GCN (Reference w/o SkeletonX).</a:t>
            </a:r>
            <a:endParaRPr sz="1200" b="0">
              <a:solidFill>
                <a:srgbClr val="20243A"/>
              </a:solidFill>
              <a:latin typeface="Arial" panose="020B06040202020202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43A"/>
                </a:solidFill>
                <a:latin typeface="Arial" panose="020B0604020202020204"/>
              </a:rPr>
              <a:t>B1:</a:t>
            </a:r>
            <a:r>
              <a:rPr sz="1200" b="0">
                <a:solidFill>
                  <a:srgbClr val="20243A"/>
                </a:solidFill>
                <a:latin typeface="Arial" panose="020B0604020202020204"/>
              </a:rPr>
              <a:t> CTR-GCN + SkeletonX (Main Baseline).</a:t>
            </a:r>
            <a:endParaRPr sz="1200" b="0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326124" y="2029968"/>
            <a:ext cx="5010912" cy="1298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0243A"/>
                </a:solidFill>
                <a:latin typeface="Arial" panose="020B0604020202020204"/>
              </a:rPr>
              <a:t>Analyzing the retention of pair information during feature fusion.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0243A"/>
                </a:solidFill>
                <a:latin typeface="Arial" panose="020B0604020202020204"/>
              </a:rPr>
              <a:t>M1:</a:t>
            </a:r>
            <a:r>
              <a:rPr sz="1200" b="0">
                <a:solidFill>
                  <a:srgbClr val="20243A"/>
                </a:solidFill>
                <a:latin typeface="Arial" panose="020B0604020202020204"/>
              </a:rPr>
              <a:t> B1 + Pair-preserving fusion.</a:t>
            </a:r>
            <a:endParaRPr sz="1200" b="0">
              <a:solidFill>
                <a:srgbClr val="20243A"/>
              </a:solidFill>
              <a:latin typeface="Arial" panose="020B06040202020202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0243A"/>
                </a:solidFill>
                <a:latin typeface="Arial" panose="020B0604020202020204"/>
              </a:rPr>
              <a:t>M2:</a:t>
            </a:r>
            <a:r>
              <a:rPr sz="1200" b="0">
                <a:solidFill>
                  <a:srgbClr val="20243A"/>
                </a:solidFill>
                <a:latin typeface="Arial" panose="020B0604020202020204"/>
              </a:rPr>
              <a:t> M1 + Geometric features (relative displacement, distance, velocity).</a:t>
            </a:r>
            <a:endParaRPr sz="1200" b="0">
              <a:solidFill>
                <a:srgbClr val="20243A"/>
              </a:solidFill>
              <a:latin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92099" y="4325112"/>
            <a:ext cx="4681728" cy="1572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81C62"/>
                </a:solidFill>
                <a:latin typeface="Arial" panose="020B0604020202020204"/>
              </a:rPr>
              <a:t>P0:</a:t>
            </a:r>
            <a:r>
              <a:rPr sz="1200" b="0">
                <a:solidFill>
                  <a:srgbClr val="181C62"/>
                </a:solidFill>
                <a:latin typeface="Arial" panose="020B0604020202020204"/>
              </a:rPr>
              <a:t> Standard PoseC3D (Fused person heatmaps).</a:t>
            </a:r>
            <a:endParaRPr lang="en-US" sz="1580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81C62"/>
                </a:solidFill>
                <a:latin typeface="Arial" panose="020B0604020202020204"/>
              </a:rPr>
              <a:t>P1:</a:t>
            </a:r>
            <a:r>
              <a:rPr sz="1200" b="0">
                <a:solidFill>
                  <a:srgbClr val="181C62"/>
                </a:solidFill>
                <a:latin typeface="Arial" panose="020B0604020202020204"/>
              </a:rPr>
              <a:t> PoseC3D with shared per-person encoding &amp; late fusion (Control for P0).</a:t>
            </a:r>
            <a:endParaRPr sz="1200" b="0">
              <a:solidFill>
                <a:srgbClr val="181C62"/>
              </a:solidFill>
              <a:latin typeface="Arial" panose="020B06040202020202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1C62"/>
                </a:solidFill>
                <a:latin typeface="Arial" panose="020B0604020202020204"/>
              </a:rPr>
              <a:t>Goal:</a:t>
            </a:r>
            <a:r>
              <a:rPr sz="1200" b="0">
                <a:solidFill>
                  <a:srgbClr val="181C62"/>
                </a:solidFill>
                <a:latin typeface="Arial" panose="020B0604020202020204"/>
              </a:rPr>
              <a:t> Isolate the impact of SkeletonX and test the identity-information loss hypothesis.</a:t>
            </a:r>
            <a:endParaRPr sz="1200" b="0">
              <a:solidFill>
                <a:srgbClr val="181C62"/>
              </a:solidFill>
              <a:latin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26124" y="4325112"/>
            <a:ext cx="5010912" cy="1572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 panose="020B0604020202020204"/>
              </a:rPr>
              <a:t>C1:</a:t>
            </a:r>
            <a:r>
              <a:rPr sz="1200" b="0">
                <a:solidFill>
                  <a:srgbClr val="FFFFFF"/>
                </a:solidFill>
                <a:latin typeface="Arial" panose="020B0604020202020204"/>
              </a:rPr>
              <a:t> B1 + Capacity-matched ordinary head (Control).</a:t>
            </a:r>
            <a:endParaRPr lang="en-US" sz="15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rial" panose="020B0604020202020204"/>
              </a:rPr>
              <a:t>C2:</a:t>
            </a:r>
            <a:r>
              <a:rPr sz="1200" b="0">
                <a:solidFill>
                  <a:srgbClr val="FFFFFF"/>
                </a:solidFill>
                <a:latin typeface="Arial" panose="020B0604020202020204"/>
              </a:rPr>
              <a:t> M2 without SkeletonX strategy (Control).</a:t>
            </a:r>
            <a:endParaRPr sz="1200" b="0">
              <a:solidFill>
                <a:srgbClr val="FFFFFF"/>
              </a:solidFill>
              <a:latin typeface="Arial" panose="020B0604020202020204"/>
            </a:endParaRP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 panose="020B0604020202020204"/>
              </a:rPr>
              <a:t>Goal:</a:t>
            </a:r>
            <a:r>
              <a:rPr sz="1200" b="0">
                <a:solidFill>
                  <a:srgbClr val="FFFFFF"/>
                </a:solidFill>
                <a:latin typeface="Arial" panose="020B0604020202020204"/>
              </a:rPr>
              <a:t> Prove that explicit geometry modeling outperforms a naive increase in parameter capacity (C1).</a:t>
            </a:r>
            <a:endParaRPr sz="12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Arial" panose="020B0604020202020204"/>
              </a:rPr>
              <a:t>9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solidFill/>
          </a:ln>
        </p:spPr>
        <p:txBody>
          <a:bodyPr/>
          <a:p/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solid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3291840" cy="190690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solidFill/>
          </a:ln>
        </p:spPr>
        <p:txBody>
          <a:bodyPr/>
          <a:p/>
        </p:txBody>
      </p:sp>
      <p:sp>
        <p:nvSpPr>
          <p:cNvPr id="7" name="Rectangle 7"/>
          <p:cNvSpPr/>
          <p:nvPr/>
        </p:nvSpPr>
        <p:spPr>
          <a:xfrm>
            <a:off x="514350" y="1304925"/>
            <a:ext cx="1110615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501396" y="543878"/>
            <a:ext cx="9006840" cy="498729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sz="2550" b="1">
                <a:solidFill>
                  <a:srgbClr val="20243A"/>
                </a:solidFill>
                <a:latin typeface="Arial"/>
              </a:rPr>
              <a:t>Representation &amp; Component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18546" y="6665595"/>
            <a:ext cx="4114800" cy="1762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 anchorCtr="0">
            <a:spAutoFit/>
          </a:bodyPr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11085233" y="6665595"/>
            <a:ext cx="877824" cy="1762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" y="1527048"/>
            <a:ext cx="5147126" cy="4315968"/>
          </a:xfrm>
          <a:prstGeom prst="roundRect">
            <a:avLst>
              <a:gd name="adj" fmla="val 1799"/>
            </a:avLst>
          </a:prstGeom>
          <a:solidFill>
            <a:srgbClr val="181C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" y="1559052"/>
            <a:ext cx="5147126" cy="4283964"/>
          </a:xfrm>
          <a:prstGeom prst="roundRect">
            <a:avLst>
              <a:gd name="adj" fmla="val 1799"/>
            </a:avLst>
          </a:prstGeom>
          <a:solidFill>
            <a:srgbClr val="F8F9F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55441" y="1527048"/>
            <a:ext cx="5147126" cy="4315968"/>
          </a:xfrm>
          <a:prstGeom prst="roundRect">
            <a:avLst>
              <a:gd name="adj" fmla="val 1799"/>
            </a:avLst>
          </a:prstGeom>
          <a:solidFill>
            <a:srgbClr val="181C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5441" y="1559052"/>
            <a:ext cx="5147126" cy="4283964"/>
          </a:xfrm>
          <a:prstGeom prst="roundRect">
            <a:avLst>
              <a:gd name="adj" fmla="val 1799"/>
            </a:avLst>
          </a:prstGeom>
          <a:solidFill>
            <a:srgbClr val="F8F9F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5"/>
          <p:cNvSpPr txBox="1"/>
          <p:nvPr/>
        </p:nvSpPr>
        <p:spPr>
          <a:xfrm>
            <a:off x="1108315" y="1881586"/>
            <a:ext cx="4632413" cy="3090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2004" i="0" u="none">
                <a:solidFill>
                  <a:srgbClr val="181C62"/>
                </a:solidFill>
                <a:latin typeface="Arial"/>
              </a:rPr>
              <a:t>Exp 1: Information Loss</a:t>
            </a:r>
          </a:p>
        </p:txBody>
      </p:sp>
      <p:sp>
        <p:nvSpPr>
          <p:cNvPr id="16" name="TextBox 6"/>
          <p:cNvSpPr txBox="1"/>
          <p:nvPr/>
        </p:nvSpPr>
        <p:spPr>
          <a:xfrm>
            <a:off x="1108315" y="2327032"/>
            <a:ext cx="4411822" cy="523569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288" i="0" u="none">
                <a:solidFill>
                  <a:srgbClr val="334155"/>
                </a:solidFill>
                <a:latin typeface="Arial"/>
              </a:rPr>
              <a:t>Evaluating the contribution of training strategies vs. baseline architectures.</a:t>
            </a:r>
          </a:p>
        </p:txBody>
      </p:sp>
      <p:sp>
        <p:nvSpPr>
          <p:cNvPr id="17" name="TextBox 7"/>
          <p:cNvSpPr txBox="1"/>
          <p:nvPr/>
        </p:nvSpPr>
        <p:spPr>
          <a:xfrm>
            <a:off x="1108315" y="4914057"/>
            <a:ext cx="4411822" cy="474421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145" i="0" u="none">
                <a:solidFill>
                  <a:srgbClr val="64748B"/>
                </a:solidFill>
                <a:latin typeface="Arial"/>
              </a:rPr>
              <a:t>Goal: Isolate the impact of SkeletonX and test the identity-information loss hypothesis.</a:t>
            </a:r>
          </a:p>
        </p:txBody>
      </p:sp>
      <p:sp>
        <p:nvSpPr>
          <p:cNvPr id="18" name="Rectangle 8"/>
          <p:cNvSpPr/>
          <p:nvPr/>
        </p:nvSpPr>
        <p:spPr>
          <a:xfrm>
            <a:off x="1108315" y="4732242"/>
            <a:ext cx="4411822" cy="9090"/>
          </a:xfrm>
          <a:prstGeom prst="rect">
            <a:avLst/>
          </a:prstGeom>
          <a:solidFill>
            <a:srgbClr val="E2E8F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9"/>
          <p:cNvSpPr txBox="1"/>
          <p:nvPr/>
        </p:nvSpPr>
        <p:spPr>
          <a:xfrm>
            <a:off x="6623093" y="1881586"/>
            <a:ext cx="4632413" cy="3090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2004" i="0" u="none">
                <a:solidFill>
                  <a:srgbClr val="181C62"/>
                </a:solidFill>
                <a:latin typeface="Arial"/>
              </a:rPr>
              <a:t>Exp 2: Component Analysis</a:t>
            </a:r>
          </a:p>
        </p:txBody>
      </p:sp>
      <p:sp>
        <p:nvSpPr>
          <p:cNvPr id="20" name="TextBox 10"/>
          <p:cNvSpPr txBox="1"/>
          <p:nvPr/>
        </p:nvSpPr>
        <p:spPr>
          <a:xfrm>
            <a:off x="6623093" y="2327032"/>
            <a:ext cx="4411822" cy="523569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288" i="0" u="none">
                <a:solidFill>
                  <a:srgbClr val="334155"/>
                </a:solidFill>
                <a:latin typeface="Arial"/>
              </a:rPr>
              <a:t>Analyzing the retention of pair information during feature fusion.</a:t>
            </a:r>
          </a:p>
        </p:txBody>
      </p:sp>
      <p:sp>
        <p:nvSpPr>
          <p:cNvPr id="21" name="TextBox 11"/>
          <p:cNvSpPr txBox="1"/>
          <p:nvPr/>
        </p:nvSpPr>
        <p:spPr>
          <a:xfrm>
            <a:off x="6623093" y="4914057"/>
            <a:ext cx="4411822" cy="474421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145" i="0" u="none">
                <a:solidFill>
                  <a:srgbClr val="64748B"/>
                </a:solidFill>
                <a:latin typeface="Arial"/>
              </a:rPr>
              <a:t>Goal: Prove that explicit geometry modeling outperforms a naive increase in parameter capacity (C1).</a:t>
            </a:r>
          </a:p>
        </p:txBody>
      </p:sp>
      <p:sp>
        <p:nvSpPr>
          <p:cNvPr id="22" name="Rectangle 12"/>
          <p:cNvSpPr/>
          <p:nvPr/>
        </p:nvSpPr>
        <p:spPr>
          <a:xfrm>
            <a:off x="6623093" y="4732242"/>
            <a:ext cx="4411822" cy="9090"/>
          </a:xfrm>
          <a:prstGeom prst="rect">
            <a:avLst/>
          </a:prstGeom>
          <a:solidFill>
            <a:srgbClr val="E2E8F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13"/>
          <p:cNvSpPr txBox="1"/>
          <p:nvPr/>
        </p:nvSpPr>
        <p:spPr>
          <a:xfrm>
            <a:off x="1338098" y="2986963"/>
            <a:ext cx="4182039" cy="261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88" i="0" u="none">
                <a:solidFill>
                  <a:srgbClr val="D71440"/>
                </a:solidFill>
                <a:latin typeface="Arial"/>
              </a:rPr>
              <a:t>B0:</a:t>
            </a:r>
            <a:r>
              <a:rPr b="0" sz="1288" i="0" u="none">
                <a:solidFill>
                  <a:srgbClr val="334155"/>
                </a:solidFill>
                <a:latin typeface="Arial"/>
              </a:rPr>
              <a:t> Original CTR-GCN (Reference w/o SkeletonX).</a:t>
            </a:r>
          </a:p>
        </p:txBody>
      </p:sp>
      <p:sp>
        <p:nvSpPr>
          <p:cNvPr id="24" name="TextBox 14"/>
          <p:cNvSpPr txBox="1"/>
          <p:nvPr/>
        </p:nvSpPr>
        <p:spPr>
          <a:xfrm>
            <a:off x="1338098" y="3357837"/>
            <a:ext cx="4182039" cy="261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88" i="0" u="none">
                <a:solidFill>
                  <a:srgbClr val="D71440"/>
                </a:solidFill>
                <a:latin typeface="Arial"/>
              </a:rPr>
              <a:t>B1:</a:t>
            </a:r>
            <a:r>
              <a:rPr b="0" sz="1288" i="0" u="none">
                <a:solidFill>
                  <a:srgbClr val="334155"/>
                </a:solidFill>
                <a:latin typeface="Arial"/>
              </a:rPr>
              <a:t> CTR-GCN + SkeletonX (Main Baseline).</a:t>
            </a:r>
          </a:p>
        </p:txBody>
      </p:sp>
      <p:sp>
        <p:nvSpPr>
          <p:cNvPr id="25" name="TextBox 15"/>
          <p:cNvSpPr txBox="1"/>
          <p:nvPr/>
        </p:nvSpPr>
        <p:spPr>
          <a:xfrm>
            <a:off x="1338098" y="3728710"/>
            <a:ext cx="4182039" cy="261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88" i="0" u="none">
                <a:solidFill>
                  <a:srgbClr val="D71440"/>
                </a:solidFill>
                <a:latin typeface="Arial"/>
              </a:rPr>
              <a:t>P0:</a:t>
            </a:r>
            <a:r>
              <a:rPr b="0" sz="1288" i="0" u="none">
                <a:solidFill>
                  <a:srgbClr val="334155"/>
                </a:solidFill>
                <a:latin typeface="Arial"/>
              </a:rPr>
              <a:t> Standard PoseC3D (Fused person heatmaps).</a:t>
            </a:r>
          </a:p>
        </p:txBody>
      </p:sp>
      <p:sp>
        <p:nvSpPr>
          <p:cNvPr id="26" name="TextBox 16"/>
          <p:cNvSpPr txBox="1"/>
          <p:nvPr/>
        </p:nvSpPr>
        <p:spPr>
          <a:xfrm>
            <a:off x="1338098" y="4099583"/>
            <a:ext cx="4182039" cy="523569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88" i="0" u="none">
                <a:solidFill>
                  <a:srgbClr val="D71440"/>
                </a:solidFill>
                <a:latin typeface="Arial"/>
              </a:rPr>
              <a:t>P1:</a:t>
            </a:r>
            <a:r>
              <a:rPr b="0" sz="1288" i="0" u="none">
                <a:solidFill>
                  <a:srgbClr val="334155"/>
                </a:solidFill>
                <a:latin typeface="Arial"/>
              </a:rPr>
              <a:t> PoseC3D with shared per-person encoding &amp; late fusion (Control for P0).</a:t>
            </a:r>
          </a:p>
        </p:txBody>
      </p:sp>
      <p:sp>
        <p:nvSpPr>
          <p:cNvPr id="27" name="TextBox 17"/>
          <p:cNvSpPr txBox="1"/>
          <p:nvPr/>
        </p:nvSpPr>
        <p:spPr>
          <a:xfrm>
            <a:off x="6852876" y="2986963"/>
            <a:ext cx="4182039" cy="261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88" i="0" u="none">
                <a:solidFill>
                  <a:srgbClr val="D71440"/>
                </a:solidFill>
                <a:latin typeface="Arial"/>
              </a:rPr>
              <a:t>M1:</a:t>
            </a:r>
            <a:r>
              <a:rPr b="0" sz="1288" i="0" u="none">
                <a:solidFill>
                  <a:srgbClr val="334155"/>
                </a:solidFill>
                <a:latin typeface="Arial"/>
              </a:rPr>
              <a:t> B1 + Pair-preserving fusion.</a:t>
            </a:r>
          </a:p>
        </p:txBody>
      </p:sp>
      <p:sp>
        <p:nvSpPr>
          <p:cNvPr id="28" name="TextBox 18"/>
          <p:cNvSpPr txBox="1"/>
          <p:nvPr/>
        </p:nvSpPr>
        <p:spPr>
          <a:xfrm>
            <a:off x="6852876" y="3357837"/>
            <a:ext cx="4182039" cy="523569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88" i="0" u="none">
                <a:solidFill>
                  <a:srgbClr val="D71440"/>
                </a:solidFill>
                <a:latin typeface="Arial"/>
              </a:rPr>
              <a:t>M2:</a:t>
            </a:r>
            <a:r>
              <a:rPr b="0" sz="1288" i="0" u="none">
                <a:solidFill>
                  <a:srgbClr val="334155"/>
                </a:solidFill>
                <a:latin typeface="Arial"/>
              </a:rPr>
              <a:t> M1 + Geometric features (relative displacement, distance, velocity).</a:t>
            </a:r>
          </a:p>
        </p:txBody>
      </p:sp>
      <p:sp>
        <p:nvSpPr>
          <p:cNvPr id="29" name="TextBox 19"/>
          <p:cNvSpPr txBox="1"/>
          <p:nvPr/>
        </p:nvSpPr>
        <p:spPr>
          <a:xfrm>
            <a:off x="6852876" y="3990495"/>
            <a:ext cx="4182039" cy="261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88" i="0" u="none">
                <a:solidFill>
                  <a:srgbClr val="D71440"/>
                </a:solidFill>
                <a:latin typeface="Arial"/>
              </a:rPr>
              <a:t>C1:</a:t>
            </a:r>
            <a:r>
              <a:rPr b="0" sz="1288" i="0" u="none">
                <a:solidFill>
                  <a:srgbClr val="334155"/>
                </a:solidFill>
                <a:latin typeface="Arial"/>
              </a:rPr>
              <a:t> B1 + Capacity-matched ordinary head (Control).</a:t>
            </a:r>
          </a:p>
        </p:txBody>
      </p:sp>
      <p:sp>
        <p:nvSpPr>
          <p:cNvPr id="30" name="TextBox 20"/>
          <p:cNvSpPr txBox="1"/>
          <p:nvPr/>
        </p:nvSpPr>
        <p:spPr>
          <a:xfrm>
            <a:off x="6852876" y="4361369"/>
            <a:ext cx="4182039" cy="261784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88" i="0" u="none">
                <a:solidFill>
                  <a:srgbClr val="D71440"/>
                </a:solidFill>
                <a:latin typeface="Arial"/>
              </a:rPr>
              <a:t>C2:</a:t>
            </a:r>
            <a:r>
              <a:rPr b="0" sz="1288" i="0" u="none">
                <a:solidFill>
                  <a:srgbClr val="334155"/>
                </a:solidFill>
                <a:latin typeface="Arial"/>
              </a:rPr>
              <a:t> M2 without SkeletonX strategy (Control).</a:t>
            </a:r>
          </a:p>
        </p:txBody>
      </p:sp>
      <p:sp>
        <p:nvSpPr>
          <p:cNvPr id="31" name="TextBox 21"/>
          <p:cNvSpPr txBox="1"/>
          <p:nvPr/>
        </p:nvSpPr>
        <p:spPr>
          <a:xfrm>
            <a:off x="1108315" y="3023326"/>
            <a:ext cx="73530" cy="1999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002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  <p:sp>
        <p:nvSpPr>
          <p:cNvPr id="32" name="TextBox 22"/>
          <p:cNvSpPr txBox="1"/>
          <p:nvPr/>
        </p:nvSpPr>
        <p:spPr>
          <a:xfrm>
            <a:off x="1108315" y="3394200"/>
            <a:ext cx="73530" cy="1999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002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  <p:sp>
        <p:nvSpPr>
          <p:cNvPr id="33" name="TextBox 23"/>
          <p:cNvSpPr txBox="1"/>
          <p:nvPr/>
        </p:nvSpPr>
        <p:spPr>
          <a:xfrm>
            <a:off x="1108315" y="3765073"/>
            <a:ext cx="73530" cy="1999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002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  <p:sp>
        <p:nvSpPr>
          <p:cNvPr id="34" name="TextBox 24"/>
          <p:cNvSpPr txBox="1"/>
          <p:nvPr/>
        </p:nvSpPr>
        <p:spPr>
          <a:xfrm>
            <a:off x="1108315" y="4135946"/>
            <a:ext cx="73530" cy="1999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002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  <p:sp>
        <p:nvSpPr>
          <p:cNvPr id="35" name="TextBox 25"/>
          <p:cNvSpPr txBox="1"/>
          <p:nvPr/>
        </p:nvSpPr>
        <p:spPr>
          <a:xfrm>
            <a:off x="6623093" y="3023326"/>
            <a:ext cx="73530" cy="1999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002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  <p:sp>
        <p:nvSpPr>
          <p:cNvPr id="36" name="TextBox 26"/>
          <p:cNvSpPr txBox="1"/>
          <p:nvPr/>
        </p:nvSpPr>
        <p:spPr>
          <a:xfrm>
            <a:off x="6623093" y="3394200"/>
            <a:ext cx="73530" cy="1999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002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  <p:sp>
        <p:nvSpPr>
          <p:cNvPr id="37" name="TextBox 27"/>
          <p:cNvSpPr txBox="1"/>
          <p:nvPr/>
        </p:nvSpPr>
        <p:spPr>
          <a:xfrm>
            <a:off x="6623093" y="4026857"/>
            <a:ext cx="73530" cy="1999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002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  <p:sp>
        <p:nvSpPr>
          <p:cNvPr id="38" name="TextBox 28"/>
          <p:cNvSpPr txBox="1"/>
          <p:nvPr/>
        </p:nvSpPr>
        <p:spPr>
          <a:xfrm>
            <a:off x="6623093" y="4397732"/>
            <a:ext cx="73530" cy="19999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002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solidFill/>
          </a:ln>
        </p:spPr>
        <p:txBody>
          <a:bodyPr/>
          <a:p/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solid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471297" y="6667024"/>
            <a:ext cx="3291840" cy="190690"/>
          </a:xfrm>
          <a:prstGeom prst="rect">
            <a:avLst/>
          </a:prstGeom>
          <a:noFill/>
          <a:ln>
            <a:solid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solidFill/>
          </a:ln>
        </p:spPr>
        <p:txBody>
          <a:bodyPr/>
          <a:p/>
        </p:txBody>
      </p:sp>
      <p:sp>
        <p:nvSpPr>
          <p:cNvPr id="7" name="Rectangle 7"/>
          <p:cNvSpPr/>
          <p:nvPr/>
        </p:nvSpPr>
        <p:spPr>
          <a:xfrm>
            <a:off x="514350" y="1304925"/>
            <a:ext cx="1110615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501396" y="543878"/>
            <a:ext cx="9006840" cy="498729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sz="2550" b="1">
                <a:solidFill>
                  <a:srgbClr val="20243A"/>
                </a:solidFill>
                <a:latin typeface="Arial"/>
              </a:rPr>
              <a:t>Pipeline Invariance &amp; Asymmetric Roles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18546" y="6665595"/>
            <a:ext cx="4114800" cy="1762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 anchorCtr="0">
            <a:spAutoFit/>
          </a:bodyPr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11085233" y="6665595"/>
            <a:ext cx="877824" cy="17621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" y="1527048"/>
            <a:ext cx="5147126" cy="4315968"/>
          </a:xfrm>
          <a:prstGeom prst="roundRect">
            <a:avLst>
              <a:gd name="adj" fmla="val 1799"/>
            </a:avLst>
          </a:prstGeom>
          <a:solidFill>
            <a:srgbClr val="181C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" y="1559052"/>
            <a:ext cx="5147126" cy="4283964"/>
          </a:xfrm>
          <a:prstGeom prst="roundRect">
            <a:avLst>
              <a:gd name="adj" fmla="val 1799"/>
            </a:avLst>
          </a:prstGeom>
          <a:solidFill>
            <a:srgbClr val="F8F9F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55441" y="1527048"/>
            <a:ext cx="5147126" cy="4315968"/>
          </a:xfrm>
          <a:prstGeom prst="roundRect">
            <a:avLst>
              <a:gd name="adj" fmla="val 1799"/>
            </a:avLst>
          </a:prstGeom>
          <a:solidFill>
            <a:srgbClr val="181C6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5441" y="1559052"/>
            <a:ext cx="5147126" cy="4283964"/>
          </a:xfrm>
          <a:prstGeom prst="roundRect">
            <a:avLst>
              <a:gd name="adj" fmla="val 1799"/>
            </a:avLst>
          </a:prstGeom>
          <a:solidFill>
            <a:srgbClr val="F8F9F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5"/>
          <p:cNvSpPr txBox="1"/>
          <p:nvPr/>
        </p:nvSpPr>
        <p:spPr>
          <a:xfrm>
            <a:off x="1108315" y="1869471"/>
            <a:ext cx="4632413" cy="298523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935" i="0" u="none">
                <a:solidFill>
                  <a:srgbClr val="181C62"/>
                </a:solidFill>
                <a:latin typeface="Arial"/>
              </a:rPr>
              <a:t>Exp 3: Identity Swap</a:t>
            </a:r>
          </a:p>
        </p:txBody>
      </p:sp>
      <p:sp>
        <p:nvSpPr>
          <p:cNvPr id="16" name="TextBox 6"/>
          <p:cNvSpPr txBox="1"/>
          <p:nvPr/>
        </p:nvSpPr>
        <p:spPr>
          <a:xfrm>
            <a:off x="1108315" y="2299696"/>
            <a:ext cx="4411822" cy="50567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244" i="0" u="none">
                <a:solidFill>
                  <a:srgbClr val="334155"/>
                </a:solidFill>
                <a:latin typeface="Arial"/>
              </a:rPr>
              <a:t>Testing person-order consistency and temporal trajectory disruption.</a:t>
            </a:r>
          </a:p>
        </p:txBody>
      </p:sp>
      <p:sp>
        <p:nvSpPr>
          <p:cNvPr id="17" name="TextBox 7"/>
          <p:cNvSpPr txBox="1"/>
          <p:nvPr/>
        </p:nvSpPr>
        <p:spPr>
          <a:xfrm>
            <a:off x="1108315" y="4945799"/>
            <a:ext cx="4411822" cy="45821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106" i="0" u="none">
                <a:solidFill>
                  <a:srgbClr val="64748B"/>
                </a:solidFill>
                <a:latin typeface="Arial"/>
              </a:rPr>
              <a:t>Goal: Verify the model relies on physical interactions, not arbitrary array indices.</a:t>
            </a:r>
          </a:p>
        </p:txBody>
      </p:sp>
      <p:sp>
        <p:nvSpPr>
          <p:cNvPr id="18" name="Rectangle 8"/>
          <p:cNvSpPr/>
          <p:nvPr/>
        </p:nvSpPr>
        <p:spPr>
          <a:xfrm>
            <a:off x="1108315" y="4770197"/>
            <a:ext cx="4411822" cy="8780"/>
          </a:xfrm>
          <a:prstGeom prst="rect">
            <a:avLst/>
          </a:prstGeom>
          <a:solidFill>
            <a:srgbClr val="E2E8F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9"/>
          <p:cNvSpPr txBox="1"/>
          <p:nvPr/>
        </p:nvSpPr>
        <p:spPr>
          <a:xfrm>
            <a:off x="6623093" y="1869471"/>
            <a:ext cx="4632413" cy="298523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935" i="0" u="none">
                <a:solidFill>
                  <a:srgbClr val="181C62"/>
                </a:solidFill>
                <a:latin typeface="Arial"/>
              </a:rPr>
              <a:t>Exp 4: Asymmetric Interactions</a:t>
            </a:r>
          </a:p>
        </p:txBody>
      </p:sp>
      <p:sp>
        <p:nvSpPr>
          <p:cNvPr id="20" name="TextBox 10"/>
          <p:cNvSpPr txBox="1"/>
          <p:nvPr/>
        </p:nvSpPr>
        <p:spPr>
          <a:xfrm>
            <a:off x="6623093" y="2299696"/>
            <a:ext cx="4411822" cy="50567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244" i="0" u="none">
                <a:solidFill>
                  <a:srgbClr val="334155"/>
                </a:solidFill>
                <a:latin typeface="Arial"/>
              </a:rPr>
              <a:t>Testing if the representation specifically benefits role-asymmetric actions (e.g., pushing).</a:t>
            </a:r>
          </a:p>
        </p:txBody>
      </p:sp>
      <p:sp>
        <p:nvSpPr>
          <p:cNvPr id="21" name="TextBox 11"/>
          <p:cNvSpPr txBox="1"/>
          <p:nvPr/>
        </p:nvSpPr>
        <p:spPr>
          <a:xfrm>
            <a:off x="6623093" y="4945799"/>
            <a:ext cx="4411822" cy="45821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1106" i="0" u="none">
                <a:solidFill>
                  <a:srgbClr val="64748B"/>
                </a:solidFill>
                <a:latin typeface="Arial"/>
              </a:rPr>
              <a:t>Goal: Demonstrate that improved fusion (M2) is critical for directed interactions.</a:t>
            </a:r>
          </a:p>
        </p:txBody>
      </p:sp>
      <p:sp>
        <p:nvSpPr>
          <p:cNvPr id="22" name="Rectangle 12"/>
          <p:cNvSpPr/>
          <p:nvPr/>
        </p:nvSpPr>
        <p:spPr>
          <a:xfrm>
            <a:off x="6623093" y="4770197"/>
            <a:ext cx="4411822" cy="8780"/>
          </a:xfrm>
          <a:prstGeom prst="rect">
            <a:avLst/>
          </a:prstGeom>
          <a:solidFill>
            <a:srgbClr val="E2E8F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13"/>
          <p:cNvSpPr txBox="1"/>
          <p:nvPr/>
        </p:nvSpPr>
        <p:spPr>
          <a:xfrm>
            <a:off x="1338098" y="2937077"/>
            <a:ext cx="4182039" cy="50567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44" i="0" u="none">
                <a:solidFill>
                  <a:srgbClr val="D71440"/>
                </a:solidFill>
                <a:latin typeface="Arial"/>
              </a:rPr>
              <a:t>Method A:</a:t>
            </a:r>
            <a:r>
              <a:rPr b="0" sz="1244" i="0" u="none">
                <a:solidFill>
                  <a:srgbClr val="334155"/>
                </a:solidFill>
                <a:latin typeface="Arial"/>
              </a:rPr>
              <a:t> Exchange Person A and B throughout the clip. Expected: sequence label remains unchanged.</a:t>
            </a:r>
          </a:p>
        </p:txBody>
      </p:sp>
      <p:sp>
        <p:nvSpPr>
          <p:cNvPr id="24" name="TextBox 14"/>
          <p:cNvSpPr txBox="1"/>
          <p:nvPr/>
        </p:nvSpPr>
        <p:spPr>
          <a:xfrm>
            <a:off x="1338098" y="3548117"/>
            <a:ext cx="4182039" cy="50567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44" i="0" u="none">
                <a:solidFill>
                  <a:srgbClr val="D71440"/>
                </a:solidFill>
                <a:latin typeface="Arial"/>
              </a:rPr>
              <a:t>Method B:</a:t>
            </a:r>
            <a:r>
              <a:rPr b="0" sz="1244" i="0" u="none">
                <a:solidFill>
                  <a:srgbClr val="334155"/>
                </a:solidFill>
                <a:latin typeface="Arial"/>
              </a:rPr>
              <a:t> Switch person tracks at 25%, 50%, or 75% marks (tests continuity breakage).</a:t>
            </a:r>
          </a:p>
        </p:txBody>
      </p:sp>
      <p:sp>
        <p:nvSpPr>
          <p:cNvPr id="25" name="TextBox 15"/>
          <p:cNvSpPr txBox="1"/>
          <p:nvPr/>
        </p:nvSpPr>
        <p:spPr>
          <a:xfrm>
            <a:off x="1338098" y="4159157"/>
            <a:ext cx="4182039" cy="50567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44" i="0" u="none">
                <a:solidFill>
                  <a:srgbClr val="D71440"/>
                </a:solidFill>
                <a:latin typeface="Arial"/>
              </a:rPr>
              <a:t>Metrics:</a:t>
            </a:r>
            <a:r>
              <a:rPr b="0" sz="1244" i="0" u="none">
                <a:solidFill>
                  <a:srgbClr val="334155"/>
                </a:solidFill>
                <a:latin typeface="Arial"/>
              </a:rPr>
              <a:t> Change in Macro-F1 and Total-Variation distance of class probabilities.</a:t>
            </a:r>
          </a:p>
        </p:txBody>
      </p:sp>
      <p:sp>
        <p:nvSpPr>
          <p:cNvPr id="26" name="TextBox 16"/>
          <p:cNvSpPr txBox="1"/>
          <p:nvPr/>
        </p:nvSpPr>
        <p:spPr>
          <a:xfrm>
            <a:off x="6852876" y="2937077"/>
            <a:ext cx="4182039" cy="50567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44" i="0" u="none">
                <a:solidFill>
                  <a:srgbClr val="D71440"/>
                </a:solidFill>
                <a:latin typeface="Arial"/>
              </a:rPr>
              <a:t>Grouping:</a:t>
            </a:r>
            <a:r>
              <a:rPr b="0" sz="1244" i="0" u="none">
                <a:solidFill>
                  <a:srgbClr val="334155"/>
                </a:solidFill>
                <a:latin typeface="Arial"/>
              </a:rPr>
              <a:t> Compare "Role-asymmetric" (16 classes) vs. "Symmetric" (9 classes).</a:t>
            </a:r>
          </a:p>
        </p:txBody>
      </p:sp>
      <p:sp>
        <p:nvSpPr>
          <p:cNvPr id="27" name="TextBox 17"/>
          <p:cNvSpPr txBox="1"/>
          <p:nvPr/>
        </p:nvSpPr>
        <p:spPr>
          <a:xfrm>
            <a:off x="6852876" y="3548117"/>
            <a:ext cx="4182039" cy="50567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44" i="0" u="none">
                <a:solidFill>
                  <a:srgbClr val="D71440"/>
                </a:solidFill>
                <a:latin typeface="Arial"/>
              </a:rPr>
              <a:t>Constraint:</a:t>
            </a:r>
            <a:r>
              <a:rPr b="0" sz="1244" i="0" u="none">
                <a:solidFill>
                  <a:srgbClr val="334155"/>
                </a:solidFill>
                <a:latin typeface="Arial"/>
              </a:rPr>
              <a:t> Model recognizes the </a:t>
            </a:r>
            <a:r>
              <a:rPr b="0" sz="1244" i="1" u="none">
                <a:solidFill>
                  <a:srgbClr val="334155"/>
                </a:solidFill>
                <a:latin typeface="Arial"/>
              </a:rPr>
              <a:t>action</a:t>
            </a:r>
            <a:r>
              <a:rPr b="0" sz="1244" i="0" u="none">
                <a:solidFill>
                  <a:srgbClr val="334155"/>
                </a:solidFill>
                <a:latin typeface="Arial"/>
              </a:rPr>
              <a:t>, but does not identify </a:t>
            </a:r>
            <a:r>
              <a:rPr b="0" sz="1244" i="1" u="none">
                <a:solidFill>
                  <a:srgbClr val="334155"/>
                </a:solidFill>
                <a:latin typeface="Arial"/>
              </a:rPr>
              <a:t>who</a:t>
            </a:r>
            <a:r>
              <a:rPr b="0" sz="1244" i="0" u="none">
                <a:solidFill>
                  <a:srgbClr val="334155"/>
                </a:solidFill>
                <a:latin typeface="Arial"/>
              </a:rPr>
              <a:t> performs it (Actor ID).</a:t>
            </a:r>
          </a:p>
        </p:txBody>
      </p:sp>
      <p:sp>
        <p:nvSpPr>
          <p:cNvPr id="28" name="TextBox 18"/>
          <p:cNvSpPr txBox="1"/>
          <p:nvPr/>
        </p:nvSpPr>
        <p:spPr>
          <a:xfrm>
            <a:off x="6852876" y="4159157"/>
            <a:ext cx="4182039" cy="50567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sz="1244" i="0" u="none">
                <a:solidFill>
                  <a:srgbClr val="D71440"/>
                </a:solidFill>
                <a:latin typeface="Arial"/>
              </a:rPr>
              <a:t>Success Target:</a:t>
            </a:r>
            <a:r>
              <a:rPr b="0" sz="1244" i="0" u="none">
                <a:solidFill>
                  <a:srgbClr val="334155"/>
                </a:solidFill>
                <a:latin typeface="Arial"/>
              </a:rPr>
              <a:t> ≥1.0 p.p. gain in Macro-F1 compared to the B1 baseline.</a:t>
            </a:r>
          </a:p>
        </p:txBody>
      </p:sp>
      <p:sp>
        <p:nvSpPr>
          <p:cNvPr id="29" name="TextBox 19"/>
          <p:cNvSpPr txBox="1"/>
          <p:nvPr/>
        </p:nvSpPr>
        <p:spPr>
          <a:xfrm>
            <a:off x="1108315" y="2972197"/>
            <a:ext cx="73530" cy="19316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967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  <p:sp>
        <p:nvSpPr>
          <p:cNvPr id="30" name="TextBox 20"/>
          <p:cNvSpPr txBox="1"/>
          <p:nvPr/>
        </p:nvSpPr>
        <p:spPr>
          <a:xfrm>
            <a:off x="1108315" y="3583238"/>
            <a:ext cx="73530" cy="19316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967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  <p:sp>
        <p:nvSpPr>
          <p:cNvPr id="31" name="TextBox 21"/>
          <p:cNvSpPr txBox="1"/>
          <p:nvPr/>
        </p:nvSpPr>
        <p:spPr>
          <a:xfrm>
            <a:off x="1108315" y="4194277"/>
            <a:ext cx="73530" cy="19316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967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  <p:sp>
        <p:nvSpPr>
          <p:cNvPr id="32" name="TextBox 22"/>
          <p:cNvSpPr txBox="1"/>
          <p:nvPr/>
        </p:nvSpPr>
        <p:spPr>
          <a:xfrm>
            <a:off x="6623093" y="2972197"/>
            <a:ext cx="73530" cy="19316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967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  <p:sp>
        <p:nvSpPr>
          <p:cNvPr id="33" name="TextBox 23"/>
          <p:cNvSpPr txBox="1"/>
          <p:nvPr/>
        </p:nvSpPr>
        <p:spPr>
          <a:xfrm>
            <a:off x="6623093" y="3583238"/>
            <a:ext cx="73530" cy="19316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967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  <p:sp>
        <p:nvSpPr>
          <p:cNvPr id="34" name="TextBox 24"/>
          <p:cNvSpPr txBox="1"/>
          <p:nvPr/>
        </p:nvSpPr>
        <p:spPr>
          <a:xfrm>
            <a:off x="6623093" y="4194277"/>
            <a:ext cx="73530" cy="19316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0" sz="967" i="0" u="none">
                <a:solidFill>
                  <a:srgbClr val="D71440"/>
                </a:solidFill>
                <a:latin typeface="Arial"/>
              </a:rPr>
              <a:t>■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eekly_five_minute_research_update">
  <a:themeElements>
    <a:clrScheme name="weekly_five_minute_research_upd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eekly_five_minute_research_upda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ekly_five_minute_research_upd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eekly_five_minute_research_update">
  <a:themeElements>
    <a:clrScheme name="weekly_five_minute_research_upd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eekly_five_minute_research_upda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ekly_five_minute_research_upd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NTU Human Pose">
      <a:dk1>
        <a:srgbClr val="000000"/>
      </a:dk1>
      <a:lt1>
        <a:srgbClr val="FFFFFF"/>
      </a:lt1>
      <a:dk2>
        <a:srgbClr val="181C62"/>
      </a:dk2>
      <a:lt2>
        <a:srgbClr val="D9DDEA"/>
      </a:lt2>
      <a:accent1>
        <a:srgbClr val="E31346"/>
      </a:accent1>
      <a:accent2>
        <a:srgbClr val="181C62"/>
      </a:accent2>
      <a:accent3>
        <a:srgbClr val="38B6A5"/>
      </a:accent3>
      <a:accent4>
        <a:srgbClr val="F2B84B"/>
      </a:accent4>
      <a:accent5>
        <a:srgbClr val="7B61FF"/>
      </a:accent5>
      <a:accent6>
        <a:srgbClr val="4C8BF5"/>
      </a:accent6>
      <a:hlink>
        <a:srgbClr val="E31346"/>
      </a:hlink>
      <a:folHlink>
        <a:srgbClr val="8F2A5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TU Human Po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7039</Words>
  <Application>WPS 演示</Application>
  <PresentationFormat>宽屏</PresentationFormat>
  <Paragraphs>390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Arial</vt:lpstr>
      <vt:lpstr>Calibri</vt:lpstr>
      <vt:lpstr>微软雅黑</vt:lpstr>
      <vt:lpstr>Calibri Light</vt:lpstr>
      <vt:lpstr>Courier New</vt:lpstr>
      <vt:lpstr>Arial Unicode MS</vt:lpstr>
      <vt:lpstr>等线</vt:lpstr>
      <vt:lpstr>weekly_five_minute_research_update</vt:lpstr>
      <vt:lpstr>1_weekly_five_minute_research_update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梁含璋</cp:lastModifiedBy>
  <cp:revision>9</cp:revision>
  <dcterms:created xsi:type="dcterms:W3CDTF">2026-09-08T11:06:00Z</dcterms:created>
  <dcterms:modified xsi:type="dcterms:W3CDTF">2026-09-08T15:14:01Z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4550AFB6D8548345DB2B9E6A74E4738F_42</vt:lpwstr>
  </property>
  <property fmtid="{D5CDD505-2E9C-101B-9397-08002B2CF9AE}" pid="3" name="KSOProductBuildVer">
    <vt:lpwstr>2052-12.1.0.28505</vt:lpwstr>
  </property>
</Properties>
</file>