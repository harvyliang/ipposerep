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Lst>
  <p:notesMasterIdLst>
    <p:notesMasterId r:id="rId16"/>
  </p:notesMasterIdLst>
  <p:sldIdLst>
    <p:sldId id="268" r:id="rId3"/>
    <p:sldId id="266" r:id="rId4"/>
    <p:sldId id="267" r:id="rId5"/>
    <p:sldId id="256" r:id="rId6"/>
    <p:sldId id="257" r:id="rId7"/>
    <p:sldId id="258" r:id="rId8"/>
    <p:sldId id="259" r:id="rId9"/>
    <p:sldId id="260" r:id="rId10"/>
    <p:sldId id="261" r:id="rId11"/>
    <p:sldId id="262" r:id="rId12"/>
    <p:sldId id="263" r:id="rId13"/>
    <p:sldId id="264" r:id="rId14"/>
    <p:sldId id="265"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1" d="100"/>
          <a:sy n="121" d="100"/>
        </p:scale>
        <p:origin x="28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Hard-label CE</c:v>
          </c:tx>
          <c:spPr>
            <a:solidFill>
              <a:srgbClr val="1B1D63"/>
            </a:solidFill>
          </c:spPr>
          <c:invertIfNegative val="0"/>
          <c:dPt>
            <c:idx val="0"/>
            <c:invertIfNegative val="0"/>
            <c:bubble3D val="0"/>
            <c:spPr>
              <a:solidFill>
                <a:srgbClr val="E31346"/>
              </a:solidFill>
            </c:spPr>
            <c:extLst>
              <c:ext xmlns:c16="http://schemas.microsoft.com/office/drawing/2014/chart" uri="{C3380CC4-5D6E-409C-BE32-E72D297353CC}">
                <c16:uniqueId val="{00000001-C3F2-441F-8B80-645D357E4D57}"/>
              </c:ext>
            </c:extLst>
          </c:dPt>
          <c:dPt>
            <c:idx val="1"/>
            <c:invertIfNegative val="0"/>
            <c:bubble3D val="0"/>
            <c:spPr>
              <a:solidFill>
                <a:srgbClr val="38AFA2"/>
              </a:solidFill>
            </c:spPr>
            <c:extLst>
              <c:ext xmlns:c16="http://schemas.microsoft.com/office/drawing/2014/chart" uri="{C3380CC4-5D6E-409C-BE32-E72D297353CC}">
                <c16:uniqueId val="{00000003-C3F2-441F-8B80-645D357E4D57}"/>
              </c:ext>
            </c:extLst>
          </c:dPt>
          <c:dLbls>
            <c:numFmt formatCode="0.000" sourceLinked="0"/>
            <c:spPr>
              <a:noFill/>
              <a:ln>
                <a:noFill/>
              </a:ln>
              <a:effectLst/>
            </c:spPr>
            <c:txPr>
              <a:bodyPr anchorCtr="1"/>
              <a:lstStyle/>
              <a:p>
                <a:pPr>
                  <a:defRPr sz="1650" b="1">
                    <a:solidFill>
                      <a:srgbClr val="1B1D63"/>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Residual OFF</c:v>
                </c:pt>
                <c:pt idx="1">
                  <c:v>Residual ON</c:v>
                </c:pt>
              </c:strCache>
            </c:strRef>
          </c:cat>
          <c:val>
            <c:numRef>
              <c:f>'Chart Data'!$B$2:$B$3</c:f>
              <c:numCache>
                <c:formatCode>0.0</c:formatCode>
                <c:ptCount val="2"/>
                <c:pt idx="0">
                  <c:v>0.306668</c:v>
                </c:pt>
                <c:pt idx="1">
                  <c:v>0.20944199999999999</c:v>
                </c:pt>
              </c:numCache>
            </c:numRef>
          </c:val>
          <c:extLst>
            <c:ext xmlns:c16="http://schemas.microsoft.com/office/drawing/2014/chart" uri="{C3380CC4-5D6E-409C-BE32-E72D297353CC}">
              <c16:uniqueId val="{00000004-C3F2-441F-8B80-645D357E4D57}"/>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2A2E45"/>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0.4"/>
          <c:min val="0"/>
        </c:scaling>
        <c:delete val="0"/>
        <c:axPos val="l"/>
        <c:majorGridlines>
          <c:spPr>
            <a:ln w="9525">
              <a:solidFill>
                <a:srgbClr val="D9DDEA"/>
              </a:solidFill>
            </a:ln>
          </c:spPr>
        </c:majorGridlines>
        <c:numFmt formatCode="0.0" sourceLinked="1"/>
        <c:majorTickMark val="none"/>
        <c:minorTickMark val="none"/>
        <c:tickLblPos val="nextTo"/>
        <c:spPr>
          <a:ln w="9525">
            <a:solidFill>
              <a:srgbClr val="D4D4D4"/>
            </a:solidFill>
            <a:prstDash val="solid"/>
          </a:ln>
        </c:spPr>
        <c:txPr>
          <a:bodyPr anchorCtr="1"/>
          <a:lstStyle/>
          <a:p>
            <a:pPr>
              <a:defRPr sz="1125">
                <a:solidFill>
                  <a:srgbClr val="697386"/>
                </a:solidFill>
                <a:latin typeface="Arial"/>
                <a:ea typeface="Arial"/>
                <a:cs typeface="Arial"/>
              </a:defRPr>
            </a:pPr>
            <a:endParaRPr lang="zh-CN"/>
          </a:p>
        </c:txPr>
        <c:crossAx val="48650112"/>
        <c:crosses val="autoZero"/>
        <c:crossBetween val="between"/>
        <c:majorUnit val="0.1"/>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中文讲稿提示：</a:t>
            </a:r>
          </a:p>
          <a:p>
            <a:r>
              <a:t>本部分汇报数据预处理的规则、端到端流程、产物、验证结果，以及多人轨迹审计。重点说明所有模型输入已经生成并通过一致性检查。</a:t>
            </a:r>
          </a:p>
          <a:p>
            <a:endParaRPr/>
          </a:p>
          <a:p>
            <a:r>
              <a:t>数据来源：</a:t>
            </a:r>
          </a:p>
          <a:p>
            <a:r>
              <a:t>- E:/humanPose/reports/preprocessing/skeletonx/skeletonx_preprocessing_report.md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slide groups the three spatial experiments around one question: what should become adaptive in SkateFormer? The baseline already mixes information across people, but its learned graph does not change with the input.</a:t>
            </a:r>
          </a:p>
          <a:p>
            <a:endParaRPr lang="en-US" dirty="0"/>
          </a:p>
          <a:p>
            <a:r>
              <a:rPr lang="en-US" dirty="0"/>
              <a:t>We keep the residual insertion point and added parameter budget matched, then change what the new branch can mix. M1 is a capacity control: the same small MLP processes channels at each joint and frame, without introducing new links between positions. Its full training result showed no clear gain, making extra capacity alone a less persuasive explanation for improvement.</a:t>
            </a:r>
          </a:p>
          <a:p>
            <a:endParaRPr lang="en-US" dirty="0"/>
          </a:p>
          <a:p>
            <a:r>
              <a:rPr lang="en-US" dirty="0"/>
              <a:t>M2 learns input-dependent relations within each person. M3 uses the same idea across the two people. Among the completed relation experiments, M2 gives the more promising validation signal, while M3 remains close to the baseline. This does not mean that interaction modeling is unnecessary, because the original backbone still mixes the two people.</a:t>
            </a:r>
          </a:p>
          <a:p>
            <a:endParaRPr lang="en-US" dirty="0"/>
          </a:p>
          <a:p>
            <a:r>
              <a:rPr lang="en-US" dirty="0"/>
              <a:t>Our next step is to replicate M2 across seeds and use the capacity control to strengthen attribution before expanding the cross-person branch.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temporal experiments follow a progression from looking farther to deciding which connections to trust. T1 keeps the original kernel size but divides channel groups between local and dilated sampling. This widens the temporal context without adding parameters.</a:t>
            </a:r>
          </a:p>
          <a:p>
            <a:endParaRPr lang="en-US" dirty="0"/>
          </a:p>
          <a:p>
            <a:r>
              <a:rPr lang="en-US" dirty="0"/>
              <a:t>The completed T1 run did not improve clean validation performance. That is evidence about this fixed multiscale setting, rather than a rejection of temporal modeling in general.</a:t>
            </a:r>
          </a:p>
          <a:p>
            <a:endParaRPr lang="en-US" dirty="0"/>
          </a:p>
          <a:p>
            <a:r>
              <a:rPr lang="en-US" dirty="0"/>
              <a:t>T2 asks a different question. A skeleton slot can switch from one person to another, so ordinary temporal convolution may mix features across an inconsistent trajectory. T2 compares same-slot and crossed-slot feature continuity, then attenuates suspicious temporal links while retaining the original convolution. The colored dots illustrate a possible slot change, and the gate lowers mixing across the questionable boundary.</a:t>
            </a:r>
          </a:p>
          <a:p>
            <a:endParaRPr lang="en-US" dirty="0"/>
          </a:p>
          <a:p>
            <a:r>
              <a:rPr lang="en-US" dirty="0"/>
              <a:t>The available comparison has not shown a clear clean-validation gain from T2. We therefore give this variant lower priority for accuracy improvement. The next step is to test whether track discontinuities are an important failure mode, using controlled slot swaps and matched non-swap disturbances. A robustness benefit is still unverified: we need to distinguish useful continuity handling from simply suppressing sudden motion. The gate does not recover true identity or repair the tracks.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Over the past two weeks, we shifted our experimental focus to the SkateFormer baseline. We completed person-track diagnostics and observed a contrast: the trained pipeline is robust to whole-clip person exchange but vulnerable to track disruption inside a sequence. Those observations motivated P0. Instead of immediately replacing the backbone, we tested small changes to its final readout. Today, the question is whether keeping person-related information until that readout produces a useful, measurable contribution. The earlier swap diagnostics motivate P0; they are not new P0 results.</a:t>
            </a:r>
          </a:p>
          <a:p>
            <a:endParaRPr/>
          </a:p>
          <a:p>
            <a:r>
              <a:t>Source: E:/humanPose/P0_Experiment_Report.pdf, pp. 1–2; previous Week 8 slides 3–5, 9–11. Background where indicated: E:/humanPose/reports/weekly/2026-10-06-person-information/EE6008_Week8.pptx and SkateFormer_Person_Track_Continuity_Experimental_Report.pdf.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variants start from the same archived Joint checkpoint, retain the SkateFormer backbone design, and use the original 26-class classifier. The backbone output contains 192 channels, eight temporal positions and forty-eight joint-person positions. We group the positions into two sets of twenty-four and spatially pool them to h_A(t) and h_B(t). P0 keeps the original pooled representation and adds a residual derived from those grouped features. Both backbone and classifier are fine-tuned, so the diagram describes common architecture, not frozen weights. The slot groups already contain cross-person mixing and must not be interpreted as independent identity tracks.</a:t>
            </a:r>
          </a:p>
          <a:p>
            <a:endParaRPr/>
          </a:p>
          <a:p>
            <a:r>
              <a:t>Source: E:/humanPose/P0_Experiment_Report.pdf, pp. 2–4, Table 1. Background where indicated: E:/humanPose/reports/weekly/2026-10-06-person-information/EE6008_Week8.pptx and SkateFormer_Person_Track_Continuity_Experimental_Report.pdf.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E0-FT is the essential control: the original readout receives the same extra optimization budget. E1 adds a shared affine projection followed by GELU to each person group at each temporal position, then averages the residual across people and time. E2 first averages each group over time and constructs a sum and absolute-difference descriptor. E3, TP-SPR, constructs the descriptor at each temporal position before temporal averaging. Both relation variants use an affine projection and have the same parameter count. Every variant retains the original pooled vector and classifier. E1’s saved name “delayed” does not imply new temporal memory.</a:t>
            </a:r>
          </a:p>
          <a:p>
            <a:endParaRPr/>
          </a:p>
          <a:p>
            <a:r>
              <a:t>Source: E:/humanPose/P0_Experiment_Report.pdf, pp. 2–4, Table 1. Background where indicated: E:/humanPose/reports/weekly/2026-10-06-person-information/EE6008_Week8.pptx and SkateFormer_Person_Track_Continuity_Experimental_Report.pdf.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mathematical difference is when we take the absolute difference. Consider an illustrative scalar feature difference that is positive at one time and negative at another. E2 averages those signed differences first, so they can cancel. E3 takes their magnitudes first, so the average can remain nonzero. The sum part is the same after averaging, and an affine projection commutes with that averaging. The proposed mechanism therefore concerns difference magnitude, not the mere location of a linear projection. This toy example explains the mechanism only. It is not measured action data, and E3 does not add temporal order encoding or identity tracking.</a:t>
            </a:r>
          </a:p>
          <a:p>
            <a:endParaRPr/>
          </a:p>
          <a:p>
            <a:r>
              <a:t>Source: E:/humanPose/P0_Experiment_Report.pdf, p. 3 and p. 9; conceptual scalar example, not an experimental result. Background where indicated: E:/humanPose/reports/weekly/2026-10-06-person-information/EE6008_Week8.pptx and SkateFormer_Person_Track_Continuity_Experimental_Report.pdf.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P0 includes four completed Joint fine-tuning runs, offline analysis and completed Validation inference with residual ablations. The shared initialization, seed and fifty-epoch budget make E0-FT a matched control. Original parameters are trainable, and each residual begins at zero. Validation Top-1 selects the best checkpoint, using the earliest epoch on a tie. Phase A checks curves, initialization and checkpoint statistics. Phase B aligns per-sample outputs and disables each learned residual while reusing the same backbone features. Phase B is completed, not merely prepared. The scope is one seed on Joint Validation, with no Bone, fusion, held-out Test or new track-perturbation evaluation.</a:t>
            </a:r>
          </a:p>
          <a:p>
            <a:endParaRPr dirty="0"/>
          </a:p>
          <a:p>
            <a:r>
              <a:rPr dirty="0"/>
              <a:t>Source: E:/humanPose/P0_Experiment_Report.pdf, pp. 1, 4–5; Tables 2–3. Background where indicated: E:/humanPose/reports/weekly/2026-10-06-person-information/EE6008_Week8.pptx and SkateFormer_Person_Track_Continuity_Experimental_Report.pdf.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selected full model has 1,275 correct predictions out of 1,308, or 97.4771 percent. The initialization anchor had only one fewer correct sample, and E0-FT reaches the same maximum as the added-readout variants. The equality in accuracy hides two prediction groups: E0-FT and E1 agree on every sample, and E2 and E3 agree on every sample. Between groups, eight predictions differ. Three corrections are offset by three regressions, while two samples remain wrong with changed wrong classes. Thus P0 changes error allocation but shows no net accuracy gain. The toy cancellation mechanism has not produced a demonstrated E3 advantage over E2.</a:t>
            </a:r>
          </a:p>
          <a:p>
            <a:endParaRPr/>
          </a:p>
          <a:p>
            <a:r>
              <a:t>Source: E:/humanPose/P0_Experiment_Report.pdf, pp. 5–6 and 9; Tables 4–6. Background where indicated: E:/humanPose/reports/weekly/2026-10-06-person-information/EE6008_Week8.pptx and SkateFormer_Person_Track_Continuity_Experimental_Report.pdf.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disabled the entire residual at each selected checkpoint, including its projection bias, while keeping the same backbone features and original classifier. All three disabled models still have 1,275 correct predictions. E1 and E3 keep every predicted class unchanged; E2 changes only one prediction, which remains wrong. Yet enabling all three branches lowers hard-label cross-entropy. This chart shows E3 as one concrete example: CE falls from 0.306668 with the residual off to 0.209442 with it on. That supports a measurable average true-label likelihood effect on Validation, not improved calibration, a correction on every sample or continuity robustness. Branch-off is not retraining from scratch without that branch.</a:t>
            </a:r>
          </a:p>
          <a:p>
            <a:endParaRPr/>
          </a:p>
          <a:p>
            <a:r>
              <a:t>Source: E:/humanPose/P0_Experiment_Report.pdf, p. 7, Figure 2 / Table 7; E3 values exactly from the report. Background where indicated: E:/humanPose/reports/weekly/2026-10-06-person-information/EE6008_Week8.pptx and SkateFormer_Person_Track_Continuity_Experimental_Report.pdf.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P0 separates three claims that can otherwise be confused. First, the branches learn: projection weights and biases move away from zero, and the measured residual feature contribution is nonzero. Second, the branches are functionally active: disabling them changes logits and worsens average cross-entropy. Third, there is no demonstrated decision advantage: the full variants tie with E0-FT, and each disabled model preserves the correct count. None of this proves improved probability calibration or track continuity. The useful outcome of this experiment is to separate representation-level and score-level effects from an action-recognition gain, and to narrow the next hypothesis.</a:t>
            </a:r>
          </a:p>
          <a:p>
            <a:endParaRPr/>
          </a:p>
          <a:p>
            <a:r>
              <a:t>Source: E:/humanPose/P0_Experiment_Report.pdf, pp. 1, 7–9; Tables 7–9. Background where indicated: E:/humanPose/reports/weekly/2026-10-06-person-information/EE6008_Week8.pptx and SkateFormer_Person_Track_Continuity_Experimental_Report.pdf.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All original trainable tensors changed during fine-tuning. The backbone and classifier may therefore adapt together with the residual. Removing a branch at the final checkpoint does not recreate the model that would have been trained without it, and normal-model differences cannot be attributed solely to the new projection. P0 also reuses the clean Validation split for selection and diagnosis and has only one seed. There is no held-out Test result, Bone/fusion result or new P0 track-disruption evaluation. E3 preserves an average of per-time difference magnitudes, but adds no temporal order encoding or identity tracking. The appropriate conclusion is a functional effect with an accuracy tie, not a verified continuity improvement.</a:t>
            </a:r>
          </a:p>
          <a:p>
            <a:endParaRPr dirty="0"/>
          </a:p>
          <a:p>
            <a:r>
              <a:rPr dirty="0"/>
              <a:t>Source: E:/humanPose/P0_Experiment_Report.pdf, pp. 4, 7–9. Background where indicated: E:/humanPose/reports/weekly/2026-10-06-person-information/EE6008_Week8.pptx and SkateFormer_Person_Track_Continuity_Experimental_Report.pdf.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report recommends stronger attribution rather than increasing model size because the readouts tie. First, use saved logits to inspect true-class margins, entropy and class-wise CE, with a temperature control on an independent calibration split. Second, isolate E2/E3’s cancellation mechanism using matched fixed-backbone readouts and controlled sign-changing feature differences. Such synthetic probes demonstrate mechanisms, not dataset gains. Third, evaluate frozen P0 checkpoints under person exchange and matched continuity/displacement controls, separating slot assignment from induced motion discontinuity. Multi-seed and independently authorized held-out evaluation follow a predefined selection protocol. These are proposed next experiments, not completed results.</a:t>
            </a:r>
          </a:p>
          <a:p>
            <a:endParaRPr/>
          </a:p>
          <a:p>
            <a:r>
              <a:t>Source: E:/humanPose/P0_Experiment_Report.pdf, p. 10, Next Steps. Background where indicated: E:/humanPose/reports/weekly/2026-10-06-person-information/EE6008_Week8.pptx and SkateFormer_Person_Track_Continuity_Experimental_Report.pdf.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A4C3729-07D8-4CB0-B60A-A5CFDACC367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34885DCB-CFFF-4C23-A230-3DE6BA5D44F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8C9CECC-D216-4F65-B3AE-947A80B3FA0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A003293-C9D3-4CB6-B805-19E63CF2A0D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208F6297-C969-4E19-9334-69CCF583F5F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7BB12DC-1206-4AC0-B3FD-90CE333FA19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2472CA7A-6D36-4080-9068-6DC82CFFE75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01A1718B-8FCC-4C8F-91BF-C22A2E59D6D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63E02B3-DCC2-4C67-BE7B-28EB6E6F1C9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D5E6E84B-6F25-4AC7-AB93-37933679D08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weekly_five_minute_research_updat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492919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27581893"/>
      </p:ext>
    </p:extLst>
  </p:cSld>
  <p:clrMap bg1="lt1" tx1="dk1" bg2="lt2" tx2="dk2" accent1="accent1" accent2="accent2" accent3="accent3" accent4="accent4" accent5="accent5" accent6="accent6" hlink="hlink" folHlink="folHlink"/>
  <p:sldLayoutIdLst>
    <p:sldLayoutId id="2147483656"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F03D875-3503-448C-BEBE-3441B63D875F}"/>
              </a:ext>
            </a:extLst>
          </p:cNvPr>
          <p:cNvSpPr>
            <a:spLocks noGrp="1"/>
          </p:cNvSpPr>
          <p:nvPr/>
        </p:nvSpPr>
        <p:spPr>
          <a:xfrm>
            <a:off x="0" y="0"/>
            <a:ext cx="171450" cy="6858000"/>
          </a:xfrm>
          <a:prstGeom prst="rect">
            <a:avLst/>
          </a:prstGeom>
          <a:solidFill>
            <a:srgbClr val="D71440"/>
          </a:solidFill>
          <a:ln>
            <a:noFill/>
          </a:ln>
        </p:spPr>
        <p:txBody>
          <a:bodyPr/>
          <a:lstStyle/>
          <a:p>
            <a:endParaRPr lang="zh-CN" altLang="en-US"/>
          </a:p>
        </p:txBody>
      </p:sp>
      <p:pic>
        <p:nvPicPr>
          <p:cNvPr id="17" name="Image 3"/>
          <p:cNvPicPr>
            <a:picLocks noChangeAspect="1"/>
          </p:cNvPicPr>
          <p:nvPr/>
        </p:nvPicPr>
        <p:blipFill>
          <a:blip r:embed="rId3"/>
          <a:stretch>
            <a:fillRect/>
          </a:stretch>
        </p:blipFill>
        <p:spPr>
          <a:xfrm>
            <a:off x="9810750" y="228600"/>
            <a:ext cx="1905000" cy="685800"/>
          </a:xfrm>
          <a:prstGeom prst="rect">
            <a:avLst/>
          </a:prstGeom>
        </p:spPr>
      </p:pic>
      <p:sp>
        <p:nvSpPr>
          <p:cNvPr id="4" name="Rectangle 4">
            <a:extLst>
              <a:ext uri="{FF2B5EF4-FFF2-40B4-BE49-F238E27FC236}">
                <a16:creationId xmlns:a16="http://schemas.microsoft.com/office/drawing/2014/main" id="{C06C0569-4319-417B-8AD2-39815FE98857}"/>
              </a:ext>
            </a:extLst>
          </p:cNvPr>
          <p:cNvSpPr>
            <a:spLocks noGrp="1"/>
          </p:cNvSpPr>
          <p:nvPr/>
        </p:nvSpPr>
        <p:spPr>
          <a:xfrm>
            <a:off x="171450" y="6572250"/>
            <a:ext cx="12020550" cy="285750"/>
          </a:xfrm>
          <a:prstGeom prst="rect">
            <a:avLst/>
          </a:prstGeom>
          <a:solidFill>
            <a:srgbClr val="181C62"/>
          </a:solidFill>
          <a:ln>
            <a:noFill/>
          </a:ln>
        </p:spPr>
        <p:txBody>
          <a:bodyPr/>
          <a:lstStyle/>
          <a:p>
            <a:endParaRPr lang="zh-CN" altLang="en-US"/>
          </a:p>
        </p:txBody>
      </p:sp>
      <p:sp>
        <p:nvSpPr>
          <p:cNvPr id="5" name="TextBox 5">
            <a:extLst>
              <a:ext uri="{FF2B5EF4-FFF2-40B4-BE49-F238E27FC236}">
                <a16:creationId xmlns:a16="http://schemas.microsoft.com/office/drawing/2014/main" id="{74061644-E7AF-4122-9287-6170EF60B736}"/>
              </a:ext>
            </a:extLst>
          </p:cNvPr>
          <p:cNvSpPr>
            <a:spLocks noGrp="1"/>
          </p:cNvSpPr>
          <p:nvPr/>
        </p:nvSpPr>
        <p:spPr>
          <a:xfrm>
            <a:off x="471297" y="6667024"/>
            <a:ext cx="2114774" cy="190690"/>
          </a:xfrm>
          <a:prstGeom prst="rect">
            <a:avLst/>
          </a:prstGeom>
          <a:noFill/>
          <a:ln>
            <a:noFill/>
          </a:ln>
        </p:spPr>
        <p:txBody>
          <a:bodyPr wrap="none" lIns="0" tIns="0" rIns="0" bIns="0" anchor="t">
            <a:spAutoFit/>
          </a:bodyPr>
          <a:lstStyle/>
          <a:p>
            <a:pPr algn="l">
              <a:buNone/>
            </a:pPr>
            <a:r>
              <a:rPr sz="980">
                <a:solidFill>
                  <a:srgbClr val="FFFFFF"/>
                </a:solidFill>
                <a:latin typeface="Arial"/>
                <a:ea typeface="Arial"/>
                <a:cs typeface="Arial"/>
              </a:rPr>
              <a:t>EE6008 · HUMAN POSE ANALYTICS</a:t>
            </a:r>
          </a:p>
        </p:txBody>
      </p:sp>
      <p:sp>
        <p:nvSpPr>
          <p:cNvPr id="6" name="Rectangle 6">
            <a:extLst>
              <a:ext uri="{FF2B5EF4-FFF2-40B4-BE49-F238E27FC236}">
                <a16:creationId xmlns:a16="http://schemas.microsoft.com/office/drawing/2014/main" id="{D1F0F809-98FD-48E7-94F6-930FFC315C75}"/>
              </a:ext>
            </a:extLst>
          </p:cNvPr>
          <p:cNvSpPr>
            <a:spLocks noGrp="1"/>
          </p:cNvSpPr>
          <p:nvPr/>
        </p:nvSpPr>
        <p:spPr>
          <a:xfrm>
            <a:off x="552450" y="1200150"/>
            <a:ext cx="114300" cy="3905250"/>
          </a:xfrm>
          <a:prstGeom prst="rect">
            <a:avLst/>
          </a:prstGeom>
          <a:solidFill>
            <a:srgbClr val="D71440"/>
          </a:solidFill>
          <a:ln>
            <a:noFill/>
          </a:ln>
        </p:spPr>
        <p:txBody>
          <a:bodyPr/>
          <a:lstStyle/>
          <a:p>
            <a:endParaRPr lang="zh-CN" altLang="en-US"/>
          </a:p>
        </p:txBody>
      </p:sp>
      <p:pic>
        <p:nvPicPr>
          <p:cNvPr id="21" name="Image 7"/>
          <p:cNvPicPr>
            <a:picLocks noChangeAspect="1"/>
          </p:cNvPicPr>
          <p:nvPr/>
        </p:nvPicPr>
        <p:blipFill>
          <a:blip r:embed="rId4">
            <a:alphaModFix amt="56000"/>
          </a:blip>
          <a:stretch>
            <a:fillRect/>
          </a:stretch>
        </p:blipFill>
        <p:spPr>
          <a:xfrm>
            <a:off x="3762375" y="1200150"/>
            <a:ext cx="8382000" cy="3905250"/>
          </a:xfrm>
          <a:prstGeom prst="rect">
            <a:avLst/>
          </a:prstGeom>
        </p:spPr>
      </p:pic>
      <p:sp>
        <p:nvSpPr>
          <p:cNvPr id="8" name="Freeform 8">
            <a:extLst>
              <a:ext uri="{FF2B5EF4-FFF2-40B4-BE49-F238E27FC236}">
                <a16:creationId xmlns:a16="http://schemas.microsoft.com/office/drawing/2014/main" id="{78DF0C90-371C-4262-8ADA-C99216CF53B0}"/>
              </a:ext>
            </a:extLst>
          </p:cNvPr>
          <p:cNvSpPr>
            <a:spLocks noGrp="1"/>
          </p:cNvSpPr>
          <p:nvPr/>
        </p:nvSpPr>
        <p:spPr>
          <a:xfrm>
            <a:off x="3714750" y="1200150"/>
            <a:ext cx="1714500" cy="3905250"/>
          </a:xfrm>
          <a:custGeom>
            <a:avLst/>
            <a:gdLst/>
            <a:ahLst/>
            <a:cxnLst/>
            <a:rect l="l" t="t" r="r" b="b"/>
            <a:pathLst>
              <a:path w="1714500" h="3905250">
                <a:moveTo>
                  <a:pt x="0" y="0"/>
                </a:moveTo>
                <a:lnTo>
                  <a:pt x="1714500" y="0"/>
                </a:lnTo>
                <a:lnTo>
                  <a:pt x="1047750" y="3905250"/>
                </a:lnTo>
                <a:lnTo>
                  <a:pt x="0" y="3905250"/>
                </a:lnTo>
                <a:close/>
              </a:path>
            </a:pathLst>
          </a:custGeom>
          <a:solidFill>
            <a:srgbClr val="FFFFFF">
              <a:alpha val="82000"/>
            </a:srgbClr>
          </a:solidFill>
          <a:ln>
            <a:noFill/>
          </a:ln>
        </p:spPr>
        <p:txBody>
          <a:bodyPr/>
          <a:lstStyle/>
          <a:p>
            <a:endParaRPr lang="zh-CN" altLang="en-US"/>
          </a:p>
        </p:txBody>
      </p:sp>
      <p:sp>
        <p:nvSpPr>
          <p:cNvPr id="9" name="Freeform 9">
            <a:extLst>
              <a:ext uri="{FF2B5EF4-FFF2-40B4-BE49-F238E27FC236}">
                <a16:creationId xmlns:a16="http://schemas.microsoft.com/office/drawing/2014/main" id="{4C05EDC9-CE61-46E7-94AB-5E3CE9BFB8AE}"/>
              </a:ext>
            </a:extLst>
          </p:cNvPr>
          <p:cNvSpPr>
            <a:spLocks noGrp="1"/>
          </p:cNvSpPr>
          <p:nvPr/>
        </p:nvSpPr>
        <p:spPr>
          <a:xfrm>
            <a:off x="4476750" y="1200150"/>
            <a:ext cx="809625" cy="3905250"/>
          </a:xfrm>
          <a:custGeom>
            <a:avLst/>
            <a:gdLst/>
            <a:ahLst/>
            <a:cxnLst/>
            <a:rect l="l" t="t" r="r" b="b"/>
            <a:pathLst>
              <a:path w="809625" h="3905250">
                <a:moveTo>
                  <a:pt x="809625" y="0"/>
                </a:moveTo>
                <a:lnTo>
                  <a:pt x="0" y="3905250"/>
                </a:lnTo>
              </a:path>
            </a:pathLst>
          </a:custGeom>
          <a:noFill/>
          <a:ln w="28575">
            <a:solidFill>
              <a:srgbClr val="D71440">
                <a:alpha val="62000"/>
              </a:srgbClr>
            </a:solidFill>
          </a:ln>
        </p:spPr>
        <p:txBody>
          <a:bodyPr/>
          <a:lstStyle/>
          <a:p>
            <a:endParaRPr lang="zh-CN" altLang="en-US"/>
          </a:p>
        </p:txBody>
      </p:sp>
      <p:sp>
        <p:nvSpPr>
          <p:cNvPr id="10" name="TextBox 10">
            <a:extLst>
              <a:ext uri="{FF2B5EF4-FFF2-40B4-BE49-F238E27FC236}">
                <a16:creationId xmlns:a16="http://schemas.microsoft.com/office/drawing/2014/main" id="{23ECB098-C7DA-4144-88A2-542445249DCB}"/>
              </a:ext>
            </a:extLst>
          </p:cNvPr>
          <p:cNvSpPr>
            <a:spLocks noGrp="1"/>
          </p:cNvSpPr>
          <p:nvPr/>
        </p:nvSpPr>
        <p:spPr>
          <a:xfrm>
            <a:off x="898398" y="1603058"/>
            <a:ext cx="4616457" cy="616077"/>
          </a:xfrm>
          <a:prstGeom prst="rect">
            <a:avLst/>
          </a:prstGeom>
          <a:noFill/>
          <a:ln>
            <a:noFill/>
          </a:ln>
        </p:spPr>
        <p:txBody>
          <a:bodyPr lIns="0" tIns="0" rIns="0" bIns="0" anchor="ctr">
            <a:normAutofit fontScale="82271" lnSpcReduction="10000"/>
          </a:bodyPr>
          <a:lstStyle/>
          <a:p>
            <a:pPr algn="l">
              <a:buNone/>
              <a:defRPr sz="3750" b="1">
                <a:solidFill>
                  <a:srgbClr val="1F1B68"/>
                </a:solidFill>
                <a:latin typeface="Arial"/>
                <a:ea typeface="Arial"/>
                <a:cs typeface="Arial"/>
              </a:defRPr>
            </a:pPr>
            <a:r>
              <a:rPr sz="3750" b="1">
                <a:solidFill>
                  <a:srgbClr val="1F1B68"/>
                </a:solidFill>
                <a:latin typeface="Arial"/>
                <a:ea typeface="Arial"/>
                <a:cs typeface="Arial"/>
              </a:rPr>
              <a:t>Human Pose Analytics</a:t>
            </a:r>
            <a:endParaRPr sz="3150" b="1">
              <a:solidFill>
                <a:srgbClr val="181C62"/>
              </a:solidFill>
              <a:latin typeface="Arial"/>
              <a:ea typeface="Arial"/>
              <a:cs typeface="Arial"/>
            </a:endParaRPr>
          </a:p>
        </p:txBody>
      </p:sp>
      <p:sp>
        <p:nvSpPr>
          <p:cNvPr id="11" name="TextBox 11">
            <a:extLst>
              <a:ext uri="{FF2B5EF4-FFF2-40B4-BE49-F238E27FC236}">
                <a16:creationId xmlns:a16="http://schemas.microsoft.com/office/drawing/2014/main" id="{038445F5-A4EA-44C8-AC8F-6D06EF1641FC}"/>
              </a:ext>
            </a:extLst>
          </p:cNvPr>
          <p:cNvSpPr>
            <a:spLocks noGrp="1"/>
          </p:cNvSpPr>
          <p:nvPr/>
        </p:nvSpPr>
        <p:spPr>
          <a:xfrm>
            <a:off x="905637" y="3166586"/>
            <a:ext cx="4508738" cy="337376"/>
          </a:xfrm>
          <a:prstGeom prst="rect">
            <a:avLst/>
          </a:prstGeom>
          <a:noFill/>
          <a:ln>
            <a:noFill/>
          </a:ln>
        </p:spPr>
        <p:txBody>
          <a:bodyPr lIns="0" tIns="0" rIns="0" bIns="0" anchor="ctr">
            <a:normAutofit fontScale="92906"/>
          </a:bodyPr>
          <a:lstStyle/>
          <a:p>
            <a:pPr algn="l">
              <a:buNone/>
              <a:defRPr sz="1875" b="0">
                <a:solidFill>
                  <a:srgbClr val="5D6473"/>
                </a:solidFill>
                <a:latin typeface="Arial"/>
                <a:ea typeface="Arial"/>
                <a:cs typeface="Arial"/>
              </a:defRPr>
            </a:pPr>
            <a:r>
              <a:rPr sz="1875" b="0" dirty="0">
                <a:solidFill>
                  <a:srgbClr val="5D6473"/>
                </a:solidFill>
                <a:latin typeface="Arial"/>
                <a:ea typeface="Arial"/>
                <a:cs typeface="Arial"/>
              </a:rPr>
              <a:t>Weekly research update · </a:t>
            </a:r>
            <a:r>
              <a:rPr lang="en-US" sz="1875" b="0" dirty="0">
                <a:solidFill>
                  <a:srgbClr val="5D6473"/>
                </a:solidFill>
                <a:latin typeface="Arial"/>
                <a:ea typeface="Arial"/>
                <a:cs typeface="Arial"/>
              </a:rPr>
              <a:t>E</a:t>
            </a:r>
            <a:r>
              <a:rPr lang="en-US" altLang="zh-CN" sz="1875" b="0" dirty="0">
                <a:solidFill>
                  <a:srgbClr val="5D6473"/>
                </a:solidFill>
                <a:latin typeface="Arial"/>
                <a:ea typeface="Arial"/>
                <a:cs typeface="Arial"/>
              </a:rPr>
              <a:t>xperiment</a:t>
            </a:r>
            <a:endParaRPr sz="1720" dirty="0">
              <a:solidFill>
                <a:srgbClr val="20243A"/>
              </a:solidFill>
              <a:latin typeface="Arial"/>
              <a:ea typeface="Arial"/>
              <a:cs typeface="Arial"/>
            </a:endParaRPr>
          </a:p>
        </p:txBody>
      </p:sp>
      <p:sp>
        <p:nvSpPr>
          <p:cNvPr id="12" name="TextBox 12">
            <a:extLst>
              <a:ext uri="{FF2B5EF4-FFF2-40B4-BE49-F238E27FC236}">
                <a16:creationId xmlns:a16="http://schemas.microsoft.com/office/drawing/2014/main" id="{480AD190-7127-4074-8BDB-6371EC722FE6}"/>
              </a:ext>
            </a:extLst>
          </p:cNvPr>
          <p:cNvSpPr>
            <a:spLocks noGrp="1"/>
          </p:cNvSpPr>
          <p:nvPr/>
        </p:nvSpPr>
        <p:spPr>
          <a:xfrm>
            <a:off x="907542" y="4311968"/>
            <a:ext cx="2213617" cy="264033"/>
          </a:xfrm>
          <a:prstGeom prst="rect">
            <a:avLst/>
          </a:prstGeom>
          <a:noFill/>
          <a:ln>
            <a:noFill/>
          </a:ln>
        </p:spPr>
        <p:txBody>
          <a:bodyPr lIns="0" tIns="0" rIns="0" bIns="0" anchor="ctr">
            <a:normAutofit/>
          </a:bodyPr>
          <a:lstStyle/>
          <a:p>
            <a:pPr algn="l">
              <a:buNone/>
              <a:defRPr sz="1350" b="0">
                <a:solidFill>
                  <a:srgbClr val="E3185A"/>
                </a:solidFill>
                <a:latin typeface="Arial"/>
                <a:ea typeface="Arial"/>
                <a:cs typeface="Arial"/>
              </a:defRPr>
            </a:pPr>
            <a:r>
              <a:rPr sz="1350" b="0" dirty="0">
                <a:solidFill>
                  <a:srgbClr val="E3185A"/>
                </a:solidFill>
                <a:latin typeface="Arial"/>
                <a:ea typeface="Arial"/>
                <a:cs typeface="Arial"/>
              </a:rPr>
              <a:t>Reporting period · Week </a:t>
            </a:r>
            <a:r>
              <a:rPr lang="en-US" sz="1350" dirty="0">
                <a:solidFill>
                  <a:srgbClr val="E3185A"/>
                </a:solidFill>
                <a:latin typeface="Arial"/>
                <a:ea typeface="Arial"/>
                <a:cs typeface="Arial"/>
              </a:rPr>
              <a:t>9</a:t>
            </a:r>
            <a:endParaRPr sz="1350" b="1" dirty="0">
              <a:solidFill>
                <a:srgbClr val="D71440"/>
              </a:solidFill>
              <a:latin typeface="Arial"/>
              <a:ea typeface="Arial"/>
              <a:cs typeface="Arial"/>
            </a:endParaRPr>
          </a:p>
        </p:txBody>
      </p:sp>
    </p:spTree>
    <p:extLst>
      <p:ext uri="{BB962C8B-B14F-4D97-AF65-F5344CB8AC3E}">
        <p14:creationId xmlns:p14="http://schemas.microsoft.com/office/powerpoint/2010/main" val="609713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rgbClr val="D71440"/>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pic>
        <p:nvPicPr>
          <p:cNvPr id="3" name="Image 3"/>
          <p:cNvPicPr>
            <a:picLocks noChangeAspect="1"/>
          </p:cNvPicPr>
          <p:nvPr/>
        </p:nvPicPr>
        <p:blipFill>
          <a:blip r:embed="rId3"/>
          <a:stretch>
            <a:fillRect/>
          </a:stretch>
        </p:blipFill>
        <p:spPr>
          <a:xfrm>
            <a:off x="9810750" y="228600"/>
            <a:ext cx="1905000" cy="685800"/>
          </a:xfrm>
          <a:prstGeom prst="rect">
            <a:avLst/>
          </a:prstGeom>
        </p:spPr>
      </p:pic>
      <p:sp>
        <p:nvSpPr>
          <p:cNvPr id="4" name="Rectangle 4"/>
          <p:cNvSpPr/>
          <p:nvPr/>
        </p:nvSpPr>
        <p:spPr>
          <a:xfrm>
            <a:off x="171450" y="6572250"/>
            <a:ext cx="12020550" cy="285750"/>
          </a:xfrm>
          <a:prstGeom prst="rect">
            <a:avLst/>
          </a:prstGeom>
          <a:solidFill>
            <a:srgbClr val="181C62"/>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TextBox 5"/>
          <p:cNvSpPr txBox="1"/>
          <p:nvPr/>
        </p:nvSpPr>
        <p:spPr>
          <a:xfrm>
            <a:off x="471297" y="6667024"/>
            <a:ext cx="211477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FFFFFF"/>
                </a:solidFill>
                <a:effectLst/>
                <a:uLnTx/>
                <a:uFillTx/>
                <a:latin typeface="Arial" panose="020B0604020202020204"/>
                <a:ea typeface="Arial" panose="020B0604020202020204"/>
                <a:cs typeface="Arial" panose="020B0604020202020204"/>
              </a:rPr>
              <a:t>EE6008 · HUMAN POSE ANALYTICS</a:t>
            </a:r>
          </a:p>
        </p:txBody>
      </p:sp>
      <p:sp>
        <p:nvSpPr>
          <p:cNvPr id="6" name="Rectangle 6"/>
          <p:cNvSpPr/>
          <p:nvPr/>
        </p:nvSpPr>
        <p:spPr>
          <a:xfrm>
            <a:off x="514350" y="1000125"/>
            <a:ext cx="1524000" cy="47625"/>
          </a:xfrm>
          <a:prstGeom prst="rect">
            <a:avLst/>
          </a:prstGeom>
          <a:solidFill>
            <a:srgbClr val="D71440"/>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 name="Rectangle 7"/>
          <p:cNvSpPr/>
          <p:nvPr/>
        </p:nvSpPr>
        <p:spPr>
          <a:xfrm>
            <a:off x="514350" y="1304925"/>
            <a:ext cx="11106150" cy="4772025"/>
          </a:xfrm>
          <a:prstGeom prst="roundRect">
            <a:avLst>
              <a:gd name="adj" fmla="val 1996"/>
            </a:avLst>
          </a:prstGeom>
          <a:solidFill>
            <a:srgbClr val="FFFFFF"/>
          </a:solidFill>
          <a:ln w="19050">
            <a:solidFill>
              <a:srgbClr val="C8C8C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 name="TextBox 8"/>
          <p:cNvSpPr txBox="1"/>
          <p:nvPr/>
        </p:nvSpPr>
        <p:spPr>
          <a:xfrm>
            <a:off x="501396" y="543878"/>
            <a:ext cx="2213061" cy="49872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550" b="1" i="0" u="none" strike="noStrike" kern="1200" cap="none" spc="0" normalizeH="0" baseline="0" noProof="0" dirty="0">
                <a:ln>
                  <a:noFill/>
                </a:ln>
                <a:solidFill>
                  <a:srgbClr val="20243A"/>
                </a:solidFill>
                <a:effectLst/>
                <a:uLnTx/>
                <a:uFillTx/>
                <a:latin typeface="Arial" panose="020B0604020202020204"/>
                <a:ea typeface="Arial" panose="020B0604020202020204"/>
                <a:cs typeface="Arial" panose="020B0604020202020204"/>
              </a:rPr>
              <a:t>G-Conv</a:t>
            </a:r>
          </a:p>
        </p:txBody>
      </p:sp>
      <p:sp>
        <p:nvSpPr>
          <p:cNvPr id="9" name="TextBox 9"/>
          <p:cNvSpPr txBox="1"/>
          <p:nvPr/>
        </p:nvSpPr>
        <p:spPr>
          <a:xfrm>
            <a:off x="4218546" y="6665595"/>
            <a:ext cx="739216" cy="176212"/>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panose="020B0604020202020204"/>
                <a:ea typeface="Arial" panose="020B0604020202020204"/>
                <a:cs typeface="Arial" panose="020B0604020202020204"/>
              </a:rPr>
              <a:t>Val only</a:t>
            </a:r>
          </a:p>
        </p:txBody>
      </p:sp>
      <p:sp>
        <p:nvSpPr>
          <p:cNvPr id="10" name="TextBox 10"/>
          <p:cNvSpPr txBox="1"/>
          <p:nvPr/>
        </p:nvSpPr>
        <p:spPr>
          <a:xfrm>
            <a:off x="11085233" y="6665595"/>
            <a:ext cx="880034" cy="176212"/>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panose="020B0604020202020204"/>
                <a:ea typeface="Arial" panose="020B0604020202020204"/>
                <a:cs typeface="Arial" panose="020B0604020202020204"/>
              </a:rPr>
              <a:t>01</a:t>
            </a:r>
          </a:p>
        </p:txBody>
      </p:sp>
      <p:grpSp>
        <p:nvGrpSpPr>
          <p:cNvPr id="172" name="M1 M2 M3 — copyable content fragment"/>
          <p:cNvGrpSpPr/>
          <p:nvPr/>
        </p:nvGrpSpPr>
        <p:grpSpPr>
          <a:xfrm>
            <a:off x="731520" y="1463040"/>
            <a:ext cx="10716768" cy="4562856"/>
            <a:chOff x="731520" y="1463040"/>
            <a:chExt cx="10716768" cy="4562856"/>
          </a:xfrm>
        </p:grpSpPr>
        <p:sp>
          <p:nvSpPr>
            <p:cNvPr id="11" name="Text: What should become adaptive?"/>
            <p:cNvSpPr txBox="1"/>
            <p:nvPr/>
          </p:nvSpPr>
          <p:spPr>
            <a:xfrm>
              <a:off x="731520" y="1463040"/>
              <a:ext cx="10607040" cy="356616"/>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2300" b="1" i="0" u="none" strike="noStrike" kern="1200" cap="none" spc="0" normalizeH="0" baseline="0" noProof="0">
                  <a:ln>
                    <a:noFill/>
                  </a:ln>
                  <a:solidFill>
                    <a:srgbClr val="181C62"/>
                  </a:solidFill>
                  <a:effectLst/>
                  <a:uLnTx/>
                  <a:uFillTx/>
                  <a:latin typeface="Arial"/>
                  <a:ea typeface="+mn-ea"/>
                  <a:cs typeface="+mn-cs"/>
                </a:rPr>
                <a:t>What should become adaptive?</a:t>
              </a:r>
            </a:p>
          </p:txBody>
        </p:sp>
        <p:sp>
          <p:nvSpPr>
            <p:cNvPr id="12" name="Text: Matched residual design and added parameter budget; vary what the new branch can"/>
            <p:cNvSpPr txBox="1"/>
            <p:nvPr/>
          </p:nvSpPr>
          <p:spPr>
            <a:xfrm>
              <a:off x="740664" y="1856231"/>
              <a:ext cx="10570464" cy="246888"/>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150" b="0" i="0" u="none" strike="noStrike" kern="1200" cap="none" spc="0" normalizeH="0" baseline="0" noProof="0">
                  <a:ln>
                    <a:noFill/>
                  </a:ln>
                  <a:solidFill>
                    <a:srgbClr val="5D6577"/>
                  </a:solidFill>
                  <a:effectLst/>
                  <a:uLnTx/>
                  <a:uFillTx/>
                  <a:latin typeface="Arial"/>
                  <a:ea typeface="+mn-ea"/>
                  <a:cs typeface="+mn-cs"/>
                </a:rPr>
                <a:t>Matched residual design and added parameter budget; vary what the new branch can mix.</a:t>
              </a:r>
            </a:p>
          </p:txBody>
        </p:sp>
        <p:grpSp>
          <p:nvGrpSpPr>
            <p:cNvPr id="41" name="M1 — editable experiment panel"/>
            <p:cNvGrpSpPr/>
            <p:nvPr/>
          </p:nvGrpSpPr>
          <p:grpSpPr>
            <a:xfrm>
              <a:off x="731520" y="2221992"/>
              <a:ext cx="3474720" cy="3017520"/>
              <a:chOff x="731520" y="2221992"/>
              <a:chExt cx="3474720" cy="3017520"/>
            </a:xfrm>
          </p:grpSpPr>
          <p:sp>
            <p:nvSpPr>
              <p:cNvPr id="13" name="M1 comparison panel"/>
              <p:cNvSpPr/>
              <p:nvPr/>
            </p:nvSpPr>
            <p:spPr>
              <a:xfrm>
                <a:off x="731520" y="2221992"/>
                <a:ext cx="3474720" cy="3017520"/>
              </a:xfrm>
              <a:prstGeom prst="roundRect">
                <a:avLst>
                  <a:gd name="adj" fmla="val 6000"/>
                </a:avLst>
              </a:prstGeom>
              <a:solidFill>
                <a:srgbClr val="F6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Panel"/>
              <p:cNvSpPr/>
              <p:nvPr/>
            </p:nvSpPr>
            <p:spPr>
              <a:xfrm>
                <a:off x="877824" y="2377440"/>
                <a:ext cx="457200" cy="283464"/>
              </a:xfrm>
              <a:prstGeom prst="roundRect">
                <a:avLst>
                  <a:gd name="adj" fmla="val 6000"/>
                </a:avLst>
              </a:prstGeom>
              <a:solidFill>
                <a:srgbClr val="181C6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 M1"/>
              <p:cNvSpPr txBox="1"/>
              <p:nvPr/>
            </p:nvSpPr>
            <p:spPr>
              <a:xfrm>
                <a:off x="877824" y="2377440"/>
                <a:ext cx="457200" cy="28346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M1</a:t>
                </a:r>
              </a:p>
            </p:txBody>
          </p:sp>
          <p:sp>
            <p:nvSpPr>
              <p:cNvPr id="16" name="Text: CAPACITY CONTROL"/>
              <p:cNvSpPr txBox="1"/>
              <p:nvPr/>
            </p:nvSpPr>
            <p:spPr>
              <a:xfrm>
                <a:off x="1444752" y="2377440"/>
                <a:ext cx="2587752" cy="283464"/>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940" b="1" i="0" u="none" strike="noStrike" kern="1200" cap="none" spc="0" normalizeH="0" baseline="0" noProof="0">
                    <a:ln>
                      <a:noFill/>
                    </a:ln>
                    <a:solidFill>
                      <a:srgbClr val="181C62"/>
                    </a:solidFill>
                    <a:effectLst/>
                    <a:uLnTx/>
                    <a:uFillTx/>
                    <a:latin typeface="Arial"/>
                    <a:ea typeface="+mn-ea"/>
                    <a:cs typeface="+mn-cs"/>
                  </a:rPr>
                  <a:t>CAPACITY CONTROL</a:t>
                </a:r>
              </a:p>
            </p:txBody>
          </p:sp>
          <p:sp>
            <p:nvSpPr>
              <p:cNvPr id="17" name="Text: Channels at each position"/>
              <p:cNvSpPr txBox="1"/>
              <p:nvPr/>
            </p:nvSpPr>
            <p:spPr>
              <a:xfrm>
                <a:off x="896112" y="2770632"/>
                <a:ext cx="3145536" cy="274320"/>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639" b="1" i="0" u="none" strike="noStrike" kern="1200" cap="none" spc="0" normalizeH="0" baseline="0" noProof="0">
                    <a:ln>
                      <a:noFill/>
                    </a:ln>
                    <a:solidFill>
                      <a:srgbClr val="20243A"/>
                    </a:solidFill>
                    <a:effectLst/>
                    <a:uLnTx/>
                    <a:uFillTx/>
                    <a:latin typeface="Arial"/>
                    <a:ea typeface="+mn-ea"/>
                    <a:cs typeface="+mn-cs"/>
                  </a:rPr>
                  <a:t>Channels at each position</a:t>
                </a:r>
              </a:p>
            </p:txBody>
          </p:sp>
          <p:sp>
            <p:nvSpPr>
              <p:cNvPr id="18" name="Text: Could extra capacity explain the gain?"/>
              <p:cNvSpPr txBox="1"/>
              <p:nvPr/>
            </p:nvSpPr>
            <p:spPr>
              <a:xfrm>
                <a:off x="896112" y="3118104"/>
                <a:ext cx="3145536" cy="292608"/>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070" b="0" i="0" u="none" strike="noStrike" kern="1200" cap="none" spc="0" normalizeH="0" baseline="0" noProof="0">
                    <a:ln>
                      <a:noFill/>
                    </a:ln>
                    <a:solidFill>
                      <a:srgbClr val="5D6577"/>
                    </a:solidFill>
                    <a:effectLst/>
                    <a:uLnTx/>
                    <a:uFillTx/>
                    <a:latin typeface="Arial"/>
                    <a:ea typeface="+mn-ea"/>
                    <a:cs typeface="+mn-cs"/>
                  </a:rPr>
                  <a:t>Could extra capacity explain the gain?</a:t>
                </a:r>
              </a:p>
            </p:txBody>
          </p:sp>
          <p:sp>
            <p:nvSpPr>
              <p:cNvPr id="19" name="Text: Position i"/>
              <p:cNvSpPr txBox="1"/>
              <p:nvPr/>
            </p:nvSpPr>
            <p:spPr>
              <a:xfrm>
                <a:off x="905256" y="3557016"/>
                <a:ext cx="877824" cy="182880"/>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40" b="0" i="0" u="none" strike="noStrike" kern="1200" cap="none" spc="0" normalizeH="0" baseline="0" noProof="0">
                    <a:ln>
                      <a:noFill/>
                    </a:ln>
                    <a:solidFill>
                      <a:srgbClr val="5D6577"/>
                    </a:solidFill>
                    <a:effectLst/>
                    <a:uLnTx/>
                    <a:uFillTx/>
                    <a:latin typeface="Arial"/>
                    <a:ea typeface="+mn-ea"/>
                    <a:cs typeface="+mn-cs"/>
                  </a:rPr>
                  <a:t>Position i</a:t>
                </a:r>
              </a:p>
            </p:txBody>
          </p:sp>
          <p:sp>
            <p:nvSpPr>
              <p:cNvPr id="20" name="Editable node"/>
              <p:cNvSpPr/>
              <p:nvPr/>
            </p:nvSpPr>
            <p:spPr>
              <a:xfrm>
                <a:off x="1280160" y="3822191"/>
                <a:ext cx="128016" cy="128016"/>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1" name="Editable arrow"/>
              <p:cNvCxnSpPr/>
              <p:nvPr/>
            </p:nvCxnSpPr>
            <p:spPr>
              <a:xfrm>
                <a:off x="1344168" y="3959352"/>
                <a:ext cx="0" cy="109728"/>
              </a:xfrm>
              <a:prstGeom prst="line">
                <a:avLst/>
              </a:prstGeom>
              <a:ln w="12700">
                <a:solidFill>
                  <a:srgbClr val="181C62"/>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Panel"/>
              <p:cNvSpPr/>
              <p:nvPr/>
            </p:nvSpPr>
            <p:spPr>
              <a:xfrm>
                <a:off x="1005840" y="4096512"/>
                <a:ext cx="676656" cy="320040"/>
              </a:xfrm>
              <a:prstGeom prst="roundRect">
                <a:avLst>
                  <a:gd name="adj" fmla="val 6000"/>
                </a:avLst>
              </a:prstGeom>
              <a:solidFill>
                <a:srgbClr val="FFFFFF"/>
              </a:solidFill>
              <a:ln w="10160">
                <a:solidFill>
                  <a:srgbClr val="CBD1DD"/>
                </a:solid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 MLP"/>
              <p:cNvSpPr txBox="1"/>
              <p:nvPr/>
            </p:nvSpPr>
            <p:spPr>
              <a:xfrm>
                <a:off x="1005840" y="4096512"/>
                <a:ext cx="676656" cy="320040"/>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1050" b="1" i="0" u="none" strike="noStrike" kern="1200" cap="none" spc="0" normalizeH="0" baseline="0" noProof="0">
                    <a:ln>
                      <a:noFill/>
                    </a:ln>
                    <a:solidFill>
                      <a:srgbClr val="181C62"/>
                    </a:solidFill>
                    <a:effectLst/>
                    <a:uLnTx/>
                    <a:uFillTx/>
                    <a:latin typeface="Arial"/>
                    <a:ea typeface="+mn-ea"/>
                    <a:cs typeface="+mn-cs"/>
                  </a:rPr>
                  <a:t>MLP</a:t>
                </a:r>
              </a:p>
            </p:txBody>
          </p:sp>
          <p:cxnSp>
            <p:nvCxnSpPr>
              <p:cNvPr id="24" name="Editable arrow"/>
              <p:cNvCxnSpPr/>
              <p:nvPr/>
            </p:nvCxnSpPr>
            <p:spPr>
              <a:xfrm>
                <a:off x="1344168" y="4443984"/>
                <a:ext cx="0" cy="100584"/>
              </a:xfrm>
              <a:prstGeom prst="line">
                <a:avLst/>
              </a:prstGeom>
              <a:ln w="12700">
                <a:solidFill>
                  <a:srgbClr val="181C62"/>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Editable node"/>
              <p:cNvSpPr/>
              <p:nvPr/>
            </p:nvSpPr>
            <p:spPr>
              <a:xfrm>
                <a:off x="1280160" y="4544568"/>
                <a:ext cx="128016" cy="128016"/>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 Position j"/>
              <p:cNvSpPr txBox="1"/>
              <p:nvPr/>
            </p:nvSpPr>
            <p:spPr>
              <a:xfrm>
                <a:off x="1938528" y="3557016"/>
                <a:ext cx="877824" cy="182880"/>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40" b="0" i="0" u="none" strike="noStrike" kern="1200" cap="none" spc="0" normalizeH="0" baseline="0" noProof="0">
                    <a:ln>
                      <a:noFill/>
                    </a:ln>
                    <a:solidFill>
                      <a:srgbClr val="5D6577"/>
                    </a:solidFill>
                    <a:effectLst/>
                    <a:uLnTx/>
                    <a:uFillTx/>
                    <a:latin typeface="Arial"/>
                    <a:ea typeface="+mn-ea"/>
                    <a:cs typeface="+mn-cs"/>
                  </a:rPr>
                  <a:t>Position j</a:t>
                </a:r>
              </a:p>
            </p:txBody>
          </p:sp>
          <p:sp>
            <p:nvSpPr>
              <p:cNvPr id="27" name="Editable node"/>
              <p:cNvSpPr/>
              <p:nvPr/>
            </p:nvSpPr>
            <p:spPr>
              <a:xfrm>
                <a:off x="2313432" y="3822191"/>
                <a:ext cx="128016" cy="128016"/>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8" name="Editable arrow"/>
              <p:cNvCxnSpPr/>
              <p:nvPr/>
            </p:nvCxnSpPr>
            <p:spPr>
              <a:xfrm>
                <a:off x="2377440" y="3959352"/>
                <a:ext cx="0" cy="109728"/>
              </a:xfrm>
              <a:prstGeom prst="line">
                <a:avLst/>
              </a:prstGeom>
              <a:ln w="12700">
                <a:solidFill>
                  <a:srgbClr val="181C62"/>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Panel"/>
              <p:cNvSpPr/>
              <p:nvPr/>
            </p:nvSpPr>
            <p:spPr>
              <a:xfrm>
                <a:off x="2039112" y="4096512"/>
                <a:ext cx="676656" cy="320040"/>
              </a:xfrm>
              <a:prstGeom prst="roundRect">
                <a:avLst>
                  <a:gd name="adj" fmla="val 6000"/>
                </a:avLst>
              </a:prstGeom>
              <a:solidFill>
                <a:srgbClr val="FFFFFF"/>
              </a:solidFill>
              <a:ln w="10160">
                <a:solidFill>
                  <a:srgbClr val="CBD1DD"/>
                </a:solid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Text: MLP"/>
              <p:cNvSpPr txBox="1"/>
              <p:nvPr/>
            </p:nvSpPr>
            <p:spPr>
              <a:xfrm>
                <a:off x="2039112" y="4096512"/>
                <a:ext cx="676656" cy="320040"/>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1050" b="1" i="0" u="none" strike="noStrike" kern="1200" cap="none" spc="0" normalizeH="0" baseline="0" noProof="0">
                    <a:ln>
                      <a:noFill/>
                    </a:ln>
                    <a:solidFill>
                      <a:srgbClr val="181C62"/>
                    </a:solidFill>
                    <a:effectLst/>
                    <a:uLnTx/>
                    <a:uFillTx/>
                    <a:latin typeface="Arial"/>
                    <a:ea typeface="+mn-ea"/>
                    <a:cs typeface="+mn-cs"/>
                  </a:rPr>
                  <a:t>MLP</a:t>
                </a:r>
              </a:p>
            </p:txBody>
          </p:sp>
          <p:cxnSp>
            <p:nvCxnSpPr>
              <p:cNvPr id="31" name="Editable arrow"/>
              <p:cNvCxnSpPr/>
              <p:nvPr/>
            </p:nvCxnSpPr>
            <p:spPr>
              <a:xfrm>
                <a:off x="2377440" y="4443984"/>
                <a:ext cx="0" cy="100584"/>
              </a:xfrm>
              <a:prstGeom prst="line">
                <a:avLst/>
              </a:prstGeom>
              <a:ln w="12700">
                <a:solidFill>
                  <a:srgbClr val="181C62"/>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Editable node"/>
              <p:cNvSpPr/>
              <p:nvPr/>
            </p:nvSpPr>
            <p:spPr>
              <a:xfrm>
                <a:off x="2313432" y="4544568"/>
                <a:ext cx="128016" cy="128016"/>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Text: Position k"/>
              <p:cNvSpPr txBox="1"/>
              <p:nvPr/>
            </p:nvSpPr>
            <p:spPr>
              <a:xfrm>
                <a:off x="2971800" y="3557016"/>
                <a:ext cx="877824" cy="182880"/>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40" b="0" i="0" u="none" strike="noStrike" kern="1200" cap="none" spc="0" normalizeH="0" baseline="0" noProof="0">
                    <a:ln>
                      <a:noFill/>
                    </a:ln>
                    <a:solidFill>
                      <a:srgbClr val="5D6577"/>
                    </a:solidFill>
                    <a:effectLst/>
                    <a:uLnTx/>
                    <a:uFillTx/>
                    <a:latin typeface="Arial"/>
                    <a:ea typeface="+mn-ea"/>
                    <a:cs typeface="+mn-cs"/>
                  </a:rPr>
                  <a:t>Position k</a:t>
                </a:r>
              </a:p>
            </p:txBody>
          </p:sp>
          <p:sp>
            <p:nvSpPr>
              <p:cNvPr id="34" name="Editable node"/>
              <p:cNvSpPr/>
              <p:nvPr/>
            </p:nvSpPr>
            <p:spPr>
              <a:xfrm>
                <a:off x="3346704" y="3822191"/>
                <a:ext cx="128016" cy="128016"/>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5" name="Editable arrow"/>
              <p:cNvCxnSpPr/>
              <p:nvPr/>
            </p:nvCxnSpPr>
            <p:spPr>
              <a:xfrm>
                <a:off x="3410712" y="3959352"/>
                <a:ext cx="0" cy="109728"/>
              </a:xfrm>
              <a:prstGeom prst="line">
                <a:avLst/>
              </a:prstGeom>
              <a:ln w="12700">
                <a:solidFill>
                  <a:srgbClr val="181C62"/>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Panel"/>
              <p:cNvSpPr/>
              <p:nvPr/>
            </p:nvSpPr>
            <p:spPr>
              <a:xfrm>
                <a:off x="3072384" y="4096512"/>
                <a:ext cx="676656" cy="320040"/>
              </a:xfrm>
              <a:prstGeom prst="roundRect">
                <a:avLst>
                  <a:gd name="adj" fmla="val 6000"/>
                </a:avLst>
              </a:prstGeom>
              <a:solidFill>
                <a:srgbClr val="FFFFFF"/>
              </a:solidFill>
              <a:ln w="10160">
                <a:solidFill>
                  <a:srgbClr val="CBD1DD"/>
                </a:solid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Text: MLP"/>
              <p:cNvSpPr txBox="1"/>
              <p:nvPr/>
            </p:nvSpPr>
            <p:spPr>
              <a:xfrm>
                <a:off x="3072384" y="4096512"/>
                <a:ext cx="676656" cy="320040"/>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1050" b="1" i="0" u="none" strike="noStrike" kern="1200" cap="none" spc="0" normalizeH="0" baseline="0" noProof="0">
                    <a:ln>
                      <a:noFill/>
                    </a:ln>
                    <a:solidFill>
                      <a:srgbClr val="181C62"/>
                    </a:solidFill>
                    <a:effectLst/>
                    <a:uLnTx/>
                    <a:uFillTx/>
                    <a:latin typeface="Arial"/>
                    <a:ea typeface="+mn-ea"/>
                    <a:cs typeface="+mn-cs"/>
                  </a:rPr>
                  <a:t>MLP</a:t>
                </a:r>
              </a:p>
            </p:txBody>
          </p:sp>
          <p:cxnSp>
            <p:nvCxnSpPr>
              <p:cNvPr id="38" name="Editable arrow"/>
              <p:cNvCxnSpPr/>
              <p:nvPr/>
            </p:nvCxnSpPr>
            <p:spPr>
              <a:xfrm>
                <a:off x="3410712" y="4443984"/>
                <a:ext cx="0" cy="100584"/>
              </a:xfrm>
              <a:prstGeom prst="line">
                <a:avLst/>
              </a:prstGeom>
              <a:ln w="12700">
                <a:solidFill>
                  <a:srgbClr val="181C62"/>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Editable node"/>
              <p:cNvSpPr/>
              <p:nvPr/>
            </p:nvSpPr>
            <p:spPr>
              <a:xfrm>
                <a:off x="3346704" y="4544568"/>
                <a:ext cx="128016" cy="128016"/>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0" name="Text: Same MLP at every position"/>
              <p:cNvSpPr txBox="1"/>
              <p:nvPr/>
            </p:nvSpPr>
            <p:spPr>
              <a:xfrm>
                <a:off x="868680" y="4773168"/>
                <a:ext cx="3200400" cy="182880"/>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30" b="0" i="0" u="none" strike="noStrike" kern="1200" cap="none" spc="0" normalizeH="0" baseline="0" noProof="0">
                    <a:ln>
                      <a:noFill/>
                    </a:ln>
                    <a:solidFill>
                      <a:srgbClr val="5D6577"/>
                    </a:solidFill>
                    <a:effectLst/>
                    <a:uLnTx/>
                    <a:uFillTx/>
                    <a:latin typeface="Arial"/>
                    <a:ea typeface="+mn-ea"/>
                    <a:cs typeface="+mn-cs"/>
                  </a:rPr>
                  <a:t>Same MLP at every position</a:t>
                </a:r>
              </a:p>
            </p:txBody>
          </p:sp>
        </p:grpSp>
        <p:grpSp>
          <p:nvGrpSpPr>
            <p:cNvPr id="104" name="M2 — editable experiment panel"/>
            <p:cNvGrpSpPr/>
            <p:nvPr/>
          </p:nvGrpSpPr>
          <p:grpSpPr>
            <a:xfrm>
              <a:off x="4352544" y="2221992"/>
              <a:ext cx="3474720" cy="3017520"/>
              <a:chOff x="4352544" y="2221992"/>
              <a:chExt cx="3474720" cy="3017520"/>
            </a:xfrm>
          </p:grpSpPr>
          <p:sp>
            <p:nvSpPr>
              <p:cNvPr id="42" name="M2 comparison panel"/>
              <p:cNvSpPr/>
              <p:nvPr/>
            </p:nvSpPr>
            <p:spPr>
              <a:xfrm>
                <a:off x="4352544" y="2221992"/>
                <a:ext cx="3474720" cy="3017520"/>
              </a:xfrm>
              <a:prstGeom prst="roundRect">
                <a:avLst>
                  <a:gd name="adj" fmla="val 6000"/>
                </a:avLst>
              </a:prstGeom>
              <a:solidFill>
                <a:srgbClr val="EAF6F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Panel"/>
              <p:cNvSpPr/>
              <p:nvPr/>
            </p:nvSpPr>
            <p:spPr>
              <a:xfrm>
                <a:off x="4498848" y="2377440"/>
                <a:ext cx="457200" cy="283464"/>
              </a:xfrm>
              <a:prstGeom prst="roundRect">
                <a:avLst>
                  <a:gd name="adj" fmla="val 6000"/>
                </a:avLst>
              </a:prstGeom>
              <a:solidFill>
                <a:srgbClr val="087F8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Text: M2"/>
              <p:cNvSpPr txBox="1"/>
              <p:nvPr/>
            </p:nvSpPr>
            <p:spPr>
              <a:xfrm>
                <a:off x="4498848" y="2377440"/>
                <a:ext cx="457200" cy="28346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M2</a:t>
                </a:r>
              </a:p>
            </p:txBody>
          </p:sp>
          <p:sp>
            <p:nvSpPr>
              <p:cNvPr id="45" name="Text: WITHIN-PERSON RELATIONS"/>
              <p:cNvSpPr txBox="1"/>
              <p:nvPr/>
            </p:nvSpPr>
            <p:spPr>
              <a:xfrm>
                <a:off x="5065776" y="2377440"/>
                <a:ext cx="2587752" cy="283464"/>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940" b="1" i="0" u="none" strike="noStrike" kern="1200" cap="none" spc="0" normalizeH="0" baseline="0" noProof="0">
                    <a:ln>
                      <a:noFill/>
                    </a:ln>
                    <a:solidFill>
                      <a:srgbClr val="087F85"/>
                    </a:solidFill>
                    <a:effectLst/>
                    <a:uLnTx/>
                    <a:uFillTx/>
                    <a:latin typeface="Arial"/>
                    <a:ea typeface="+mn-ea"/>
                    <a:cs typeface="+mn-cs"/>
                  </a:rPr>
                  <a:t>WITHIN-PERSON RELATIONS</a:t>
                </a:r>
              </a:p>
            </p:txBody>
          </p:sp>
          <p:sp>
            <p:nvSpPr>
              <p:cNvPr id="46" name="Text: Joints within each person"/>
              <p:cNvSpPr txBox="1"/>
              <p:nvPr/>
            </p:nvSpPr>
            <p:spPr>
              <a:xfrm>
                <a:off x="4517136" y="2770632"/>
                <a:ext cx="3145536" cy="274320"/>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639" b="1" i="0" u="none" strike="noStrike" kern="1200" cap="none" spc="0" normalizeH="0" baseline="0" noProof="0">
                    <a:ln>
                      <a:noFill/>
                    </a:ln>
                    <a:solidFill>
                      <a:srgbClr val="20243A"/>
                    </a:solidFill>
                    <a:effectLst/>
                    <a:uLnTx/>
                    <a:uFillTx/>
                    <a:latin typeface="Arial"/>
                    <a:ea typeface="+mn-ea"/>
                    <a:cs typeface="+mn-cs"/>
                  </a:rPr>
                  <a:t>Joints within each person</a:t>
                </a:r>
              </a:p>
            </p:txBody>
          </p:sp>
          <p:sp>
            <p:nvSpPr>
              <p:cNvPr id="47" name="Text: Adapt the body structure to the action?"/>
              <p:cNvSpPr txBox="1"/>
              <p:nvPr/>
            </p:nvSpPr>
            <p:spPr>
              <a:xfrm>
                <a:off x="4517136" y="3118104"/>
                <a:ext cx="3145536" cy="292608"/>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070" b="0" i="0" u="none" strike="noStrike" kern="1200" cap="none" spc="0" normalizeH="0" baseline="0" noProof="0">
                    <a:ln>
                      <a:noFill/>
                    </a:ln>
                    <a:solidFill>
                      <a:srgbClr val="5D6577"/>
                    </a:solidFill>
                    <a:effectLst/>
                    <a:uLnTx/>
                    <a:uFillTx/>
                    <a:latin typeface="Arial"/>
                    <a:ea typeface="+mn-ea"/>
                    <a:cs typeface="+mn-cs"/>
                  </a:rPr>
                  <a:t>Adapt the body structure to the action?</a:t>
                </a:r>
              </a:p>
            </p:txBody>
          </p:sp>
          <p:cxnSp>
            <p:nvCxnSpPr>
              <p:cNvPr id="48" name="Editable line"/>
              <p:cNvCxnSpPr/>
              <p:nvPr/>
            </p:nvCxnSpPr>
            <p:spPr>
              <a:xfrm>
                <a:off x="5312664" y="3657600"/>
                <a:ext cx="0" cy="137160"/>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49" name="Editable line"/>
              <p:cNvCxnSpPr/>
              <p:nvPr/>
            </p:nvCxnSpPr>
            <p:spPr>
              <a:xfrm>
                <a:off x="5312664" y="3794760"/>
                <a:ext cx="0" cy="38404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50" name="Editable line"/>
              <p:cNvCxnSpPr/>
              <p:nvPr/>
            </p:nvCxnSpPr>
            <p:spPr>
              <a:xfrm flipH="1">
                <a:off x="5138927" y="3794760"/>
                <a:ext cx="173737" cy="6400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51" name="Editable line"/>
              <p:cNvCxnSpPr/>
              <p:nvPr/>
            </p:nvCxnSpPr>
            <p:spPr>
              <a:xfrm flipH="1">
                <a:off x="5056631" y="3858768"/>
                <a:ext cx="82296" cy="146304"/>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52" name="Editable line"/>
              <p:cNvCxnSpPr/>
              <p:nvPr/>
            </p:nvCxnSpPr>
            <p:spPr>
              <a:xfrm flipH="1">
                <a:off x="4983479" y="4005072"/>
                <a:ext cx="73152" cy="91440"/>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53" name="Editable line"/>
              <p:cNvCxnSpPr/>
              <p:nvPr/>
            </p:nvCxnSpPr>
            <p:spPr>
              <a:xfrm>
                <a:off x="5312664" y="3794760"/>
                <a:ext cx="164591" cy="6400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54" name="Editable line"/>
              <p:cNvCxnSpPr/>
              <p:nvPr/>
            </p:nvCxnSpPr>
            <p:spPr>
              <a:xfrm>
                <a:off x="5477255" y="3858768"/>
                <a:ext cx="91440" cy="118871"/>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55" name="Editable line"/>
              <p:cNvCxnSpPr/>
              <p:nvPr/>
            </p:nvCxnSpPr>
            <p:spPr>
              <a:xfrm flipV="1">
                <a:off x="5568695" y="3849624"/>
                <a:ext cx="109728" cy="128015"/>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56" name="Editable line"/>
              <p:cNvCxnSpPr/>
              <p:nvPr/>
            </p:nvCxnSpPr>
            <p:spPr>
              <a:xfrm flipH="1">
                <a:off x="5148071" y="4178808"/>
                <a:ext cx="164593" cy="210312"/>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57" name="Editable line"/>
              <p:cNvCxnSpPr/>
              <p:nvPr/>
            </p:nvCxnSpPr>
            <p:spPr>
              <a:xfrm flipH="1">
                <a:off x="5084064" y="4389120"/>
                <a:ext cx="64007" cy="173736"/>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58" name="Editable line"/>
              <p:cNvCxnSpPr/>
              <p:nvPr/>
            </p:nvCxnSpPr>
            <p:spPr>
              <a:xfrm>
                <a:off x="5312664" y="4178808"/>
                <a:ext cx="146303" cy="210312"/>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59" name="Editable line"/>
              <p:cNvCxnSpPr/>
              <p:nvPr/>
            </p:nvCxnSpPr>
            <p:spPr>
              <a:xfrm>
                <a:off x="5458967" y="4389120"/>
                <a:ext cx="128016" cy="173736"/>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sp>
            <p:nvSpPr>
              <p:cNvPr id="60" name="Editable node"/>
              <p:cNvSpPr/>
              <p:nvPr/>
            </p:nvSpPr>
            <p:spPr>
              <a:xfrm>
                <a:off x="5245912" y="3590848"/>
                <a:ext cx="133502" cy="133502"/>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Editable node"/>
              <p:cNvSpPr/>
              <p:nvPr/>
            </p:nvSpPr>
            <p:spPr>
              <a:xfrm>
                <a:off x="5278831" y="376092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Editable node"/>
              <p:cNvSpPr/>
              <p:nvPr/>
            </p:nvSpPr>
            <p:spPr>
              <a:xfrm>
                <a:off x="5278831" y="414497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Editable node"/>
              <p:cNvSpPr/>
              <p:nvPr/>
            </p:nvSpPr>
            <p:spPr>
              <a:xfrm>
                <a:off x="5105095" y="382493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4" name="Editable node"/>
              <p:cNvSpPr/>
              <p:nvPr/>
            </p:nvSpPr>
            <p:spPr>
              <a:xfrm>
                <a:off x="5022799" y="3971239"/>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5" name="Editable node"/>
              <p:cNvSpPr/>
              <p:nvPr/>
            </p:nvSpPr>
            <p:spPr>
              <a:xfrm>
                <a:off x="4949647" y="4062679"/>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Editable node"/>
              <p:cNvSpPr/>
              <p:nvPr/>
            </p:nvSpPr>
            <p:spPr>
              <a:xfrm>
                <a:off x="5443423" y="382493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7" name="Editable node"/>
              <p:cNvSpPr/>
              <p:nvPr/>
            </p:nvSpPr>
            <p:spPr>
              <a:xfrm>
                <a:off x="5534863" y="394380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8" name="Editable node"/>
              <p:cNvSpPr/>
              <p:nvPr/>
            </p:nvSpPr>
            <p:spPr>
              <a:xfrm>
                <a:off x="5644591" y="3815791"/>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Editable node"/>
              <p:cNvSpPr/>
              <p:nvPr/>
            </p:nvSpPr>
            <p:spPr>
              <a:xfrm>
                <a:off x="5114239" y="435528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0" name="Editable node"/>
              <p:cNvSpPr/>
              <p:nvPr/>
            </p:nvSpPr>
            <p:spPr>
              <a:xfrm>
                <a:off x="5050231" y="4529023"/>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1" name="Editable node"/>
              <p:cNvSpPr/>
              <p:nvPr/>
            </p:nvSpPr>
            <p:spPr>
              <a:xfrm>
                <a:off x="5425135" y="435528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Editable node"/>
              <p:cNvSpPr/>
              <p:nvPr/>
            </p:nvSpPr>
            <p:spPr>
              <a:xfrm>
                <a:off x="5553151" y="4529023"/>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3" name="Editable line"/>
              <p:cNvCxnSpPr/>
              <p:nvPr/>
            </p:nvCxnSpPr>
            <p:spPr>
              <a:xfrm>
                <a:off x="6748272" y="3657600"/>
                <a:ext cx="0" cy="137160"/>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74" name="Editable line"/>
              <p:cNvCxnSpPr/>
              <p:nvPr/>
            </p:nvCxnSpPr>
            <p:spPr>
              <a:xfrm>
                <a:off x="6748272" y="3794760"/>
                <a:ext cx="0" cy="38404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75" name="Editable line"/>
              <p:cNvCxnSpPr/>
              <p:nvPr/>
            </p:nvCxnSpPr>
            <p:spPr>
              <a:xfrm flipH="1">
                <a:off x="6574536" y="3794760"/>
                <a:ext cx="173736" cy="6400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76" name="Editable line"/>
              <p:cNvCxnSpPr/>
              <p:nvPr/>
            </p:nvCxnSpPr>
            <p:spPr>
              <a:xfrm flipH="1">
                <a:off x="6492240" y="3858768"/>
                <a:ext cx="82296" cy="146304"/>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77" name="Editable line"/>
              <p:cNvCxnSpPr/>
              <p:nvPr/>
            </p:nvCxnSpPr>
            <p:spPr>
              <a:xfrm flipH="1">
                <a:off x="6419088" y="4005072"/>
                <a:ext cx="73152" cy="91440"/>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78" name="Editable line"/>
              <p:cNvCxnSpPr/>
              <p:nvPr/>
            </p:nvCxnSpPr>
            <p:spPr>
              <a:xfrm>
                <a:off x="6748272" y="3794760"/>
                <a:ext cx="164592" cy="6400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79" name="Editable line"/>
              <p:cNvCxnSpPr/>
              <p:nvPr/>
            </p:nvCxnSpPr>
            <p:spPr>
              <a:xfrm>
                <a:off x="6912864" y="3858768"/>
                <a:ext cx="91439" cy="118871"/>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80" name="Editable line"/>
              <p:cNvCxnSpPr/>
              <p:nvPr/>
            </p:nvCxnSpPr>
            <p:spPr>
              <a:xfrm flipV="1">
                <a:off x="7004303" y="3849624"/>
                <a:ext cx="109728" cy="128015"/>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81" name="Editable line"/>
              <p:cNvCxnSpPr/>
              <p:nvPr/>
            </p:nvCxnSpPr>
            <p:spPr>
              <a:xfrm flipH="1">
                <a:off x="6583679" y="4178808"/>
                <a:ext cx="164593" cy="210312"/>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82" name="Editable line"/>
              <p:cNvCxnSpPr/>
              <p:nvPr/>
            </p:nvCxnSpPr>
            <p:spPr>
              <a:xfrm flipH="1">
                <a:off x="6519672" y="4389120"/>
                <a:ext cx="64007" cy="173736"/>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83" name="Editable line"/>
              <p:cNvCxnSpPr/>
              <p:nvPr/>
            </p:nvCxnSpPr>
            <p:spPr>
              <a:xfrm>
                <a:off x="6748272" y="4178808"/>
                <a:ext cx="146303" cy="210312"/>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84" name="Editable line"/>
              <p:cNvCxnSpPr/>
              <p:nvPr/>
            </p:nvCxnSpPr>
            <p:spPr>
              <a:xfrm>
                <a:off x="6894575" y="4389120"/>
                <a:ext cx="128017" cy="173736"/>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sp>
            <p:nvSpPr>
              <p:cNvPr id="85" name="Editable node"/>
              <p:cNvSpPr/>
              <p:nvPr/>
            </p:nvSpPr>
            <p:spPr>
              <a:xfrm>
                <a:off x="6681520" y="3590848"/>
                <a:ext cx="133502" cy="133502"/>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6" name="Editable node"/>
              <p:cNvSpPr/>
              <p:nvPr/>
            </p:nvSpPr>
            <p:spPr>
              <a:xfrm>
                <a:off x="6714439" y="376092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7" name="Editable node"/>
              <p:cNvSpPr/>
              <p:nvPr/>
            </p:nvSpPr>
            <p:spPr>
              <a:xfrm>
                <a:off x="6714439" y="414497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8" name="Editable node"/>
              <p:cNvSpPr/>
              <p:nvPr/>
            </p:nvSpPr>
            <p:spPr>
              <a:xfrm>
                <a:off x="6540703" y="382493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9" name="Editable node"/>
              <p:cNvSpPr/>
              <p:nvPr/>
            </p:nvSpPr>
            <p:spPr>
              <a:xfrm>
                <a:off x="6458407" y="3971239"/>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Editable node"/>
              <p:cNvSpPr/>
              <p:nvPr/>
            </p:nvSpPr>
            <p:spPr>
              <a:xfrm>
                <a:off x="6385255" y="4062679"/>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1" name="Editable node"/>
              <p:cNvSpPr/>
              <p:nvPr/>
            </p:nvSpPr>
            <p:spPr>
              <a:xfrm>
                <a:off x="6879031" y="382493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2" name="Editable node"/>
              <p:cNvSpPr/>
              <p:nvPr/>
            </p:nvSpPr>
            <p:spPr>
              <a:xfrm>
                <a:off x="6970471" y="394380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3" name="Editable node"/>
              <p:cNvSpPr/>
              <p:nvPr/>
            </p:nvSpPr>
            <p:spPr>
              <a:xfrm>
                <a:off x="7080199" y="3815791"/>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4" name="Editable node"/>
              <p:cNvSpPr/>
              <p:nvPr/>
            </p:nvSpPr>
            <p:spPr>
              <a:xfrm>
                <a:off x="6549847" y="435528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5" name="Editable node"/>
              <p:cNvSpPr/>
              <p:nvPr/>
            </p:nvSpPr>
            <p:spPr>
              <a:xfrm>
                <a:off x="6485839" y="4529023"/>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6" name="Editable node"/>
              <p:cNvSpPr/>
              <p:nvPr/>
            </p:nvSpPr>
            <p:spPr>
              <a:xfrm>
                <a:off x="6860743" y="435528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7" name="Editable node"/>
              <p:cNvSpPr/>
              <p:nvPr/>
            </p:nvSpPr>
            <p:spPr>
              <a:xfrm>
                <a:off x="6988759" y="4529023"/>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8" name="Editable arrow"/>
              <p:cNvCxnSpPr/>
              <p:nvPr/>
            </p:nvCxnSpPr>
            <p:spPr>
              <a:xfrm>
                <a:off x="4983479" y="4096512"/>
                <a:ext cx="329185" cy="82296"/>
              </a:xfrm>
              <a:prstGeom prst="line">
                <a:avLst/>
              </a:prstGeom>
              <a:ln w="24130">
                <a:solidFill>
                  <a:srgbClr val="087F8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9" name="Editable arrow"/>
              <p:cNvCxnSpPr/>
              <p:nvPr/>
            </p:nvCxnSpPr>
            <p:spPr>
              <a:xfrm flipV="1">
                <a:off x="5586983" y="3849624"/>
                <a:ext cx="91440" cy="713232"/>
              </a:xfrm>
              <a:prstGeom prst="line">
                <a:avLst/>
              </a:prstGeom>
              <a:ln w="24130">
                <a:solidFill>
                  <a:srgbClr val="087F8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0" name="Editable arrow"/>
              <p:cNvCxnSpPr/>
              <p:nvPr/>
            </p:nvCxnSpPr>
            <p:spPr>
              <a:xfrm>
                <a:off x="6419088" y="4096512"/>
                <a:ext cx="329184" cy="82296"/>
              </a:xfrm>
              <a:prstGeom prst="line">
                <a:avLst/>
              </a:prstGeom>
              <a:ln w="24130">
                <a:solidFill>
                  <a:srgbClr val="087F8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1" name="Editable arrow"/>
              <p:cNvCxnSpPr/>
              <p:nvPr/>
            </p:nvCxnSpPr>
            <p:spPr>
              <a:xfrm flipV="1">
                <a:off x="7022592" y="3849624"/>
                <a:ext cx="91439" cy="713232"/>
              </a:xfrm>
              <a:prstGeom prst="line">
                <a:avLst/>
              </a:prstGeom>
              <a:ln w="24130">
                <a:solidFill>
                  <a:srgbClr val="087F85"/>
                </a:solidFill>
                <a:tailEnd type="triangle" w="sm" len="sm"/>
              </a:ln>
            </p:spPr>
            <p:style>
              <a:lnRef idx="2">
                <a:schemeClr val="accent1"/>
              </a:lnRef>
              <a:fillRef idx="0">
                <a:schemeClr val="accent1"/>
              </a:fillRef>
              <a:effectRef idx="1">
                <a:schemeClr val="accent1"/>
              </a:effectRef>
              <a:fontRef idx="minor">
                <a:schemeClr val="tx1"/>
              </a:fontRef>
            </p:style>
          </p:cxnSp>
          <p:sp>
            <p:nvSpPr>
              <p:cNvPr id="102" name="Text: Person A"/>
              <p:cNvSpPr txBox="1"/>
              <p:nvPr/>
            </p:nvSpPr>
            <p:spPr>
              <a:xfrm>
                <a:off x="4800600" y="4681728"/>
                <a:ext cx="1042415" cy="164592"/>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40" b="0" i="0" u="none" strike="noStrike" kern="1200" cap="none" spc="0" normalizeH="0" baseline="0" noProof="0">
                    <a:ln>
                      <a:noFill/>
                    </a:ln>
                    <a:solidFill>
                      <a:srgbClr val="5D6577"/>
                    </a:solidFill>
                    <a:effectLst/>
                    <a:uLnTx/>
                    <a:uFillTx/>
                    <a:latin typeface="Arial"/>
                    <a:ea typeface="+mn-ea"/>
                    <a:cs typeface="+mn-cs"/>
                  </a:rPr>
                  <a:t>Person A</a:t>
                </a:r>
              </a:p>
            </p:txBody>
          </p:sp>
          <p:sp>
            <p:nvSpPr>
              <p:cNvPr id="103" name="Text: Person B"/>
              <p:cNvSpPr txBox="1"/>
              <p:nvPr/>
            </p:nvSpPr>
            <p:spPr>
              <a:xfrm>
                <a:off x="6254496" y="4681728"/>
                <a:ext cx="1042415" cy="164592"/>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40" b="0" i="0" u="none" strike="noStrike" kern="1200" cap="none" spc="0" normalizeH="0" baseline="0" noProof="0">
                    <a:ln>
                      <a:noFill/>
                    </a:ln>
                    <a:solidFill>
                      <a:srgbClr val="5D6577"/>
                    </a:solidFill>
                    <a:effectLst/>
                    <a:uLnTx/>
                    <a:uFillTx/>
                    <a:latin typeface="Arial"/>
                    <a:ea typeface="+mn-ea"/>
                    <a:cs typeface="+mn-cs"/>
                  </a:rPr>
                  <a:t>Person B</a:t>
                </a:r>
              </a:p>
            </p:txBody>
          </p:sp>
        </p:grpSp>
        <p:grpSp>
          <p:nvGrpSpPr>
            <p:cNvPr id="165" name="M3 — editable experiment panel"/>
            <p:cNvGrpSpPr/>
            <p:nvPr/>
          </p:nvGrpSpPr>
          <p:grpSpPr>
            <a:xfrm>
              <a:off x="7973568" y="2221992"/>
              <a:ext cx="3474720" cy="3017520"/>
              <a:chOff x="7973568" y="2221992"/>
              <a:chExt cx="3474720" cy="3017520"/>
            </a:xfrm>
          </p:grpSpPr>
          <p:sp>
            <p:nvSpPr>
              <p:cNvPr id="105" name="M3 comparison panel"/>
              <p:cNvSpPr/>
              <p:nvPr/>
            </p:nvSpPr>
            <p:spPr>
              <a:xfrm>
                <a:off x="7973568" y="2221992"/>
                <a:ext cx="3474720" cy="3017520"/>
              </a:xfrm>
              <a:prstGeom prst="roundRect">
                <a:avLst>
                  <a:gd name="adj" fmla="val 6000"/>
                </a:avLst>
              </a:prstGeom>
              <a:solidFill>
                <a:srgbClr val="F6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6" name="Panel"/>
              <p:cNvSpPr/>
              <p:nvPr/>
            </p:nvSpPr>
            <p:spPr>
              <a:xfrm>
                <a:off x="8119872" y="2377440"/>
                <a:ext cx="457200" cy="283464"/>
              </a:xfrm>
              <a:prstGeom prst="roundRect">
                <a:avLst>
                  <a:gd name="adj" fmla="val 6000"/>
                </a:avLst>
              </a:prstGeom>
              <a:solidFill>
                <a:srgbClr val="D7144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7" name="Text: M3"/>
              <p:cNvSpPr txBox="1"/>
              <p:nvPr/>
            </p:nvSpPr>
            <p:spPr>
              <a:xfrm>
                <a:off x="8119872" y="2377440"/>
                <a:ext cx="457200" cy="28346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M3</a:t>
                </a:r>
              </a:p>
            </p:txBody>
          </p:sp>
          <p:sp>
            <p:nvSpPr>
              <p:cNvPr id="108" name="Text: CROSS-PERSON RELATIONS"/>
              <p:cNvSpPr txBox="1"/>
              <p:nvPr/>
            </p:nvSpPr>
            <p:spPr>
              <a:xfrm>
                <a:off x="8686800" y="2377440"/>
                <a:ext cx="2587752" cy="283464"/>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940" b="1" i="0" u="none" strike="noStrike" kern="1200" cap="none" spc="0" normalizeH="0" baseline="0" noProof="0">
                    <a:ln>
                      <a:noFill/>
                    </a:ln>
                    <a:solidFill>
                      <a:srgbClr val="D71440"/>
                    </a:solidFill>
                    <a:effectLst/>
                    <a:uLnTx/>
                    <a:uFillTx/>
                    <a:latin typeface="Arial"/>
                    <a:ea typeface="+mn-ea"/>
                    <a:cs typeface="+mn-cs"/>
                  </a:rPr>
                  <a:t>CROSS-PERSON RELATIONS</a:t>
                </a:r>
              </a:p>
            </p:txBody>
          </p:sp>
          <p:sp>
            <p:nvSpPr>
              <p:cNvPr id="109" name="Text: Joints across people"/>
              <p:cNvSpPr txBox="1"/>
              <p:nvPr/>
            </p:nvSpPr>
            <p:spPr>
              <a:xfrm>
                <a:off x="8138160" y="2770632"/>
                <a:ext cx="3145536" cy="274320"/>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639" b="1" i="0" u="none" strike="noStrike" kern="1200" cap="none" spc="0" normalizeH="0" baseline="0" noProof="0">
                    <a:ln>
                      <a:noFill/>
                    </a:ln>
                    <a:solidFill>
                      <a:srgbClr val="20243A"/>
                    </a:solidFill>
                    <a:effectLst/>
                    <a:uLnTx/>
                    <a:uFillTx/>
                    <a:latin typeface="Arial"/>
                    <a:ea typeface="+mn-ea"/>
                    <a:cs typeface="+mn-cs"/>
                  </a:rPr>
                  <a:t>Joints across people</a:t>
                </a:r>
              </a:p>
            </p:txBody>
          </p:sp>
          <p:sp>
            <p:nvSpPr>
              <p:cNvPr id="110" name="Text: Add action-dependent interaction links?"/>
              <p:cNvSpPr txBox="1"/>
              <p:nvPr/>
            </p:nvSpPr>
            <p:spPr>
              <a:xfrm>
                <a:off x="8138160" y="3118104"/>
                <a:ext cx="3145536" cy="292608"/>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070" b="0" i="0" u="none" strike="noStrike" kern="1200" cap="none" spc="0" normalizeH="0" baseline="0" noProof="0">
                    <a:ln>
                      <a:noFill/>
                    </a:ln>
                    <a:solidFill>
                      <a:srgbClr val="5D6577"/>
                    </a:solidFill>
                    <a:effectLst/>
                    <a:uLnTx/>
                    <a:uFillTx/>
                    <a:latin typeface="Arial"/>
                    <a:ea typeface="+mn-ea"/>
                    <a:cs typeface="+mn-cs"/>
                  </a:rPr>
                  <a:t>Add action-dependent interaction links?</a:t>
                </a:r>
              </a:p>
            </p:txBody>
          </p:sp>
          <p:cxnSp>
            <p:nvCxnSpPr>
              <p:cNvPr id="111" name="Editable line"/>
              <p:cNvCxnSpPr/>
              <p:nvPr/>
            </p:nvCxnSpPr>
            <p:spPr>
              <a:xfrm>
                <a:off x="8933688" y="3657600"/>
                <a:ext cx="0" cy="137160"/>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12" name="Editable line"/>
              <p:cNvCxnSpPr/>
              <p:nvPr/>
            </p:nvCxnSpPr>
            <p:spPr>
              <a:xfrm>
                <a:off x="8933688" y="3794760"/>
                <a:ext cx="0" cy="38404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13" name="Editable line"/>
              <p:cNvCxnSpPr/>
              <p:nvPr/>
            </p:nvCxnSpPr>
            <p:spPr>
              <a:xfrm flipH="1">
                <a:off x="8759952" y="3794760"/>
                <a:ext cx="173736" cy="6400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14" name="Editable line"/>
              <p:cNvCxnSpPr/>
              <p:nvPr/>
            </p:nvCxnSpPr>
            <p:spPr>
              <a:xfrm flipH="1">
                <a:off x="8677656" y="3858768"/>
                <a:ext cx="82296" cy="146304"/>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15" name="Editable line"/>
              <p:cNvCxnSpPr/>
              <p:nvPr/>
            </p:nvCxnSpPr>
            <p:spPr>
              <a:xfrm flipH="1">
                <a:off x="8604504" y="4005072"/>
                <a:ext cx="73152" cy="91440"/>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16" name="Editable line"/>
              <p:cNvCxnSpPr/>
              <p:nvPr/>
            </p:nvCxnSpPr>
            <p:spPr>
              <a:xfrm>
                <a:off x="8933688" y="3794760"/>
                <a:ext cx="164592" cy="6400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17" name="Editable line"/>
              <p:cNvCxnSpPr/>
              <p:nvPr/>
            </p:nvCxnSpPr>
            <p:spPr>
              <a:xfrm>
                <a:off x="9098280" y="3858768"/>
                <a:ext cx="91440" cy="118871"/>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18" name="Editable line"/>
              <p:cNvCxnSpPr/>
              <p:nvPr/>
            </p:nvCxnSpPr>
            <p:spPr>
              <a:xfrm flipV="1">
                <a:off x="9189720" y="3849624"/>
                <a:ext cx="109728" cy="128015"/>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19" name="Editable line"/>
              <p:cNvCxnSpPr/>
              <p:nvPr/>
            </p:nvCxnSpPr>
            <p:spPr>
              <a:xfrm flipH="1">
                <a:off x="8769096" y="4178808"/>
                <a:ext cx="164592" cy="210312"/>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20" name="Editable line"/>
              <p:cNvCxnSpPr/>
              <p:nvPr/>
            </p:nvCxnSpPr>
            <p:spPr>
              <a:xfrm flipH="1">
                <a:off x="8705088" y="4389120"/>
                <a:ext cx="64008" cy="173736"/>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21" name="Editable line"/>
              <p:cNvCxnSpPr/>
              <p:nvPr/>
            </p:nvCxnSpPr>
            <p:spPr>
              <a:xfrm>
                <a:off x="8933688" y="4178808"/>
                <a:ext cx="146304" cy="210312"/>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22" name="Editable line"/>
              <p:cNvCxnSpPr/>
              <p:nvPr/>
            </p:nvCxnSpPr>
            <p:spPr>
              <a:xfrm>
                <a:off x="9079992" y="4389120"/>
                <a:ext cx="128016" cy="173736"/>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sp>
            <p:nvSpPr>
              <p:cNvPr id="123" name="Editable node"/>
              <p:cNvSpPr/>
              <p:nvPr/>
            </p:nvSpPr>
            <p:spPr>
              <a:xfrm>
                <a:off x="8866936" y="3590848"/>
                <a:ext cx="133502" cy="133502"/>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4" name="Editable node"/>
              <p:cNvSpPr/>
              <p:nvPr/>
            </p:nvSpPr>
            <p:spPr>
              <a:xfrm>
                <a:off x="8899855" y="376092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5" name="Editable node"/>
              <p:cNvSpPr/>
              <p:nvPr/>
            </p:nvSpPr>
            <p:spPr>
              <a:xfrm>
                <a:off x="8899855" y="414497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Editable node"/>
              <p:cNvSpPr/>
              <p:nvPr/>
            </p:nvSpPr>
            <p:spPr>
              <a:xfrm>
                <a:off x="8726119" y="382493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7" name="Editable node"/>
              <p:cNvSpPr/>
              <p:nvPr/>
            </p:nvSpPr>
            <p:spPr>
              <a:xfrm>
                <a:off x="8643823" y="3971239"/>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8" name="Editable node"/>
              <p:cNvSpPr/>
              <p:nvPr/>
            </p:nvSpPr>
            <p:spPr>
              <a:xfrm>
                <a:off x="8570671" y="4062679"/>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9" name="Editable node"/>
              <p:cNvSpPr/>
              <p:nvPr/>
            </p:nvSpPr>
            <p:spPr>
              <a:xfrm>
                <a:off x="9064447" y="382493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0" name="Editable node"/>
              <p:cNvSpPr/>
              <p:nvPr/>
            </p:nvSpPr>
            <p:spPr>
              <a:xfrm>
                <a:off x="9155887" y="394380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1" name="Editable node"/>
              <p:cNvSpPr/>
              <p:nvPr/>
            </p:nvSpPr>
            <p:spPr>
              <a:xfrm>
                <a:off x="9265615" y="3815791"/>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2" name="Editable node"/>
              <p:cNvSpPr/>
              <p:nvPr/>
            </p:nvSpPr>
            <p:spPr>
              <a:xfrm>
                <a:off x="8735263" y="435528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3" name="Editable node"/>
              <p:cNvSpPr/>
              <p:nvPr/>
            </p:nvSpPr>
            <p:spPr>
              <a:xfrm>
                <a:off x="8671255" y="4529023"/>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4" name="Editable node"/>
              <p:cNvSpPr/>
              <p:nvPr/>
            </p:nvSpPr>
            <p:spPr>
              <a:xfrm>
                <a:off x="9046159" y="435528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5" name="Editable node"/>
              <p:cNvSpPr/>
              <p:nvPr/>
            </p:nvSpPr>
            <p:spPr>
              <a:xfrm>
                <a:off x="9174175" y="4529023"/>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6" name="Editable line"/>
              <p:cNvCxnSpPr/>
              <p:nvPr/>
            </p:nvCxnSpPr>
            <p:spPr>
              <a:xfrm>
                <a:off x="10369296" y="3657600"/>
                <a:ext cx="0" cy="137160"/>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37" name="Editable line"/>
              <p:cNvCxnSpPr/>
              <p:nvPr/>
            </p:nvCxnSpPr>
            <p:spPr>
              <a:xfrm>
                <a:off x="10369296" y="3794760"/>
                <a:ext cx="0" cy="38404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38" name="Editable line"/>
              <p:cNvCxnSpPr/>
              <p:nvPr/>
            </p:nvCxnSpPr>
            <p:spPr>
              <a:xfrm flipH="1">
                <a:off x="10195560" y="3794760"/>
                <a:ext cx="173736" cy="6400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39" name="Editable line"/>
              <p:cNvCxnSpPr/>
              <p:nvPr/>
            </p:nvCxnSpPr>
            <p:spPr>
              <a:xfrm flipH="1">
                <a:off x="10113264" y="3858768"/>
                <a:ext cx="82296" cy="146304"/>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40" name="Editable line"/>
              <p:cNvCxnSpPr/>
              <p:nvPr/>
            </p:nvCxnSpPr>
            <p:spPr>
              <a:xfrm flipH="1">
                <a:off x="10040112" y="4005072"/>
                <a:ext cx="73152" cy="91440"/>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41" name="Editable line"/>
              <p:cNvCxnSpPr/>
              <p:nvPr/>
            </p:nvCxnSpPr>
            <p:spPr>
              <a:xfrm>
                <a:off x="10369296" y="3794760"/>
                <a:ext cx="164592" cy="64008"/>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42" name="Editable line"/>
              <p:cNvCxnSpPr/>
              <p:nvPr/>
            </p:nvCxnSpPr>
            <p:spPr>
              <a:xfrm>
                <a:off x="10533888" y="3858768"/>
                <a:ext cx="91440" cy="118871"/>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43" name="Editable line"/>
              <p:cNvCxnSpPr/>
              <p:nvPr/>
            </p:nvCxnSpPr>
            <p:spPr>
              <a:xfrm flipV="1">
                <a:off x="10625328" y="3849624"/>
                <a:ext cx="109728" cy="128015"/>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44" name="Editable line"/>
              <p:cNvCxnSpPr/>
              <p:nvPr/>
            </p:nvCxnSpPr>
            <p:spPr>
              <a:xfrm flipH="1">
                <a:off x="10204704" y="4178808"/>
                <a:ext cx="164592" cy="210312"/>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45" name="Editable line"/>
              <p:cNvCxnSpPr/>
              <p:nvPr/>
            </p:nvCxnSpPr>
            <p:spPr>
              <a:xfrm flipH="1">
                <a:off x="10140696" y="4389120"/>
                <a:ext cx="64008" cy="173736"/>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46" name="Editable line"/>
              <p:cNvCxnSpPr/>
              <p:nvPr/>
            </p:nvCxnSpPr>
            <p:spPr>
              <a:xfrm>
                <a:off x="10369296" y="4178808"/>
                <a:ext cx="146304" cy="210312"/>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cxnSp>
            <p:nvCxnSpPr>
              <p:cNvPr id="147" name="Editable line"/>
              <p:cNvCxnSpPr/>
              <p:nvPr/>
            </p:nvCxnSpPr>
            <p:spPr>
              <a:xfrm>
                <a:off x="10515600" y="4389120"/>
                <a:ext cx="128016" cy="173736"/>
              </a:xfrm>
              <a:prstGeom prst="line">
                <a:avLst/>
              </a:prstGeom>
              <a:ln w="19050">
                <a:solidFill>
                  <a:srgbClr val="A9B2C4"/>
                </a:solidFill>
              </a:ln>
            </p:spPr>
            <p:style>
              <a:lnRef idx="2">
                <a:schemeClr val="accent1"/>
              </a:lnRef>
              <a:fillRef idx="0">
                <a:schemeClr val="accent1"/>
              </a:fillRef>
              <a:effectRef idx="1">
                <a:schemeClr val="accent1"/>
              </a:effectRef>
              <a:fontRef idx="minor">
                <a:schemeClr val="tx1"/>
              </a:fontRef>
            </p:style>
          </p:cxnSp>
          <p:sp>
            <p:nvSpPr>
              <p:cNvPr id="148" name="Editable node"/>
              <p:cNvSpPr/>
              <p:nvPr/>
            </p:nvSpPr>
            <p:spPr>
              <a:xfrm>
                <a:off x="10302544" y="3590848"/>
                <a:ext cx="133502" cy="133502"/>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9" name="Editable node"/>
              <p:cNvSpPr/>
              <p:nvPr/>
            </p:nvSpPr>
            <p:spPr>
              <a:xfrm>
                <a:off x="10335463" y="376092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0" name="Editable node"/>
              <p:cNvSpPr/>
              <p:nvPr/>
            </p:nvSpPr>
            <p:spPr>
              <a:xfrm>
                <a:off x="10335463" y="414497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1" name="Editable node"/>
              <p:cNvSpPr/>
              <p:nvPr/>
            </p:nvSpPr>
            <p:spPr>
              <a:xfrm>
                <a:off x="10161727" y="382493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2" name="Editable node"/>
              <p:cNvSpPr/>
              <p:nvPr/>
            </p:nvSpPr>
            <p:spPr>
              <a:xfrm>
                <a:off x="10079431" y="3971239"/>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3" name="Editable node"/>
              <p:cNvSpPr/>
              <p:nvPr/>
            </p:nvSpPr>
            <p:spPr>
              <a:xfrm>
                <a:off x="10006279" y="4062679"/>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4" name="Editable node"/>
              <p:cNvSpPr/>
              <p:nvPr/>
            </p:nvSpPr>
            <p:spPr>
              <a:xfrm>
                <a:off x="10500055" y="3824935"/>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5" name="Editable node"/>
              <p:cNvSpPr/>
              <p:nvPr/>
            </p:nvSpPr>
            <p:spPr>
              <a:xfrm>
                <a:off x="10591495" y="394380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6" name="Editable node"/>
              <p:cNvSpPr/>
              <p:nvPr/>
            </p:nvSpPr>
            <p:spPr>
              <a:xfrm>
                <a:off x="10701223" y="3815791"/>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7" name="Editable node"/>
              <p:cNvSpPr/>
              <p:nvPr/>
            </p:nvSpPr>
            <p:spPr>
              <a:xfrm>
                <a:off x="10170871" y="435528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8" name="Editable node"/>
              <p:cNvSpPr/>
              <p:nvPr/>
            </p:nvSpPr>
            <p:spPr>
              <a:xfrm>
                <a:off x="10106863" y="4529023"/>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9" name="Editable node"/>
              <p:cNvSpPr/>
              <p:nvPr/>
            </p:nvSpPr>
            <p:spPr>
              <a:xfrm>
                <a:off x="10481767" y="4355287"/>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0" name="Editable node"/>
              <p:cNvSpPr/>
              <p:nvPr/>
            </p:nvSpPr>
            <p:spPr>
              <a:xfrm>
                <a:off x="10609783" y="4529023"/>
                <a:ext cx="67665" cy="67665"/>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61" name="Editable arrow"/>
              <p:cNvCxnSpPr/>
              <p:nvPr/>
            </p:nvCxnSpPr>
            <p:spPr>
              <a:xfrm flipV="1">
                <a:off x="9299448" y="3794760"/>
                <a:ext cx="1069848" cy="54864"/>
              </a:xfrm>
              <a:prstGeom prst="line">
                <a:avLst/>
              </a:prstGeom>
              <a:ln w="24130">
                <a:solidFill>
                  <a:srgbClr val="D714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62" name="Editable arrow"/>
              <p:cNvCxnSpPr/>
              <p:nvPr/>
            </p:nvCxnSpPr>
            <p:spPr>
              <a:xfrm flipH="1">
                <a:off x="8933688" y="4178808"/>
                <a:ext cx="1435608" cy="0"/>
              </a:xfrm>
              <a:prstGeom prst="line">
                <a:avLst/>
              </a:prstGeom>
              <a:ln w="24130">
                <a:solidFill>
                  <a:srgbClr val="D71440"/>
                </a:solidFill>
                <a:tailEnd type="triangle" w="sm" len="sm"/>
              </a:ln>
            </p:spPr>
            <p:style>
              <a:lnRef idx="2">
                <a:schemeClr val="accent1"/>
              </a:lnRef>
              <a:fillRef idx="0">
                <a:schemeClr val="accent1"/>
              </a:fillRef>
              <a:effectRef idx="1">
                <a:schemeClr val="accent1"/>
              </a:effectRef>
              <a:fontRef idx="minor">
                <a:schemeClr val="tx1"/>
              </a:fontRef>
            </p:style>
          </p:cxnSp>
          <p:sp>
            <p:nvSpPr>
              <p:cNvPr id="163" name="Text: Person A"/>
              <p:cNvSpPr txBox="1"/>
              <p:nvPr/>
            </p:nvSpPr>
            <p:spPr>
              <a:xfrm>
                <a:off x="8421624" y="4681728"/>
                <a:ext cx="1042415" cy="164592"/>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40" b="0" i="0" u="none" strike="noStrike" kern="1200" cap="none" spc="0" normalizeH="0" baseline="0" noProof="0">
                    <a:ln>
                      <a:noFill/>
                    </a:ln>
                    <a:solidFill>
                      <a:srgbClr val="5D6577"/>
                    </a:solidFill>
                    <a:effectLst/>
                    <a:uLnTx/>
                    <a:uFillTx/>
                    <a:latin typeface="Arial"/>
                    <a:ea typeface="+mn-ea"/>
                    <a:cs typeface="+mn-cs"/>
                  </a:rPr>
                  <a:t>Person A</a:t>
                </a:r>
              </a:p>
            </p:txBody>
          </p:sp>
          <p:sp>
            <p:nvSpPr>
              <p:cNvPr id="164" name="Text: Person B"/>
              <p:cNvSpPr txBox="1"/>
              <p:nvPr/>
            </p:nvSpPr>
            <p:spPr>
              <a:xfrm>
                <a:off x="9875520" y="4681728"/>
                <a:ext cx="1042415" cy="164592"/>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40" b="0" i="0" u="none" strike="noStrike" kern="1200" cap="none" spc="0" normalizeH="0" baseline="0" noProof="0">
                    <a:ln>
                      <a:noFill/>
                    </a:ln>
                    <a:solidFill>
                      <a:srgbClr val="5D6577"/>
                    </a:solidFill>
                    <a:effectLst/>
                    <a:uLnTx/>
                    <a:uFillTx/>
                    <a:latin typeface="Arial"/>
                    <a:ea typeface="+mn-ea"/>
                    <a:cs typeface="+mn-cs"/>
                  </a:rPr>
                  <a:t>Person B</a:t>
                </a:r>
              </a:p>
            </p:txBody>
          </p:sp>
        </p:grpSp>
        <p:sp>
          <p:nvSpPr>
            <p:cNvPr id="166" name="Text: No clear gain from added capacity"/>
            <p:cNvSpPr txBox="1"/>
            <p:nvPr/>
          </p:nvSpPr>
          <p:spPr>
            <a:xfrm>
              <a:off x="886968" y="5001768"/>
              <a:ext cx="3172968" cy="201168"/>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100" b="1" i="0" u="none" strike="noStrike" kern="1200" cap="none" spc="0" normalizeH="0" baseline="0" noProof="0">
                  <a:ln>
                    <a:noFill/>
                  </a:ln>
                  <a:solidFill>
                    <a:srgbClr val="181C62"/>
                  </a:solidFill>
                  <a:effectLst/>
                  <a:uLnTx/>
                  <a:uFillTx/>
                  <a:latin typeface="Arial"/>
                  <a:ea typeface="+mn-ea"/>
                  <a:cs typeface="+mn-cs"/>
                </a:rPr>
                <a:t>No clear gain from added capacity</a:t>
              </a:r>
            </a:p>
          </p:txBody>
        </p:sp>
        <p:sp>
          <p:nvSpPr>
            <p:cNvPr id="167" name="Text: Most promising completed signal"/>
            <p:cNvSpPr txBox="1"/>
            <p:nvPr/>
          </p:nvSpPr>
          <p:spPr>
            <a:xfrm>
              <a:off x="4507992" y="5001768"/>
              <a:ext cx="3172968" cy="201168"/>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100" b="1" i="0" u="none" strike="noStrike" kern="1200" cap="none" spc="0" normalizeH="0" baseline="0" noProof="0">
                  <a:ln>
                    <a:noFill/>
                  </a:ln>
                  <a:solidFill>
                    <a:srgbClr val="087F85"/>
                  </a:solidFill>
                  <a:effectLst/>
                  <a:uLnTx/>
                  <a:uFillTx/>
                  <a:latin typeface="Arial"/>
                  <a:ea typeface="+mn-ea"/>
                  <a:cs typeface="+mn-cs"/>
                </a:rPr>
                <a:t>Most promising completed signal</a:t>
              </a:r>
            </a:p>
          </p:txBody>
        </p:sp>
        <p:sp>
          <p:nvSpPr>
            <p:cNvPr id="168" name="Text: Near baseline; weak evidence of gain"/>
            <p:cNvSpPr txBox="1"/>
            <p:nvPr/>
          </p:nvSpPr>
          <p:spPr>
            <a:xfrm>
              <a:off x="8129016" y="5001768"/>
              <a:ext cx="3172968" cy="201168"/>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100" b="1" i="0" u="none" strike="noStrike" kern="1200" cap="none" spc="0" normalizeH="0" baseline="0" noProof="0">
                  <a:ln>
                    <a:noFill/>
                  </a:ln>
                  <a:solidFill>
                    <a:srgbClr val="D71440"/>
                  </a:solidFill>
                  <a:effectLst/>
                  <a:uLnTx/>
                  <a:uFillTx/>
                  <a:latin typeface="Arial"/>
                  <a:ea typeface="+mn-ea"/>
                  <a:cs typeface="+mn-cs"/>
                </a:rPr>
                <a:t>Near baseline; weak evidence of gain</a:t>
              </a:r>
            </a:p>
          </p:txBody>
        </p:sp>
        <p:sp>
          <p:nvSpPr>
            <p:cNvPr id="169" name="Shared conclusion"/>
            <p:cNvSpPr/>
            <p:nvPr/>
          </p:nvSpPr>
          <p:spPr>
            <a:xfrm>
              <a:off x="731520" y="5422392"/>
              <a:ext cx="10716768" cy="393192"/>
            </a:xfrm>
            <a:prstGeom prst="roundRect">
              <a:avLst>
                <a:gd name="adj" fmla="val 6000"/>
              </a:avLst>
            </a:prstGeom>
            <a:solidFill>
              <a:srgbClr val="181C6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0" name="Text: Prioritize M2 replication; use M1 to test attribution and M3 to probe interactio"/>
            <p:cNvSpPr txBox="1"/>
            <p:nvPr/>
          </p:nvSpPr>
          <p:spPr>
            <a:xfrm>
              <a:off x="886968" y="5477256"/>
              <a:ext cx="10396728" cy="256032"/>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280" b="1" i="0" u="none" strike="noStrike" kern="1200" cap="none" spc="0" normalizeH="0" baseline="0" noProof="0">
                  <a:ln>
                    <a:noFill/>
                  </a:ln>
                  <a:solidFill>
                    <a:srgbClr val="FFFFFF"/>
                  </a:solidFill>
                  <a:effectLst/>
                  <a:uLnTx/>
                  <a:uFillTx/>
                  <a:latin typeface="Arial"/>
                  <a:ea typeface="+mn-ea"/>
                  <a:cs typeface="+mn-cs"/>
                </a:rPr>
                <a:t>Prioritize M2 replication; use M1 to test attribution and M3 to probe interaction scope.</a:t>
              </a:r>
            </a:p>
          </p:txBody>
        </p:sp>
        <p:sp>
          <p:nvSpPr>
            <p:cNvPr id="171" name="Text: 500-epoch results. Baseline cross-person mixing is retained; replicate the findi"/>
            <p:cNvSpPr txBox="1"/>
            <p:nvPr/>
          </p:nvSpPr>
          <p:spPr>
            <a:xfrm>
              <a:off x="749808" y="5852160"/>
              <a:ext cx="10588752" cy="173736"/>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960" b="0" i="0" u="none" strike="noStrike" kern="1200" cap="none" spc="0" normalizeH="0" baseline="0" noProof="0">
                  <a:ln>
                    <a:noFill/>
                  </a:ln>
                  <a:solidFill>
                    <a:srgbClr val="5D6577"/>
                  </a:solidFill>
                  <a:effectLst/>
                  <a:uLnTx/>
                  <a:uFillTx/>
                  <a:latin typeface="Arial"/>
                  <a:ea typeface="+mn-ea"/>
                  <a:cs typeface="+mn-cs"/>
                </a:rPr>
                <a:t>500-epoch results. Baseline cross-person mixing is retained; replicate the findings across seeds.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rgbClr val="D71440"/>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pic>
        <p:nvPicPr>
          <p:cNvPr id="3" name="Image 3"/>
          <p:cNvPicPr>
            <a:picLocks noChangeAspect="1"/>
          </p:cNvPicPr>
          <p:nvPr/>
        </p:nvPicPr>
        <p:blipFill>
          <a:blip r:embed="rId3"/>
          <a:stretch>
            <a:fillRect/>
          </a:stretch>
        </p:blipFill>
        <p:spPr>
          <a:xfrm>
            <a:off x="9810750" y="228600"/>
            <a:ext cx="1905000" cy="685800"/>
          </a:xfrm>
          <a:prstGeom prst="rect">
            <a:avLst/>
          </a:prstGeom>
        </p:spPr>
      </p:pic>
      <p:sp>
        <p:nvSpPr>
          <p:cNvPr id="4" name="Rectangle 4"/>
          <p:cNvSpPr/>
          <p:nvPr/>
        </p:nvSpPr>
        <p:spPr>
          <a:xfrm>
            <a:off x="171450" y="6572250"/>
            <a:ext cx="12020550" cy="285750"/>
          </a:xfrm>
          <a:prstGeom prst="rect">
            <a:avLst/>
          </a:prstGeom>
          <a:solidFill>
            <a:srgbClr val="181C62"/>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TextBox 5"/>
          <p:cNvSpPr txBox="1"/>
          <p:nvPr/>
        </p:nvSpPr>
        <p:spPr>
          <a:xfrm>
            <a:off x="471297" y="6667024"/>
            <a:ext cx="211477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FFFFFF"/>
                </a:solidFill>
                <a:effectLst/>
                <a:uLnTx/>
                <a:uFillTx/>
                <a:latin typeface="Arial" panose="020B0604020202020204"/>
                <a:ea typeface="Arial" panose="020B0604020202020204"/>
                <a:cs typeface="Arial" panose="020B0604020202020204"/>
              </a:rPr>
              <a:t>EE6008 · HUMAN POSE ANALYTICS</a:t>
            </a:r>
          </a:p>
        </p:txBody>
      </p:sp>
      <p:sp>
        <p:nvSpPr>
          <p:cNvPr id="6" name="Rectangle 6"/>
          <p:cNvSpPr/>
          <p:nvPr/>
        </p:nvSpPr>
        <p:spPr>
          <a:xfrm>
            <a:off x="514350" y="1000125"/>
            <a:ext cx="1524000" cy="47625"/>
          </a:xfrm>
          <a:prstGeom prst="rect">
            <a:avLst/>
          </a:prstGeom>
          <a:solidFill>
            <a:srgbClr val="D71440"/>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 name="Rectangle 7"/>
          <p:cNvSpPr/>
          <p:nvPr/>
        </p:nvSpPr>
        <p:spPr>
          <a:xfrm>
            <a:off x="514350" y="1304925"/>
            <a:ext cx="11106150" cy="4772025"/>
          </a:xfrm>
          <a:prstGeom prst="roundRect">
            <a:avLst>
              <a:gd name="adj" fmla="val 1996"/>
            </a:avLst>
          </a:prstGeom>
          <a:solidFill>
            <a:srgbClr val="FFFFFF"/>
          </a:solidFill>
          <a:ln w="19050">
            <a:solidFill>
              <a:srgbClr val="C8C8C8"/>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8" name="TextBox 8"/>
          <p:cNvSpPr txBox="1"/>
          <p:nvPr/>
        </p:nvSpPr>
        <p:spPr>
          <a:xfrm>
            <a:off x="501396" y="543878"/>
            <a:ext cx="2213061" cy="49872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550" b="1" i="0" u="none" strike="noStrike" kern="1200" cap="none" spc="0" normalizeH="0" baseline="0" noProof="0" dirty="0">
                <a:ln>
                  <a:noFill/>
                </a:ln>
                <a:solidFill>
                  <a:srgbClr val="20243A"/>
                </a:solidFill>
                <a:effectLst/>
                <a:uLnTx/>
                <a:uFillTx/>
                <a:latin typeface="Arial" panose="020B0604020202020204"/>
                <a:ea typeface="Arial" panose="020B0604020202020204"/>
                <a:cs typeface="Arial" panose="020B0604020202020204"/>
              </a:rPr>
              <a:t>T-Conv</a:t>
            </a:r>
          </a:p>
        </p:txBody>
      </p:sp>
      <p:sp>
        <p:nvSpPr>
          <p:cNvPr id="9" name="TextBox 9"/>
          <p:cNvSpPr txBox="1"/>
          <p:nvPr/>
        </p:nvSpPr>
        <p:spPr>
          <a:xfrm>
            <a:off x="4218546" y="6665595"/>
            <a:ext cx="739216" cy="176212"/>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panose="020B0604020202020204"/>
                <a:ea typeface="Arial" panose="020B0604020202020204"/>
                <a:cs typeface="Arial" panose="020B0604020202020204"/>
              </a:rPr>
              <a:t>Val only</a:t>
            </a:r>
          </a:p>
        </p:txBody>
      </p:sp>
      <p:sp>
        <p:nvSpPr>
          <p:cNvPr id="10" name="TextBox 10"/>
          <p:cNvSpPr txBox="1"/>
          <p:nvPr/>
        </p:nvSpPr>
        <p:spPr>
          <a:xfrm>
            <a:off x="11085233" y="6665595"/>
            <a:ext cx="880034" cy="176212"/>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panose="020B0604020202020204"/>
                <a:ea typeface="Arial" panose="020B0604020202020204"/>
                <a:cs typeface="Arial" panose="020B0604020202020204"/>
              </a:rPr>
              <a:t>02</a:t>
            </a:r>
          </a:p>
        </p:txBody>
      </p:sp>
      <p:grpSp>
        <p:nvGrpSpPr>
          <p:cNvPr id="127" name="T1 T2 — copyable content fragment"/>
          <p:cNvGrpSpPr/>
          <p:nvPr/>
        </p:nvGrpSpPr>
        <p:grpSpPr>
          <a:xfrm>
            <a:off x="731520" y="1463040"/>
            <a:ext cx="10716768" cy="4562856"/>
            <a:chOff x="731520" y="1463040"/>
            <a:chExt cx="10716768" cy="4562856"/>
          </a:xfrm>
        </p:grpSpPr>
        <p:sp>
          <p:nvSpPr>
            <p:cNvPr id="11" name="Text: From a wider window to more selective mixing"/>
            <p:cNvSpPr txBox="1"/>
            <p:nvPr/>
          </p:nvSpPr>
          <p:spPr>
            <a:xfrm>
              <a:off x="731520" y="1463040"/>
              <a:ext cx="10607040" cy="356616"/>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2300" b="1" i="0" u="none" strike="noStrike" kern="1200" cap="none" spc="0" normalizeH="0" baseline="0" noProof="0">
                  <a:ln>
                    <a:noFill/>
                  </a:ln>
                  <a:solidFill>
                    <a:srgbClr val="181C62"/>
                  </a:solidFill>
                  <a:effectLst/>
                  <a:uLnTx/>
                  <a:uFillTx/>
                  <a:latin typeface="Arial"/>
                  <a:ea typeface="+mn-ea"/>
                  <a:cs typeface="+mn-cs"/>
                </a:rPr>
                <a:t>From a wider window to more selective mixing</a:t>
              </a:r>
            </a:p>
          </p:txBody>
        </p:sp>
        <p:sp>
          <p:nvSpPr>
            <p:cNvPr id="12" name="Text: Test temporal context first, then test whether a connection should be trusted."/>
            <p:cNvSpPr txBox="1"/>
            <p:nvPr/>
          </p:nvSpPr>
          <p:spPr>
            <a:xfrm>
              <a:off x="740664" y="1856231"/>
              <a:ext cx="10570464" cy="246888"/>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150" b="0" i="0" u="none" strike="noStrike" kern="1200" cap="none" spc="0" normalizeH="0" baseline="0" noProof="0">
                  <a:ln>
                    <a:noFill/>
                  </a:ln>
                  <a:solidFill>
                    <a:srgbClr val="5D6577"/>
                  </a:solidFill>
                  <a:effectLst/>
                  <a:uLnTx/>
                  <a:uFillTx/>
                  <a:latin typeface="Arial"/>
                  <a:ea typeface="+mn-ea"/>
                  <a:cs typeface="+mn-cs"/>
                </a:rPr>
                <a:t>Test temporal context first, then test whether a connection should be trusted.</a:t>
              </a:r>
            </a:p>
          </p:txBody>
        </p:sp>
        <p:grpSp>
          <p:nvGrpSpPr>
            <p:cNvPr id="68" name="T1 — editable multiscale experiment"/>
            <p:cNvGrpSpPr/>
            <p:nvPr/>
          </p:nvGrpSpPr>
          <p:grpSpPr>
            <a:xfrm>
              <a:off x="731520" y="2221992"/>
              <a:ext cx="4489704" cy="3017520"/>
              <a:chOff x="731520" y="2221992"/>
              <a:chExt cx="4489704" cy="3017520"/>
            </a:xfrm>
          </p:grpSpPr>
          <p:sp>
            <p:nvSpPr>
              <p:cNvPr id="13" name="T1 multiscale panel"/>
              <p:cNvSpPr/>
              <p:nvPr/>
            </p:nvSpPr>
            <p:spPr>
              <a:xfrm>
                <a:off x="731520" y="2221992"/>
                <a:ext cx="4489704" cy="3017520"/>
              </a:xfrm>
              <a:prstGeom prst="roundRect">
                <a:avLst>
                  <a:gd name="adj" fmla="val 6000"/>
                </a:avLst>
              </a:prstGeom>
              <a:solidFill>
                <a:srgbClr val="F6F7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Panel"/>
              <p:cNvSpPr/>
              <p:nvPr/>
            </p:nvSpPr>
            <p:spPr>
              <a:xfrm>
                <a:off x="886968" y="2377440"/>
                <a:ext cx="457200" cy="283464"/>
              </a:xfrm>
              <a:prstGeom prst="roundRect">
                <a:avLst>
                  <a:gd name="adj" fmla="val 6000"/>
                </a:avLst>
              </a:prstGeom>
              <a:solidFill>
                <a:srgbClr val="181C6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 T1"/>
              <p:cNvSpPr txBox="1"/>
              <p:nvPr/>
            </p:nvSpPr>
            <p:spPr>
              <a:xfrm>
                <a:off x="886968" y="2377440"/>
                <a:ext cx="457200" cy="28346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T1</a:t>
                </a:r>
              </a:p>
            </p:txBody>
          </p:sp>
          <p:sp>
            <p:nvSpPr>
              <p:cNvPr id="16" name="Text: FIXED MULTISCALE"/>
              <p:cNvSpPr txBox="1"/>
              <p:nvPr/>
            </p:nvSpPr>
            <p:spPr>
              <a:xfrm>
                <a:off x="1463040" y="2377440"/>
                <a:ext cx="3611880" cy="283464"/>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000" b="1" i="0" u="none" strike="noStrike" kern="1200" cap="none" spc="0" normalizeH="0" baseline="0" noProof="0">
                    <a:ln>
                      <a:noFill/>
                    </a:ln>
                    <a:solidFill>
                      <a:srgbClr val="181C62"/>
                    </a:solidFill>
                    <a:effectLst/>
                    <a:uLnTx/>
                    <a:uFillTx/>
                    <a:latin typeface="Arial"/>
                    <a:ea typeface="+mn-ea"/>
                    <a:cs typeface="+mn-cs"/>
                  </a:rPr>
                  <a:t>FIXED MULTISCALE</a:t>
                </a:r>
              </a:p>
            </p:txBody>
          </p:sp>
          <p:sp>
            <p:nvSpPr>
              <p:cNvPr id="17" name="Text: Look farther in time"/>
              <p:cNvSpPr txBox="1"/>
              <p:nvPr/>
            </p:nvSpPr>
            <p:spPr>
              <a:xfrm>
                <a:off x="896112" y="2761488"/>
                <a:ext cx="4160520" cy="274320"/>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700" b="1" i="0" u="none" strike="noStrike" kern="1200" cap="none" spc="0" normalizeH="0" baseline="0" noProof="0">
                    <a:ln>
                      <a:noFill/>
                    </a:ln>
                    <a:solidFill>
                      <a:srgbClr val="20243A"/>
                    </a:solidFill>
                    <a:effectLst/>
                    <a:uLnTx/>
                    <a:uFillTx/>
                    <a:latin typeface="Arial"/>
                    <a:ea typeface="+mn-ea"/>
                    <a:cs typeface="+mn-cs"/>
                  </a:rPr>
                  <a:t>Look farther in time</a:t>
                </a:r>
              </a:p>
            </p:txBody>
          </p:sp>
          <p:sp>
            <p:nvSpPr>
              <p:cNvPr id="18" name="Text: Use local and dilated sampling in parallel."/>
              <p:cNvSpPr txBox="1"/>
              <p:nvPr/>
            </p:nvSpPr>
            <p:spPr>
              <a:xfrm>
                <a:off x="896112" y="3118104"/>
                <a:ext cx="4160520" cy="228600"/>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110" b="0" i="0" u="none" strike="noStrike" kern="1200" cap="none" spc="0" normalizeH="0" baseline="0" noProof="0">
                    <a:ln>
                      <a:noFill/>
                    </a:ln>
                    <a:solidFill>
                      <a:srgbClr val="5D6577"/>
                    </a:solidFill>
                    <a:effectLst/>
                    <a:uLnTx/>
                    <a:uFillTx/>
                    <a:latin typeface="Arial"/>
                    <a:ea typeface="+mn-ea"/>
                    <a:cs typeface="+mn-cs"/>
                  </a:rPr>
                  <a:t>Use local and dilated sampling in parallel.</a:t>
                </a:r>
              </a:p>
            </p:txBody>
          </p:sp>
          <p:sp>
            <p:nvSpPr>
              <p:cNvPr id="19" name="Text: Local"/>
              <p:cNvSpPr txBox="1"/>
              <p:nvPr/>
            </p:nvSpPr>
            <p:spPr>
              <a:xfrm>
                <a:off x="896112" y="3621023"/>
                <a:ext cx="685800" cy="256032"/>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050" b="0" i="0" u="none" strike="noStrike" kern="1200" cap="none" spc="0" normalizeH="0" baseline="0" noProof="0">
                    <a:ln>
                      <a:noFill/>
                    </a:ln>
                    <a:solidFill>
                      <a:srgbClr val="5D6577"/>
                    </a:solidFill>
                    <a:effectLst/>
                    <a:uLnTx/>
                    <a:uFillTx/>
                    <a:latin typeface="Arial"/>
                    <a:ea typeface="+mn-ea"/>
                    <a:cs typeface="+mn-cs"/>
                  </a:rPr>
                  <a:t>Local</a:t>
                </a:r>
              </a:p>
            </p:txBody>
          </p:sp>
          <p:cxnSp>
            <p:nvCxnSpPr>
              <p:cNvPr id="20" name="Editable line"/>
              <p:cNvCxnSpPr/>
              <p:nvPr/>
            </p:nvCxnSpPr>
            <p:spPr>
              <a:xfrm>
                <a:off x="1618488" y="3749039"/>
                <a:ext cx="3099816" cy="0"/>
              </a:xfrm>
              <a:prstGeom prst="line">
                <a:avLst/>
              </a:prstGeom>
              <a:ln w="10160">
                <a:solidFill>
                  <a:srgbClr val="CBD1DD"/>
                </a:solidFill>
              </a:ln>
            </p:spPr>
            <p:style>
              <a:lnRef idx="2">
                <a:schemeClr val="accent1"/>
              </a:lnRef>
              <a:fillRef idx="0">
                <a:schemeClr val="accent1"/>
              </a:fillRef>
              <a:effectRef idx="1">
                <a:schemeClr val="accent1"/>
              </a:effectRef>
              <a:fontRef idx="minor">
                <a:schemeClr val="tx1"/>
              </a:fontRef>
            </p:style>
          </p:cxnSp>
          <p:sp>
            <p:nvSpPr>
              <p:cNvPr id="21" name="Editable node"/>
              <p:cNvSpPr/>
              <p:nvPr/>
            </p:nvSpPr>
            <p:spPr>
              <a:xfrm>
                <a:off x="1696212" y="3717035"/>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Editable node"/>
              <p:cNvSpPr/>
              <p:nvPr/>
            </p:nvSpPr>
            <p:spPr>
              <a:xfrm>
                <a:off x="1933956" y="3717035"/>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Editable node"/>
              <p:cNvSpPr/>
              <p:nvPr/>
            </p:nvSpPr>
            <p:spPr>
              <a:xfrm>
                <a:off x="2171700" y="3717035"/>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Editable node"/>
              <p:cNvSpPr/>
              <p:nvPr/>
            </p:nvSpPr>
            <p:spPr>
              <a:xfrm>
                <a:off x="2391156" y="3698748"/>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Editable node"/>
              <p:cNvSpPr/>
              <p:nvPr/>
            </p:nvSpPr>
            <p:spPr>
              <a:xfrm>
                <a:off x="2628900" y="3698748"/>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Editable node"/>
              <p:cNvSpPr/>
              <p:nvPr/>
            </p:nvSpPr>
            <p:spPr>
              <a:xfrm>
                <a:off x="2866644" y="3698748"/>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Editable node"/>
              <p:cNvSpPr/>
              <p:nvPr/>
            </p:nvSpPr>
            <p:spPr>
              <a:xfrm>
                <a:off x="3104388" y="3698748"/>
                <a:ext cx="100584" cy="100584"/>
              </a:xfrm>
              <a:prstGeom prst="ellipse">
                <a:avLst/>
              </a:prstGeom>
              <a:solidFill>
                <a:srgbClr val="D71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Editable node"/>
              <p:cNvSpPr/>
              <p:nvPr/>
            </p:nvSpPr>
            <p:spPr>
              <a:xfrm>
                <a:off x="3342132" y="3698748"/>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Editable node"/>
              <p:cNvSpPr/>
              <p:nvPr/>
            </p:nvSpPr>
            <p:spPr>
              <a:xfrm>
                <a:off x="3579876" y="3698748"/>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0" name="Editable node"/>
              <p:cNvSpPr/>
              <p:nvPr/>
            </p:nvSpPr>
            <p:spPr>
              <a:xfrm>
                <a:off x="3817620" y="3698748"/>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Editable node"/>
              <p:cNvSpPr/>
              <p:nvPr/>
            </p:nvSpPr>
            <p:spPr>
              <a:xfrm>
                <a:off x="4073652" y="3717035"/>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Editable node"/>
              <p:cNvSpPr/>
              <p:nvPr/>
            </p:nvSpPr>
            <p:spPr>
              <a:xfrm>
                <a:off x="4311396" y="3717035"/>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Editable node"/>
              <p:cNvSpPr/>
              <p:nvPr/>
            </p:nvSpPr>
            <p:spPr>
              <a:xfrm>
                <a:off x="4549140" y="3717035"/>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4" name="Editable line"/>
              <p:cNvCxnSpPr/>
              <p:nvPr/>
            </p:nvCxnSpPr>
            <p:spPr>
              <a:xfrm>
                <a:off x="2441448" y="3566159"/>
                <a:ext cx="1426464" cy="0"/>
              </a:xfrm>
              <a:prstGeom prst="line">
                <a:avLst/>
              </a:prstGeom>
              <a:ln w="1016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35" name="Editable line"/>
              <p:cNvCxnSpPr/>
              <p:nvPr/>
            </p:nvCxnSpPr>
            <p:spPr>
              <a:xfrm>
                <a:off x="2441448" y="3566159"/>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36" name="Editable line"/>
              <p:cNvCxnSpPr/>
              <p:nvPr/>
            </p:nvCxnSpPr>
            <p:spPr>
              <a:xfrm>
                <a:off x="2679192" y="3566159"/>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37" name="Editable line"/>
              <p:cNvCxnSpPr/>
              <p:nvPr/>
            </p:nvCxnSpPr>
            <p:spPr>
              <a:xfrm>
                <a:off x="2916936" y="3566159"/>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38" name="Editable line"/>
              <p:cNvCxnSpPr/>
              <p:nvPr/>
            </p:nvCxnSpPr>
            <p:spPr>
              <a:xfrm>
                <a:off x="3154680" y="3566159"/>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39" name="Editable line"/>
              <p:cNvCxnSpPr/>
              <p:nvPr/>
            </p:nvCxnSpPr>
            <p:spPr>
              <a:xfrm>
                <a:off x="3392424" y="3566159"/>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40" name="Editable line"/>
              <p:cNvCxnSpPr/>
              <p:nvPr/>
            </p:nvCxnSpPr>
            <p:spPr>
              <a:xfrm>
                <a:off x="3630168" y="3566159"/>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41" name="Editable line"/>
              <p:cNvCxnSpPr/>
              <p:nvPr/>
            </p:nvCxnSpPr>
            <p:spPr>
              <a:xfrm>
                <a:off x="3867912" y="3566159"/>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sp>
            <p:nvSpPr>
              <p:cNvPr id="42" name="Text: Dilated"/>
              <p:cNvSpPr txBox="1"/>
              <p:nvPr/>
            </p:nvSpPr>
            <p:spPr>
              <a:xfrm>
                <a:off x="896112" y="4142232"/>
                <a:ext cx="685800" cy="256032"/>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050" b="0" i="0" u="none" strike="noStrike" kern="1200" cap="none" spc="0" normalizeH="0" baseline="0" noProof="0">
                    <a:ln>
                      <a:noFill/>
                    </a:ln>
                    <a:solidFill>
                      <a:srgbClr val="5D6577"/>
                    </a:solidFill>
                    <a:effectLst/>
                    <a:uLnTx/>
                    <a:uFillTx/>
                    <a:latin typeface="Arial"/>
                    <a:ea typeface="+mn-ea"/>
                    <a:cs typeface="+mn-cs"/>
                  </a:rPr>
                  <a:t>Dilated</a:t>
                </a:r>
              </a:p>
            </p:txBody>
          </p:sp>
          <p:cxnSp>
            <p:nvCxnSpPr>
              <p:cNvPr id="43" name="Editable line"/>
              <p:cNvCxnSpPr/>
              <p:nvPr/>
            </p:nvCxnSpPr>
            <p:spPr>
              <a:xfrm>
                <a:off x="1618488" y="4270248"/>
                <a:ext cx="3099816" cy="0"/>
              </a:xfrm>
              <a:prstGeom prst="line">
                <a:avLst/>
              </a:prstGeom>
              <a:ln w="10160">
                <a:solidFill>
                  <a:srgbClr val="CBD1DD"/>
                </a:solidFill>
              </a:ln>
            </p:spPr>
            <p:style>
              <a:lnRef idx="2">
                <a:schemeClr val="accent1"/>
              </a:lnRef>
              <a:fillRef idx="0">
                <a:schemeClr val="accent1"/>
              </a:fillRef>
              <a:effectRef idx="1">
                <a:schemeClr val="accent1"/>
              </a:effectRef>
              <a:fontRef idx="minor">
                <a:schemeClr val="tx1"/>
              </a:fontRef>
            </p:style>
          </p:cxnSp>
          <p:sp>
            <p:nvSpPr>
              <p:cNvPr id="44" name="Editable node"/>
              <p:cNvSpPr/>
              <p:nvPr/>
            </p:nvSpPr>
            <p:spPr>
              <a:xfrm>
                <a:off x="1677924" y="4219956"/>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Editable node"/>
              <p:cNvSpPr/>
              <p:nvPr/>
            </p:nvSpPr>
            <p:spPr>
              <a:xfrm>
                <a:off x="1933956" y="4238244"/>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Editable node"/>
              <p:cNvSpPr/>
              <p:nvPr/>
            </p:nvSpPr>
            <p:spPr>
              <a:xfrm>
                <a:off x="2153412" y="4219956"/>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7" name="Editable node"/>
              <p:cNvSpPr/>
              <p:nvPr/>
            </p:nvSpPr>
            <p:spPr>
              <a:xfrm>
                <a:off x="2409444" y="4238244"/>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8" name="Editable node"/>
              <p:cNvSpPr/>
              <p:nvPr/>
            </p:nvSpPr>
            <p:spPr>
              <a:xfrm>
                <a:off x="2628900" y="4219956"/>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Editable node"/>
              <p:cNvSpPr/>
              <p:nvPr/>
            </p:nvSpPr>
            <p:spPr>
              <a:xfrm>
                <a:off x="2884932" y="4238244"/>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Editable node"/>
              <p:cNvSpPr/>
              <p:nvPr/>
            </p:nvSpPr>
            <p:spPr>
              <a:xfrm>
                <a:off x="3104388" y="4219956"/>
                <a:ext cx="100584" cy="100584"/>
              </a:xfrm>
              <a:prstGeom prst="ellipse">
                <a:avLst/>
              </a:prstGeom>
              <a:solidFill>
                <a:srgbClr val="D71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Editable node"/>
              <p:cNvSpPr/>
              <p:nvPr/>
            </p:nvSpPr>
            <p:spPr>
              <a:xfrm>
                <a:off x="3360420" y="4238244"/>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Editable node"/>
              <p:cNvSpPr/>
              <p:nvPr/>
            </p:nvSpPr>
            <p:spPr>
              <a:xfrm>
                <a:off x="3579876" y="4219956"/>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3" name="Editable node"/>
              <p:cNvSpPr/>
              <p:nvPr/>
            </p:nvSpPr>
            <p:spPr>
              <a:xfrm>
                <a:off x="3835908" y="4238244"/>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Editable node"/>
              <p:cNvSpPr/>
              <p:nvPr/>
            </p:nvSpPr>
            <p:spPr>
              <a:xfrm>
                <a:off x="4055364" y="4219956"/>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Editable node"/>
              <p:cNvSpPr/>
              <p:nvPr/>
            </p:nvSpPr>
            <p:spPr>
              <a:xfrm>
                <a:off x="4311396" y="4238244"/>
                <a:ext cx="64008" cy="64008"/>
              </a:xfrm>
              <a:prstGeom prst="ellipse">
                <a:avLst/>
              </a:prstGeom>
              <a:solidFill>
                <a:srgbClr val="FFFFFF"/>
              </a:solidFill>
              <a:ln w="10160">
                <a:solidFill>
                  <a:srgbClr val="CBD1D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Editable node"/>
              <p:cNvSpPr/>
              <p:nvPr/>
            </p:nvSpPr>
            <p:spPr>
              <a:xfrm>
                <a:off x="4530852" y="4219956"/>
                <a:ext cx="100584" cy="100584"/>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7" name="Editable line"/>
              <p:cNvCxnSpPr/>
              <p:nvPr/>
            </p:nvCxnSpPr>
            <p:spPr>
              <a:xfrm>
                <a:off x="1728216" y="4087368"/>
                <a:ext cx="2852928" cy="0"/>
              </a:xfrm>
              <a:prstGeom prst="line">
                <a:avLst/>
              </a:prstGeom>
              <a:ln w="1016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58" name="Editable line"/>
              <p:cNvCxnSpPr/>
              <p:nvPr/>
            </p:nvCxnSpPr>
            <p:spPr>
              <a:xfrm>
                <a:off x="1728216" y="4087368"/>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59" name="Editable line"/>
              <p:cNvCxnSpPr/>
              <p:nvPr/>
            </p:nvCxnSpPr>
            <p:spPr>
              <a:xfrm>
                <a:off x="2203704" y="4087368"/>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60" name="Editable line"/>
              <p:cNvCxnSpPr/>
              <p:nvPr/>
            </p:nvCxnSpPr>
            <p:spPr>
              <a:xfrm>
                <a:off x="2679192" y="4087368"/>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61" name="Editable line"/>
              <p:cNvCxnSpPr/>
              <p:nvPr/>
            </p:nvCxnSpPr>
            <p:spPr>
              <a:xfrm>
                <a:off x="3154680" y="4087368"/>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62" name="Editable line"/>
              <p:cNvCxnSpPr/>
              <p:nvPr/>
            </p:nvCxnSpPr>
            <p:spPr>
              <a:xfrm>
                <a:off x="3630168" y="4087368"/>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63" name="Editable line"/>
              <p:cNvCxnSpPr/>
              <p:nvPr/>
            </p:nvCxnSpPr>
            <p:spPr>
              <a:xfrm>
                <a:off x="4105656" y="4087368"/>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cxnSp>
            <p:nvCxnSpPr>
              <p:cNvPr id="64" name="Editable line"/>
              <p:cNvCxnSpPr/>
              <p:nvPr/>
            </p:nvCxnSpPr>
            <p:spPr>
              <a:xfrm>
                <a:off x="4581144" y="4087368"/>
                <a:ext cx="0" cy="91440"/>
              </a:xfrm>
              <a:prstGeom prst="line">
                <a:avLst/>
              </a:prstGeom>
              <a:ln w="8890">
                <a:solidFill>
                  <a:srgbClr val="181C62"/>
                </a:solidFill>
              </a:ln>
            </p:spPr>
            <p:style>
              <a:lnRef idx="2">
                <a:schemeClr val="accent1"/>
              </a:lnRef>
              <a:fillRef idx="0">
                <a:schemeClr val="accent1"/>
              </a:fillRef>
              <a:effectRef idx="1">
                <a:schemeClr val="accent1"/>
              </a:effectRef>
              <a:fontRef idx="minor">
                <a:schemeClr val="tx1"/>
              </a:fontRef>
            </p:style>
          </p:cxnSp>
          <p:sp>
            <p:nvSpPr>
              <p:cNvPr id="65" name="Text: Same kernel size, different spacing"/>
              <p:cNvSpPr txBox="1"/>
              <p:nvPr/>
            </p:nvSpPr>
            <p:spPr>
              <a:xfrm>
                <a:off x="1709928" y="4443984"/>
                <a:ext cx="3246120" cy="19202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40" b="0" i="0" u="none" strike="noStrike" kern="1200" cap="none" spc="0" normalizeH="0" baseline="0" noProof="0">
                    <a:ln>
                      <a:noFill/>
                    </a:ln>
                    <a:solidFill>
                      <a:srgbClr val="5D6577"/>
                    </a:solidFill>
                    <a:effectLst/>
                    <a:uLnTx/>
                    <a:uFillTx/>
                    <a:latin typeface="Arial"/>
                    <a:ea typeface="+mn-ea"/>
                    <a:cs typeface="+mn-cs"/>
                  </a:rPr>
                  <a:t>Same kernel size, different spacing</a:t>
                </a:r>
              </a:p>
            </p:txBody>
          </p:sp>
          <p:sp>
            <p:nvSpPr>
              <p:cNvPr id="66" name="Text: No clean-validation gain in this setting"/>
              <p:cNvSpPr txBox="1"/>
              <p:nvPr/>
            </p:nvSpPr>
            <p:spPr>
              <a:xfrm>
                <a:off x="896112" y="4782312"/>
                <a:ext cx="4160520" cy="201168"/>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180" b="1" i="0" u="none" strike="noStrike" kern="1200" cap="none" spc="0" normalizeH="0" baseline="0" noProof="0">
                    <a:ln>
                      <a:noFill/>
                    </a:ln>
                    <a:solidFill>
                      <a:srgbClr val="181C62"/>
                    </a:solidFill>
                    <a:effectLst/>
                    <a:uLnTx/>
                    <a:uFillTx/>
                    <a:latin typeface="Arial"/>
                    <a:ea typeface="+mn-ea"/>
                    <a:cs typeface="+mn-cs"/>
                  </a:rPr>
                  <a:t>No clean-validation gain in this setting</a:t>
                </a:r>
              </a:p>
            </p:txBody>
          </p:sp>
          <p:sp>
            <p:nvSpPr>
              <p:cNvPr id="67" name="Text: No added parameters; early-stage T-Conv only."/>
              <p:cNvSpPr txBox="1"/>
              <p:nvPr/>
            </p:nvSpPr>
            <p:spPr>
              <a:xfrm>
                <a:off x="896112" y="5029200"/>
                <a:ext cx="4160520" cy="164592"/>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940" b="0" i="0" u="none" strike="noStrike" kern="1200" cap="none" spc="0" normalizeH="0" baseline="0" noProof="0">
                    <a:ln>
                      <a:noFill/>
                    </a:ln>
                    <a:solidFill>
                      <a:srgbClr val="5D6577"/>
                    </a:solidFill>
                    <a:effectLst/>
                    <a:uLnTx/>
                    <a:uFillTx/>
                    <a:latin typeface="Arial"/>
                    <a:ea typeface="+mn-ea"/>
                    <a:cs typeface="+mn-cs"/>
                  </a:rPr>
                  <a:t>No added parameters; early-stage T-Conv only.</a:t>
                </a:r>
              </a:p>
            </p:txBody>
          </p:sp>
        </p:grpSp>
        <p:cxnSp>
          <p:nvCxnSpPr>
            <p:cNvPr id="69" name="Editable arrow"/>
            <p:cNvCxnSpPr/>
            <p:nvPr/>
          </p:nvCxnSpPr>
          <p:spPr>
            <a:xfrm>
              <a:off x="5312664" y="3657600"/>
              <a:ext cx="301752" cy="0"/>
            </a:xfrm>
            <a:prstGeom prst="line">
              <a:avLst/>
            </a:prstGeom>
            <a:ln w="26670">
              <a:solidFill>
                <a:srgbClr val="087F85"/>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120" name="T2 — editable continuity gate experiment"/>
            <p:cNvGrpSpPr/>
            <p:nvPr/>
          </p:nvGrpSpPr>
          <p:grpSpPr>
            <a:xfrm>
              <a:off x="5715000" y="2221992"/>
              <a:ext cx="5733288" cy="3017520"/>
              <a:chOff x="5715000" y="2221992"/>
              <a:chExt cx="5733288" cy="3017520"/>
            </a:xfrm>
          </p:grpSpPr>
          <p:sp>
            <p:nvSpPr>
              <p:cNvPr id="70" name="T2 continuity gate panel"/>
              <p:cNvSpPr/>
              <p:nvPr/>
            </p:nvSpPr>
            <p:spPr>
              <a:xfrm>
                <a:off x="5715000" y="2221992"/>
                <a:ext cx="5733288" cy="3017520"/>
              </a:xfrm>
              <a:prstGeom prst="roundRect">
                <a:avLst>
                  <a:gd name="adj" fmla="val 6000"/>
                </a:avLst>
              </a:prstGeom>
              <a:solidFill>
                <a:srgbClr val="EAF6F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1" name="Panel"/>
              <p:cNvSpPr/>
              <p:nvPr/>
            </p:nvSpPr>
            <p:spPr>
              <a:xfrm>
                <a:off x="5870448" y="2377440"/>
                <a:ext cx="457200" cy="283464"/>
              </a:xfrm>
              <a:prstGeom prst="roundRect">
                <a:avLst>
                  <a:gd name="adj" fmla="val 6000"/>
                </a:avLst>
              </a:prstGeom>
              <a:solidFill>
                <a:srgbClr val="087F8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Text: T2"/>
              <p:cNvSpPr txBox="1"/>
              <p:nvPr/>
            </p:nvSpPr>
            <p:spPr>
              <a:xfrm>
                <a:off x="5870448" y="2377440"/>
                <a:ext cx="457200" cy="28346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rial"/>
                    <a:ea typeface="+mn-ea"/>
                    <a:cs typeface="+mn-cs"/>
                  </a:rPr>
                  <a:t>T2</a:t>
                </a:r>
              </a:p>
            </p:txBody>
          </p:sp>
          <p:sp>
            <p:nvSpPr>
              <p:cNvPr id="73" name="Text: CONTINUITY GATE"/>
              <p:cNvSpPr txBox="1"/>
              <p:nvPr/>
            </p:nvSpPr>
            <p:spPr>
              <a:xfrm>
                <a:off x="6446520" y="2377440"/>
                <a:ext cx="4846320" cy="283464"/>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000" b="1" i="0" u="none" strike="noStrike" kern="1200" cap="none" spc="0" normalizeH="0" baseline="0" noProof="0">
                    <a:ln>
                      <a:noFill/>
                    </a:ln>
                    <a:solidFill>
                      <a:srgbClr val="087F85"/>
                    </a:solidFill>
                    <a:effectLst/>
                    <a:uLnTx/>
                    <a:uFillTx/>
                    <a:latin typeface="Arial"/>
                    <a:ea typeface="+mn-ea"/>
                    <a:cs typeface="+mn-cs"/>
                  </a:rPr>
                  <a:t>CONTINUITY GATE</a:t>
                </a:r>
              </a:p>
            </p:txBody>
          </p:sp>
          <p:sp>
            <p:nvSpPr>
              <p:cNvPr id="74" name="Text: Question suspicious connections"/>
              <p:cNvSpPr txBox="1"/>
              <p:nvPr/>
            </p:nvSpPr>
            <p:spPr>
              <a:xfrm>
                <a:off x="5879592" y="2761488"/>
                <a:ext cx="5404103" cy="274320"/>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700" b="1" i="0" u="none" strike="noStrike" kern="1200" cap="none" spc="0" normalizeH="0" baseline="0" noProof="0">
                    <a:ln>
                      <a:noFill/>
                    </a:ln>
                    <a:solidFill>
                      <a:srgbClr val="20243A"/>
                    </a:solidFill>
                    <a:effectLst/>
                    <a:uLnTx/>
                    <a:uFillTx/>
                    <a:latin typeface="Arial"/>
                    <a:ea typeface="+mn-ea"/>
                    <a:cs typeface="+mn-cs"/>
                  </a:rPr>
                  <a:t>Question suspicious connections</a:t>
                </a:r>
              </a:p>
            </p:txBody>
          </p:sp>
          <p:sp>
            <p:nvSpPr>
              <p:cNvPr id="75" name="Text: A fixed slot can switch from one person to another."/>
              <p:cNvSpPr txBox="1"/>
              <p:nvPr/>
            </p:nvSpPr>
            <p:spPr>
              <a:xfrm>
                <a:off x="5879592" y="3118104"/>
                <a:ext cx="5404103" cy="228600"/>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110" b="0" i="0" u="none" strike="noStrike" kern="1200" cap="none" spc="0" normalizeH="0" baseline="0" noProof="0">
                    <a:ln>
                      <a:noFill/>
                    </a:ln>
                    <a:solidFill>
                      <a:srgbClr val="5D6577"/>
                    </a:solidFill>
                    <a:effectLst/>
                    <a:uLnTx/>
                    <a:uFillTx/>
                    <a:latin typeface="Arial"/>
                    <a:ea typeface="+mn-ea"/>
                    <a:cs typeface="+mn-cs"/>
                  </a:rPr>
                  <a:t>A fixed slot can switch from one person to another.</a:t>
                </a:r>
              </a:p>
            </p:txBody>
          </p:sp>
          <p:sp>
            <p:nvSpPr>
              <p:cNvPr id="76" name="Text: person assignment changes"/>
              <p:cNvSpPr txBox="1"/>
              <p:nvPr/>
            </p:nvSpPr>
            <p:spPr>
              <a:xfrm>
                <a:off x="6629400" y="3447288"/>
                <a:ext cx="3840480" cy="173736"/>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10" b="0" i="0" u="none" strike="noStrike" kern="1200" cap="none" spc="0" normalizeH="0" baseline="0" noProof="0">
                    <a:ln>
                      <a:noFill/>
                    </a:ln>
                    <a:solidFill>
                      <a:srgbClr val="5D6577"/>
                    </a:solidFill>
                    <a:effectLst/>
                    <a:uLnTx/>
                    <a:uFillTx/>
                    <a:latin typeface="Arial"/>
                    <a:ea typeface="+mn-ea"/>
                    <a:cs typeface="+mn-cs"/>
                  </a:rPr>
                  <a:t>person assignment changes</a:t>
                </a:r>
              </a:p>
            </p:txBody>
          </p:sp>
          <p:cxnSp>
            <p:nvCxnSpPr>
              <p:cNvPr id="77" name="Editable line"/>
              <p:cNvCxnSpPr/>
              <p:nvPr/>
            </p:nvCxnSpPr>
            <p:spPr>
              <a:xfrm>
                <a:off x="8215883" y="3675888"/>
                <a:ext cx="0" cy="722376"/>
              </a:xfrm>
              <a:prstGeom prst="line">
                <a:avLst/>
              </a:prstGeom>
              <a:ln w="12700">
                <a:solidFill>
                  <a:srgbClr val="946A19"/>
                </a:solidFill>
                <a:prstDash val="dash"/>
              </a:ln>
            </p:spPr>
            <p:style>
              <a:lnRef idx="2">
                <a:schemeClr val="accent1"/>
              </a:lnRef>
              <a:fillRef idx="0">
                <a:schemeClr val="accent1"/>
              </a:fillRef>
              <a:effectRef idx="1">
                <a:schemeClr val="accent1"/>
              </a:effectRef>
              <a:fontRef idx="minor">
                <a:schemeClr val="tx1"/>
              </a:fontRef>
            </p:style>
          </p:cxnSp>
          <p:sp>
            <p:nvSpPr>
              <p:cNvPr id="78" name="Text: Slot 1"/>
              <p:cNvSpPr txBox="1"/>
              <p:nvPr/>
            </p:nvSpPr>
            <p:spPr>
              <a:xfrm>
                <a:off x="5879592" y="3785615"/>
                <a:ext cx="685800" cy="219456"/>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019" b="0" i="0" u="none" strike="noStrike" kern="1200" cap="none" spc="0" normalizeH="0" baseline="0" noProof="0">
                    <a:ln>
                      <a:noFill/>
                    </a:ln>
                    <a:solidFill>
                      <a:srgbClr val="5D6577"/>
                    </a:solidFill>
                    <a:effectLst/>
                    <a:uLnTx/>
                    <a:uFillTx/>
                    <a:latin typeface="Arial"/>
                    <a:ea typeface="+mn-ea"/>
                    <a:cs typeface="+mn-cs"/>
                  </a:rPr>
                  <a:t>Slot 1</a:t>
                </a:r>
              </a:p>
            </p:txBody>
          </p:sp>
          <p:cxnSp>
            <p:nvCxnSpPr>
              <p:cNvPr id="79" name="Editable line"/>
              <p:cNvCxnSpPr/>
              <p:nvPr/>
            </p:nvCxnSpPr>
            <p:spPr>
              <a:xfrm>
                <a:off x="6784848" y="3895344"/>
                <a:ext cx="2862072" cy="0"/>
              </a:xfrm>
              <a:prstGeom prst="line">
                <a:avLst/>
              </a:prstGeom>
              <a:ln w="12700">
                <a:solidFill>
                  <a:srgbClr val="CBD1DD"/>
                </a:solidFill>
              </a:ln>
            </p:spPr>
            <p:style>
              <a:lnRef idx="2">
                <a:schemeClr val="accent1"/>
              </a:lnRef>
              <a:fillRef idx="0">
                <a:schemeClr val="accent1"/>
              </a:fillRef>
              <a:effectRef idx="1">
                <a:schemeClr val="accent1"/>
              </a:effectRef>
              <a:fontRef idx="minor">
                <a:schemeClr val="tx1"/>
              </a:fontRef>
            </p:style>
          </p:cxnSp>
          <p:sp>
            <p:nvSpPr>
              <p:cNvPr id="80" name="Editable node"/>
              <p:cNvSpPr/>
              <p:nvPr/>
            </p:nvSpPr>
            <p:spPr>
              <a:xfrm>
                <a:off x="6670548" y="3781044"/>
                <a:ext cx="228600" cy="228600"/>
              </a:xfrm>
              <a:prstGeom prst="ellipse">
                <a:avLst/>
              </a:prstGeom>
              <a:solidFill>
                <a:srgbClr val="087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Text: A"/>
              <p:cNvSpPr txBox="1"/>
              <p:nvPr/>
            </p:nvSpPr>
            <p:spPr>
              <a:xfrm>
                <a:off x="6665976" y="3776472"/>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A</a:t>
                </a:r>
              </a:p>
            </p:txBody>
          </p:sp>
          <p:sp>
            <p:nvSpPr>
              <p:cNvPr id="82" name="Editable node"/>
              <p:cNvSpPr/>
              <p:nvPr/>
            </p:nvSpPr>
            <p:spPr>
              <a:xfrm>
                <a:off x="7173468" y="3781044"/>
                <a:ext cx="228600" cy="228600"/>
              </a:xfrm>
              <a:prstGeom prst="ellipse">
                <a:avLst/>
              </a:prstGeom>
              <a:solidFill>
                <a:srgbClr val="087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3" name="Text: A"/>
              <p:cNvSpPr txBox="1"/>
              <p:nvPr/>
            </p:nvSpPr>
            <p:spPr>
              <a:xfrm>
                <a:off x="7168896" y="3776472"/>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A</a:t>
                </a:r>
              </a:p>
            </p:txBody>
          </p:sp>
          <p:sp>
            <p:nvSpPr>
              <p:cNvPr id="84" name="Editable node"/>
              <p:cNvSpPr/>
              <p:nvPr/>
            </p:nvSpPr>
            <p:spPr>
              <a:xfrm>
                <a:off x="7676388" y="3781044"/>
                <a:ext cx="228600" cy="228600"/>
              </a:xfrm>
              <a:prstGeom prst="ellipse">
                <a:avLst/>
              </a:prstGeom>
              <a:solidFill>
                <a:srgbClr val="087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5" name="Text: A"/>
              <p:cNvSpPr txBox="1"/>
              <p:nvPr/>
            </p:nvSpPr>
            <p:spPr>
              <a:xfrm>
                <a:off x="7671815" y="3776472"/>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A</a:t>
                </a:r>
              </a:p>
            </p:txBody>
          </p:sp>
          <p:sp>
            <p:nvSpPr>
              <p:cNvPr id="86" name="Editable node"/>
              <p:cNvSpPr/>
              <p:nvPr/>
            </p:nvSpPr>
            <p:spPr>
              <a:xfrm>
                <a:off x="8526780" y="3781044"/>
                <a:ext cx="228600" cy="228600"/>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7" name="Text: B"/>
              <p:cNvSpPr txBox="1"/>
              <p:nvPr/>
            </p:nvSpPr>
            <p:spPr>
              <a:xfrm>
                <a:off x="8522207" y="3776472"/>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B</a:t>
                </a:r>
              </a:p>
            </p:txBody>
          </p:sp>
          <p:sp>
            <p:nvSpPr>
              <p:cNvPr id="88" name="Editable node"/>
              <p:cNvSpPr/>
              <p:nvPr/>
            </p:nvSpPr>
            <p:spPr>
              <a:xfrm>
                <a:off x="9029700" y="3781044"/>
                <a:ext cx="228600" cy="228600"/>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9" name="Text: B"/>
              <p:cNvSpPr txBox="1"/>
              <p:nvPr/>
            </p:nvSpPr>
            <p:spPr>
              <a:xfrm>
                <a:off x="9025128" y="3776472"/>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B</a:t>
                </a:r>
              </a:p>
            </p:txBody>
          </p:sp>
          <p:sp>
            <p:nvSpPr>
              <p:cNvPr id="90" name="Editable node"/>
              <p:cNvSpPr/>
              <p:nvPr/>
            </p:nvSpPr>
            <p:spPr>
              <a:xfrm>
                <a:off x="9532620" y="3781044"/>
                <a:ext cx="228600" cy="228600"/>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1" name="Text: B"/>
              <p:cNvSpPr txBox="1"/>
              <p:nvPr/>
            </p:nvSpPr>
            <p:spPr>
              <a:xfrm>
                <a:off x="9528048" y="3776472"/>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B</a:t>
                </a:r>
              </a:p>
            </p:txBody>
          </p:sp>
          <p:sp>
            <p:nvSpPr>
              <p:cNvPr id="92" name="Temporal link gate"/>
              <p:cNvSpPr/>
              <p:nvPr/>
            </p:nvSpPr>
            <p:spPr>
              <a:xfrm>
                <a:off x="8087867" y="3767328"/>
                <a:ext cx="256032" cy="256032"/>
              </a:xfrm>
              <a:prstGeom prst="roundRect">
                <a:avLst>
                  <a:gd name="adj" fmla="val 6000"/>
                </a:avLst>
              </a:prstGeom>
              <a:solidFill>
                <a:srgbClr val="FFF8EA"/>
              </a:solidFill>
              <a:ln w="10160">
                <a:solidFill>
                  <a:srgbClr val="946A19"/>
                </a:solid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3" name="Text: g"/>
              <p:cNvSpPr txBox="1"/>
              <p:nvPr/>
            </p:nvSpPr>
            <p:spPr>
              <a:xfrm>
                <a:off x="8087867" y="3767328"/>
                <a:ext cx="256032" cy="256032"/>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1019" b="1" i="0" u="none" strike="noStrike" kern="1200" cap="none" spc="0" normalizeH="0" baseline="0" noProof="0">
                    <a:ln>
                      <a:noFill/>
                    </a:ln>
                    <a:solidFill>
                      <a:srgbClr val="946A19"/>
                    </a:solidFill>
                    <a:effectLst/>
                    <a:uLnTx/>
                    <a:uFillTx/>
                    <a:latin typeface="Arial"/>
                    <a:ea typeface="+mn-ea"/>
                    <a:cs typeface="+mn-cs"/>
                  </a:rPr>
                  <a:t>g</a:t>
                </a:r>
              </a:p>
            </p:txBody>
          </p:sp>
          <p:sp>
            <p:nvSpPr>
              <p:cNvPr id="94" name="Text: Slot 2"/>
              <p:cNvSpPr txBox="1"/>
              <p:nvPr/>
            </p:nvSpPr>
            <p:spPr>
              <a:xfrm>
                <a:off x="5879592" y="4215383"/>
                <a:ext cx="685800" cy="219456"/>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019" b="0" i="0" u="none" strike="noStrike" kern="1200" cap="none" spc="0" normalizeH="0" baseline="0" noProof="0">
                    <a:ln>
                      <a:noFill/>
                    </a:ln>
                    <a:solidFill>
                      <a:srgbClr val="5D6577"/>
                    </a:solidFill>
                    <a:effectLst/>
                    <a:uLnTx/>
                    <a:uFillTx/>
                    <a:latin typeface="Arial"/>
                    <a:ea typeface="+mn-ea"/>
                    <a:cs typeface="+mn-cs"/>
                  </a:rPr>
                  <a:t>Slot 2</a:t>
                </a:r>
              </a:p>
            </p:txBody>
          </p:sp>
          <p:cxnSp>
            <p:nvCxnSpPr>
              <p:cNvPr id="95" name="Editable line"/>
              <p:cNvCxnSpPr/>
              <p:nvPr/>
            </p:nvCxnSpPr>
            <p:spPr>
              <a:xfrm>
                <a:off x="6784848" y="4325112"/>
                <a:ext cx="2862072" cy="0"/>
              </a:xfrm>
              <a:prstGeom prst="line">
                <a:avLst/>
              </a:prstGeom>
              <a:ln w="12700">
                <a:solidFill>
                  <a:srgbClr val="CBD1DD"/>
                </a:solidFill>
              </a:ln>
            </p:spPr>
            <p:style>
              <a:lnRef idx="2">
                <a:schemeClr val="accent1"/>
              </a:lnRef>
              <a:fillRef idx="0">
                <a:schemeClr val="accent1"/>
              </a:fillRef>
              <a:effectRef idx="1">
                <a:schemeClr val="accent1"/>
              </a:effectRef>
              <a:fontRef idx="minor">
                <a:schemeClr val="tx1"/>
              </a:fontRef>
            </p:style>
          </p:cxnSp>
          <p:sp>
            <p:nvSpPr>
              <p:cNvPr id="96" name="Editable node"/>
              <p:cNvSpPr/>
              <p:nvPr/>
            </p:nvSpPr>
            <p:spPr>
              <a:xfrm>
                <a:off x="6670548" y="4210812"/>
                <a:ext cx="228600" cy="228600"/>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7" name="Text: B"/>
              <p:cNvSpPr txBox="1"/>
              <p:nvPr/>
            </p:nvSpPr>
            <p:spPr>
              <a:xfrm>
                <a:off x="6665976" y="4206240"/>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B</a:t>
                </a:r>
              </a:p>
            </p:txBody>
          </p:sp>
          <p:sp>
            <p:nvSpPr>
              <p:cNvPr id="98" name="Editable node"/>
              <p:cNvSpPr/>
              <p:nvPr/>
            </p:nvSpPr>
            <p:spPr>
              <a:xfrm>
                <a:off x="7173468" y="4210812"/>
                <a:ext cx="228600" cy="228600"/>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 B"/>
              <p:cNvSpPr txBox="1"/>
              <p:nvPr/>
            </p:nvSpPr>
            <p:spPr>
              <a:xfrm>
                <a:off x="7168896" y="4206240"/>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B</a:t>
                </a:r>
              </a:p>
            </p:txBody>
          </p:sp>
          <p:sp>
            <p:nvSpPr>
              <p:cNvPr id="100" name="Editable node"/>
              <p:cNvSpPr/>
              <p:nvPr/>
            </p:nvSpPr>
            <p:spPr>
              <a:xfrm>
                <a:off x="7676388" y="4210812"/>
                <a:ext cx="228600" cy="228600"/>
              </a:xfrm>
              <a:prstGeom prst="ellipse">
                <a:avLst/>
              </a:prstGeom>
              <a:solidFill>
                <a:srgbClr val="181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Text: B"/>
              <p:cNvSpPr txBox="1"/>
              <p:nvPr/>
            </p:nvSpPr>
            <p:spPr>
              <a:xfrm>
                <a:off x="7671815" y="4206240"/>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B</a:t>
                </a:r>
              </a:p>
            </p:txBody>
          </p:sp>
          <p:sp>
            <p:nvSpPr>
              <p:cNvPr id="102" name="Editable node"/>
              <p:cNvSpPr/>
              <p:nvPr/>
            </p:nvSpPr>
            <p:spPr>
              <a:xfrm>
                <a:off x="8526780" y="4210812"/>
                <a:ext cx="228600" cy="228600"/>
              </a:xfrm>
              <a:prstGeom prst="ellipse">
                <a:avLst/>
              </a:prstGeom>
              <a:solidFill>
                <a:srgbClr val="087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3" name="Text: A"/>
              <p:cNvSpPr txBox="1"/>
              <p:nvPr/>
            </p:nvSpPr>
            <p:spPr>
              <a:xfrm>
                <a:off x="8522207" y="4206240"/>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A</a:t>
                </a:r>
              </a:p>
            </p:txBody>
          </p:sp>
          <p:sp>
            <p:nvSpPr>
              <p:cNvPr id="104" name="Editable node"/>
              <p:cNvSpPr/>
              <p:nvPr/>
            </p:nvSpPr>
            <p:spPr>
              <a:xfrm>
                <a:off x="9029700" y="4210812"/>
                <a:ext cx="228600" cy="228600"/>
              </a:xfrm>
              <a:prstGeom prst="ellipse">
                <a:avLst/>
              </a:prstGeom>
              <a:solidFill>
                <a:srgbClr val="087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 A"/>
              <p:cNvSpPr txBox="1"/>
              <p:nvPr/>
            </p:nvSpPr>
            <p:spPr>
              <a:xfrm>
                <a:off x="9025128" y="4206240"/>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A</a:t>
                </a:r>
              </a:p>
            </p:txBody>
          </p:sp>
          <p:sp>
            <p:nvSpPr>
              <p:cNvPr id="106" name="Editable node"/>
              <p:cNvSpPr/>
              <p:nvPr/>
            </p:nvSpPr>
            <p:spPr>
              <a:xfrm>
                <a:off x="9532620" y="4210812"/>
                <a:ext cx="228600" cy="228600"/>
              </a:xfrm>
              <a:prstGeom prst="ellipse">
                <a:avLst/>
              </a:prstGeom>
              <a:solidFill>
                <a:srgbClr val="087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7" name="Text: A"/>
              <p:cNvSpPr txBox="1"/>
              <p:nvPr/>
            </p:nvSpPr>
            <p:spPr>
              <a:xfrm>
                <a:off x="9528048" y="4206240"/>
                <a:ext cx="237744" cy="237744"/>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60" b="1" i="0" u="none" strike="noStrike" kern="1200" cap="none" spc="0" normalizeH="0" baseline="0" noProof="0">
                    <a:ln>
                      <a:noFill/>
                    </a:ln>
                    <a:solidFill>
                      <a:srgbClr val="FFFFFF"/>
                    </a:solidFill>
                    <a:effectLst/>
                    <a:uLnTx/>
                    <a:uFillTx/>
                    <a:latin typeface="Arial"/>
                    <a:ea typeface="+mn-ea"/>
                    <a:cs typeface="+mn-cs"/>
                  </a:rPr>
                  <a:t>A</a:t>
                </a:r>
              </a:p>
            </p:txBody>
          </p:sp>
          <p:sp>
            <p:nvSpPr>
              <p:cNvPr id="108" name="Temporal link gate"/>
              <p:cNvSpPr/>
              <p:nvPr/>
            </p:nvSpPr>
            <p:spPr>
              <a:xfrm>
                <a:off x="8087867" y="4197096"/>
                <a:ext cx="256032" cy="256032"/>
              </a:xfrm>
              <a:prstGeom prst="roundRect">
                <a:avLst>
                  <a:gd name="adj" fmla="val 6000"/>
                </a:avLst>
              </a:prstGeom>
              <a:solidFill>
                <a:srgbClr val="FFF8EA"/>
              </a:solidFill>
              <a:ln w="10160">
                <a:solidFill>
                  <a:srgbClr val="946A19"/>
                </a:solid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9" name="Text: g"/>
              <p:cNvSpPr txBox="1"/>
              <p:nvPr/>
            </p:nvSpPr>
            <p:spPr>
              <a:xfrm>
                <a:off x="8087867" y="4197096"/>
                <a:ext cx="256032" cy="256032"/>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1019" b="1" i="0" u="none" strike="noStrike" kern="1200" cap="none" spc="0" normalizeH="0" baseline="0" noProof="0">
                    <a:ln>
                      <a:noFill/>
                    </a:ln>
                    <a:solidFill>
                      <a:srgbClr val="946A19"/>
                    </a:solidFill>
                    <a:effectLst/>
                    <a:uLnTx/>
                    <a:uFillTx/>
                    <a:latin typeface="Arial"/>
                    <a:ea typeface="+mn-ea"/>
                    <a:cs typeface="+mn-cs"/>
                  </a:rPr>
                  <a:t>g</a:t>
                </a:r>
              </a:p>
            </p:txBody>
          </p:sp>
          <p:sp>
            <p:nvSpPr>
              <p:cNvPr id="110" name="Text: g: attenuate"/>
              <p:cNvSpPr txBox="1"/>
              <p:nvPr/>
            </p:nvSpPr>
            <p:spPr>
              <a:xfrm>
                <a:off x="9966960" y="3739896"/>
                <a:ext cx="1280160" cy="274320"/>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000" b="1" i="0" u="none" strike="noStrike" kern="1200" cap="none" spc="0" normalizeH="0" baseline="0" noProof="0">
                    <a:ln>
                      <a:noFill/>
                    </a:ln>
                    <a:solidFill>
                      <a:srgbClr val="946A19"/>
                    </a:solidFill>
                    <a:effectLst/>
                    <a:uLnTx/>
                    <a:uFillTx/>
                    <a:latin typeface="Arial"/>
                    <a:ea typeface="+mn-ea"/>
                    <a:cs typeface="+mn-cs"/>
                  </a:rPr>
                  <a:t>g: attenuate</a:t>
                </a:r>
              </a:p>
            </p:txBody>
          </p:sp>
          <p:sp>
            <p:nvSpPr>
              <p:cNvPr id="111" name="Text: suspicious connections"/>
              <p:cNvSpPr txBox="1"/>
              <p:nvPr/>
            </p:nvSpPr>
            <p:spPr>
              <a:xfrm>
                <a:off x="9966960" y="4041648"/>
                <a:ext cx="1271016" cy="356616"/>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950" b="0" i="0" u="none" strike="noStrike" kern="1200" cap="none" spc="0" normalizeH="0" baseline="0" noProof="0">
                    <a:ln>
                      <a:noFill/>
                    </a:ln>
                    <a:solidFill>
                      <a:srgbClr val="5D6577"/>
                    </a:solidFill>
                    <a:effectLst/>
                    <a:uLnTx/>
                    <a:uFillTx/>
                    <a:latin typeface="Arial"/>
                    <a:ea typeface="+mn-ea"/>
                    <a:cs typeface="+mn-cs"/>
                  </a:rPr>
                  <a:t>suspicious</a:t>
                </a:r>
              </a:p>
              <a:p>
                <a:pPr marL="0" marR="0" lvl="0" indent="0" algn="l" defTabSz="457200" rtl="0" eaLnBrk="1" fontAlgn="auto" latinLnBrk="0" hangingPunct="1">
                  <a:lnSpc>
                    <a:spcPct val="112000"/>
                  </a:lnSpc>
                  <a:spcBef>
                    <a:spcPts val="0"/>
                  </a:spcBef>
                  <a:spcAft>
                    <a:spcPts val="0"/>
                  </a:spcAft>
                  <a:buClrTx/>
                  <a:buSzTx/>
                  <a:buFontTx/>
                  <a:buNone/>
                  <a:tabLst/>
                  <a:defRPr/>
                </a:pPr>
                <a:r>
                  <a:rPr kumimoji="0" sz="950" b="0" i="0" u="none" strike="noStrike" kern="1200" cap="none" spc="0" normalizeH="0" baseline="0" noProof="0">
                    <a:ln>
                      <a:noFill/>
                    </a:ln>
                    <a:solidFill>
                      <a:srgbClr val="5D6577"/>
                    </a:solidFill>
                    <a:effectLst/>
                    <a:uLnTx/>
                    <a:uFillTx/>
                    <a:latin typeface="Arial"/>
                    <a:ea typeface="+mn-ea"/>
                    <a:cs typeface="+mn-cs"/>
                  </a:rPr>
                  <a:t>connections</a:t>
                </a:r>
              </a:p>
            </p:txBody>
          </p:sp>
          <p:sp>
            <p:nvSpPr>
              <p:cNvPr id="112" name="Panel"/>
              <p:cNvSpPr/>
              <p:nvPr/>
            </p:nvSpPr>
            <p:spPr>
              <a:xfrm>
                <a:off x="5934456" y="4562856"/>
                <a:ext cx="1517904" cy="265176"/>
              </a:xfrm>
              <a:prstGeom prst="roundRect">
                <a:avLst>
                  <a:gd name="adj" fmla="val 6000"/>
                </a:avLst>
              </a:prstGeom>
              <a:solidFill>
                <a:srgbClr val="FFFFFF"/>
              </a:solidFill>
              <a:ln w="10160">
                <a:solidFill>
                  <a:srgbClr val="B8D8D4"/>
                </a:solid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Text: continuity cue"/>
              <p:cNvSpPr txBox="1"/>
              <p:nvPr/>
            </p:nvSpPr>
            <p:spPr>
              <a:xfrm>
                <a:off x="5934456" y="4562856"/>
                <a:ext cx="1517904" cy="265176"/>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80" b="1" i="0" u="none" strike="noStrike" kern="1200" cap="none" spc="0" normalizeH="0" baseline="0" noProof="0">
                    <a:ln>
                      <a:noFill/>
                    </a:ln>
                    <a:solidFill>
                      <a:srgbClr val="087F85"/>
                    </a:solidFill>
                    <a:effectLst/>
                    <a:uLnTx/>
                    <a:uFillTx/>
                    <a:latin typeface="Arial"/>
                    <a:ea typeface="+mn-ea"/>
                    <a:cs typeface="+mn-cs"/>
                  </a:rPr>
                  <a:t>continuity cue</a:t>
                </a:r>
              </a:p>
            </p:txBody>
          </p:sp>
          <p:cxnSp>
            <p:nvCxnSpPr>
              <p:cNvPr id="114" name="Editable arrow"/>
              <p:cNvCxnSpPr/>
              <p:nvPr/>
            </p:nvCxnSpPr>
            <p:spPr>
              <a:xfrm>
                <a:off x="7507224" y="4695444"/>
                <a:ext cx="219456" cy="0"/>
              </a:xfrm>
              <a:prstGeom prst="line">
                <a:avLst/>
              </a:prstGeom>
              <a:ln w="12700">
                <a:solidFill>
                  <a:srgbClr val="087F85"/>
                </a:solidFill>
                <a:tailEnd type="triangle" w="sm" len="sm"/>
              </a:ln>
            </p:spPr>
            <p:style>
              <a:lnRef idx="2">
                <a:schemeClr val="accent1"/>
              </a:lnRef>
              <a:fillRef idx="0">
                <a:schemeClr val="accent1"/>
              </a:fillRef>
              <a:effectRef idx="1">
                <a:schemeClr val="accent1"/>
              </a:effectRef>
              <a:fontRef idx="minor">
                <a:schemeClr val="tx1"/>
              </a:fontRef>
            </p:style>
          </p:cxnSp>
          <p:sp>
            <p:nvSpPr>
              <p:cNvPr id="115" name="Panel"/>
              <p:cNvSpPr/>
              <p:nvPr/>
            </p:nvSpPr>
            <p:spPr>
              <a:xfrm>
                <a:off x="7845552" y="4562856"/>
                <a:ext cx="1143000" cy="265176"/>
              </a:xfrm>
              <a:prstGeom prst="roundRect">
                <a:avLst>
                  <a:gd name="adj" fmla="val 6000"/>
                </a:avLst>
              </a:prstGeom>
              <a:solidFill>
                <a:srgbClr val="FFFFFF"/>
              </a:solidFill>
              <a:ln w="10160">
                <a:solidFill>
                  <a:srgbClr val="B8D8D4"/>
                </a:solid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6" name="Text: link gate"/>
              <p:cNvSpPr txBox="1"/>
              <p:nvPr/>
            </p:nvSpPr>
            <p:spPr>
              <a:xfrm>
                <a:off x="7845552" y="4562856"/>
                <a:ext cx="1143000" cy="265176"/>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80" b="1" i="0" u="none" strike="noStrike" kern="1200" cap="none" spc="0" normalizeH="0" baseline="0" noProof="0">
                    <a:ln>
                      <a:noFill/>
                    </a:ln>
                    <a:solidFill>
                      <a:srgbClr val="087F85"/>
                    </a:solidFill>
                    <a:effectLst/>
                    <a:uLnTx/>
                    <a:uFillTx/>
                    <a:latin typeface="Arial"/>
                    <a:ea typeface="+mn-ea"/>
                    <a:cs typeface="+mn-cs"/>
                  </a:rPr>
                  <a:t>link gate</a:t>
                </a:r>
              </a:p>
            </p:txBody>
          </p:sp>
          <p:cxnSp>
            <p:nvCxnSpPr>
              <p:cNvPr id="117" name="Editable arrow"/>
              <p:cNvCxnSpPr/>
              <p:nvPr/>
            </p:nvCxnSpPr>
            <p:spPr>
              <a:xfrm>
                <a:off x="9043416" y="4695444"/>
                <a:ext cx="219456" cy="0"/>
              </a:xfrm>
              <a:prstGeom prst="line">
                <a:avLst/>
              </a:prstGeom>
              <a:ln w="12700">
                <a:solidFill>
                  <a:srgbClr val="087F85"/>
                </a:solidFill>
                <a:tailEnd type="triangle" w="sm" len="sm"/>
              </a:ln>
            </p:spPr>
            <p:style>
              <a:lnRef idx="2">
                <a:schemeClr val="accent1"/>
              </a:lnRef>
              <a:fillRef idx="0">
                <a:schemeClr val="accent1"/>
              </a:fillRef>
              <a:effectRef idx="1">
                <a:schemeClr val="accent1"/>
              </a:effectRef>
              <a:fontRef idx="minor">
                <a:schemeClr val="tx1"/>
              </a:fontRef>
            </p:style>
          </p:cxnSp>
          <p:sp>
            <p:nvSpPr>
              <p:cNvPr id="118" name="Panel"/>
              <p:cNvSpPr/>
              <p:nvPr/>
            </p:nvSpPr>
            <p:spPr>
              <a:xfrm>
                <a:off x="9381744" y="4562856"/>
                <a:ext cx="1673352" cy="265176"/>
              </a:xfrm>
              <a:prstGeom prst="roundRect">
                <a:avLst>
                  <a:gd name="adj" fmla="val 6000"/>
                </a:avLst>
              </a:prstGeom>
              <a:solidFill>
                <a:srgbClr val="FFFFFF"/>
              </a:solidFill>
              <a:ln w="10160">
                <a:solidFill>
                  <a:srgbClr val="B8D8D4"/>
                </a:solid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9" name="Text: original T-Conv"/>
              <p:cNvSpPr txBox="1"/>
              <p:nvPr/>
            </p:nvSpPr>
            <p:spPr>
              <a:xfrm>
                <a:off x="9381744" y="4562856"/>
                <a:ext cx="1673352" cy="265176"/>
              </a:xfrm>
              <a:prstGeom prst="rect">
                <a:avLst/>
              </a:prstGeom>
              <a:noFill/>
            </p:spPr>
            <p:txBody>
              <a:bodyPr wrap="square" lIns="0" tIns="0" rIns="0" bIns="0" anchor="ctr">
                <a:noAutofit/>
              </a:bodyPr>
              <a:lstStyle/>
              <a:p>
                <a:pPr marL="0" marR="0" lvl="0" indent="0" algn="ctr" defTabSz="457200" rtl="0" eaLnBrk="1" fontAlgn="auto" latinLnBrk="0" hangingPunct="1">
                  <a:lnSpc>
                    <a:spcPct val="112000"/>
                  </a:lnSpc>
                  <a:spcBef>
                    <a:spcPts val="0"/>
                  </a:spcBef>
                  <a:spcAft>
                    <a:spcPts val="0"/>
                  </a:spcAft>
                  <a:buClrTx/>
                  <a:buSzTx/>
                  <a:buFontTx/>
                  <a:buNone/>
                  <a:tabLst/>
                  <a:defRPr/>
                </a:pPr>
                <a:r>
                  <a:rPr kumimoji="0" sz="980" b="1" i="0" u="none" strike="noStrike" kern="1200" cap="none" spc="0" normalizeH="0" baseline="0" noProof="0">
                    <a:ln>
                      <a:noFill/>
                    </a:ln>
                    <a:solidFill>
                      <a:srgbClr val="087F85"/>
                    </a:solidFill>
                    <a:effectLst/>
                    <a:uLnTx/>
                    <a:uFillTx/>
                    <a:latin typeface="Arial"/>
                    <a:ea typeface="+mn-ea"/>
                    <a:cs typeface="+mn-cs"/>
                  </a:rPr>
                  <a:t>original T-Conv</a:t>
                </a:r>
              </a:p>
            </p:txBody>
          </p:sp>
        </p:grpSp>
        <p:sp>
          <p:nvSpPr>
            <p:cNvPr id="121" name="T2 result placeholder"/>
            <p:cNvSpPr/>
            <p:nvPr/>
          </p:nvSpPr>
          <p:spPr>
            <a:xfrm>
              <a:off x="5879592" y="4946904"/>
              <a:ext cx="5404104" cy="402336"/>
            </a:xfrm>
            <a:prstGeom prst="roundRect">
              <a:avLst>
                <a:gd name="adj" fmla="val 6000"/>
              </a:avLst>
            </a:prstGeom>
            <a:solidFill>
              <a:srgbClr val="FFF8EA"/>
            </a:solidFill>
            <a:ln w="10160">
              <a:solidFill>
                <a:srgbClr val="946A19"/>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2" name="Text: 500-EPOCH FINDING"/>
            <p:cNvSpPr txBox="1"/>
            <p:nvPr/>
          </p:nvSpPr>
          <p:spPr>
            <a:xfrm>
              <a:off x="5998464" y="4983480"/>
              <a:ext cx="1389888" cy="146304"/>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869" b="1" i="0" u="none" strike="noStrike" kern="1200" cap="none" spc="0" normalizeH="0" baseline="0" noProof="0">
                  <a:ln>
                    <a:noFill/>
                  </a:ln>
                  <a:solidFill>
                    <a:srgbClr val="946A19"/>
                  </a:solidFill>
                  <a:effectLst/>
                  <a:uLnTx/>
                  <a:uFillTx/>
                  <a:latin typeface="Arial"/>
                  <a:ea typeface="+mn-ea"/>
                  <a:cs typeface="+mn-cs"/>
                </a:rPr>
                <a:t>500-EPOCH FINDING</a:t>
              </a:r>
            </a:p>
          </p:txBody>
        </p:sp>
        <p:sp>
          <p:nvSpPr>
            <p:cNvPr id="123" name="Text: No clear clean-Val gain; robustness still untested"/>
            <p:cNvSpPr txBox="1"/>
            <p:nvPr/>
          </p:nvSpPr>
          <p:spPr>
            <a:xfrm>
              <a:off x="7461504" y="4983480"/>
              <a:ext cx="3666744" cy="292608"/>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950" b="0" i="0" u="none" strike="noStrike" kern="1200" cap="none" spc="0" normalizeH="0" baseline="0" noProof="0">
                  <a:ln>
                    <a:noFill/>
                  </a:ln>
                  <a:solidFill>
                    <a:srgbClr val="5D6577"/>
                  </a:solidFill>
                  <a:effectLst/>
                  <a:uLnTx/>
                  <a:uFillTx/>
                  <a:latin typeface="Arial"/>
                  <a:ea typeface="+mn-ea"/>
                  <a:cs typeface="+mn-cs"/>
                </a:rPr>
                <a:t>No clear clean-Val gain; robustness still untested</a:t>
              </a:r>
            </a:p>
          </p:txBody>
        </p:sp>
        <p:sp>
          <p:nvSpPr>
            <p:cNvPr id="124" name="Shared conclusion"/>
            <p:cNvSpPr/>
            <p:nvPr/>
          </p:nvSpPr>
          <p:spPr>
            <a:xfrm>
              <a:off x="731520" y="5422392"/>
              <a:ext cx="10716768" cy="393192"/>
            </a:xfrm>
            <a:prstGeom prst="roundRect">
              <a:avLst>
                <a:gd name="adj" fmla="val 6000"/>
              </a:avLst>
            </a:prstGeom>
            <a:solidFill>
              <a:srgbClr val="181C6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5" name="Text: Verify the track-discontinuity failure mode before expanding the temporal gate."/>
            <p:cNvSpPr txBox="1"/>
            <p:nvPr/>
          </p:nvSpPr>
          <p:spPr>
            <a:xfrm>
              <a:off x="886968" y="5477256"/>
              <a:ext cx="10396728" cy="256032"/>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1280" b="1" i="0" u="none" strike="noStrike" kern="1200" cap="none" spc="0" normalizeH="0" baseline="0" noProof="0">
                  <a:ln>
                    <a:noFill/>
                  </a:ln>
                  <a:solidFill>
                    <a:srgbClr val="FFFFFF"/>
                  </a:solidFill>
                  <a:effectLst/>
                  <a:uLnTx/>
                  <a:uFillTx/>
                  <a:latin typeface="Arial"/>
                  <a:ea typeface="+mn-ea"/>
                  <a:cs typeface="+mn-cs"/>
                </a:rPr>
                <a:t>Verify the track-discontinuity failure mode before expanding the temporal gate.</a:t>
              </a:r>
            </a:p>
          </p:txBody>
        </p:sp>
        <p:sp>
          <p:nvSpPr>
            <p:cNvPr id="126" name="Text: 500-epoch results. The gate estimates feature continuity; it does not identify p"/>
            <p:cNvSpPr txBox="1"/>
            <p:nvPr/>
          </p:nvSpPr>
          <p:spPr>
            <a:xfrm>
              <a:off x="749808" y="5852160"/>
              <a:ext cx="10588752" cy="173736"/>
            </a:xfrm>
            <a:prstGeom prst="rect">
              <a:avLst/>
            </a:prstGeom>
            <a:noFill/>
          </p:spPr>
          <p:txBody>
            <a:bodyPr wrap="square" lIns="0" tIns="0" rIns="0" bIns="0" anchor="ctr">
              <a:noAutofit/>
            </a:bodyPr>
            <a:lstStyle/>
            <a:p>
              <a:pPr marL="0" marR="0" lvl="0" indent="0" algn="l" defTabSz="457200" rtl="0" eaLnBrk="1" fontAlgn="auto" latinLnBrk="0" hangingPunct="1">
                <a:lnSpc>
                  <a:spcPct val="112000"/>
                </a:lnSpc>
                <a:spcBef>
                  <a:spcPts val="0"/>
                </a:spcBef>
                <a:spcAft>
                  <a:spcPts val="0"/>
                </a:spcAft>
                <a:buClrTx/>
                <a:buSzTx/>
                <a:buFontTx/>
                <a:buNone/>
                <a:tabLst/>
                <a:defRPr/>
              </a:pPr>
              <a:r>
                <a:rPr kumimoji="0" sz="960" b="0" i="0" u="none" strike="noStrike" kern="1200" cap="none" spc="0" normalizeH="0" baseline="0" noProof="0">
                  <a:ln>
                    <a:noFill/>
                  </a:ln>
                  <a:solidFill>
                    <a:srgbClr val="5D6577"/>
                  </a:solidFill>
                  <a:effectLst/>
                  <a:uLnTx/>
                  <a:uFillTx/>
                  <a:latin typeface="Arial"/>
                  <a:ea typeface="+mn-ea"/>
                  <a:cs typeface="+mn-cs"/>
                </a:rPr>
                <a:t>500-epoch results. The gate estimates feature continuity; it does not identify people or repair tracks.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p0-1">
            <a:extLst>
              <a:ext uri="{FF2B5EF4-FFF2-40B4-BE49-F238E27FC236}">
                <a16:creationId xmlns:a16="http://schemas.microsoft.com/office/drawing/2014/main" id="{22F29625-BF6F-4220-BE7A-5DB17C51BFC9}"/>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p0-2">
            <a:extLst>
              <a:ext uri="{FF2B5EF4-FFF2-40B4-BE49-F238E27FC236}">
                <a16:creationId xmlns:a16="http://schemas.microsoft.com/office/drawing/2014/main" id="{92AD3108-51DF-4737-90C7-C9DEC3F28531}"/>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3" name="p0-3">
            <a:extLst>
              <a:ext uri="{FF2B5EF4-FFF2-40B4-BE49-F238E27FC236}">
                <a16:creationId xmlns:a16="http://schemas.microsoft.com/office/drawing/2014/main" id="{8847C753-5E3B-4321-ABE0-9F7FA71C2FDA}"/>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50" b="1">
                <a:solidFill>
                  <a:srgbClr val="1B1D63"/>
                </a:solidFill>
                <a:latin typeface="Arial"/>
                <a:ea typeface="Arial"/>
                <a:cs typeface="Arial"/>
              </a:defRPr>
            </a:defPPr>
          </a:lstStyle>
          <a:p>
            <a:pPr algn="l">
              <a:defRPr sz="2550" b="1">
                <a:solidFill>
                  <a:srgbClr val="1B1D63"/>
                </a:solidFill>
                <a:latin typeface="Arial"/>
                <a:ea typeface="Arial"/>
                <a:cs typeface="Arial"/>
              </a:defRPr>
            </a:pPr>
            <a:r>
              <a:rPr sz="2550" b="1">
                <a:solidFill>
                  <a:srgbClr val="1B1D63"/>
                </a:solidFill>
                <a:latin typeface="Arial"/>
                <a:ea typeface="Arial"/>
                <a:cs typeface="Arial"/>
              </a:rPr>
              <a:t>SkateFormer Research · This Week’s P0 Experiment</a:t>
            </a:r>
          </a:p>
        </p:txBody>
      </p:sp>
      <p:sp>
        <p:nvSpPr>
          <p:cNvPr id="4" name="p0-4">
            <a:extLst>
              <a:ext uri="{FF2B5EF4-FFF2-40B4-BE49-F238E27FC236}">
                <a16:creationId xmlns:a16="http://schemas.microsoft.com/office/drawing/2014/main" id="{95843901-1DA9-40F3-84DD-59F409C15159}"/>
              </a:ext>
            </a:extLst>
          </p:cNvPr>
          <p:cNvSpPr>
            <a:spLocks noGrp="1"/>
          </p:cNvSpPr>
          <p:nvPr/>
        </p:nvSpPr>
        <p:spPr>
          <a:xfrm>
            <a:off x="590550" y="723900"/>
            <a:ext cx="7239000" cy="219075"/>
          </a:xfrm>
          <a:prstGeom prst="rect">
            <a:avLst/>
          </a:prstGeom>
          <a:noFill/>
          <a:ln w="0">
            <a:noFill/>
          </a:ln>
        </p:spPr>
        <p:txBody>
          <a:bodyPr lIns="0" tIns="0" rIns="0" bIns="0" anchor="ctr">
            <a:noAutofit/>
          </a:bodyPr>
          <a:lstStyle>
            <a:defPPr algn="l">
              <a:defRPr sz="900" b="1">
                <a:solidFill>
                  <a:srgbClr val="E31346"/>
                </a:solidFill>
                <a:latin typeface="Arial"/>
                <a:ea typeface="Arial"/>
                <a:cs typeface="Arial"/>
              </a:defRPr>
            </a:defPPr>
          </a:lstStyle>
          <a:p>
            <a:pPr algn="l">
              <a:defRPr sz="900" b="1">
                <a:solidFill>
                  <a:srgbClr val="E31346"/>
                </a:solidFill>
                <a:latin typeface="Arial"/>
                <a:ea typeface="Arial"/>
                <a:cs typeface="Arial"/>
              </a:defRPr>
            </a:pPr>
            <a:r>
              <a:rPr sz="900" b="1">
                <a:solidFill>
                  <a:srgbClr val="E31346"/>
                </a:solidFill>
                <a:latin typeface="Arial"/>
                <a:ea typeface="Arial"/>
                <a:cs typeface="Arial"/>
              </a:rPr>
              <a:t>EE6008 · HUMAN POSE GROUP PROJECT</a:t>
            </a:r>
          </a:p>
        </p:txBody>
      </p:sp>
      <p:sp>
        <p:nvSpPr>
          <p:cNvPr id="5" name="p0-5">
            <a:extLst>
              <a:ext uri="{FF2B5EF4-FFF2-40B4-BE49-F238E27FC236}">
                <a16:creationId xmlns:a16="http://schemas.microsoft.com/office/drawing/2014/main" id="{D8C13FA9-958C-4FFA-82E3-3A3FDED9B711}"/>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pic>
        <p:nvPicPr>
          <p:cNvPr id="6" name="图片 5">
            <a:extLst>
              <a:ext uri="{FF2B5EF4-FFF2-40B4-BE49-F238E27FC236}">
                <a16:creationId xmlns:a16="http://schemas.microsoft.com/office/drawing/2014/main" id="{08C577BE-8700-4274-AD6A-DD57DFD8C1AA}"/>
              </a:ext>
            </a:extLst>
          </p:cNvPr>
          <p:cNvPicPr>
            <a:picLocks noChangeAspect="1"/>
          </p:cNvPicPr>
          <p:nvPr/>
        </p:nvPicPr>
        <p:blipFill>
          <a:blip r:embed="rId3"/>
          <a:stretch/>
        </p:blipFill>
        <p:spPr>
          <a:xfrm>
            <a:off x="9696450" y="191381"/>
            <a:ext cx="2038350" cy="731663"/>
          </a:xfrm>
          <a:prstGeom prst="rect">
            <a:avLst/>
          </a:prstGeom>
        </p:spPr>
      </p:pic>
      <p:sp>
        <p:nvSpPr>
          <p:cNvPr id="7" name="p0-6">
            <a:extLst>
              <a:ext uri="{FF2B5EF4-FFF2-40B4-BE49-F238E27FC236}">
                <a16:creationId xmlns:a16="http://schemas.microsoft.com/office/drawing/2014/main" id="{8FBEEB64-E544-4EFC-86A2-55D5A5FB82ED}"/>
              </a:ext>
            </a:extLst>
          </p:cNvPr>
          <p:cNvSpPr>
            <a:spLocks noGrp="1"/>
          </p:cNvSpPr>
          <p:nvPr/>
        </p:nvSpPr>
        <p:spPr>
          <a:xfrm>
            <a:off x="590550" y="6591300"/>
            <a:ext cx="2857500" cy="219075"/>
          </a:xfrm>
          <a:prstGeom prst="rect">
            <a:avLst/>
          </a:prstGeom>
          <a:noFill/>
          <a:ln w="0">
            <a:noFill/>
          </a:ln>
        </p:spPr>
        <p:txBody>
          <a:bodyPr lIns="0" tIns="0" rIns="0" bIns="0" anchor="ctr">
            <a:noAutofit/>
          </a:bodyPr>
          <a:lstStyle>
            <a:defPPr algn="l">
              <a:defRPr sz="750" b="1">
                <a:solidFill>
                  <a:srgbClr val="FFFFFF"/>
                </a:solidFill>
                <a:latin typeface="Arial"/>
                <a:ea typeface="Arial"/>
                <a:cs typeface="Arial"/>
              </a:defRPr>
            </a:defP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p0-7">
            <a:extLst>
              <a:ext uri="{FF2B5EF4-FFF2-40B4-BE49-F238E27FC236}">
                <a16:creationId xmlns:a16="http://schemas.microsoft.com/office/drawing/2014/main" id="{5AA357DA-710B-4BD9-A475-2339F8996238}"/>
              </a:ext>
            </a:extLst>
          </p:cNvPr>
          <p:cNvSpPr>
            <a:spLocks noGrp="1"/>
          </p:cNvSpPr>
          <p:nvPr/>
        </p:nvSpPr>
        <p:spPr>
          <a:xfrm>
            <a:off x="11049000" y="6591300"/>
            <a:ext cx="619125" cy="219075"/>
          </a:xfrm>
          <a:prstGeom prst="rect">
            <a:avLst/>
          </a:prstGeom>
          <a:noFill/>
          <a:ln w="0">
            <a:noFill/>
          </a:ln>
        </p:spPr>
        <p:txBody>
          <a:bodyPr lIns="0" tIns="0" rIns="0" bIns="0" anchor="ctr">
            <a:noAutofit/>
          </a:bodyPr>
          <a:lstStyle>
            <a:defPPr algn="r">
              <a:defRPr sz="750" b="1">
                <a:solidFill>
                  <a:srgbClr val="FFFFFF"/>
                </a:solidFill>
                <a:latin typeface="Arial"/>
                <a:ea typeface="Arial"/>
                <a:cs typeface="Arial"/>
              </a:defRPr>
            </a:defPPr>
          </a:lstStyle>
          <a:p>
            <a:pPr algn="r">
              <a:defRPr sz="750" b="1">
                <a:solidFill>
                  <a:srgbClr val="FFFFFF"/>
                </a:solidFill>
                <a:latin typeface="Arial"/>
                <a:ea typeface="Arial"/>
                <a:cs typeface="Arial"/>
              </a:defRPr>
            </a:pPr>
            <a:r>
              <a:rPr sz="750" b="1" dirty="0">
                <a:solidFill>
                  <a:srgbClr val="FFFFFF"/>
                </a:solidFill>
                <a:latin typeface="Arial"/>
                <a:ea typeface="Arial"/>
                <a:cs typeface="Arial"/>
              </a:rPr>
              <a:t>0</a:t>
            </a:r>
            <a:r>
              <a:rPr lang="en-US" sz="750" b="1" dirty="0">
                <a:solidFill>
                  <a:srgbClr val="FFFFFF"/>
                </a:solidFill>
                <a:latin typeface="Arial"/>
                <a:ea typeface="Arial"/>
                <a:cs typeface="Arial"/>
              </a:rPr>
              <a:t>3</a:t>
            </a:r>
            <a:endParaRPr sz="750" b="1" dirty="0">
              <a:solidFill>
                <a:srgbClr val="FFFFFF"/>
              </a:solidFill>
              <a:latin typeface="Arial"/>
              <a:ea typeface="Arial"/>
              <a:cs typeface="Arial"/>
            </a:endParaRPr>
          </a:p>
        </p:txBody>
      </p:sp>
      <p:sp>
        <p:nvSpPr>
          <p:cNvPr id="10" name="p0-9">
            <a:extLst>
              <a:ext uri="{FF2B5EF4-FFF2-40B4-BE49-F238E27FC236}">
                <a16:creationId xmlns:a16="http://schemas.microsoft.com/office/drawing/2014/main" id="{E2DB8520-52F3-4220-B707-4AD7E0BEB83B}"/>
              </a:ext>
            </a:extLst>
          </p:cNvPr>
          <p:cNvSpPr>
            <a:spLocks noGrp="1"/>
          </p:cNvSpPr>
          <p:nvPr/>
        </p:nvSpPr>
        <p:spPr>
          <a:xfrm>
            <a:off x="495300" y="1828800"/>
            <a:ext cx="11220450" cy="581025"/>
          </a:xfrm>
          <a:prstGeom prst="rect">
            <a:avLst/>
          </a:prstGeom>
          <a:noFill/>
          <a:ln w="0">
            <a:noFill/>
          </a:ln>
        </p:spPr>
        <p:txBody>
          <a:bodyPr lIns="0" tIns="0" rIns="0" bIns="0" anchor="ctr">
            <a:noAutofit/>
          </a:bodyPr>
          <a:lstStyle>
            <a:defPPr algn="l">
              <a:defRPr sz="2550" b="1">
                <a:solidFill>
                  <a:srgbClr val="1B1D63"/>
                </a:solidFill>
                <a:latin typeface="Arial"/>
                <a:ea typeface="Arial"/>
                <a:cs typeface="Arial"/>
              </a:defRPr>
            </a:defPPr>
          </a:lstStyle>
          <a:p>
            <a:pPr algn="l">
              <a:defRPr sz="2550" b="1">
                <a:solidFill>
                  <a:srgbClr val="1B1D63"/>
                </a:solidFill>
                <a:latin typeface="Arial"/>
                <a:ea typeface="Arial"/>
                <a:cs typeface="Arial"/>
              </a:defRPr>
            </a:pPr>
            <a:r>
              <a:rPr sz="2550" b="1">
                <a:solidFill>
                  <a:srgbClr val="1B1D63"/>
                </a:solidFill>
                <a:latin typeface="Arial"/>
                <a:ea typeface="Arial"/>
                <a:cs typeface="Arial"/>
              </a:rPr>
              <a:t>Person-track findings motivated a readout experiment</a:t>
            </a:r>
          </a:p>
        </p:txBody>
      </p:sp>
      <p:sp>
        <p:nvSpPr>
          <p:cNvPr id="11" name="p0-10">
            <a:extLst>
              <a:ext uri="{FF2B5EF4-FFF2-40B4-BE49-F238E27FC236}">
                <a16:creationId xmlns:a16="http://schemas.microsoft.com/office/drawing/2014/main" id="{6DD2D869-AEA1-4B27-8974-8D88BAC3DF66}"/>
              </a:ext>
            </a:extLst>
          </p:cNvPr>
          <p:cNvSpPr>
            <a:spLocks noGrp="1"/>
          </p:cNvSpPr>
          <p:nvPr/>
        </p:nvSpPr>
        <p:spPr>
          <a:xfrm>
            <a:off x="495300" y="2857500"/>
            <a:ext cx="3476625" cy="2419350"/>
          </a:xfrm>
          <a:prstGeom prst="roundRect">
            <a:avLst>
              <a:gd name="adj" fmla="val 6299"/>
            </a:avLst>
          </a:prstGeom>
          <a:solidFill>
            <a:srgbClr val="E9EDF8"/>
          </a:solidFill>
          <a:ln w="0">
            <a:noFill/>
          </a:ln>
        </p:spPr>
        <p:txBody>
          <a:bodyPr/>
          <a:lstStyle/>
          <a:p>
            <a:endParaRPr lang="zh-CN" altLang="en-US"/>
          </a:p>
        </p:txBody>
      </p:sp>
      <p:sp>
        <p:nvSpPr>
          <p:cNvPr id="12" name="p0-11">
            <a:extLst>
              <a:ext uri="{FF2B5EF4-FFF2-40B4-BE49-F238E27FC236}">
                <a16:creationId xmlns:a16="http://schemas.microsoft.com/office/drawing/2014/main" id="{C784412B-9BE1-4118-94D4-B1B38EEBF599}"/>
              </a:ext>
            </a:extLst>
          </p:cNvPr>
          <p:cNvSpPr>
            <a:spLocks noGrp="1"/>
          </p:cNvSpPr>
          <p:nvPr/>
        </p:nvSpPr>
        <p:spPr>
          <a:xfrm>
            <a:off x="723900" y="3009900"/>
            <a:ext cx="2952750" cy="342900"/>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01</a:t>
            </a:r>
          </a:p>
        </p:txBody>
      </p:sp>
      <p:sp>
        <p:nvSpPr>
          <p:cNvPr id="13" name="p0-12">
            <a:extLst>
              <a:ext uri="{FF2B5EF4-FFF2-40B4-BE49-F238E27FC236}">
                <a16:creationId xmlns:a16="http://schemas.microsoft.com/office/drawing/2014/main" id="{3C00D579-4C93-446E-B084-DD28A01CA4C9}"/>
              </a:ext>
            </a:extLst>
          </p:cNvPr>
          <p:cNvSpPr>
            <a:spLocks noGrp="1"/>
          </p:cNvSpPr>
          <p:nvPr/>
        </p:nvSpPr>
        <p:spPr>
          <a:xfrm>
            <a:off x="723900" y="3514725"/>
            <a:ext cx="3019425" cy="619125"/>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SkateFormer baseline</a:t>
            </a:r>
          </a:p>
        </p:txBody>
      </p:sp>
      <p:sp>
        <p:nvSpPr>
          <p:cNvPr id="14" name="p0-13">
            <a:extLst>
              <a:ext uri="{FF2B5EF4-FFF2-40B4-BE49-F238E27FC236}">
                <a16:creationId xmlns:a16="http://schemas.microsoft.com/office/drawing/2014/main" id="{0640E317-81E0-4347-B6F4-5240094A0479}"/>
              </a:ext>
            </a:extLst>
          </p:cNvPr>
          <p:cNvSpPr>
            <a:spLocks noGrp="1"/>
          </p:cNvSpPr>
          <p:nvPr/>
        </p:nvSpPr>
        <p:spPr>
          <a:xfrm>
            <a:off x="4048125" y="3857625"/>
            <a:ext cx="247650" cy="180975"/>
          </a:xfrm>
          <a:prstGeom prst="rightArrow">
            <a:avLst/>
          </a:prstGeom>
          <a:solidFill>
            <a:srgbClr val="697386"/>
          </a:solidFill>
          <a:ln w="0">
            <a:noFill/>
          </a:ln>
        </p:spPr>
        <p:txBody>
          <a:bodyPr/>
          <a:lstStyle/>
          <a:p>
            <a:endParaRPr lang="zh-CN" altLang="en-US"/>
          </a:p>
        </p:txBody>
      </p:sp>
      <p:sp>
        <p:nvSpPr>
          <p:cNvPr id="15" name="p0-14">
            <a:extLst>
              <a:ext uri="{FF2B5EF4-FFF2-40B4-BE49-F238E27FC236}">
                <a16:creationId xmlns:a16="http://schemas.microsoft.com/office/drawing/2014/main" id="{77198B1B-9A2F-4B4D-89C8-3C6CD6BE6109}"/>
              </a:ext>
            </a:extLst>
          </p:cNvPr>
          <p:cNvSpPr>
            <a:spLocks noGrp="1"/>
          </p:cNvSpPr>
          <p:nvPr/>
        </p:nvSpPr>
        <p:spPr>
          <a:xfrm>
            <a:off x="4371975" y="2857500"/>
            <a:ext cx="3476625" cy="2419350"/>
          </a:xfrm>
          <a:prstGeom prst="roundRect">
            <a:avLst>
              <a:gd name="adj" fmla="val 6299"/>
            </a:avLst>
          </a:prstGeom>
          <a:solidFill>
            <a:srgbClr val="E9EDF8"/>
          </a:solidFill>
          <a:ln w="0">
            <a:noFill/>
          </a:ln>
        </p:spPr>
        <p:txBody>
          <a:bodyPr/>
          <a:lstStyle/>
          <a:p>
            <a:endParaRPr lang="zh-CN" altLang="en-US"/>
          </a:p>
        </p:txBody>
      </p:sp>
      <p:sp>
        <p:nvSpPr>
          <p:cNvPr id="16" name="p0-15">
            <a:extLst>
              <a:ext uri="{FF2B5EF4-FFF2-40B4-BE49-F238E27FC236}">
                <a16:creationId xmlns:a16="http://schemas.microsoft.com/office/drawing/2014/main" id="{75876059-B677-4202-9F58-DB90C798FD10}"/>
              </a:ext>
            </a:extLst>
          </p:cNvPr>
          <p:cNvSpPr>
            <a:spLocks noGrp="1"/>
          </p:cNvSpPr>
          <p:nvPr/>
        </p:nvSpPr>
        <p:spPr>
          <a:xfrm>
            <a:off x="4600575" y="3009900"/>
            <a:ext cx="2952750" cy="342900"/>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02</a:t>
            </a:r>
          </a:p>
        </p:txBody>
      </p:sp>
      <p:sp>
        <p:nvSpPr>
          <p:cNvPr id="17" name="p0-16">
            <a:extLst>
              <a:ext uri="{FF2B5EF4-FFF2-40B4-BE49-F238E27FC236}">
                <a16:creationId xmlns:a16="http://schemas.microsoft.com/office/drawing/2014/main" id="{7BF15333-A479-4A18-86D8-662713EBEA0D}"/>
              </a:ext>
            </a:extLst>
          </p:cNvPr>
          <p:cNvSpPr>
            <a:spLocks noGrp="1"/>
          </p:cNvSpPr>
          <p:nvPr/>
        </p:nvSpPr>
        <p:spPr>
          <a:xfrm>
            <a:off x="4600575" y="3514725"/>
            <a:ext cx="3019425" cy="619125"/>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Person-track diagnostics</a:t>
            </a:r>
          </a:p>
        </p:txBody>
      </p:sp>
      <p:sp>
        <p:nvSpPr>
          <p:cNvPr id="18" name="p0-17">
            <a:extLst>
              <a:ext uri="{FF2B5EF4-FFF2-40B4-BE49-F238E27FC236}">
                <a16:creationId xmlns:a16="http://schemas.microsoft.com/office/drawing/2014/main" id="{D5767123-91C0-4BAC-A881-4BFCD4C7F338}"/>
              </a:ext>
            </a:extLst>
          </p:cNvPr>
          <p:cNvSpPr>
            <a:spLocks noGrp="1"/>
          </p:cNvSpPr>
          <p:nvPr/>
        </p:nvSpPr>
        <p:spPr>
          <a:xfrm>
            <a:off x="7924800" y="3857625"/>
            <a:ext cx="247650" cy="180975"/>
          </a:xfrm>
          <a:prstGeom prst="rightArrow">
            <a:avLst/>
          </a:prstGeom>
          <a:solidFill>
            <a:srgbClr val="697386"/>
          </a:solidFill>
          <a:ln w="0">
            <a:noFill/>
          </a:ln>
        </p:spPr>
        <p:txBody>
          <a:bodyPr/>
          <a:lstStyle/>
          <a:p>
            <a:endParaRPr lang="zh-CN" altLang="en-US"/>
          </a:p>
        </p:txBody>
      </p:sp>
      <p:sp>
        <p:nvSpPr>
          <p:cNvPr id="19" name="p0-18">
            <a:extLst>
              <a:ext uri="{FF2B5EF4-FFF2-40B4-BE49-F238E27FC236}">
                <a16:creationId xmlns:a16="http://schemas.microsoft.com/office/drawing/2014/main" id="{061C7AC4-3D53-44B9-94DE-E12B0DA6D45F}"/>
              </a:ext>
            </a:extLst>
          </p:cNvPr>
          <p:cNvSpPr>
            <a:spLocks noGrp="1"/>
          </p:cNvSpPr>
          <p:nvPr/>
        </p:nvSpPr>
        <p:spPr>
          <a:xfrm>
            <a:off x="8248650" y="2857500"/>
            <a:ext cx="3476625" cy="2419350"/>
          </a:xfrm>
          <a:prstGeom prst="roundRect">
            <a:avLst>
              <a:gd name="adj" fmla="val 6299"/>
            </a:avLst>
          </a:prstGeom>
          <a:solidFill>
            <a:srgbClr val="FBE8EF"/>
          </a:solidFill>
          <a:ln w="0">
            <a:noFill/>
          </a:ln>
        </p:spPr>
        <p:txBody>
          <a:bodyPr/>
          <a:lstStyle/>
          <a:p>
            <a:endParaRPr lang="zh-CN" altLang="en-US"/>
          </a:p>
        </p:txBody>
      </p:sp>
      <p:sp>
        <p:nvSpPr>
          <p:cNvPr id="20" name="p0-19">
            <a:extLst>
              <a:ext uri="{FF2B5EF4-FFF2-40B4-BE49-F238E27FC236}">
                <a16:creationId xmlns:a16="http://schemas.microsoft.com/office/drawing/2014/main" id="{1D80E1A6-DB2D-476C-BAE2-F0800A045A8C}"/>
              </a:ext>
            </a:extLst>
          </p:cNvPr>
          <p:cNvSpPr>
            <a:spLocks noGrp="1"/>
          </p:cNvSpPr>
          <p:nvPr/>
        </p:nvSpPr>
        <p:spPr>
          <a:xfrm>
            <a:off x="8477250" y="3009900"/>
            <a:ext cx="2952750" cy="342900"/>
          </a:xfrm>
          <a:prstGeom prst="rect">
            <a:avLst/>
          </a:prstGeom>
          <a:noFill/>
          <a:ln w="0">
            <a:noFill/>
          </a:ln>
        </p:spPr>
        <p:txBody>
          <a:bodyPr lIns="0" tIns="0" rIns="0" bIns="0" anchor="ctr">
            <a:noAutofit/>
          </a:bodyPr>
          <a:lstStyle>
            <a:defPPr algn="l">
              <a:defRPr sz="1950" b="1">
                <a:solidFill>
                  <a:srgbClr val="E31346"/>
                </a:solidFill>
                <a:latin typeface="Arial"/>
                <a:ea typeface="Arial"/>
                <a:cs typeface="Arial"/>
              </a:defRPr>
            </a:defPPr>
          </a:lstStyle>
          <a:p>
            <a:pPr algn="l">
              <a:defRPr sz="1950" b="1">
                <a:solidFill>
                  <a:srgbClr val="E31346"/>
                </a:solidFill>
                <a:latin typeface="Arial"/>
                <a:ea typeface="Arial"/>
                <a:cs typeface="Arial"/>
              </a:defRPr>
            </a:pPr>
            <a:r>
              <a:rPr sz="1950" b="1">
                <a:solidFill>
                  <a:srgbClr val="E31346"/>
                </a:solidFill>
                <a:latin typeface="Arial"/>
                <a:ea typeface="Arial"/>
                <a:cs typeface="Arial"/>
              </a:rPr>
              <a:t>03</a:t>
            </a:r>
          </a:p>
        </p:txBody>
      </p:sp>
      <p:sp>
        <p:nvSpPr>
          <p:cNvPr id="21" name="p0-20">
            <a:extLst>
              <a:ext uri="{FF2B5EF4-FFF2-40B4-BE49-F238E27FC236}">
                <a16:creationId xmlns:a16="http://schemas.microsoft.com/office/drawing/2014/main" id="{AC08B850-4037-4188-82AC-356D2125AADC}"/>
              </a:ext>
            </a:extLst>
          </p:cNvPr>
          <p:cNvSpPr>
            <a:spLocks noGrp="1"/>
          </p:cNvSpPr>
          <p:nvPr/>
        </p:nvSpPr>
        <p:spPr>
          <a:xfrm>
            <a:off x="8477250" y="3514725"/>
            <a:ext cx="3019425" cy="619125"/>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P0: controlled readouts</a:t>
            </a:r>
          </a:p>
        </p:txBody>
      </p:sp>
      <p:sp>
        <p:nvSpPr>
          <p:cNvPr id="22" name="p0-21">
            <a:extLst>
              <a:ext uri="{FF2B5EF4-FFF2-40B4-BE49-F238E27FC236}">
                <a16:creationId xmlns:a16="http://schemas.microsoft.com/office/drawing/2014/main" id="{104CB2FE-AC45-4DA0-B9D2-4C4F8F7032A3}"/>
              </a:ext>
            </a:extLst>
          </p:cNvPr>
          <p:cNvSpPr>
            <a:spLocks noGrp="1"/>
          </p:cNvSpPr>
          <p:nvPr/>
        </p:nvSpPr>
        <p:spPr>
          <a:xfrm>
            <a:off x="723900" y="4352925"/>
            <a:ext cx="3019425" cy="552450"/>
          </a:xfrm>
          <a:prstGeom prst="rect">
            <a:avLst/>
          </a:prstGeom>
          <a:noFill/>
          <a:ln w="0">
            <a:noFill/>
          </a:ln>
        </p:spPr>
        <p:txBody>
          <a:bodyPr lIns="0" tIns="0" rIns="0" bIns="0" anchor="ctr">
            <a:noAutofit/>
          </a:bodyPr>
          <a:lstStyle>
            <a:defPPr algn="l">
              <a:defRPr sz="1500" b="0">
                <a:solidFill>
                  <a:srgbClr val="697386"/>
                </a:solidFill>
                <a:latin typeface="Arial"/>
                <a:ea typeface="Arial"/>
                <a:cs typeface="Arial"/>
              </a:defRPr>
            </a:defPPr>
          </a:lstStyle>
          <a:p>
            <a:pPr algn="l">
              <a:defRPr sz="1500" b="0">
                <a:solidFill>
                  <a:srgbClr val="697386"/>
                </a:solidFill>
                <a:latin typeface="Arial"/>
                <a:ea typeface="Arial"/>
                <a:cs typeface="Arial"/>
              </a:defRPr>
            </a:pPr>
            <a:r>
              <a:rPr sz="1500" b="0">
                <a:solidFill>
                  <a:srgbClr val="697386"/>
                </a:solidFill>
                <a:latin typeface="Arial"/>
                <a:ea typeface="Arial"/>
                <a:cs typeface="Arial"/>
              </a:rPr>
              <a:t>Focus over the past two weeks</a:t>
            </a:r>
          </a:p>
        </p:txBody>
      </p:sp>
      <p:sp>
        <p:nvSpPr>
          <p:cNvPr id="23" name="p0-22">
            <a:extLst>
              <a:ext uri="{FF2B5EF4-FFF2-40B4-BE49-F238E27FC236}">
                <a16:creationId xmlns:a16="http://schemas.microsoft.com/office/drawing/2014/main" id="{84135814-669E-4FBA-B15A-0CC8EE83C0ED}"/>
              </a:ext>
            </a:extLst>
          </p:cNvPr>
          <p:cNvSpPr>
            <a:spLocks noGrp="1"/>
          </p:cNvSpPr>
          <p:nvPr/>
        </p:nvSpPr>
        <p:spPr>
          <a:xfrm>
            <a:off x="4600575" y="4352925"/>
            <a:ext cx="3019425" cy="628650"/>
          </a:xfrm>
          <a:prstGeom prst="rect">
            <a:avLst/>
          </a:prstGeom>
          <a:noFill/>
          <a:ln w="0">
            <a:noFill/>
          </a:ln>
        </p:spPr>
        <p:txBody>
          <a:bodyPr lIns="0" tIns="0" rIns="0" bIns="0" anchor="ctr">
            <a:noAutofit/>
          </a:bodyPr>
          <a:lstStyle>
            <a:defPPr algn="l">
              <a:defRPr sz="1500" b="0">
                <a:solidFill>
                  <a:srgbClr val="2A2E45"/>
                </a:solidFill>
                <a:latin typeface="Arial"/>
                <a:ea typeface="Arial"/>
                <a:cs typeface="Arial"/>
              </a:defRPr>
            </a:defPPr>
          </a:lstStyle>
          <a:p>
            <a:pPr algn="l">
              <a:defRPr sz="1500" b="0">
                <a:solidFill>
                  <a:srgbClr val="2A2E45"/>
                </a:solidFill>
                <a:latin typeface="Arial"/>
                <a:ea typeface="Arial"/>
                <a:cs typeface="Arial"/>
              </a:defRPr>
            </a:pPr>
            <a:r>
              <a:rPr sz="1500" b="0">
                <a:solidFill>
                  <a:srgbClr val="2A2E45"/>
                </a:solidFill>
                <a:latin typeface="Arial"/>
                <a:ea typeface="Arial"/>
                <a:cs typeface="Arial"/>
              </a:rPr>
              <a:t>Whole-clip robust</a:t>
            </a:r>
          </a:p>
          <a:p>
            <a:pPr algn="l">
              <a:defRPr sz="1500" b="0">
                <a:solidFill>
                  <a:srgbClr val="2A2E45"/>
                </a:solidFill>
                <a:latin typeface="Arial"/>
                <a:ea typeface="Arial"/>
                <a:cs typeface="Arial"/>
              </a:defRPr>
            </a:pPr>
            <a:r>
              <a:rPr sz="1500" b="0">
                <a:solidFill>
                  <a:srgbClr val="2A2E45"/>
                </a:solidFill>
                <a:latin typeface="Arial"/>
                <a:ea typeface="Arial"/>
                <a:cs typeface="Arial"/>
              </a:rPr>
              <a:t>Internal track breaks sensitive</a:t>
            </a:r>
          </a:p>
        </p:txBody>
      </p:sp>
      <p:sp>
        <p:nvSpPr>
          <p:cNvPr id="24" name="p0-23">
            <a:extLst>
              <a:ext uri="{FF2B5EF4-FFF2-40B4-BE49-F238E27FC236}">
                <a16:creationId xmlns:a16="http://schemas.microsoft.com/office/drawing/2014/main" id="{B39EB20E-D0A9-4852-8130-9153E5C5F937}"/>
              </a:ext>
            </a:extLst>
          </p:cNvPr>
          <p:cNvSpPr>
            <a:spLocks noGrp="1"/>
          </p:cNvSpPr>
          <p:nvPr/>
        </p:nvSpPr>
        <p:spPr>
          <a:xfrm>
            <a:off x="8477250" y="4352925"/>
            <a:ext cx="3019425" cy="628650"/>
          </a:xfrm>
          <a:prstGeom prst="rect">
            <a:avLst/>
          </a:prstGeom>
          <a:noFill/>
          <a:ln w="0">
            <a:noFill/>
          </a:ln>
        </p:spPr>
        <p:txBody>
          <a:bodyPr lIns="0" tIns="0" rIns="0" bIns="0" anchor="ctr">
            <a:noAutofit/>
          </a:bodyPr>
          <a:lstStyle>
            <a:defPPr algn="l">
              <a:defRPr sz="1500" b="1">
                <a:solidFill>
                  <a:srgbClr val="E31346"/>
                </a:solidFill>
                <a:latin typeface="Arial"/>
                <a:ea typeface="Arial"/>
                <a:cs typeface="Arial"/>
              </a:defRPr>
            </a:defPPr>
          </a:lstStyle>
          <a:p>
            <a:pPr algn="l">
              <a:defRPr sz="1500" b="1">
                <a:solidFill>
                  <a:srgbClr val="E31346"/>
                </a:solidFill>
                <a:latin typeface="Arial"/>
                <a:ea typeface="Arial"/>
                <a:cs typeface="Arial"/>
              </a:defRPr>
            </a:pPr>
            <a:r>
              <a:rPr sz="1500" b="1">
                <a:solidFill>
                  <a:srgbClr val="E31346"/>
                </a:solidFill>
                <a:latin typeface="Arial"/>
                <a:ea typeface="Arial"/>
                <a:cs typeface="Arial"/>
              </a:rPr>
              <a:t>Can person-related features</a:t>
            </a:r>
          </a:p>
          <a:p>
            <a:pPr algn="l">
              <a:defRPr sz="1500" b="1">
                <a:solidFill>
                  <a:srgbClr val="E31346"/>
                </a:solidFill>
                <a:latin typeface="Arial"/>
                <a:ea typeface="Arial"/>
                <a:cs typeface="Arial"/>
              </a:defRPr>
            </a:pPr>
            <a:r>
              <a:rPr sz="1500" b="1">
                <a:solidFill>
                  <a:srgbClr val="E31346"/>
                </a:solidFill>
                <a:latin typeface="Arial"/>
                <a:ea typeface="Arial"/>
                <a:cs typeface="Arial"/>
              </a:rPr>
              <a:t>help before final pooling?</a:t>
            </a:r>
          </a:p>
        </p:txBody>
      </p:sp>
      <p:sp>
        <p:nvSpPr>
          <p:cNvPr id="25" name="p0-24">
            <a:extLst>
              <a:ext uri="{FF2B5EF4-FFF2-40B4-BE49-F238E27FC236}">
                <a16:creationId xmlns:a16="http://schemas.microsoft.com/office/drawing/2014/main" id="{20EF7FBD-E6BE-45E2-93AE-9E815BFF609C}"/>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26" name="p0-25">
            <a:extLst>
              <a:ext uri="{FF2B5EF4-FFF2-40B4-BE49-F238E27FC236}">
                <a16:creationId xmlns:a16="http://schemas.microsoft.com/office/drawing/2014/main" id="{E396559C-0A6D-4F19-B5E6-D614347044C1}"/>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This week: test the readout, then diagnose what it actually contributes</a:t>
            </a:r>
          </a:p>
        </p:txBody>
      </p:sp>
    </p:spTree>
    <p:extLst>
      <p:ext uri="{BB962C8B-B14F-4D97-AF65-F5344CB8AC3E}">
        <p14:creationId xmlns:p14="http://schemas.microsoft.com/office/powerpoint/2010/main" val="1031287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0-26">
            <a:extLst>
              <a:ext uri="{FF2B5EF4-FFF2-40B4-BE49-F238E27FC236}">
                <a16:creationId xmlns:a16="http://schemas.microsoft.com/office/drawing/2014/main" id="{B988E053-D4DC-4FC1-8A61-7B20E8DB657F}"/>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p0-27">
            <a:extLst>
              <a:ext uri="{FF2B5EF4-FFF2-40B4-BE49-F238E27FC236}">
                <a16:creationId xmlns:a16="http://schemas.microsoft.com/office/drawing/2014/main" id="{8144343F-990E-4526-B853-DD60657C1C48}"/>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3" name="p0-28">
            <a:extLst>
              <a:ext uri="{FF2B5EF4-FFF2-40B4-BE49-F238E27FC236}">
                <a16:creationId xmlns:a16="http://schemas.microsoft.com/office/drawing/2014/main" id="{73441F29-3317-494F-BB68-68448E4E5F29}"/>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50" b="1">
                <a:solidFill>
                  <a:srgbClr val="1B1D63"/>
                </a:solidFill>
                <a:latin typeface="Arial"/>
                <a:ea typeface="Arial"/>
                <a:cs typeface="Arial"/>
              </a:defRPr>
            </a:defPPr>
          </a:lstStyle>
          <a:p>
            <a:pPr algn="l">
              <a:defRPr sz="2550" b="1">
                <a:solidFill>
                  <a:srgbClr val="1B1D63"/>
                </a:solidFill>
                <a:latin typeface="Arial"/>
                <a:ea typeface="Arial"/>
                <a:cs typeface="Arial"/>
              </a:defRPr>
            </a:pPr>
            <a:r>
              <a:rPr sz="2550" b="1">
                <a:solidFill>
                  <a:srgbClr val="1B1D63"/>
                </a:solidFill>
                <a:latin typeface="Arial"/>
                <a:ea typeface="Arial"/>
                <a:cs typeface="Arial"/>
              </a:rPr>
              <a:t>P0 · A Small Change at the Readout</a:t>
            </a:r>
          </a:p>
        </p:txBody>
      </p:sp>
      <p:sp>
        <p:nvSpPr>
          <p:cNvPr id="4" name="p0-29">
            <a:extLst>
              <a:ext uri="{FF2B5EF4-FFF2-40B4-BE49-F238E27FC236}">
                <a16:creationId xmlns:a16="http://schemas.microsoft.com/office/drawing/2014/main" id="{8E7749B0-2C8B-45C2-85F5-F07A3FFCB886}"/>
              </a:ext>
            </a:extLst>
          </p:cNvPr>
          <p:cNvSpPr>
            <a:spLocks noGrp="1"/>
          </p:cNvSpPr>
          <p:nvPr/>
        </p:nvSpPr>
        <p:spPr>
          <a:xfrm>
            <a:off x="590550" y="723900"/>
            <a:ext cx="7239000" cy="219075"/>
          </a:xfrm>
          <a:prstGeom prst="rect">
            <a:avLst/>
          </a:prstGeom>
          <a:noFill/>
          <a:ln w="0">
            <a:noFill/>
          </a:ln>
        </p:spPr>
        <p:txBody>
          <a:bodyPr lIns="0" tIns="0" rIns="0" bIns="0" anchor="ctr">
            <a:noAutofit/>
          </a:bodyPr>
          <a:lstStyle>
            <a:defPPr algn="l">
              <a:defRPr sz="900" b="1">
                <a:solidFill>
                  <a:srgbClr val="E31346"/>
                </a:solidFill>
                <a:latin typeface="Arial"/>
                <a:ea typeface="Arial"/>
                <a:cs typeface="Arial"/>
              </a:defRPr>
            </a:defPPr>
          </a:lstStyle>
          <a:p>
            <a:pPr algn="l">
              <a:defRPr sz="900" b="1">
                <a:solidFill>
                  <a:srgbClr val="E31346"/>
                </a:solidFill>
                <a:latin typeface="Arial"/>
                <a:ea typeface="Arial"/>
                <a:cs typeface="Arial"/>
              </a:defRPr>
            </a:pPr>
            <a:r>
              <a:rPr sz="900" b="1">
                <a:solidFill>
                  <a:srgbClr val="E31346"/>
                </a:solidFill>
                <a:latin typeface="Arial"/>
                <a:ea typeface="Arial"/>
                <a:cs typeface="Arial"/>
              </a:rPr>
              <a:t>EE6008 · HUMAN POSE GROUP PROJECT</a:t>
            </a:r>
          </a:p>
        </p:txBody>
      </p:sp>
      <p:sp>
        <p:nvSpPr>
          <p:cNvPr id="5" name="p0-30">
            <a:extLst>
              <a:ext uri="{FF2B5EF4-FFF2-40B4-BE49-F238E27FC236}">
                <a16:creationId xmlns:a16="http://schemas.microsoft.com/office/drawing/2014/main" id="{96E5CF80-11E8-42FF-AA05-E72386438688}"/>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pic>
        <p:nvPicPr>
          <p:cNvPr id="6" name="图片 5">
            <a:extLst>
              <a:ext uri="{FF2B5EF4-FFF2-40B4-BE49-F238E27FC236}">
                <a16:creationId xmlns:a16="http://schemas.microsoft.com/office/drawing/2014/main" id="{B79E470F-B1C5-4BBF-BC49-F05DB6406BA1}"/>
              </a:ext>
            </a:extLst>
          </p:cNvPr>
          <p:cNvPicPr>
            <a:picLocks noChangeAspect="1"/>
          </p:cNvPicPr>
          <p:nvPr/>
        </p:nvPicPr>
        <p:blipFill>
          <a:blip r:embed="rId3"/>
          <a:stretch/>
        </p:blipFill>
        <p:spPr>
          <a:xfrm>
            <a:off x="9696450" y="191381"/>
            <a:ext cx="2038350" cy="731663"/>
          </a:xfrm>
          <a:prstGeom prst="rect">
            <a:avLst/>
          </a:prstGeom>
        </p:spPr>
      </p:pic>
      <p:sp>
        <p:nvSpPr>
          <p:cNvPr id="7" name="p0-31">
            <a:extLst>
              <a:ext uri="{FF2B5EF4-FFF2-40B4-BE49-F238E27FC236}">
                <a16:creationId xmlns:a16="http://schemas.microsoft.com/office/drawing/2014/main" id="{14521CAF-9DBD-43CB-8860-03338A45CC8E}"/>
              </a:ext>
            </a:extLst>
          </p:cNvPr>
          <p:cNvSpPr>
            <a:spLocks noGrp="1"/>
          </p:cNvSpPr>
          <p:nvPr/>
        </p:nvSpPr>
        <p:spPr>
          <a:xfrm>
            <a:off x="590550" y="6591300"/>
            <a:ext cx="2857500" cy="219075"/>
          </a:xfrm>
          <a:prstGeom prst="rect">
            <a:avLst/>
          </a:prstGeom>
          <a:noFill/>
          <a:ln w="0">
            <a:noFill/>
          </a:ln>
        </p:spPr>
        <p:txBody>
          <a:bodyPr lIns="0" tIns="0" rIns="0" bIns="0" anchor="ctr">
            <a:noAutofit/>
          </a:bodyPr>
          <a:lstStyle>
            <a:defPPr algn="l">
              <a:defRPr sz="750" b="1">
                <a:solidFill>
                  <a:srgbClr val="FFFFFF"/>
                </a:solidFill>
                <a:latin typeface="Arial"/>
                <a:ea typeface="Arial"/>
                <a:cs typeface="Arial"/>
              </a:defRPr>
            </a:defP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p0-32">
            <a:extLst>
              <a:ext uri="{FF2B5EF4-FFF2-40B4-BE49-F238E27FC236}">
                <a16:creationId xmlns:a16="http://schemas.microsoft.com/office/drawing/2014/main" id="{6067F4DB-16BB-45C8-AD7E-75681C9BED0D}"/>
              </a:ext>
            </a:extLst>
          </p:cNvPr>
          <p:cNvSpPr>
            <a:spLocks noGrp="1"/>
          </p:cNvSpPr>
          <p:nvPr/>
        </p:nvSpPr>
        <p:spPr>
          <a:xfrm>
            <a:off x="11049000" y="6591300"/>
            <a:ext cx="619125" cy="219075"/>
          </a:xfrm>
          <a:prstGeom prst="rect">
            <a:avLst/>
          </a:prstGeom>
          <a:noFill/>
          <a:ln w="0">
            <a:noFill/>
          </a:ln>
        </p:spPr>
        <p:txBody>
          <a:bodyPr lIns="0" tIns="0" rIns="0" bIns="0" anchor="ctr">
            <a:noAutofit/>
          </a:bodyPr>
          <a:lstStyle>
            <a:defPPr algn="r">
              <a:defRPr sz="750" b="1">
                <a:solidFill>
                  <a:srgbClr val="FFFFFF"/>
                </a:solidFill>
                <a:latin typeface="Arial"/>
                <a:ea typeface="Arial"/>
                <a:cs typeface="Arial"/>
              </a:defRPr>
            </a:defPPr>
          </a:lstStyle>
          <a:p>
            <a:pPr algn="r">
              <a:defRPr sz="750" b="1">
                <a:solidFill>
                  <a:srgbClr val="FFFFFF"/>
                </a:solidFill>
                <a:latin typeface="Arial"/>
                <a:ea typeface="Arial"/>
                <a:cs typeface="Arial"/>
              </a:defRPr>
            </a:pPr>
            <a:r>
              <a:rPr sz="750" b="1" dirty="0">
                <a:solidFill>
                  <a:srgbClr val="FFFFFF"/>
                </a:solidFill>
                <a:latin typeface="Arial"/>
                <a:ea typeface="Arial"/>
                <a:cs typeface="Arial"/>
              </a:rPr>
              <a:t>0</a:t>
            </a:r>
            <a:r>
              <a:rPr lang="en-US" sz="750" b="1" dirty="0">
                <a:solidFill>
                  <a:srgbClr val="FFFFFF"/>
                </a:solidFill>
                <a:latin typeface="Arial"/>
                <a:ea typeface="Arial"/>
                <a:cs typeface="Arial"/>
              </a:rPr>
              <a:t>4</a:t>
            </a:r>
            <a:endParaRPr sz="750" b="1" dirty="0">
              <a:solidFill>
                <a:srgbClr val="FFFFFF"/>
              </a:solidFill>
              <a:latin typeface="Arial"/>
              <a:ea typeface="Arial"/>
              <a:cs typeface="Arial"/>
            </a:endParaRPr>
          </a:p>
        </p:txBody>
      </p:sp>
      <p:sp>
        <p:nvSpPr>
          <p:cNvPr id="9" name="p0-33">
            <a:extLst>
              <a:ext uri="{FF2B5EF4-FFF2-40B4-BE49-F238E27FC236}">
                <a16:creationId xmlns:a16="http://schemas.microsoft.com/office/drawing/2014/main" id="{32D560B9-1BAC-4C0A-ADB3-800E7AC839CC}"/>
              </a:ext>
            </a:extLst>
          </p:cNvPr>
          <p:cNvSpPr>
            <a:spLocks noGrp="1"/>
          </p:cNvSpPr>
          <p:nvPr/>
        </p:nvSpPr>
        <p:spPr>
          <a:xfrm>
            <a:off x="495300" y="2057400"/>
            <a:ext cx="1952625" cy="790575"/>
          </a:xfrm>
          <a:prstGeom prst="roundRect">
            <a:avLst>
              <a:gd name="adj" fmla="val 19277"/>
            </a:avLst>
          </a:prstGeom>
          <a:solidFill>
            <a:srgbClr val="E9EDF8"/>
          </a:solidFill>
          <a:ln w="0">
            <a:noFill/>
          </a:ln>
        </p:spPr>
        <p:txBody>
          <a:bodyPr/>
          <a:lstStyle/>
          <a:p>
            <a:endParaRPr lang="zh-CN" altLang="en-US"/>
          </a:p>
        </p:txBody>
      </p:sp>
      <p:sp>
        <p:nvSpPr>
          <p:cNvPr id="10" name="p0-34">
            <a:extLst>
              <a:ext uri="{FF2B5EF4-FFF2-40B4-BE49-F238E27FC236}">
                <a16:creationId xmlns:a16="http://schemas.microsoft.com/office/drawing/2014/main" id="{91563D2E-0CA7-471D-BD62-A01510594F40}"/>
              </a:ext>
            </a:extLst>
          </p:cNvPr>
          <p:cNvSpPr>
            <a:spLocks noGrp="1"/>
          </p:cNvSpPr>
          <p:nvPr/>
        </p:nvSpPr>
        <p:spPr>
          <a:xfrm>
            <a:off x="619125" y="2105025"/>
            <a:ext cx="1704975" cy="695325"/>
          </a:xfrm>
          <a:prstGeom prst="rect">
            <a:avLst/>
          </a:prstGeom>
          <a:noFill/>
          <a:ln w="0">
            <a:noFill/>
          </a:ln>
        </p:spPr>
        <p:txBody>
          <a:bodyPr lIns="0" tIns="0" rIns="0" bIns="0" anchor="ctr">
            <a:noAutofit/>
          </a:bodyPr>
          <a:lstStyle>
            <a:defPPr algn="ctr">
              <a:defRPr sz="1950" b="1">
                <a:solidFill>
                  <a:srgbClr val="1B1D63"/>
                </a:solidFill>
                <a:latin typeface="Arial"/>
                <a:ea typeface="Arial"/>
                <a:cs typeface="Arial"/>
              </a:defRPr>
            </a:defPPr>
          </a:lstStyle>
          <a:p>
            <a:pPr algn="ctr">
              <a:defRPr sz="1950" b="1">
                <a:solidFill>
                  <a:srgbClr val="1B1D63"/>
                </a:solidFill>
                <a:latin typeface="Arial"/>
                <a:ea typeface="Arial"/>
                <a:cs typeface="Arial"/>
              </a:defRPr>
            </a:pPr>
            <a:r>
              <a:rPr sz="1950" b="1">
                <a:solidFill>
                  <a:srgbClr val="1B1D63"/>
                </a:solidFill>
                <a:latin typeface="Arial"/>
                <a:ea typeface="Arial"/>
                <a:cs typeface="Arial"/>
              </a:rPr>
              <a:t>Joint input</a:t>
            </a:r>
          </a:p>
        </p:txBody>
      </p:sp>
      <p:sp>
        <p:nvSpPr>
          <p:cNvPr id="11" name="p0-35">
            <a:extLst>
              <a:ext uri="{FF2B5EF4-FFF2-40B4-BE49-F238E27FC236}">
                <a16:creationId xmlns:a16="http://schemas.microsoft.com/office/drawing/2014/main" id="{1A1A6A81-8AFB-487B-AA4C-5BBAD3F8FB19}"/>
              </a:ext>
            </a:extLst>
          </p:cNvPr>
          <p:cNvSpPr>
            <a:spLocks noGrp="1"/>
          </p:cNvSpPr>
          <p:nvPr/>
        </p:nvSpPr>
        <p:spPr>
          <a:xfrm>
            <a:off x="495300" y="3000375"/>
            <a:ext cx="1952625" cy="314325"/>
          </a:xfrm>
          <a:prstGeom prst="rect">
            <a:avLst/>
          </a:prstGeom>
          <a:noFill/>
          <a:ln w="0">
            <a:noFill/>
          </a:ln>
        </p:spPr>
        <p:txBody>
          <a:bodyPr lIns="0" tIns="0" rIns="0" bIns="0" anchor="ctr">
            <a:noAutofit/>
          </a:bodyPr>
          <a:lstStyle>
            <a:defPPr algn="ctr">
              <a:defRPr sz="1275" b="0">
                <a:solidFill>
                  <a:srgbClr val="697386"/>
                </a:solidFill>
                <a:latin typeface="Arial"/>
                <a:ea typeface="Arial"/>
                <a:cs typeface="Arial"/>
              </a:defRPr>
            </a:defPPr>
          </a:lstStyle>
          <a:p>
            <a:pPr algn="ctr">
              <a:defRPr sz="1275" b="0">
                <a:solidFill>
                  <a:srgbClr val="697386"/>
                </a:solidFill>
                <a:latin typeface="Arial"/>
                <a:ea typeface="Arial"/>
                <a:cs typeface="Arial"/>
              </a:defRPr>
            </a:pPr>
            <a:r>
              <a:rPr sz="1275" b="0">
                <a:solidFill>
                  <a:srgbClr val="697386"/>
                </a:solidFill>
                <a:latin typeface="Arial"/>
                <a:ea typeface="Arial"/>
                <a:cs typeface="Arial"/>
              </a:rPr>
              <a:t>[B, 3, 64, 24, 2]</a:t>
            </a:r>
          </a:p>
        </p:txBody>
      </p:sp>
      <p:sp>
        <p:nvSpPr>
          <p:cNvPr id="12" name="p0-36">
            <a:extLst>
              <a:ext uri="{FF2B5EF4-FFF2-40B4-BE49-F238E27FC236}">
                <a16:creationId xmlns:a16="http://schemas.microsoft.com/office/drawing/2014/main" id="{48C3199D-3384-4ABD-9564-FB5DF2AD1D04}"/>
              </a:ext>
            </a:extLst>
          </p:cNvPr>
          <p:cNvSpPr>
            <a:spLocks noGrp="1"/>
          </p:cNvSpPr>
          <p:nvPr/>
        </p:nvSpPr>
        <p:spPr>
          <a:xfrm>
            <a:off x="2562225" y="2362200"/>
            <a:ext cx="333375" cy="190500"/>
          </a:xfrm>
          <a:prstGeom prst="rightArrow">
            <a:avLst/>
          </a:prstGeom>
          <a:solidFill>
            <a:srgbClr val="697386"/>
          </a:solidFill>
          <a:ln w="0">
            <a:noFill/>
          </a:ln>
        </p:spPr>
        <p:txBody>
          <a:bodyPr/>
          <a:lstStyle/>
          <a:p>
            <a:endParaRPr lang="zh-CN" altLang="en-US"/>
          </a:p>
        </p:txBody>
      </p:sp>
      <p:sp>
        <p:nvSpPr>
          <p:cNvPr id="13" name="p0-37">
            <a:extLst>
              <a:ext uri="{FF2B5EF4-FFF2-40B4-BE49-F238E27FC236}">
                <a16:creationId xmlns:a16="http://schemas.microsoft.com/office/drawing/2014/main" id="{037FD782-3621-4F03-8283-C72D0FD33316}"/>
              </a:ext>
            </a:extLst>
          </p:cNvPr>
          <p:cNvSpPr>
            <a:spLocks noGrp="1"/>
          </p:cNvSpPr>
          <p:nvPr/>
        </p:nvSpPr>
        <p:spPr>
          <a:xfrm>
            <a:off x="3038475" y="1971675"/>
            <a:ext cx="2676525" cy="1000125"/>
          </a:xfrm>
          <a:prstGeom prst="roundRect">
            <a:avLst>
              <a:gd name="adj" fmla="val 15238"/>
            </a:avLst>
          </a:prstGeom>
          <a:solidFill>
            <a:srgbClr val="E9EDF8"/>
          </a:solidFill>
          <a:ln w="0">
            <a:noFill/>
          </a:ln>
        </p:spPr>
        <p:txBody>
          <a:bodyPr/>
          <a:lstStyle/>
          <a:p>
            <a:endParaRPr lang="zh-CN" altLang="en-US"/>
          </a:p>
        </p:txBody>
      </p:sp>
      <p:sp>
        <p:nvSpPr>
          <p:cNvPr id="14" name="p0-38">
            <a:extLst>
              <a:ext uri="{FF2B5EF4-FFF2-40B4-BE49-F238E27FC236}">
                <a16:creationId xmlns:a16="http://schemas.microsoft.com/office/drawing/2014/main" id="{26BE0F28-8F36-4FEA-AFDB-26400345319A}"/>
              </a:ext>
            </a:extLst>
          </p:cNvPr>
          <p:cNvSpPr>
            <a:spLocks noGrp="1"/>
          </p:cNvSpPr>
          <p:nvPr/>
        </p:nvSpPr>
        <p:spPr>
          <a:xfrm>
            <a:off x="3162300" y="2019300"/>
            <a:ext cx="2428875" cy="904875"/>
          </a:xfrm>
          <a:prstGeom prst="rect">
            <a:avLst/>
          </a:prstGeom>
          <a:noFill/>
          <a:ln w="0">
            <a:noFill/>
          </a:ln>
        </p:spPr>
        <p:txBody>
          <a:bodyPr lIns="0" tIns="0" rIns="0" bIns="0" anchor="ctr">
            <a:noAutofit/>
          </a:bodyPr>
          <a:lstStyle>
            <a:defPPr algn="ctr">
              <a:defRPr sz="1875" b="1">
                <a:solidFill>
                  <a:srgbClr val="1B1D63"/>
                </a:solidFill>
                <a:latin typeface="Arial"/>
                <a:ea typeface="Arial"/>
                <a:cs typeface="Arial"/>
              </a:defRPr>
            </a:defPPr>
          </a:lstStyle>
          <a:p>
            <a:pPr algn="ctr">
              <a:defRPr sz="1875" b="1">
                <a:solidFill>
                  <a:srgbClr val="1B1D63"/>
                </a:solidFill>
                <a:latin typeface="Arial"/>
                <a:ea typeface="Arial"/>
                <a:cs typeface="Arial"/>
              </a:defRPr>
            </a:pPr>
            <a:r>
              <a:rPr sz="1875" b="1">
                <a:solidFill>
                  <a:srgbClr val="1B1D63"/>
                </a:solidFill>
                <a:latin typeface="Arial"/>
                <a:ea typeface="Arial"/>
                <a:cs typeface="Arial"/>
              </a:rPr>
              <a:t>SkateFormer</a:t>
            </a:r>
          </a:p>
          <a:p>
            <a:pPr algn="ctr">
              <a:defRPr sz="1875" b="1">
                <a:solidFill>
                  <a:srgbClr val="1B1D63"/>
                </a:solidFill>
                <a:latin typeface="Arial"/>
                <a:ea typeface="Arial"/>
                <a:cs typeface="Arial"/>
              </a:defRPr>
            </a:pPr>
            <a:r>
              <a:rPr sz="1875" b="1">
                <a:solidFill>
                  <a:srgbClr val="1B1D63"/>
                </a:solidFill>
                <a:latin typeface="Arial"/>
                <a:ea typeface="Arial"/>
                <a:cs typeface="Arial"/>
              </a:rPr>
              <a:t>backbone</a:t>
            </a:r>
          </a:p>
        </p:txBody>
      </p:sp>
      <p:sp>
        <p:nvSpPr>
          <p:cNvPr id="15" name="p0-39">
            <a:extLst>
              <a:ext uri="{FF2B5EF4-FFF2-40B4-BE49-F238E27FC236}">
                <a16:creationId xmlns:a16="http://schemas.microsoft.com/office/drawing/2014/main" id="{8EF7C046-7277-498A-A7FD-EF71699A4F1B}"/>
              </a:ext>
            </a:extLst>
          </p:cNvPr>
          <p:cNvSpPr>
            <a:spLocks noGrp="1"/>
          </p:cNvSpPr>
          <p:nvPr/>
        </p:nvSpPr>
        <p:spPr>
          <a:xfrm>
            <a:off x="3038475" y="3114675"/>
            <a:ext cx="2676525" cy="581025"/>
          </a:xfrm>
          <a:prstGeom prst="rect">
            <a:avLst/>
          </a:prstGeom>
          <a:noFill/>
          <a:ln w="0">
            <a:noFill/>
          </a:ln>
        </p:spPr>
        <p:txBody>
          <a:bodyPr lIns="0" tIns="0" rIns="0" bIns="0" anchor="ctr">
            <a:noAutofit/>
          </a:bodyPr>
          <a:lstStyle>
            <a:defPPr algn="ctr">
              <a:defRPr sz="1350" b="0">
                <a:solidFill>
                  <a:srgbClr val="697386"/>
                </a:solidFill>
                <a:latin typeface="Arial"/>
                <a:ea typeface="Arial"/>
                <a:cs typeface="Arial"/>
              </a:defRPr>
            </a:defPPr>
          </a:lstStyle>
          <a:p>
            <a:pPr algn="ctr">
              <a:defRPr sz="1350" b="0">
                <a:solidFill>
                  <a:srgbClr val="697386"/>
                </a:solidFill>
                <a:latin typeface="Arial"/>
                <a:ea typeface="Arial"/>
                <a:cs typeface="Arial"/>
              </a:defRPr>
            </a:pPr>
            <a:r>
              <a:rPr sz="1350" b="0">
                <a:solidFill>
                  <a:srgbClr val="697386"/>
                </a:solidFill>
                <a:latin typeface="Arial"/>
                <a:ea typeface="Arial"/>
                <a:cs typeface="Arial"/>
              </a:rPr>
              <a:t>192 channels · 8 time positions</a:t>
            </a:r>
          </a:p>
          <a:p>
            <a:pPr algn="ctr">
              <a:defRPr sz="1350" b="0">
                <a:solidFill>
                  <a:srgbClr val="697386"/>
                </a:solidFill>
                <a:latin typeface="Arial"/>
                <a:ea typeface="Arial"/>
                <a:cs typeface="Arial"/>
              </a:defRPr>
            </a:pPr>
            <a:r>
              <a:rPr sz="1350" b="0">
                <a:solidFill>
                  <a:srgbClr val="697386"/>
                </a:solidFill>
                <a:latin typeface="Arial"/>
                <a:ea typeface="Arial"/>
                <a:cs typeface="Arial"/>
              </a:rPr>
              <a:t>48 indexed joint-person positions</a:t>
            </a:r>
          </a:p>
        </p:txBody>
      </p:sp>
      <p:sp>
        <p:nvSpPr>
          <p:cNvPr id="16" name="p0-40">
            <a:extLst>
              <a:ext uri="{FF2B5EF4-FFF2-40B4-BE49-F238E27FC236}">
                <a16:creationId xmlns:a16="http://schemas.microsoft.com/office/drawing/2014/main" id="{0B56274A-DAED-45B3-BBA4-4539B9BB3698}"/>
              </a:ext>
            </a:extLst>
          </p:cNvPr>
          <p:cNvSpPr>
            <a:spLocks noGrp="1"/>
          </p:cNvSpPr>
          <p:nvPr/>
        </p:nvSpPr>
        <p:spPr>
          <a:xfrm>
            <a:off x="5810250" y="2362200"/>
            <a:ext cx="342900" cy="190500"/>
          </a:xfrm>
          <a:prstGeom prst="rightArrow">
            <a:avLst/>
          </a:prstGeom>
          <a:solidFill>
            <a:srgbClr val="697386"/>
          </a:solidFill>
          <a:ln w="0">
            <a:noFill/>
          </a:ln>
        </p:spPr>
        <p:txBody>
          <a:bodyPr/>
          <a:lstStyle/>
          <a:p>
            <a:endParaRPr lang="zh-CN" altLang="en-US"/>
          </a:p>
        </p:txBody>
      </p:sp>
      <p:sp>
        <p:nvSpPr>
          <p:cNvPr id="17" name="p0-41">
            <a:extLst>
              <a:ext uri="{FF2B5EF4-FFF2-40B4-BE49-F238E27FC236}">
                <a16:creationId xmlns:a16="http://schemas.microsoft.com/office/drawing/2014/main" id="{6155F847-856D-424D-A8AD-E545D89939FD}"/>
              </a:ext>
            </a:extLst>
          </p:cNvPr>
          <p:cNvSpPr>
            <a:spLocks noGrp="1"/>
          </p:cNvSpPr>
          <p:nvPr/>
        </p:nvSpPr>
        <p:spPr>
          <a:xfrm>
            <a:off x="6343650" y="1752600"/>
            <a:ext cx="1581150" cy="619125"/>
          </a:xfrm>
          <a:prstGeom prst="roundRect">
            <a:avLst>
              <a:gd name="adj" fmla="val 24615"/>
            </a:avLst>
          </a:prstGeom>
          <a:solidFill>
            <a:srgbClr val="E9EDF8"/>
          </a:solidFill>
          <a:ln w="0">
            <a:noFill/>
          </a:ln>
        </p:spPr>
        <p:txBody>
          <a:bodyPr/>
          <a:lstStyle/>
          <a:p>
            <a:endParaRPr lang="zh-CN" altLang="en-US"/>
          </a:p>
        </p:txBody>
      </p:sp>
      <p:sp>
        <p:nvSpPr>
          <p:cNvPr id="18" name="p0-42">
            <a:extLst>
              <a:ext uri="{FF2B5EF4-FFF2-40B4-BE49-F238E27FC236}">
                <a16:creationId xmlns:a16="http://schemas.microsoft.com/office/drawing/2014/main" id="{63AA80AE-C7D5-4E1D-8BA7-E63855BF8979}"/>
              </a:ext>
            </a:extLst>
          </p:cNvPr>
          <p:cNvSpPr>
            <a:spLocks noGrp="1"/>
          </p:cNvSpPr>
          <p:nvPr/>
        </p:nvSpPr>
        <p:spPr>
          <a:xfrm>
            <a:off x="6467475" y="1800225"/>
            <a:ext cx="1333500" cy="523875"/>
          </a:xfrm>
          <a:prstGeom prst="rect">
            <a:avLst/>
          </a:prstGeom>
          <a:noFill/>
          <a:ln w="0">
            <a:noFill/>
          </a:ln>
        </p:spPr>
        <p:txBody>
          <a:bodyPr lIns="0" tIns="0" rIns="0" bIns="0" anchor="ctr">
            <a:noAutofit/>
          </a:bodyPr>
          <a:lstStyle>
            <a:defPPr algn="ctr">
              <a:defRPr sz="1950" b="1">
                <a:solidFill>
                  <a:srgbClr val="1B1D63"/>
                </a:solidFill>
                <a:latin typeface="Arial"/>
                <a:ea typeface="Arial"/>
                <a:cs typeface="Arial"/>
              </a:defRPr>
            </a:defPPr>
          </a:lstStyle>
          <a:p>
            <a:pPr algn="ctr">
              <a:defRPr sz="1950" b="1">
                <a:solidFill>
                  <a:srgbClr val="1B1D63"/>
                </a:solidFill>
                <a:latin typeface="Arial"/>
                <a:ea typeface="Arial"/>
                <a:cs typeface="Arial"/>
              </a:defRPr>
            </a:pPr>
            <a:r>
              <a:rPr sz="1950" b="1">
                <a:solidFill>
                  <a:srgbClr val="1B1D63"/>
                </a:solidFill>
                <a:latin typeface="Arial"/>
                <a:ea typeface="Arial"/>
                <a:cs typeface="Arial"/>
              </a:rPr>
              <a:t>h_A(t)</a:t>
            </a:r>
          </a:p>
        </p:txBody>
      </p:sp>
      <p:sp>
        <p:nvSpPr>
          <p:cNvPr id="19" name="p0-43">
            <a:extLst>
              <a:ext uri="{FF2B5EF4-FFF2-40B4-BE49-F238E27FC236}">
                <a16:creationId xmlns:a16="http://schemas.microsoft.com/office/drawing/2014/main" id="{8DD32BC9-085E-4850-98E7-E11490A21400}"/>
              </a:ext>
            </a:extLst>
          </p:cNvPr>
          <p:cNvSpPr>
            <a:spLocks noGrp="1"/>
          </p:cNvSpPr>
          <p:nvPr/>
        </p:nvSpPr>
        <p:spPr>
          <a:xfrm>
            <a:off x="6343650" y="2771775"/>
            <a:ext cx="1581150" cy="619125"/>
          </a:xfrm>
          <a:prstGeom prst="roundRect">
            <a:avLst>
              <a:gd name="adj" fmla="val 24615"/>
            </a:avLst>
          </a:prstGeom>
          <a:solidFill>
            <a:srgbClr val="E6F6F4"/>
          </a:solidFill>
          <a:ln w="0">
            <a:noFill/>
          </a:ln>
        </p:spPr>
        <p:txBody>
          <a:bodyPr/>
          <a:lstStyle/>
          <a:p>
            <a:endParaRPr lang="zh-CN" altLang="en-US"/>
          </a:p>
        </p:txBody>
      </p:sp>
      <p:sp>
        <p:nvSpPr>
          <p:cNvPr id="20" name="p0-44">
            <a:extLst>
              <a:ext uri="{FF2B5EF4-FFF2-40B4-BE49-F238E27FC236}">
                <a16:creationId xmlns:a16="http://schemas.microsoft.com/office/drawing/2014/main" id="{66D1986E-BF9C-4DFF-98E3-9582FF068E96}"/>
              </a:ext>
            </a:extLst>
          </p:cNvPr>
          <p:cNvSpPr>
            <a:spLocks noGrp="1"/>
          </p:cNvSpPr>
          <p:nvPr/>
        </p:nvSpPr>
        <p:spPr>
          <a:xfrm>
            <a:off x="6467475" y="2819400"/>
            <a:ext cx="1333500" cy="523875"/>
          </a:xfrm>
          <a:prstGeom prst="rect">
            <a:avLst/>
          </a:prstGeom>
          <a:noFill/>
          <a:ln w="0">
            <a:noFill/>
          </a:ln>
        </p:spPr>
        <p:txBody>
          <a:bodyPr lIns="0" tIns="0" rIns="0" bIns="0" anchor="ctr">
            <a:noAutofit/>
          </a:bodyPr>
          <a:lstStyle>
            <a:defPPr algn="ctr">
              <a:defRPr sz="1950" b="1">
                <a:solidFill>
                  <a:srgbClr val="38AFA2"/>
                </a:solidFill>
                <a:latin typeface="Arial"/>
                <a:ea typeface="Arial"/>
                <a:cs typeface="Arial"/>
              </a:defRPr>
            </a:defPPr>
          </a:lstStyle>
          <a:p>
            <a:pPr algn="ctr">
              <a:defRPr sz="1950" b="1">
                <a:solidFill>
                  <a:srgbClr val="38AFA2"/>
                </a:solidFill>
                <a:latin typeface="Arial"/>
                <a:ea typeface="Arial"/>
                <a:cs typeface="Arial"/>
              </a:defRPr>
            </a:pPr>
            <a:r>
              <a:rPr sz="1950" b="1">
                <a:solidFill>
                  <a:srgbClr val="38AFA2"/>
                </a:solidFill>
                <a:latin typeface="Arial"/>
                <a:ea typeface="Arial"/>
                <a:cs typeface="Arial"/>
              </a:rPr>
              <a:t>h_B(t)</a:t>
            </a:r>
          </a:p>
        </p:txBody>
      </p:sp>
      <p:sp>
        <p:nvSpPr>
          <p:cNvPr id="21" name="p0-line-45">
            <a:extLst>
              <a:ext uri="{FF2B5EF4-FFF2-40B4-BE49-F238E27FC236}">
                <a16:creationId xmlns:a16="http://schemas.microsoft.com/office/drawing/2014/main" id="{FACCD155-5AC7-485E-8625-1F6E239B9215}"/>
              </a:ext>
            </a:extLst>
          </p:cNvPr>
          <p:cNvSpPr>
            <a:spLocks noGrp="1"/>
          </p:cNvSpPr>
          <p:nvPr/>
        </p:nvSpPr>
        <p:spPr>
          <a:xfrm>
            <a:off x="7924800" y="2057400"/>
            <a:ext cx="266700" cy="953"/>
          </a:xfrm>
          <a:prstGeom prst="line">
            <a:avLst/>
          </a:prstGeom>
          <a:noFill/>
          <a:ln w="19050">
            <a:solidFill>
              <a:srgbClr val="1B1D63"/>
            </a:solidFill>
          </a:ln>
        </p:spPr>
        <p:txBody>
          <a:bodyPr/>
          <a:lstStyle/>
          <a:p>
            <a:endParaRPr lang="zh-CN" altLang="en-US"/>
          </a:p>
        </p:txBody>
      </p:sp>
      <p:sp>
        <p:nvSpPr>
          <p:cNvPr id="22" name="p0-line-46">
            <a:extLst>
              <a:ext uri="{FF2B5EF4-FFF2-40B4-BE49-F238E27FC236}">
                <a16:creationId xmlns:a16="http://schemas.microsoft.com/office/drawing/2014/main" id="{5404AB19-0007-4CD3-8EFA-AF74797679A7}"/>
              </a:ext>
            </a:extLst>
          </p:cNvPr>
          <p:cNvSpPr>
            <a:spLocks noGrp="1"/>
          </p:cNvSpPr>
          <p:nvPr/>
        </p:nvSpPr>
        <p:spPr>
          <a:xfrm>
            <a:off x="7924800" y="3076575"/>
            <a:ext cx="266700" cy="953"/>
          </a:xfrm>
          <a:prstGeom prst="line">
            <a:avLst/>
          </a:prstGeom>
          <a:noFill/>
          <a:ln w="19050">
            <a:solidFill>
              <a:srgbClr val="38AFA2"/>
            </a:solidFill>
          </a:ln>
        </p:spPr>
        <p:txBody>
          <a:bodyPr/>
          <a:lstStyle/>
          <a:p>
            <a:endParaRPr lang="zh-CN" altLang="en-US"/>
          </a:p>
        </p:txBody>
      </p:sp>
      <p:sp>
        <p:nvSpPr>
          <p:cNvPr id="23" name="p0-line-47">
            <a:extLst>
              <a:ext uri="{FF2B5EF4-FFF2-40B4-BE49-F238E27FC236}">
                <a16:creationId xmlns:a16="http://schemas.microsoft.com/office/drawing/2014/main" id="{33310997-0D8A-40BC-BF85-B7D3C311E2AD}"/>
              </a:ext>
            </a:extLst>
          </p:cNvPr>
          <p:cNvSpPr>
            <a:spLocks noGrp="1"/>
          </p:cNvSpPr>
          <p:nvPr/>
        </p:nvSpPr>
        <p:spPr>
          <a:xfrm>
            <a:off x="8191500" y="2057400"/>
            <a:ext cx="953" cy="1019175"/>
          </a:xfrm>
          <a:prstGeom prst="line">
            <a:avLst/>
          </a:prstGeom>
          <a:noFill/>
          <a:ln w="19050">
            <a:solidFill>
              <a:srgbClr val="697386"/>
            </a:solidFill>
          </a:ln>
        </p:spPr>
        <p:txBody>
          <a:bodyPr/>
          <a:lstStyle/>
          <a:p>
            <a:endParaRPr lang="zh-CN" altLang="en-US"/>
          </a:p>
        </p:txBody>
      </p:sp>
      <p:sp>
        <p:nvSpPr>
          <p:cNvPr id="24" name="p0-48">
            <a:extLst>
              <a:ext uri="{FF2B5EF4-FFF2-40B4-BE49-F238E27FC236}">
                <a16:creationId xmlns:a16="http://schemas.microsoft.com/office/drawing/2014/main" id="{392A7512-C65C-4F5C-B71D-0C432B716A49}"/>
              </a:ext>
            </a:extLst>
          </p:cNvPr>
          <p:cNvSpPr>
            <a:spLocks noGrp="1"/>
          </p:cNvSpPr>
          <p:nvPr/>
        </p:nvSpPr>
        <p:spPr>
          <a:xfrm>
            <a:off x="8191500" y="2476500"/>
            <a:ext cx="352425" cy="171450"/>
          </a:xfrm>
          <a:prstGeom prst="rightArrow">
            <a:avLst/>
          </a:prstGeom>
          <a:solidFill>
            <a:srgbClr val="697386"/>
          </a:solidFill>
          <a:ln w="0">
            <a:noFill/>
          </a:ln>
        </p:spPr>
        <p:txBody>
          <a:bodyPr/>
          <a:lstStyle/>
          <a:p>
            <a:endParaRPr lang="zh-CN" altLang="en-US"/>
          </a:p>
        </p:txBody>
      </p:sp>
      <p:sp>
        <p:nvSpPr>
          <p:cNvPr id="25" name="p0-49">
            <a:extLst>
              <a:ext uri="{FF2B5EF4-FFF2-40B4-BE49-F238E27FC236}">
                <a16:creationId xmlns:a16="http://schemas.microsoft.com/office/drawing/2014/main" id="{970DCEAD-0A75-4366-BA45-764FC23266FE}"/>
              </a:ext>
            </a:extLst>
          </p:cNvPr>
          <p:cNvSpPr>
            <a:spLocks noGrp="1"/>
          </p:cNvSpPr>
          <p:nvPr/>
        </p:nvSpPr>
        <p:spPr>
          <a:xfrm>
            <a:off x="8696325" y="2209800"/>
            <a:ext cx="2790825" cy="790575"/>
          </a:xfrm>
          <a:prstGeom prst="roundRect">
            <a:avLst>
              <a:gd name="adj" fmla="val 19277"/>
            </a:avLst>
          </a:prstGeom>
          <a:solidFill>
            <a:srgbClr val="E9EDF8"/>
          </a:solidFill>
          <a:ln w="0">
            <a:noFill/>
          </a:ln>
        </p:spPr>
        <p:txBody>
          <a:bodyPr/>
          <a:lstStyle/>
          <a:p>
            <a:endParaRPr lang="zh-CN" altLang="en-US"/>
          </a:p>
        </p:txBody>
      </p:sp>
      <p:sp>
        <p:nvSpPr>
          <p:cNvPr id="26" name="p0-50">
            <a:extLst>
              <a:ext uri="{FF2B5EF4-FFF2-40B4-BE49-F238E27FC236}">
                <a16:creationId xmlns:a16="http://schemas.microsoft.com/office/drawing/2014/main" id="{E65A5FCC-2A10-40B7-9110-ED7132A19FA0}"/>
              </a:ext>
            </a:extLst>
          </p:cNvPr>
          <p:cNvSpPr>
            <a:spLocks noGrp="1"/>
          </p:cNvSpPr>
          <p:nvPr/>
        </p:nvSpPr>
        <p:spPr>
          <a:xfrm>
            <a:off x="8820150" y="2257425"/>
            <a:ext cx="2543175" cy="695325"/>
          </a:xfrm>
          <a:prstGeom prst="rect">
            <a:avLst/>
          </a:prstGeom>
          <a:noFill/>
          <a:ln w="0">
            <a:noFill/>
          </a:ln>
        </p:spPr>
        <p:txBody>
          <a:bodyPr lIns="0" tIns="0" rIns="0" bIns="0" anchor="ctr">
            <a:noAutofit/>
          </a:bodyPr>
          <a:lstStyle>
            <a:defPPr algn="ctr">
              <a:defRPr sz="1875" b="1">
                <a:solidFill>
                  <a:srgbClr val="1B1D63"/>
                </a:solidFill>
                <a:latin typeface="Arial"/>
                <a:ea typeface="Arial"/>
                <a:cs typeface="Arial"/>
              </a:defRPr>
            </a:defPPr>
          </a:lstStyle>
          <a:p>
            <a:pPr algn="ctr">
              <a:defRPr sz="1875" b="1">
                <a:solidFill>
                  <a:srgbClr val="1B1D63"/>
                </a:solidFill>
                <a:latin typeface="Arial"/>
                <a:ea typeface="Arial"/>
                <a:cs typeface="Arial"/>
              </a:defRPr>
            </a:pPr>
            <a:r>
              <a:rPr sz="1875" b="1">
                <a:solidFill>
                  <a:srgbClr val="1B1D63"/>
                </a:solidFill>
                <a:latin typeface="Arial"/>
                <a:ea typeface="Arial"/>
                <a:cs typeface="Arial"/>
              </a:rPr>
              <a:t>Original mean</a:t>
            </a:r>
          </a:p>
          <a:p>
            <a:pPr algn="ctr">
              <a:defRPr sz="1875" b="1">
                <a:solidFill>
                  <a:srgbClr val="1B1D63"/>
                </a:solidFill>
                <a:latin typeface="Arial"/>
                <a:ea typeface="Arial"/>
                <a:cs typeface="Arial"/>
              </a:defRPr>
            </a:pPr>
            <a:r>
              <a:rPr sz="1875" b="1">
                <a:solidFill>
                  <a:srgbClr val="1B1D63"/>
                </a:solidFill>
                <a:latin typeface="Arial"/>
                <a:ea typeface="Arial"/>
                <a:cs typeface="Arial"/>
              </a:rPr>
              <a:t>v_base</a:t>
            </a:r>
          </a:p>
        </p:txBody>
      </p:sp>
      <p:sp>
        <p:nvSpPr>
          <p:cNvPr id="27" name="p0-line-51">
            <a:extLst>
              <a:ext uri="{FF2B5EF4-FFF2-40B4-BE49-F238E27FC236}">
                <a16:creationId xmlns:a16="http://schemas.microsoft.com/office/drawing/2014/main" id="{CF85983B-6FD8-4E9D-B2A2-546F3AC4DC0D}"/>
              </a:ext>
            </a:extLst>
          </p:cNvPr>
          <p:cNvSpPr>
            <a:spLocks noGrp="1"/>
          </p:cNvSpPr>
          <p:nvPr/>
        </p:nvSpPr>
        <p:spPr>
          <a:xfrm>
            <a:off x="8191500" y="3076575"/>
            <a:ext cx="953" cy="609600"/>
          </a:xfrm>
          <a:prstGeom prst="line">
            <a:avLst/>
          </a:prstGeom>
          <a:noFill/>
          <a:ln w="19050">
            <a:solidFill>
              <a:srgbClr val="697386"/>
            </a:solidFill>
          </a:ln>
        </p:spPr>
        <p:txBody>
          <a:bodyPr/>
          <a:lstStyle/>
          <a:p>
            <a:endParaRPr lang="zh-CN" altLang="en-US"/>
          </a:p>
        </p:txBody>
      </p:sp>
      <p:sp>
        <p:nvSpPr>
          <p:cNvPr id="28" name="p0-52">
            <a:extLst>
              <a:ext uri="{FF2B5EF4-FFF2-40B4-BE49-F238E27FC236}">
                <a16:creationId xmlns:a16="http://schemas.microsoft.com/office/drawing/2014/main" id="{505D2F58-AA34-431C-A03B-91AB99B114E4}"/>
              </a:ext>
            </a:extLst>
          </p:cNvPr>
          <p:cNvSpPr>
            <a:spLocks noGrp="1"/>
          </p:cNvSpPr>
          <p:nvPr/>
        </p:nvSpPr>
        <p:spPr>
          <a:xfrm>
            <a:off x="8105775" y="3695700"/>
            <a:ext cx="171450" cy="180975"/>
          </a:xfrm>
          <a:prstGeom prst="downArrow">
            <a:avLst/>
          </a:prstGeom>
          <a:solidFill>
            <a:srgbClr val="697386"/>
          </a:solidFill>
          <a:ln w="0">
            <a:noFill/>
          </a:ln>
        </p:spPr>
        <p:txBody>
          <a:bodyPr/>
          <a:lstStyle/>
          <a:p>
            <a:endParaRPr lang="zh-CN" altLang="en-US"/>
          </a:p>
        </p:txBody>
      </p:sp>
      <p:sp>
        <p:nvSpPr>
          <p:cNvPr id="29" name="p0-53">
            <a:extLst>
              <a:ext uri="{FF2B5EF4-FFF2-40B4-BE49-F238E27FC236}">
                <a16:creationId xmlns:a16="http://schemas.microsoft.com/office/drawing/2014/main" id="{C47757C7-86B2-431E-AD58-AA1ECC7E641B}"/>
              </a:ext>
            </a:extLst>
          </p:cNvPr>
          <p:cNvSpPr>
            <a:spLocks noGrp="1"/>
          </p:cNvSpPr>
          <p:nvPr/>
        </p:nvSpPr>
        <p:spPr>
          <a:xfrm>
            <a:off x="7820025" y="3895725"/>
            <a:ext cx="2571750" cy="609600"/>
          </a:xfrm>
          <a:prstGeom prst="roundRect">
            <a:avLst>
              <a:gd name="adj" fmla="val 25000"/>
            </a:avLst>
          </a:prstGeom>
          <a:solidFill>
            <a:srgbClr val="FBE8EF"/>
          </a:solidFill>
          <a:ln w="0">
            <a:noFill/>
          </a:ln>
        </p:spPr>
        <p:txBody>
          <a:bodyPr/>
          <a:lstStyle/>
          <a:p>
            <a:endParaRPr lang="zh-CN" altLang="en-US"/>
          </a:p>
        </p:txBody>
      </p:sp>
      <p:sp>
        <p:nvSpPr>
          <p:cNvPr id="30" name="p0-54">
            <a:extLst>
              <a:ext uri="{FF2B5EF4-FFF2-40B4-BE49-F238E27FC236}">
                <a16:creationId xmlns:a16="http://schemas.microsoft.com/office/drawing/2014/main" id="{2EC82CD6-32D7-4440-9EF6-0E25689D5A89}"/>
              </a:ext>
            </a:extLst>
          </p:cNvPr>
          <p:cNvSpPr>
            <a:spLocks noGrp="1"/>
          </p:cNvSpPr>
          <p:nvPr/>
        </p:nvSpPr>
        <p:spPr>
          <a:xfrm>
            <a:off x="7943850" y="3943350"/>
            <a:ext cx="2324100" cy="514350"/>
          </a:xfrm>
          <a:prstGeom prst="rect">
            <a:avLst/>
          </a:prstGeom>
          <a:noFill/>
          <a:ln w="0">
            <a:noFill/>
          </a:ln>
        </p:spPr>
        <p:txBody>
          <a:bodyPr lIns="0" tIns="0" rIns="0" bIns="0" anchor="ctr">
            <a:noAutofit/>
          </a:bodyPr>
          <a:lstStyle>
            <a:defPPr algn="ctr">
              <a:defRPr sz="1800" b="1">
                <a:solidFill>
                  <a:srgbClr val="E31346"/>
                </a:solidFill>
                <a:latin typeface="Arial"/>
                <a:ea typeface="Arial"/>
                <a:cs typeface="Arial"/>
              </a:defRPr>
            </a:defPPr>
          </a:lstStyle>
          <a:p>
            <a:pPr algn="ctr">
              <a:defRPr sz="1800" b="1">
                <a:solidFill>
                  <a:srgbClr val="E31346"/>
                </a:solidFill>
                <a:latin typeface="Arial"/>
                <a:ea typeface="Arial"/>
                <a:cs typeface="Arial"/>
              </a:defRPr>
            </a:pPr>
            <a:r>
              <a:rPr sz="1800" b="1">
                <a:solidFill>
                  <a:srgbClr val="E31346"/>
                </a:solidFill>
                <a:latin typeface="Arial"/>
                <a:ea typeface="Arial"/>
                <a:cs typeface="Arial"/>
              </a:rPr>
              <a:t>Added residual Δv</a:t>
            </a:r>
          </a:p>
        </p:txBody>
      </p:sp>
      <p:sp>
        <p:nvSpPr>
          <p:cNvPr id="31" name="p0-55">
            <a:extLst>
              <a:ext uri="{FF2B5EF4-FFF2-40B4-BE49-F238E27FC236}">
                <a16:creationId xmlns:a16="http://schemas.microsoft.com/office/drawing/2014/main" id="{70572142-23F0-47AA-A45D-38EF3F64C42A}"/>
              </a:ext>
            </a:extLst>
          </p:cNvPr>
          <p:cNvSpPr>
            <a:spLocks noGrp="1"/>
          </p:cNvSpPr>
          <p:nvPr/>
        </p:nvSpPr>
        <p:spPr>
          <a:xfrm>
            <a:off x="10467975" y="4114800"/>
            <a:ext cx="219075" cy="171450"/>
          </a:xfrm>
          <a:prstGeom prst="rightArrow">
            <a:avLst/>
          </a:prstGeom>
          <a:solidFill>
            <a:srgbClr val="E31346"/>
          </a:solidFill>
          <a:ln w="0">
            <a:noFill/>
          </a:ln>
        </p:spPr>
        <p:txBody>
          <a:bodyPr/>
          <a:lstStyle/>
          <a:p>
            <a:endParaRPr lang="zh-CN" altLang="en-US"/>
          </a:p>
        </p:txBody>
      </p:sp>
      <p:sp>
        <p:nvSpPr>
          <p:cNvPr id="32" name="p0-56">
            <a:extLst>
              <a:ext uri="{FF2B5EF4-FFF2-40B4-BE49-F238E27FC236}">
                <a16:creationId xmlns:a16="http://schemas.microsoft.com/office/drawing/2014/main" id="{F13B7349-51F3-4CB1-BB23-9107DF242AC1}"/>
              </a:ext>
            </a:extLst>
          </p:cNvPr>
          <p:cNvSpPr>
            <a:spLocks noGrp="1"/>
          </p:cNvSpPr>
          <p:nvPr/>
        </p:nvSpPr>
        <p:spPr>
          <a:xfrm>
            <a:off x="10687050" y="3886200"/>
            <a:ext cx="561975" cy="628650"/>
          </a:xfrm>
          <a:prstGeom prst="rect">
            <a:avLst/>
          </a:prstGeom>
          <a:noFill/>
          <a:ln w="0">
            <a:noFill/>
          </a:ln>
        </p:spPr>
        <p:txBody>
          <a:bodyPr lIns="0" tIns="0" rIns="0" bIns="0" anchor="ctr">
            <a:noAutofit/>
          </a:bodyPr>
          <a:lstStyle>
            <a:defPPr algn="ctr">
              <a:defRPr sz="3225" b="1">
                <a:solidFill>
                  <a:srgbClr val="E31346"/>
                </a:solidFill>
                <a:latin typeface="Arial"/>
                <a:ea typeface="Arial"/>
                <a:cs typeface="Arial"/>
              </a:defRPr>
            </a:defPPr>
          </a:lstStyle>
          <a:p>
            <a:pPr algn="ctr">
              <a:defRPr sz="3225" b="1">
                <a:solidFill>
                  <a:srgbClr val="E31346"/>
                </a:solidFill>
                <a:latin typeface="Arial"/>
                <a:ea typeface="Arial"/>
                <a:cs typeface="Arial"/>
              </a:defRPr>
            </a:pPr>
            <a:r>
              <a:rPr sz="3225" b="1">
                <a:solidFill>
                  <a:srgbClr val="E31346"/>
                </a:solidFill>
                <a:latin typeface="Arial"/>
                <a:ea typeface="Arial"/>
                <a:cs typeface="Arial"/>
              </a:rPr>
              <a:t>+</a:t>
            </a:r>
          </a:p>
        </p:txBody>
      </p:sp>
      <p:sp>
        <p:nvSpPr>
          <p:cNvPr id="33" name="p0-line-57">
            <a:extLst>
              <a:ext uri="{FF2B5EF4-FFF2-40B4-BE49-F238E27FC236}">
                <a16:creationId xmlns:a16="http://schemas.microsoft.com/office/drawing/2014/main" id="{1D525B8E-3E22-41A7-A5ED-52E3444A2AB7}"/>
              </a:ext>
            </a:extLst>
          </p:cNvPr>
          <p:cNvSpPr>
            <a:spLocks noGrp="1"/>
          </p:cNvSpPr>
          <p:nvPr/>
        </p:nvSpPr>
        <p:spPr>
          <a:xfrm>
            <a:off x="10086975" y="3000375"/>
            <a:ext cx="876300" cy="953"/>
          </a:xfrm>
          <a:prstGeom prst="line">
            <a:avLst/>
          </a:prstGeom>
          <a:noFill/>
          <a:ln w="19050">
            <a:solidFill>
              <a:srgbClr val="697386"/>
            </a:solidFill>
          </a:ln>
        </p:spPr>
        <p:txBody>
          <a:bodyPr/>
          <a:lstStyle/>
          <a:p>
            <a:endParaRPr lang="zh-CN" altLang="en-US"/>
          </a:p>
        </p:txBody>
      </p:sp>
      <p:sp>
        <p:nvSpPr>
          <p:cNvPr id="34" name="p0-line-58">
            <a:extLst>
              <a:ext uri="{FF2B5EF4-FFF2-40B4-BE49-F238E27FC236}">
                <a16:creationId xmlns:a16="http://schemas.microsoft.com/office/drawing/2014/main" id="{545BF4D1-422C-43CC-8823-2BAAAFFA4DA2}"/>
              </a:ext>
            </a:extLst>
          </p:cNvPr>
          <p:cNvSpPr>
            <a:spLocks noGrp="1"/>
          </p:cNvSpPr>
          <p:nvPr/>
        </p:nvSpPr>
        <p:spPr>
          <a:xfrm>
            <a:off x="10963275" y="3000375"/>
            <a:ext cx="953" cy="866775"/>
          </a:xfrm>
          <a:prstGeom prst="line">
            <a:avLst/>
          </a:prstGeom>
          <a:noFill/>
          <a:ln w="19050">
            <a:solidFill>
              <a:srgbClr val="697386"/>
            </a:solidFill>
          </a:ln>
        </p:spPr>
        <p:txBody>
          <a:bodyPr/>
          <a:lstStyle/>
          <a:p>
            <a:endParaRPr lang="zh-CN" altLang="en-US"/>
          </a:p>
        </p:txBody>
      </p:sp>
      <p:sp>
        <p:nvSpPr>
          <p:cNvPr id="35" name="p0-59">
            <a:extLst>
              <a:ext uri="{FF2B5EF4-FFF2-40B4-BE49-F238E27FC236}">
                <a16:creationId xmlns:a16="http://schemas.microsoft.com/office/drawing/2014/main" id="{4A2CECD1-1465-4093-A98A-114C60F11F2C}"/>
              </a:ext>
            </a:extLst>
          </p:cNvPr>
          <p:cNvSpPr>
            <a:spLocks noGrp="1"/>
          </p:cNvSpPr>
          <p:nvPr/>
        </p:nvSpPr>
        <p:spPr>
          <a:xfrm>
            <a:off x="10877550" y="4524375"/>
            <a:ext cx="171450" cy="247650"/>
          </a:xfrm>
          <a:prstGeom prst="downArrow">
            <a:avLst/>
          </a:prstGeom>
          <a:solidFill>
            <a:srgbClr val="697386"/>
          </a:solidFill>
          <a:ln w="0">
            <a:noFill/>
          </a:ln>
        </p:spPr>
        <p:txBody>
          <a:bodyPr/>
          <a:lstStyle/>
          <a:p>
            <a:endParaRPr lang="zh-CN" altLang="en-US"/>
          </a:p>
        </p:txBody>
      </p:sp>
      <p:sp>
        <p:nvSpPr>
          <p:cNvPr id="36" name="p0-60">
            <a:extLst>
              <a:ext uri="{FF2B5EF4-FFF2-40B4-BE49-F238E27FC236}">
                <a16:creationId xmlns:a16="http://schemas.microsoft.com/office/drawing/2014/main" id="{87D3B6E8-6D2A-4512-8D7C-DE697ED53467}"/>
              </a:ext>
            </a:extLst>
          </p:cNvPr>
          <p:cNvSpPr>
            <a:spLocks noGrp="1"/>
          </p:cNvSpPr>
          <p:nvPr/>
        </p:nvSpPr>
        <p:spPr>
          <a:xfrm>
            <a:off x="9105900" y="4914900"/>
            <a:ext cx="2381250" cy="561975"/>
          </a:xfrm>
          <a:prstGeom prst="roundRect">
            <a:avLst>
              <a:gd name="adj" fmla="val 27119"/>
            </a:avLst>
          </a:prstGeom>
          <a:solidFill>
            <a:srgbClr val="1B1D63"/>
          </a:solidFill>
          <a:ln w="0">
            <a:noFill/>
          </a:ln>
        </p:spPr>
        <p:txBody>
          <a:bodyPr/>
          <a:lstStyle/>
          <a:p>
            <a:endParaRPr lang="zh-CN" altLang="en-US"/>
          </a:p>
        </p:txBody>
      </p:sp>
      <p:sp>
        <p:nvSpPr>
          <p:cNvPr id="37" name="p0-61">
            <a:extLst>
              <a:ext uri="{FF2B5EF4-FFF2-40B4-BE49-F238E27FC236}">
                <a16:creationId xmlns:a16="http://schemas.microsoft.com/office/drawing/2014/main" id="{A31852B8-B7AA-4DCD-A134-F4E5D378CF1D}"/>
              </a:ext>
            </a:extLst>
          </p:cNvPr>
          <p:cNvSpPr>
            <a:spLocks noGrp="1"/>
          </p:cNvSpPr>
          <p:nvPr/>
        </p:nvSpPr>
        <p:spPr>
          <a:xfrm>
            <a:off x="9229725" y="4962525"/>
            <a:ext cx="2133600" cy="466725"/>
          </a:xfrm>
          <a:prstGeom prst="rect">
            <a:avLst/>
          </a:prstGeom>
          <a:noFill/>
          <a:ln w="0">
            <a:noFill/>
          </a:ln>
        </p:spPr>
        <p:txBody>
          <a:bodyPr lIns="0" tIns="0" rIns="0" bIns="0" anchor="ctr">
            <a:noAutofit/>
          </a:bodyPr>
          <a:lstStyle>
            <a:defPPr algn="ctr">
              <a:defRPr sz="1725" b="1">
                <a:solidFill>
                  <a:srgbClr val="FFFFFF"/>
                </a:solidFill>
                <a:latin typeface="Arial"/>
                <a:ea typeface="Arial"/>
                <a:cs typeface="Arial"/>
              </a:defRPr>
            </a:def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Original classifier</a:t>
            </a:r>
          </a:p>
        </p:txBody>
      </p:sp>
      <p:sp>
        <p:nvSpPr>
          <p:cNvPr id="38" name="p0-62">
            <a:extLst>
              <a:ext uri="{FF2B5EF4-FFF2-40B4-BE49-F238E27FC236}">
                <a16:creationId xmlns:a16="http://schemas.microsoft.com/office/drawing/2014/main" id="{BD9479BA-58A6-41DE-B9AD-68D59A015879}"/>
              </a:ext>
            </a:extLst>
          </p:cNvPr>
          <p:cNvSpPr>
            <a:spLocks noGrp="1"/>
          </p:cNvSpPr>
          <p:nvPr/>
        </p:nvSpPr>
        <p:spPr>
          <a:xfrm>
            <a:off x="495300" y="4200525"/>
            <a:ext cx="6096000" cy="781050"/>
          </a:xfrm>
          <a:prstGeom prst="rect">
            <a:avLst/>
          </a:prstGeom>
          <a:noFill/>
          <a:ln w="0">
            <a:noFill/>
          </a:ln>
        </p:spPr>
        <p:txBody>
          <a:bodyPr lIns="0" tIns="0" rIns="0" bIns="0" anchor="ctr">
            <a:noAutofit/>
          </a:bodyPr>
          <a:lstStyle>
            <a:defPPr algn="l">
              <a:defRPr sz="2025" b="1">
                <a:solidFill>
                  <a:srgbClr val="1B1D63"/>
                </a:solidFill>
                <a:latin typeface="Arial"/>
                <a:ea typeface="Arial"/>
                <a:cs typeface="Arial"/>
              </a:defRPr>
            </a:defPPr>
          </a:lstStyle>
          <a:p>
            <a:pPr algn="l">
              <a:defRPr sz="2025" b="1">
                <a:solidFill>
                  <a:srgbClr val="1B1D63"/>
                </a:solidFill>
                <a:latin typeface="Arial"/>
                <a:ea typeface="Arial"/>
                <a:cs typeface="Arial"/>
              </a:defRPr>
            </a:pPr>
            <a:r>
              <a:rPr sz="2025" b="1">
                <a:solidFill>
                  <a:srgbClr val="1B1D63"/>
                </a:solidFill>
                <a:latin typeface="Arial"/>
                <a:ea typeface="Arial"/>
                <a:cs typeface="Arial"/>
              </a:rPr>
              <a:t>Same architecture scaffold</a:t>
            </a:r>
          </a:p>
          <a:p>
            <a:pPr algn="l">
              <a:defRPr sz="2025" b="1">
                <a:solidFill>
                  <a:srgbClr val="1B1D63"/>
                </a:solidFill>
                <a:latin typeface="Arial"/>
                <a:ea typeface="Arial"/>
                <a:cs typeface="Arial"/>
              </a:defRPr>
            </a:pPr>
            <a:r>
              <a:rPr sz="2025" b="1">
                <a:solidFill>
                  <a:srgbClr val="1B1D63"/>
                </a:solidFill>
                <a:latin typeface="Arial"/>
                <a:ea typeface="Arial"/>
                <a:cs typeface="Arial"/>
              </a:rPr>
              <a:t>Original pooling path remains</a:t>
            </a:r>
          </a:p>
        </p:txBody>
      </p:sp>
      <p:sp>
        <p:nvSpPr>
          <p:cNvPr id="39" name="p0-63">
            <a:extLst>
              <a:ext uri="{FF2B5EF4-FFF2-40B4-BE49-F238E27FC236}">
                <a16:creationId xmlns:a16="http://schemas.microsoft.com/office/drawing/2014/main" id="{04EBF49B-8E83-40EC-A4CF-D807D7FB4229}"/>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40" name="p0-64">
            <a:extLst>
              <a:ext uri="{FF2B5EF4-FFF2-40B4-BE49-F238E27FC236}">
                <a16:creationId xmlns:a16="http://schemas.microsoft.com/office/drawing/2014/main" id="{3171E032-C9C8-477E-852E-EA9E624E7472}"/>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Add person-related evidence without replacing the backbone or classifier</a:t>
            </a:r>
          </a:p>
        </p:txBody>
      </p:sp>
    </p:spTree>
    <p:extLst>
      <p:ext uri="{BB962C8B-B14F-4D97-AF65-F5344CB8AC3E}">
        <p14:creationId xmlns:p14="http://schemas.microsoft.com/office/powerpoint/2010/main" val="1089505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 name="p0-65">
            <a:extLst>
              <a:ext uri="{FF2B5EF4-FFF2-40B4-BE49-F238E27FC236}">
                <a16:creationId xmlns:a16="http://schemas.microsoft.com/office/drawing/2014/main" id="{2533C1B9-EFBA-457D-847E-0208B2C1C46E}"/>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p0-66">
            <a:extLst>
              <a:ext uri="{FF2B5EF4-FFF2-40B4-BE49-F238E27FC236}">
                <a16:creationId xmlns:a16="http://schemas.microsoft.com/office/drawing/2014/main" id="{A0FEFB1E-EE2E-43E6-8784-A4F58AA10DA8}"/>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3" name="p0-67">
            <a:extLst>
              <a:ext uri="{FF2B5EF4-FFF2-40B4-BE49-F238E27FC236}">
                <a16:creationId xmlns:a16="http://schemas.microsoft.com/office/drawing/2014/main" id="{85251FD6-BE4A-426D-AEFE-6DA4C5F4A23C}"/>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50" b="1">
                <a:solidFill>
                  <a:srgbClr val="1B1D63"/>
                </a:solidFill>
                <a:latin typeface="Arial"/>
                <a:ea typeface="Arial"/>
                <a:cs typeface="Arial"/>
              </a:defRPr>
            </a:defPPr>
          </a:lstStyle>
          <a:p>
            <a:pPr algn="l">
              <a:defRPr sz="2550" b="1">
                <a:solidFill>
                  <a:srgbClr val="1B1D63"/>
                </a:solidFill>
                <a:latin typeface="Arial"/>
                <a:ea typeface="Arial"/>
                <a:cs typeface="Arial"/>
              </a:defRPr>
            </a:pPr>
            <a:r>
              <a:rPr sz="2550" b="1">
                <a:solidFill>
                  <a:srgbClr val="1B1D63"/>
                </a:solidFill>
                <a:latin typeface="Arial"/>
                <a:ea typeface="Arial"/>
                <a:cs typeface="Arial"/>
              </a:rPr>
              <a:t>Four Readouts · One Controlled Comparison</a:t>
            </a:r>
          </a:p>
        </p:txBody>
      </p:sp>
      <p:sp>
        <p:nvSpPr>
          <p:cNvPr id="4" name="p0-68">
            <a:extLst>
              <a:ext uri="{FF2B5EF4-FFF2-40B4-BE49-F238E27FC236}">
                <a16:creationId xmlns:a16="http://schemas.microsoft.com/office/drawing/2014/main" id="{593F5DFE-E829-4E7B-BA34-2262468C1C41}"/>
              </a:ext>
            </a:extLst>
          </p:cNvPr>
          <p:cNvSpPr>
            <a:spLocks noGrp="1"/>
          </p:cNvSpPr>
          <p:nvPr/>
        </p:nvSpPr>
        <p:spPr>
          <a:xfrm>
            <a:off x="590550" y="723900"/>
            <a:ext cx="7239000" cy="219075"/>
          </a:xfrm>
          <a:prstGeom prst="rect">
            <a:avLst/>
          </a:prstGeom>
          <a:noFill/>
          <a:ln w="0">
            <a:noFill/>
          </a:ln>
        </p:spPr>
        <p:txBody>
          <a:bodyPr lIns="0" tIns="0" rIns="0" bIns="0" anchor="ctr">
            <a:noAutofit/>
          </a:bodyPr>
          <a:lstStyle>
            <a:defPPr algn="l">
              <a:defRPr sz="900" b="1">
                <a:solidFill>
                  <a:srgbClr val="E31346"/>
                </a:solidFill>
                <a:latin typeface="Arial"/>
                <a:ea typeface="Arial"/>
                <a:cs typeface="Arial"/>
              </a:defRPr>
            </a:defPPr>
          </a:lstStyle>
          <a:p>
            <a:pPr algn="l">
              <a:defRPr sz="900" b="1">
                <a:solidFill>
                  <a:srgbClr val="E31346"/>
                </a:solidFill>
                <a:latin typeface="Arial"/>
                <a:ea typeface="Arial"/>
                <a:cs typeface="Arial"/>
              </a:defRPr>
            </a:pPr>
            <a:r>
              <a:rPr sz="900" b="1">
                <a:solidFill>
                  <a:srgbClr val="E31346"/>
                </a:solidFill>
                <a:latin typeface="Arial"/>
                <a:ea typeface="Arial"/>
                <a:cs typeface="Arial"/>
              </a:rPr>
              <a:t>EE6008 · HUMAN POSE GROUP PROJECT</a:t>
            </a:r>
          </a:p>
        </p:txBody>
      </p:sp>
      <p:sp>
        <p:nvSpPr>
          <p:cNvPr id="5" name="p0-69">
            <a:extLst>
              <a:ext uri="{FF2B5EF4-FFF2-40B4-BE49-F238E27FC236}">
                <a16:creationId xmlns:a16="http://schemas.microsoft.com/office/drawing/2014/main" id="{C66E5F97-24C4-4386-8620-C75BA2EE988A}"/>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pic>
        <p:nvPicPr>
          <p:cNvPr id="6" name="图片 5">
            <a:extLst>
              <a:ext uri="{FF2B5EF4-FFF2-40B4-BE49-F238E27FC236}">
                <a16:creationId xmlns:a16="http://schemas.microsoft.com/office/drawing/2014/main" id="{36BFC46C-22CC-4346-8E74-CEE1169C447E}"/>
              </a:ext>
            </a:extLst>
          </p:cNvPr>
          <p:cNvPicPr>
            <a:picLocks noChangeAspect="1"/>
          </p:cNvPicPr>
          <p:nvPr/>
        </p:nvPicPr>
        <p:blipFill>
          <a:blip r:embed="rId3"/>
          <a:stretch/>
        </p:blipFill>
        <p:spPr>
          <a:xfrm>
            <a:off x="9696450" y="191381"/>
            <a:ext cx="2038350" cy="731663"/>
          </a:xfrm>
          <a:prstGeom prst="rect">
            <a:avLst/>
          </a:prstGeom>
        </p:spPr>
      </p:pic>
      <p:sp>
        <p:nvSpPr>
          <p:cNvPr id="7" name="p0-70">
            <a:extLst>
              <a:ext uri="{FF2B5EF4-FFF2-40B4-BE49-F238E27FC236}">
                <a16:creationId xmlns:a16="http://schemas.microsoft.com/office/drawing/2014/main" id="{A959BB07-4288-488A-AC35-70221831F340}"/>
              </a:ext>
            </a:extLst>
          </p:cNvPr>
          <p:cNvSpPr>
            <a:spLocks noGrp="1"/>
          </p:cNvSpPr>
          <p:nvPr/>
        </p:nvSpPr>
        <p:spPr>
          <a:xfrm>
            <a:off x="590550" y="6591300"/>
            <a:ext cx="2857500" cy="219075"/>
          </a:xfrm>
          <a:prstGeom prst="rect">
            <a:avLst/>
          </a:prstGeom>
          <a:noFill/>
          <a:ln w="0">
            <a:noFill/>
          </a:ln>
        </p:spPr>
        <p:txBody>
          <a:bodyPr lIns="0" tIns="0" rIns="0" bIns="0" anchor="ctr">
            <a:noAutofit/>
          </a:bodyPr>
          <a:lstStyle>
            <a:defPPr algn="l">
              <a:defRPr sz="750" b="1">
                <a:solidFill>
                  <a:srgbClr val="FFFFFF"/>
                </a:solidFill>
                <a:latin typeface="Arial"/>
                <a:ea typeface="Arial"/>
                <a:cs typeface="Arial"/>
              </a:defRPr>
            </a:defP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p0-71">
            <a:extLst>
              <a:ext uri="{FF2B5EF4-FFF2-40B4-BE49-F238E27FC236}">
                <a16:creationId xmlns:a16="http://schemas.microsoft.com/office/drawing/2014/main" id="{940ADFCF-14CC-4041-8984-B94AF2F47785}"/>
              </a:ext>
            </a:extLst>
          </p:cNvPr>
          <p:cNvSpPr>
            <a:spLocks noGrp="1"/>
          </p:cNvSpPr>
          <p:nvPr/>
        </p:nvSpPr>
        <p:spPr>
          <a:xfrm>
            <a:off x="11049000" y="6591300"/>
            <a:ext cx="619125" cy="219075"/>
          </a:xfrm>
          <a:prstGeom prst="rect">
            <a:avLst/>
          </a:prstGeom>
          <a:noFill/>
          <a:ln w="0">
            <a:noFill/>
          </a:ln>
        </p:spPr>
        <p:txBody>
          <a:bodyPr lIns="0" tIns="0" rIns="0" bIns="0" anchor="ctr">
            <a:noAutofit/>
          </a:bodyPr>
          <a:lstStyle>
            <a:defPPr algn="r">
              <a:defRPr sz="750" b="1">
                <a:solidFill>
                  <a:srgbClr val="FFFFFF"/>
                </a:solidFill>
                <a:latin typeface="Arial"/>
                <a:ea typeface="Arial"/>
                <a:cs typeface="Arial"/>
              </a:defRPr>
            </a:defPPr>
          </a:lstStyle>
          <a:p>
            <a:pPr algn="r">
              <a:defRPr sz="750" b="1">
                <a:solidFill>
                  <a:srgbClr val="FFFFFF"/>
                </a:solidFill>
                <a:latin typeface="Arial"/>
                <a:ea typeface="Arial"/>
                <a:cs typeface="Arial"/>
              </a:defRPr>
            </a:pPr>
            <a:r>
              <a:rPr sz="750" b="1" dirty="0">
                <a:solidFill>
                  <a:srgbClr val="FFFFFF"/>
                </a:solidFill>
                <a:latin typeface="Arial"/>
                <a:ea typeface="Arial"/>
                <a:cs typeface="Arial"/>
              </a:rPr>
              <a:t>0</a:t>
            </a:r>
            <a:r>
              <a:rPr lang="en-US" sz="750" b="1" dirty="0">
                <a:solidFill>
                  <a:srgbClr val="FFFFFF"/>
                </a:solidFill>
                <a:latin typeface="Arial"/>
                <a:ea typeface="Arial"/>
                <a:cs typeface="Arial"/>
              </a:rPr>
              <a:t>5</a:t>
            </a:r>
            <a:endParaRPr sz="750" b="1" dirty="0">
              <a:solidFill>
                <a:srgbClr val="FFFFFF"/>
              </a:solidFill>
              <a:latin typeface="Arial"/>
              <a:ea typeface="Arial"/>
              <a:cs typeface="Arial"/>
            </a:endParaRPr>
          </a:p>
        </p:txBody>
      </p:sp>
      <p:sp>
        <p:nvSpPr>
          <p:cNvPr id="9" name="p0-72">
            <a:extLst>
              <a:ext uri="{FF2B5EF4-FFF2-40B4-BE49-F238E27FC236}">
                <a16:creationId xmlns:a16="http://schemas.microsoft.com/office/drawing/2014/main" id="{E071332E-E045-4ED2-991A-4FD3254FEC64}"/>
              </a:ext>
            </a:extLst>
          </p:cNvPr>
          <p:cNvSpPr>
            <a:spLocks noGrp="1"/>
          </p:cNvSpPr>
          <p:nvPr/>
        </p:nvSpPr>
        <p:spPr>
          <a:xfrm>
            <a:off x="495300" y="1438275"/>
            <a:ext cx="2590800" cy="4067175"/>
          </a:xfrm>
          <a:prstGeom prst="roundRect">
            <a:avLst>
              <a:gd name="adj" fmla="val 5882"/>
            </a:avLst>
          </a:prstGeom>
          <a:solidFill>
            <a:srgbClr val="FFFFFF"/>
          </a:solidFill>
          <a:ln w="11430">
            <a:solidFill>
              <a:srgbClr val="D9DDEA"/>
            </a:solidFill>
          </a:ln>
        </p:spPr>
        <p:txBody>
          <a:bodyPr/>
          <a:lstStyle/>
          <a:p>
            <a:endParaRPr lang="zh-CN" altLang="en-US"/>
          </a:p>
        </p:txBody>
      </p:sp>
      <p:sp>
        <p:nvSpPr>
          <p:cNvPr id="10" name="p0-73">
            <a:extLst>
              <a:ext uri="{FF2B5EF4-FFF2-40B4-BE49-F238E27FC236}">
                <a16:creationId xmlns:a16="http://schemas.microsoft.com/office/drawing/2014/main" id="{CEEE9546-F187-4E21-96F6-D8970246F072}"/>
              </a:ext>
            </a:extLst>
          </p:cNvPr>
          <p:cNvSpPr>
            <a:spLocks noGrp="1"/>
          </p:cNvSpPr>
          <p:nvPr/>
        </p:nvSpPr>
        <p:spPr>
          <a:xfrm>
            <a:off x="685800" y="1600200"/>
            <a:ext cx="2209800" cy="390525"/>
          </a:xfrm>
          <a:prstGeom prst="rect">
            <a:avLst/>
          </a:prstGeom>
          <a:noFill/>
          <a:ln w="0">
            <a:noFill/>
          </a:ln>
        </p:spPr>
        <p:txBody>
          <a:bodyPr lIns="0" tIns="0" rIns="0" bIns="0" anchor="ctr">
            <a:noAutofit/>
          </a:bodyPr>
          <a:lstStyle>
            <a:defPPr algn="l">
              <a:defRPr sz="2100" b="1">
                <a:solidFill>
                  <a:srgbClr val="1B1D63"/>
                </a:solidFill>
                <a:latin typeface="Arial"/>
                <a:ea typeface="Arial"/>
                <a:cs typeface="Arial"/>
              </a:defRPr>
            </a:defPPr>
          </a:lstStyle>
          <a:p>
            <a:pPr algn="l">
              <a:defRPr sz="2100" b="1">
                <a:solidFill>
                  <a:srgbClr val="1B1D63"/>
                </a:solidFill>
                <a:latin typeface="Arial"/>
                <a:ea typeface="Arial"/>
                <a:cs typeface="Arial"/>
              </a:defRPr>
            </a:pPr>
            <a:r>
              <a:rPr sz="2100" b="1">
                <a:solidFill>
                  <a:srgbClr val="1B1D63"/>
                </a:solidFill>
                <a:latin typeface="Arial"/>
                <a:ea typeface="Arial"/>
                <a:cs typeface="Arial"/>
              </a:rPr>
              <a:t>E0-FT</a:t>
            </a:r>
          </a:p>
        </p:txBody>
      </p:sp>
      <p:sp>
        <p:nvSpPr>
          <p:cNvPr id="11" name="p0-74">
            <a:extLst>
              <a:ext uri="{FF2B5EF4-FFF2-40B4-BE49-F238E27FC236}">
                <a16:creationId xmlns:a16="http://schemas.microsoft.com/office/drawing/2014/main" id="{2F1784FE-20A7-4080-9F0D-0CF995500CE3}"/>
              </a:ext>
            </a:extLst>
          </p:cNvPr>
          <p:cNvSpPr>
            <a:spLocks noGrp="1"/>
          </p:cNvSpPr>
          <p:nvPr/>
        </p:nvSpPr>
        <p:spPr>
          <a:xfrm>
            <a:off x="685800" y="2095500"/>
            <a:ext cx="2209800" cy="514350"/>
          </a:xfrm>
          <a:prstGeom prst="rect">
            <a:avLst/>
          </a:prstGeom>
          <a:noFill/>
          <a:ln w="0">
            <a:noFill/>
          </a:ln>
        </p:spPr>
        <p:txBody>
          <a:bodyPr lIns="0" tIns="0" rIns="0" bIns="0" anchor="ctr">
            <a:noAutofit/>
          </a:bodyPr>
          <a:lstStyle>
            <a:defPPr algn="l">
              <a:defRPr sz="1425" b="0">
                <a:solidFill>
                  <a:srgbClr val="697386"/>
                </a:solidFill>
                <a:latin typeface="Arial"/>
                <a:ea typeface="Arial"/>
                <a:cs typeface="Arial"/>
              </a:defRPr>
            </a:defPPr>
          </a:lstStyle>
          <a:p>
            <a:pPr algn="l">
              <a:defRPr sz="1425" b="0">
                <a:solidFill>
                  <a:srgbClr val="697386"/>
                </a:solidFill>
                <a:latin typeface="Arial"/>
                <a:ea typeface="Arial"/>
                <a:cs typeface="Arial"/>
              </a:defRPr>
            </a:pPr>
            <a:r>
              <a:rPr sz="1425" b="0">
                <a:solidFill>
                  <a:srgbClr val="697386"/>
                </a:solidFill>
                <a:latin typeface="Arial"/>
                <a:ea typeface="Arial"/>
                <a:cs typeface="Arial"/>
              </a:rPr>
              <a:t>Original readout</a:t>
            </a:r>
          </a:p>
        </p:txBody>
      </p:sp>
      <p:sp>
        <p:nvSpPr>
          <p:cNvPr id="12" name="p0-75">
            <a:extLst>
              <a:ext uri="{FF2B5EF4-FFF2-40B4-BE49-F238E27FC236}">
                <a16:creationId xmlns:a16="http://schemas.microsoft.com/office/drawing/2014/main" id="{643C46DF-3546-42BB-B02F-47FFD2D8BF18}"/>
              </a:ext>
            </a:extLst>
          </p:cNvPr>
          <p:cNvSpPr>
            <a:spLocks noGrp="1"/>
          </p:cNvSpPr>
          <p:nvPr/>
        </p:nvSpPr>
        <p:spPr>
          <a:xfrm>
            <a:off x="685800" y="2876550"/>
            <a:ext cx="942975" cy="409575"/>
          </a:xfrm>
          <a:prstGeom prst="roundRect">
            <a:avLst>
              <a:gd name="adj" fmla="val 37209"/>
            </a:avLst>
          </a:prstGeom>
          <a:solidFill>
            <a:srgbClr val="E9EDF8"/>
          </a:solidFill>
          <a:ln w="0">
            <a:noFill/>
          </a:ln>
        </p:spPr>
        <p:txBody>
          <a:bodyPr/>
          <a:lstStyle/>
          <a:p>
            <a:endParaRPr lang="zh-CN" altLang="en-US"/>
          </a:p>
        </p:txBody>
      </p:sp>
      <p:sp>
        <p:nvSpPr>
          <p:cNvPr id="13" name="p0-76">
            <a:extLst>
              <a:ext uri="{FF2B5EF4-FFF2-40B4-BE49-F238E27FC236}">
                <a16:creationId xmlns:a16="http://schemas.microsoft.com/office/drawing/2014/main" id="{5F77A9F0-3A50-488C-A137-FB71A221C2D4}"/>
              </a:ext>
            </a:extLst>
          </p:cNvPr>
          <p:cNvSpPr>
            <a:spLocks noGrp="1"/>
          </p:cNvSpPr>
          <p:nvPr/>
        </p:nvSpPr>
        <p:spPr>
          <a:xfrm>
            <a:off x="809625" y="2924175"/>
            <a:ext cx="695325" cy="314325"/>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A</a:t>
            </a:r>
          </a:p>
        </p:txBody>
      </p:sp>
      <p:sp>
        <p:nvSpPr>
          <p:cNvPr id="14" name="p0-77">
            <a:extLst>
              <a:ext uri="{FF2B5EF4-FFF2-40B4-BE49-F238E27FC236}">
                <a16:creationId xmlns:a16="http://schemas.microsoft.com/office/drawing/2014/main" id="{1CEE1BF7-5DDE-4BA1-A807-3E7F7445510C}"/>
              </a:ext>
            </a:extLst>
          </p:cNvPr>
          <p:cNvSpPr>
            <a:spLocks noGrp="1"/>
          </p:cNvSpPr>
          <p:nvPr/>
        </p:nvSpPr>
        <p:spPr>
          <a:xfrm>
            <a:off x="1885950" y="2876550"/>
            <a:ext cx="942975" cy="409575"/>
          </a:xfrm>
          <a:prstGeom prst="roundRect">
            <a:avLst>
              <a:gd name="adj" fmla="val 37209"/>
            </a:avLst>
          </a:prstGeom>
          <a:solidFill>
            <a:srgbClr val="E6F6F4"/>
          </a:solidFill>
          <a:ln w="0">
            <a:noFill/>
          </a:ln>
        </p:spPr>
        <p:txBody>
          <a:bodyPr/>
          <a:lstStyle/>
          <a:p>
            <a:endParaRPr lang="zh-CN" altLang="en-US"/>
          </a:p>
        </p:txBody>
      </p:sp>
      <p:sp>
        <p:nvSpPr>
          <p:cNvPr id="15" name="p0-78">
            <a:extLst>
              <a:ext uri="{FF2B5EF4-FFF2-40B4-BE49-F238E27FC236}">
                <a16:creationId xmlns:a16="http://schemas.microsoft.com/office/drawing/2014/main" id="{F575DE8D-5712-4C07-A160-F13BE38CCD9A}"/>
              </a:ext>
            </a:extLst>
          </p:cNvPr>
          <p:cNvSpPr>
            <a:spLocks noGrp="1"/>
          </p:cNvSpPr>
          <p:nvPr/>
        </p:nvSpPr>
        <p:spPr>
          <a:xfrm>
            <a:off x="2009775" y="2924175"/>
            <a:ext cx="695325" cy="314325"/>
          </a:xfrm>
          <a:prstGeom prst="rect">
            <a:avLst/>
          </a:prstGeom>
          <a:noFill/>
          <a:ln w="0">
            <a:noFill/>
          </a:ln>
        </p:spPr>
        <p:txBody>
          <a:bodyPr lIns="0" tIns="0" rIns="0" bIns="0" anchor="ctr">
            <a:noAutofit/>
          </a:bodyPr>
          <a:lstStyle>
            <a:defPPr algn="ctr">
              <a:defRPr sz="1650" b="1">
                <a:solidFill>
                  <a:srgbClr val="38AFA2"/>
                </a:solidFill>
                <a:latin typeface="Arial"/>
                <a:ea typeface="Arial"/>
                <a:cs typeface="Arial"/>
              </a:defRPr>
            </a:defPPr>
          </a:lstStyle>
          <a:p>
            <a:pPr algn="ctr">
              <a:defRPr sz="1650" b="1">
                <a:solidFill>
                  <a:srgbClr val="38AFA2"/>
                </a:solidFill>
                <a:latin typeface="Arial"/>
                <a:ea typeface="Arial"/>
                <a:cs typeface="Arial"/>
              </a:defRPr>
            </a:pPr>
            <a:r>
              <a:rPr sz="1650" b="1">
                <a:solidFill>
                  <a:srgbClr val="38AFA2"/>
                </a:solidFill>
                <a:latin typeface="Arial"/>
                <a:ea typeface="Arial"/>
                <a:cs typeface="Arial"/>
              </a:rPr>
              <a:t>B</a:t>
            </a:r>
          </a:p>
        </p:txBody>
      </p:sp>
      <p:sp>
        <p:nvSpPr>
          <p:cNvPr id="16" name="p0-79">
            <a:extLst>
              <a:ext uri="{FF2B5EF4-FFF2-40B4-BE49-F238E27FC236}">
                <a16:creationId xmlns:a16="http://schemas.microsoft.com/office/drawing/2014/main" id="{FA3D6ACB-97B8-40E3-9050-8C30095559C6}"/>
              </a:ext>
            </a:extLst>
          </p:cNvPr>
          <p:cNvSpPr>
            <a:spLocks noGrp="1"/>
          </p:cNvSpPr>
          <p:nvPr/>
        </p:nvSpPr>
        <p:spPr>
          <a:xfrm>
            <a:off x="1704975" y="3390900"/>
            <a:ext cx="171450" cy="190500"/>
          </a:xfrm>
          <a:prstGeom prst="downArrow">
            <a:avLst/>
          </a:prstGeom>
          <a:solidFill>
            <a:srgbClr val="697386"/>
          </a:solidFill>
          <a:ln w="0">
            <a:noFill/>
          </a:ln>
        </p:spPr>
        <p:txBody>
          <a:bodyPr/>
          <a:lstStyle/>
          <a:p>
            <a:endParaRPr lang="zh-CN" altLang="en-US"/>
          </a:p>
        </p:txBody>
      </p:sp>
      <p:sp>
        <p:nvSpPr>
          <p:cNvPr id="17" name="p0-80">
            <a:extLst>
              <a:ext uri="{FF2B5EF4-FFF2-40B4-BE49-F238E27FC236}">
                <a16:creationId xmlns:a16="http://schemas.microsoft.com/office/drawing/2014/main" id="{55CE66B6-875E-4DD0-96BE-753988925C0D}"/>
              </a:ext>
            </a:extLst>
          </p:cNvPr>
          <p:cNvSpPr>
            <a:spLocks noGrp="1"/>
          </p:cNvSpPr>
          <p:nvPr/>
        </p:nvSpPr>
        <p:spPr>
          <a:xfrm>
            <a:off x="647700" y="3695700"/>
            <a:ext cx="2286000" cy="428625"/>
          </a:xfrm>
          <a:prstGeom prst="roundRect">
            <a:avLst>
              <a:gd name="adj" fmla="val 35556"/>
            </a:avLst>
          </a:prstGeom>
          <a:solidFill>
            <a:srgbClr val="F6F7FB"/>
          </a:solidFill>
          <a:ln w="0">
            <a:noFill/>
          </a:ln>
        </p:spPr>
        <p:txBody>
          <a:bodyPr/>
          <a:lstStyle/>
          <a:p>
            <a:endParaRPr lang="zh-CN" altLang="en-US"/>
          </a:p>
        </p:txBody>
      </p:sp>
      <p:sp>
        <p:nvSpPr>
          <p:cNvPr id="18" name="p0-81">
            <a:extLst>
              <a:ext uri="{FF2B5EF4-FFF2-40B4-BE49-F238E27FC236}">
                <a16:creationId xmlns:a16="http://schemas.microsoft.com/office/drawing/2014/main" id="{B1E058AF-A942-464F-80DC-22E8BF777E40}"/>
              </a:ext>
            </a:extLst>
          </p:cNvPr>
          <p:cNvSpPr>
            <a:spLocks noGrp="1"/>
          </p:cNvSpPr>
          <p:nvPr/>
        </p:nvSpPr>
        <p:spPr>
          <a:xfrm>
            <a:off x="771525" y="3743325"/>
            <a:ext cx="2038350" cy="333375"/>
          </a:xfrm>
          <a:prstGeom prst="rect">
            <a:avLst/>
          </a:prstGeom>
          <a:noFill/>
          <a:ln w="0">
            <a:noFill/>
          </a:ln>
        </p:spPr>
        <p:txBody>
          <a:bodyPr lIns="0" tIns="0" rIns="0" bIns="0" anchor="ctr">
            <a:noAutofit/>
          </a:bodyPr>
          <a:lstStyle>
            <a:defPPr algn="ctr">
              <a:defRPr sz="1350" b="1">
                <a:solidFill>
                  <a:srgbClr val="1B1D63"/>
                </a:solidFill>
                <a:latin typeface="Arial"/>
                <a:ea typeface="Arial"/>
                <a:cs typeface="Arial"/>
              </a:defRPr>
            </a:defPPr>
          </a:lstStyle>
          <a:p>
            <a:pPr algn="ctr">
              <a:defRPr sz="1350" b="1">
                <a:solidFill>
                  <a:srgbClr val="1B1D63"/>
                </a:solidFill>
                <a:latin typeface="Arial"/>
                <a:ea typeface="Arial"/>
                <a:cs typeface="Arial"/>
              </a:defRPr>
            </a:pPr>
            <a:r>
              <a:rPr sz="1350" b="1">
                <a:solidFill>
                  <a:srgbClr val="1B1D63"/>
                </a:solidFill>
                <a:latin typeface="Arial"/>
                <a:ea typeface="Arial"/>
                <a:cs typeface="Arial"/>
              </a:rPr>
              <a:t>Mean people + time</a:t>
            </a:r>
          </a:p>
        </p:txBody>
      </p:sp>
      <p:sp>
        <p:nvSpPr>
          <p:cNvPr id="19" name="p0-82">
            <a:extLst>
              <a:ext uri="{FF2B5EF4-FFF2-40B4-BE49-F238E27FC236}">
                <a16:creationId xmlns:a16="http://schemas.microsoft.com/office/drawing/2014/main" id="{D1F7420D-5E97-40FA-B459-546C157AE169}"/>
              </a:ext>
            </a:extLst>
          </p:cNvPr>
          <p:cNvSpPr>
            <a:spLocks noGrp="1"/>
          </p:cNvSpPr>
          <p:nvPr/>
        </p:nvSpPr>
        <p:spPr>
          <a:xfrm>
            <a:off x="647700" y="4219575"/>
            <a:ext cx="2286000" cy="428625"/>
          </a:xfrm>
          <a:prstGeom prst="roundRect">
            <a:avLst>
              <a:gd name="adj" fmla="val 35556"/>
            </a:avLst>
          </a:prstGeom>
          <a:solidFill>
            <a:srgbClr val="F6F7FB"/>
          </a:solidFill>
          <a:ln w="0">
            <a:noFill/>
          </a:ln>
        </p:spPr>
        <p:txBody>
          <a:bodyPr/>
          <a:lstStyle/>
          <a:p>
            <a:endParaRPr lang="zh-CN" altLang="en-US"/>
          </a:p>
        </p:txBody>
      </p:sp>
      <p:sp>
        <p:nvSpPr>
          <p:cNvPr id="20" name="p0-83">
            <a:extLst>
              <a:ext uri="{FF2B5EF4-FFF2-40B4-BE49-F238E27FC236}">
                <a16:creationId xmlns:a16="http://schemas.microsoft.com/office/drawing/2014/main" id="{3BF8024F-3F21-4D7C-96FD-72E30B494170}"/>
              </a:ext>
            </a:extLst>
          </p:cNvPr>
          <p:cNvSpPr>
            <a:spLocks noGrp="1"/>
          </p:cNvSpPr>
          <p:nvPr/>
        </p:nvSpPr>
        <p:spPr>
          <a:xfrm>
            <a:off x="771525" y="4267200"/>
            <a:ext cx="2038350" cy="333375"/>
          </a:xfrm>
          <a:prstGeom prst="rect">
            <a:avLst/>
          </a:prstGeom>
          <a:noFill/>
          <a:ln w="0">
            <a:noFill/>
          </a:ln>
        </p:spPr>
        <p:txBody>
          <a:bodyPr lIns="0" tIns="0" rIns="0" bIns="0" anchor="ctr">
            <a:noAutofit/>
          </a:bodyPr>
          <a:lstStyle>
            <a:defPPr algn="ctr">
              <a:defRPr sz="1275" b="1">
                <a:solidFill>
                  <a:srgbClr val="1B1D63"/>
                </a:solidFill>
                <a:latin typeface="Arial"/>
                <a:ea typeface="Arial"/>
                <a:cs typeface="Arial"/>
              </a:defRPr>
            </a:defPPr>
          </a:lstStyle>
          <a:p>
            <a:pPr algn="ctr">
              <a:defRPr sz="1275" b="1">
                <a:solidFill>
                  <a:srgbClr val="1B1D63"/>
                </a:solidFill>
                <a:latin typeface="Arial"/>
                <a:ea typeface="Arial"/>
                <a:cs typeface="Arial"/>
              </a:defRPr>
            </a:pPr>
            <a:r>
              <a:rPr sz="1275" b="1">
                <a:solidFill>
                  <a:srgbClr val="1B1D63"/>
                </a:solidFill>
                <a:latin typeface="Arial"/>
                <a:ea typeface="Arial"/>
                <a:cs typeface="Arial"/>
              </a:rPr>
              <a:t>Original vector</a:t>
            </a:r>
          </a:p>
        </p:txBody>
      </p:sp>
      <p:sp>
        <p:nvSpPr>
          <p:cNvPr id="21" name="p0-84">
            <a:extLst>
              <a:ext uri="{FF2B5EF4-FFF2-40B4-BE49-F238E27FC236}">
                <a16:creationId xmlns:a16="http://schemas.microsoft.com/office/drawing/2014/main" id="{1AD12B1D-18F7-46D8-952B-4A331919D19A}"/>
              </a:ext>
            </a:extLst>
          </p:cNvPr>
          <p:cNvSpPr>
            <a:spLocks noGrp="1"/>
          </p:cNvSpPr>
          <p:nvPr/>
        </p:nvSpPr>
        <p:spPr>
          <a:xfrm>
            <a:off x="647700" y="4743450"/>
            <a:ext cx="2286000" cy="428625"/>
          </a:xfrm>
          <a:prstGeom prst="roundRect">
            <a:avLst>
              <a:gd name="adj" fmla="val 35556"/>
            </a:avLst>
          </a:prstGeom>
          <a:solidFill>
            <a:srgbClr val="E9EDF8"/>
          </a:solidFill>
          <a:ln w="0">
            <a:noFill/>
          </a:ln>
        </p:spPr>
        <p:txBody>
          <a:bodyPr/>
          <a:lstStyle/>
          <a:p>
            <a:endParaRPr lang="zh-CN" altLang="en-US"/>
          </a:p>
        </p:txBody>
      </p:sp>
      <p:sp>
        <p:nvSpPr>
          <p:cNvPr id="22" name="p0-85">
            <a:extLst>
              <a:ext uri="{FF2B5EF4-FFF2-40B4-BE49-F238E27FC236}">
                <a16:creationId xmlns:a16="http://schemas.microsoft.com/office/drawing/2014/main" id="{B02E4F6F-1959-4CBC-8A27-8A4C431D2F27}"/>
              </a:ext>
            </a:extLst>
          </p:cNvPr>
          <p:cNvSpPr>
            <a:spLocks noGrp="1"/>
          </p:cNvSpPr>
          <p:nvPr/>
        </p:nvSpPr>
        <p:spPr>
          <a:xfrm>
            <a:off x="771525" y="4791075"/>
            <a:ext cx="2038350" cy="333375"/>
          </a:xfrm>
          <a:prstGeom prst="rect">
            <a:avLst/>
          </a:prstGeom>
          <a:noFill/>
          <a:ln w="0">
            <a:noFill/>
          </a:ln>
        </p:spPr>
        <p:txBody>
          <a:bodyPr lIns="0" tIns="0" rIns="0" bIns="0" anchor="ctr">
            <a:noAutofit/>
          </a:bodyPr>
          <a:lstStyle>
            <a:defPPr algn="ctr">
              <a:defRPr sz="1275" b="1">
                <a:solidFill>
                  <a:srgbClr val="1B1D63"/>
                </a:solidFill>
                <a:latin typeface="Arial"/>
                <a:ea typeface="Arial"/>
                <a:cs typeface="Arial"/>
              </a:defRPr>
            </a:defPPr>
          </a:lstStyle>
          <a:p>
            <a:pPr algn="ctr">
              <a:defRPr sz="1275" b="1">
                <a:solidFill>
                  <a:srgbClr val="1B1D63"/>
                </a:solidFill>
                <a:latin typeface="Arial"/>
                <a:ea typeface="Arial"/>
                <a:cs typeface="Arial"/>
              </a:defRPr>
            </a:pPr>
            <a:r>
              <a:rPr sz="1275" b="1">
                <a:solidFill>
                  <a:srgbClr val="1B1D63"/>
                </a:solidFill>
                <a:latin typeface="Arial"/>
                <a:ea typeface="Arial"/>
                <a:cs typeface="Arial"/>
              </a:rPr>
              <a:t>No added branch</a:t>
            </a:r>
          </a:p>
        </p:txBody>
      </p:sp>
      <p:sp>
        <p:nvSpPr>
          <p:cNvPr id="23" name="p0-86">
            <a:extLst>
              <a:ext uri="{FF2B5EF4-FFF2-40B4-BE49-F238E27FC236}">
                <a16:creationId xmlns:a16="http://schemas.microsoft.com/office/drawing/2014/main" id="{85468DB2-866B-45C5-BFF5-EF4EE937BA9C}"/>
              </a:ext>
            </a:extLst>
          </p:cNvPr>
          <p:cNvSpPr>
            <a:spLocks noGrp="1"/>
          </p:cNvSpPr>
          <p:nvPr/>
        </p:nvSpPr>
        <p:spPr>
          <a:xfrm>
            <a:off x="3371850" y="1438275"/>
            <a:ext cx="2590800" cy="4067175"/>
          </a:xfrm>
          <a:prstGeom prst="roundRect">
            <a:avLst>
              <a:gd name="adj" fmla="val 5882"/>
            </a:avLst>
          </a:prstGeom>
          <a:solidFill>
            <a:srgbClr val="FFFFFF"/>
          </a:solidFill>
          <a:ln w="11430">
            <a:solidFill>
              <a:srgbClr val="D9DDEA"/>
            </a:solidFill>
          </a:ln>
        </p:spPr>
        <p:txBody>
          <a:bodyPr/>
          <a:lstStyle/>
          <a:p>
            <a:endParaRPr lang="zh-CN" altLang="en-US"/>
          </a:p>
        </p:txBody>
      </p:sp>
      <p:sp>
        <p:nvSpPr>
          <p:cNvPr id="24" name="p0-87">
            <a:extLst>
              <a:ext uri="{FF2B5EF4-FFF2-40B4-BE49-F238E27FC236}">
                <a16:creationId xmlns:a16="http://schemas.microsoft.com/office/drawing/2014/main" id="{490CD6EA-7328-4652-BB56-27C32665EC9E}"/>
              </a:ext>
            </a:extLst>
          </p:cNvPr>
          <p:cNvSpPr>
            <a:spLocks noGrp="1"/>
          </p:cNvSpPr>
          <p:nvPr/>
        </p:nvSpPr>
        <p:spPr>
          <a:xfrm>
            <a:off x="3562350" y="1600200"/>
            <a:ext cx="2209800" cy="390525"/>
          </a:xfrm>
          <a:prstGeom prst="rect">
            <a:avLst/>
          </a:prstGeom>
          <a:noFill/>
          <a:ln w="0">
            <a:noFill/>
          </a:ln>
        </p:spPr>
        <p:txBody>
          <a:bodyPr lIns="0" tIns="0" rIns="0" bIns="0" anchor="ctr">
            <a:noAutofit/>
          </a:bodyPr>
          <a:lstStyle>
            <a:defPPr algn="l">
              <a:defRPr sz="2100" b="1">
                <a:solidFill>
                  <a:srgbClr val="1B1D63"/>
                </a:solidFill>
                <a:latin typeface="Arial"/>
                <a:ea typeface="Arial"/>
                <a:cs typeface="Arial"/>
              </a:defRPr>
            </a:defPPr>
          </a:lstStyle>
          <a:p>
            <a:pPr algn="l">
              <a:defRPr sz="2100" b="1">
                <a:solidFill>
                  <a:srgbClr val="1B1D63"/>
                </a:solidFill>
                <a:latin typeface="Arial"/>
                <a:ea typeface="Arial"/>
                <a:cs typeface="Arial"/>
              </a:defRPr>
            </a:pPr>
            <a:r>
              <a:rPr sz="2100" b="1">
                <a:solidFill>
                  <a:srgbClr val="1B1D63"/>
                </a:solidFill>
                <a:latin typeface="Arial"/>
                <a:ea typeface="Arial"/>
                <a:cs typeface="Arial"/>
              </a:rPr>
              <a:t>E1</a:t>
            </a:r>
          </a:p>
        </p:txBody>
      </p:sp>
      <p:sp>
        <p:nvSpPr>
          <p:cNvPr id="25" name="p0-88">
            <a:extLst>
              <a:ext uri="{FF2B5EF4-FFF2-40B4-BE49-F238E27FC236}">
                <a16:creationId xmlns:a16="http://schemas.microsoft.com/office/drawing/2014/main" id="{E8023775-4660-4206-9B77-56DD864EDB1C}"/>
              </a:ext>
            </a:extLst>
          </p:cNvPr>
          <p:cNvSpPr>
            <a:spLocks noGrp="1"/>
          </p:cNvSpPr>
          <p:nvPr/>
        </p:nvSpPr>
        <p:spPr>
          <a:xfrm>
            <a:off x="3562350" y="2095500"/>
            <a:ext cx="2209800" cy="514350"/>
          </a:xfrm>
          <a:prstGeom prst="rect">
            <a:avLst/>
          </a:prstGeom>
          <a:noFill/>
          <a:ln w="0">
            <a:noFill/>
          </a:ln>
        </p:spPr>
        <p:txBody>
          <a:bodyPr lIns="0" tIns="0" rIns="0" bIns="0" anchor="ctr">
            <a:noAutofit/>
          </a:bodyPr>
          <a:lstStyle>
            <a:defPPr algn="l">
              <a:defRPr sz="1425" b="0">
                <a:solidFill>
                  <a:srgbClr val="697386"/>
                </a:solidFill>
                <a:latin typeface="Arial"/>
                <a:ea typeface="Arial"/>
                <a:cs typeface="Arial"/>
              </a:defRPr>
            </a:defPPr>
          </a:lstStyle>
          <a:p>
            <a:pPr algn="l">
              <a:defRPr sz="1425" b="0">
                <a:solidFill>
                  <a:srgbClr val="697386"/>
                </a:solidFill>
                <a:latin typeface="Arial"/>
                <a:ea typeface="Arial"/>
                <a:cs typeface="Arial"/>
              </a:defRPr>
            </a:pPr>
            <a:r>
              <a:rPr sz="1425" b="0">
                <a:solidFill>
                  <a:srgbClr val="697386"/>
                </a:solidFill>
                <a:latin typeface="Arial"/>
                <a:ea typeface="Arial"/>
                <a:cs typeface="Arial"/>
              </a:rPr>
              <a:t>Shared nonlinear branch</a:t>
            </a:r>
          </a:p>
        </p:txBody>
      </p:sp>
      <p:sp>
        <p:nvSpPr>
          <p:cNvPr id="26" name="p0-89">
            <a:extLst>
              <a:ext uri="{FF2B5EF4-FFF2-40B4-BE49-F238E27FC236}">
                <a16:creationId xmlns:a16="http://schemas.microsoft.com/office/drawing/2014/main" id="{B956B3B1-AF4B-4F4E-9170-87CAB09D584F}"/>
              </a:ext>
            </a:extLst>
          </p:cNvPr>
          <p:cNvSpPr>
            <a:spLocks noGrp="1"/>
          </p:cNvSpPr>
          <p:nvPr/>
        </p:nvSpPr>
        <p:spPr>
          <a:xfrm>
            <a:off x="3562350" y="2876550"/>
            <a:ext cx="942975" cy="409575"/>
          </a:xfrm>
          <a:prstGeom prst="roundRect">
            <a:avLst>
              <a:gd name="adj" fmla="val 37209"/>
            </a:avLst>
          </a:prstGeom>
          <a:solidFill>
            <a:srgbClr val="E9EDF8"/>
          </a:solidFill>
          <a:ln w="0">
            <a:noFill/>
          </a:ln>
        </p:spPr>
        <p:txBody>
          <a:bodyPr/>
          <a:lstStyle/>
          <a:p>
            <a:endParaRPr lang="zh-CN" altLang="en-US"/>
          </a:p>
        </p:txBody>
      </p:sp>
      <p:sp>
        <p:nvSpPr>
          <p:cNvPr id="27" name="p0-90">
            <a:extLst>
              <a:ext uri="{FF2B5EF4-FFF2-40B4-BE49-F238E27FC236}">
                <a16:creationId xmlns:a16="http://schemas.microsoft.com/office/drawing/2014/main" id="{D9C2A30B-C587-41CE-9C18-3397CF1DD4E8}"/>
              </a:ext>
            </a:extLst>
          </p:cNvPr>
          <p:cNvSpPr>
            <a:spLocks noGrp="1"/>
          </p:cNvSpPr>
          <p:nvPr/>
        </p:nvSpPr>
        <p:spPr>
          <a:xfrm>
            <a:off x="3686175" y="2924175"/>
            <a:ext cx="695325" cy="314325"/>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A</a:t>
            </a:r>
          </a:p>
        </p:txBody>
      </p:sp>
      <p:sp>
        <p:nvSpPr>
          <p:cNvPr id="28" name="p0-91">
            <a:extLst>
              <a:ext uri="{FF2B5EF4-FFF2-40B4-BE49-F238E27FC236}">
                <a16:creationId xmlns:a16="http://schemas.microsoft.com/office/drawing/2014/main" id="{2EB2AE60-CF06-481B-B0B7-6DA5B3B3F879}"/>
              </a:ext>
            </a:extLst>
          </p:cNvPr>
          <p:cNvSpPr>
            <a:spLocks noGrp="1"/>
          </p:cNvSpPr>
          <p:nvPr/>
        </p:nvSpPr>
        <p:spPr>
          <a:xfrm>
            <a:off x="4762500" y="2876550"/>
            <a:ext cx="942975" cy="409575"/>
          </a:xfrm>
          <a:prstGeom prst="roundRect">
            <a:avLst>
              <a:gd name="adj" fmla="val 37209"/>
            </a:avLst>
          </a:prstGeom>
          <a:solidFill>
            <a:srgbClr val="E6F6F4"/>
          </a:solidFill>
          <a:ln w="0">
            <a:noFill/>
          </a:ln>
        </p:spPr>
        <p:txBody>
          <a:bodyPr/>
          <a:lstStyle/>
          <a:p>
            <a:endParaRPr lang="zh-CN" altLang="en-US"/>
          </a:p>
        </p:txBody>
      </p:sp>
      <p:sp>
        <p:nvSpPr>
          <p:cNvPr id="29" name="p0-92">
            <a:extLst>
              <a:ext uri="{FF2B5EF4-FFF2-40B4-BE49-F238E27FC236}">
                <a16:creationId xmlns:a16="http://schemas.microsoft.com/office/drawing/2014/main" id="{D4119EB1-3732-48A0-ABEC-9D90554D568B}"/>
              </a:ext>
            </a:extLst>
          </p:cNvPr>
          <p:cNvSpPr>
            <a:spLocks noGrp="1"/>
          </p:cNvSpPr>
          <p:nvPr/>
        </p:nvSpPr>
        <p:spPr>
          <a:xfrm>
            <a:off x="4886325" y="2924175"/>
            <a:ext cx="695325" cy="314325"/>
          </a:xfrm>
          <a:prstGeom prst="rect">
            <a:avLst/>
          </a:prstGeom>
          <a:noFill/>
          <a:ln w="0">
            <a:noFill/>
          </a:ln>
        </p:spPr>
        <p:txBody>
          <a:bodyPr lIns="0" tIns="0" rIns="0" bIns="0" anchor="ctr">
            <a:noAutofit/>
          </a:bodyPr>
          <a:lstStyle>
            <a:defPPr algn="ctr">
              <a:defRPr sz="1650" b="1">
                <a:solidFill>
                  <a:srgbClr val="38AFA2"/>
                </a:solidFill>
                <a:latin typeface="Arial"/>
                <a:ea typeface="Arial"/>
                <a:cs typeface="Arial"/>
              </a:defRPr>
            </a:defPPr>
          </a:lstStyle>
          <a:p>
            <a:pPr algn="ctr">
              <a:defRPr sz="1650" b="1">
                <a:solidFill>
                  <a:srgbClr val="38AFA2"/>
                </a:solidFill>
                <a:latin typeface="Arial"/>
                <a:ea typeface="Arial"/>
                <a:cs typeface="Arial"/>
              </a:defRPr>
            </a:pPr>
            <a:r>
              <a:rPr sz="1650" b="1">
                <a:solidFill>
                  <a:srgbClr val="38AFA2"/>
                </a:solidFill>
                <a:latin typeface="Arial"/>
                <a:ea typeface="Arial"/>
                <a:cs typeface="Arial"/>
              </a:rPr>
              <a:t>B</a:t>
            </a:r>
          </a:p>
        </p:txBody>
      </p:sp>
      <p:sp>
        <p:nvSpPr>
          <p:cNvPr id="30" name="p0-93">
            <a:extLst>
              <a:ext uri="{FF2B5EF4-FFF2-40B4-BE49-F238E27FC236}">
                <a16:creationId xmlns:a16="http://schemas.microsoft.com/office/drawing/2014/main" id="{4E8EB83D-57A6-46DC-83E8-0A5B60874F9F}"/>
              </a:ext>
            </a:extLst>
          </p:cNvPr>
          <p:cNvSpPr>
            <a:spLocks noGrp="1"/>
          </p:cNvSpPr>
          <p:nvPr/>
        </p:nvSpPr>
        <p:spPr>
          <a:xfrm>
            <a:off x="4581525" y="3390900"/>
            <a:ext cx="171450" cy="190500"/>
          </a:xfrm>
          <a:prstGeom prst="downArrow">
            <a:avLst/>
          </a:prstGeom>
          <a:solidFill>
            <a:srgbClr val="697386"/>
          </a:solidFill>
          <a:ln w="0">
            <a:noFill/>
          </a:ln>
        </p:spPr>
        <p:txBody>
          <a:bodyPr/>
          <a:lstStyle/>
          <a:p>
            <a:endParaRPr lang="zh-CN" altLang="en-US"/>
          </a:p>
        </p:txBody>
      </p:sp>
      <p:sp>
        <p:nvSpPr>
          <p:cNvPr id="31" name="p0-94">
            <a:extLst>
              <a:ext uri="{FF2B5EF4-FFF2-40B4-BE49-F238E27FC236}">
                <a16:creationId xmlns:a16="http://schemas.microsoft.com/office/drawing/2014/main" id="{F6482FEF-4259-44F1-8E0C-561A6027B82B}"/>
              </a:ext>
            </a:extLst>
          </p:cNvPr>
          <p:cNvSpPr>
            <a:spLocks noGrp="1"/>
          </p:cNvSpPr>
          <p:nvPr/>
        </p:nvSpPr>
        <p:spPr>
          <a:xfrm>
            <a:off x="3524250" y="3695700"/>
            <a:ext cx="2286000" cy="428625"/>
          </a:xfrm>
          <a:prstGeom prst="roundRect">
            <a:avLst>
              <a:gd name="adj" fmla="val 35556"/>
            </a:avLst>
          </a:prstGeom>
          <a:solidFill>
            <a:srgbClr val="F6F7FB"/>
          </a:solidFill>
          <a:ln w="0">
            <a:noFill/>
          </a:ln>
        </p:spPr>
        <p:txBody>
          <a:bodyPr/>
          <a:lstStyle/>
          <a:p>
            <a:endParaRPr lang="zh-CN" altLang="en-US"/>
          </a:p>
        </p:txBody>
      </p:sp>
      <p:sp>
        <p:nvSpPr>
          <p:cNvPr id="32" name="p0-95">
            <a:extLst>
              <a:ext uri="{FF2B5EF4-FFF2-40B4-BE49-F238E27FC236}">
                <a16:creationId xmlns:a16="http://schemas.microsoft.com/office/drawing/2014/main" id="{0CBF0FD7-C816-4BF9-B236-1C5A516FE81D}"/>
              </a:ext>
            </a:extLst>
          </p:cNvPr>
          <p:cNvSpPr>
            <a:spLocks noGrp="1"/>
          </p:cNvSpPr>
          <p:nvPr/>
        </p:nvSpPr>
        <p:spPr>
          <a:xfrm>
            <a:off x="3648075" y="3743325"/>
            <a:ext cx="2038350" cy="333375"/>
          </a:xfrm>
          <a:prstGeom prst="rect">
            <a:avLst/>
          </a:prstGeom>
          <a:noFill/>
          <a:ln w="0">
            <a:noFill/>
          </a:ln>
        </p:spPr>
        <p:txBody>
          <a:bodyPr lIns="0" tIns="0" rIns="0" bIns="0" anchor="ctr">
            <a:noAutofit/>
          </a:bodyPr>
          <a:lstStyle>
            <a:defPPr algn="ctr">
              <a:defRPr sz="1350" b="1">
                <a:solidFill>
                  <a:srgbClr val="1B1D63"/>
                </a:solidFill>
                <a:latin typeface="Arial"/>
                <a:ea typeface="Arial"/>
                <a:cs typeface="Arial"/>
              </a:defRPr>
            </a:defPPr>
          </a:lstStyle>
          <a:p>
            <a:pPr algn="ctr">
              <a:defRPr sz="1350" b="1">
                <a:solidFill>
                  <a:srgbClr val="1B1D63"/>
                </a:solidFill>
                <a:latin typeface="Arial"/>
                <a:ea typeface="Arial"/>
                <a:cs typeface="Arial"/>
              </a:defRPr>
            </a:pPr>
            <a:r>
              <a:rPr sz="1350" b="1">
                <a:solidFill>
                  <a:srgbClr val="1B1D63"/>
                </a:solidFill>
                <a:latin typeface="Arial"/>
                <a:ea typeface="Arial"/>
                <a:cs typeface="Arial"/>
              </a:rPr>
              <a:t>q(h) = GELU(W h + b)</a:t>
            </a:r>
          </a:p>
        </p:txBody>
      </p:sp>
      <p:sp>
        <p:nvSpPr>
          <p:cNvPr id="33" name="p0-96">
            <a:extLst>
              <a:ext uri="{FF2B5EF4-FFF2-40B4-BE49-F238E27FC236}">
                <a16:creationId xmlns:a16="http://schemas.microsoft.com/office/drawing/2014/main" id="{CBFC75E9-6BC7-4C41-9F80-3C8E3C01962D}"/>
              </a:ext>
            </a:extLst>
          </p:cNvPr>
          <p:cNvSpPr>
            <a:spLocks noGrp="1"/>
          </p:cNvSpPr>
          <p:nvPr/>
        </p:nvSpPr>
        <p:spPr>
          <a:xfrm>
            <a:off x="3524250" y="4219575"/>
            <a:ext cx="2286000" cy="428625"/>
          </a:xfrm>
          <a:prstGeom prst="roundRect">
            <a:avLst>
              <a:gd name="adj" fmla="val 35556"/>
            </a:avLst>
          </a:prstGeom>
          <a:solidFill>
            <a:srgbClr val="F6F7FB"/>
          </a:solidFill>
          <a:ln w="0">
            <a:noFill/>
          </a:ln>
        </p:spPr>
        <p:txBody>
          <a:bodyPr/>
          <a:lstStyle/>
          <a:p>
            <a:endParaRPr lang="zh-CN" altLang="en-US"/>
          </a:p>
        </p:txBody>
      </p:sp>
      <p:sp>
        <p:nvSpPr>
          <p:cNvPr id="34" name="p0-97">
            <a:extLst>
              <a:ext uri="{FF2B5EF4-FFF2-40B4-BE49-F238E27FC236}">
                <a16:creationId xmlns:a16="http://schemas.microsoft.com/office/drawing/2014/main" id="{C9AA78D1-2CEB-4FA4-AB3B-4D9D97D9025E}"/>
              </a:ext>
            </a:extLst>
          </p:cNvPr>
          <p:cNvSpPr>
            <a:spLocks noGrp="1"/>
          </p:cNvSpPr>
          <p:nvPr/>
        </p:nvSpPr>
        <p:spPr>
          <a:xfrm>
            <a:off x="3648075" y="4267200"/>
            <a:ext cx="2038350" cy="333375"/>
          </a:xfrm>
          <a:prstGeom prst="rect">
            <a:avLst/>
          </a:prstGeom>
          <a:noFill/>
          <a:ln w="0">
            <a:noFill/>
          </a:ln>
        </p:spPr>
        <p:txBody>
          <a:bodyPr lIns="0" tIns="0" rIns="0" bIns="0" anchor="ctr">
            <a:noAutofit/>
          </a:bodyPr>
          <a:lstStyle>
            <a:defPPr algn="ctr">
              <a:defRPr sz="1275" b="1">
                <a:solidFill>
                  <a:srgbClr val="1B1D63"/>
                </a:solidFill>
                <a:latin typeface="Arial"/>
                <a:ea typeface="Arial"/>
                <a:cs typeface="Arial"/>
              </a:defRPr>
            </a:defPPr>
          </a:lstStyle>
          <a:p>
            <a:pPr algn="ctr">
              <a:defRPr sz="1275" b="1">
                <a:solidFill>
                  <a:srgbClr val="1B1D63"/>
                </a:solidFill>
                <a:latin typeface="Arial"/>
                <a:ea typeface="Arial"/>
                <a:cs typeface="Arial"/>
              </a:defRPr>
            </a:pPr>
            <a:r>
              <a:rPr sz="1275" b="1">
                <a:solidFill>
                  <a:srgbClr val="1B1D63"/>
                </a:solidFill>
                <a:latin typeface="Arial"/>
                <a:ea typeface="Arial"/>
                <a:cs typeface="Arial"/>
              </a:rPr>
              <a:t>Mean people + time</a:t>
            </a:r>
          </a:p>
        </p:txBody>
      </p:sp>
      <p:sp>
        <p:nvSpPr>
          <p:cNvPr id="35" name="p0-98">
            <a:extLst>
              <a:ext uri="{FF2B5EF4-FFF2-40B4-BE49-F238E27FC236}">
                <a16:creationId xmlns:a16="http://schemas.microsoft.com/office/drawing/2014/main" id="{83D4FC4B-5545-4882-8B7F-72146EA133F9}"/>
              </a:ext>
            </a:extLst>
          </p:cNvPr>
          <p:cNvSpPr>
            <a:spLocks noGrp="1"/>
          </p:cNvSpPr>
          <p:nvPr/>
        </p:nvSpPr>
        <p:spPr>
          <a:xfrm>
            <a:off x="3524250" y="4743450"/>
            <a:ext cx="2286000" cy="428625"/>
          </a:xfrm>
          <a:prstGeom prst="roundRect">
            <a:avLst>
              <a:gd name="adj" fmla="val 35556"/>
            </a:avLst>
          </a:prstGeom>
          <a:solidFill>
            <a:srgbClr val="E9EDF8"/>
          </a:solidFill>
          <a:ln w="0">
            <a:noFill/>
          </a:ln>
        </p:spPr>
        <p:txBody>
          <a:bodyPr/>
          <a:lstStyle/>
          <a:p>
            <a:endParaRPr lang="zh-CN" altLang="en-US"/>
          </a:p>
        </p:txBody>
      </p:sp>
      <p:sp>
        <p:nvSpPr>
          <p:cNvPr id="36" name="p0-99">
            <a:extLst>
              <a:ext uri="{FF2B5EF4-FFF2-40B4-BE49-F238E27FC236}">
                <a16:creationId xmlns:a16="http://schemas.microsoft.com/office/drawing/2014/main" id="{70A8DC62-B04F-45D1-A529-DCF478D62A89}"/>
              </a:ext>
            </a:extLst>
          </p:cNvPr>
          <p:cNvSpPr>
            <a:spLocks noGrp="1"/>
          </p:cNvSpPr>
          <p:nvPr/>
        </p:nvSpPr>
        <p:spPr>
          <a:xfrm>
            <a:off x="3648075" y="4791075"/>
            <a:ext cx="2038350" cy="333375"/>
          </a:xfrm>
          <a:prstGeom prst="rect">
            <a:avLst/>
          </a:prstGeom>
          <a:noFill/>
          <a:ln w="0">
            <a:noFill/>
          </a:ln>
        </p:spPr>
        <p:txBody>
          <a:bodyPr lIns="0" tIns="0" rIns="0" bIns="0" anchor="ctr">
            <a:noAutofit/>
          </a:bodyPr>
          <a:lstStyle>
            <a:defPPr algn="ctr">
              <a:defRPr sz="1275" b="1">
                <a:solidFill>
                  <a:srgbClr val="1B1D63"/>
                </a:solidFill>
                <a:latin typeface="Arial"/>
                <a:ea typeface="Arial"/>
                <a:cs typeface="Arial"/>
              </a:defRPr>
            </a:defPPr>
          </a:lstStyle>
          <a:p>
            <a:pPr algn="ctr">
              <a:defRPr sz="1275" b="1">
                <a:solidFill>
                  <a:srgbClr val="1B1D63"/>
                </a:solidFill>
                <a:latin typeface="Arial"/>
                <a:ea typeface="Arial"/>
                <a:cs typeface="Arial"/>
              </a:defRPr>
            </a:pPr>
            <a:r>
              <a:rPr sz="1275" b="1">
                <a:solidFill>
                  <a:srgbClr val="1B1D63"/>
                </a:solidFill>
                <a:latin typeface="Arial"/>
                <a:ea typeface="Arial"/>
                <a:cs typeface="Arial"/>
              </a:rPr>
              <a:t>Residual add</a:t>
            </a:r>
          </a:p>
        </p:txBody>
      </p:sp>
      <p:sp>
        <p:nvSpPr>
          <p:cNvPr id="37" name="p0-100">
            <a:extLst>
              <a:ext uri="{FF2B5EF4-FFF2-40B4-BE49-F238E27FC236}">
                <a16:creationId xmlns:a16="http://schemas.microsoft.com/office/drawing/2014/main" id="{FF71A9FB-0855-4F39-9637-31EBF15B4590}"/>
              </a:ext>
            </a:extLst>
          </p:cNvPr>
          <p:cNvSpPr>
            <a:spLocks noGrp="1"/>
          </p:cNvSpPr>
          <p:nvPr/>
        </p:nvSpPr>
        <p:spPr>
          <a:xfrm>
            <a:off x="6248400" y="1438275"/>
            <a:ext cx="2590800" cy="4067175"/>
          </a:xfrm>
          <a:prstGeom prst="roundRect">
            <a:avLst>
              <a:gd name="adj" fmla="val 5882"/>
            </a:avLst>
          </a:prstGeom>
          <a:solidFill>
            <a:srgbClr val="FFFFFF"/>
          </a:solidFill>
          <a:ln w="11430">
            <a:solidFill>
              <a:srgbClr val="D9DDEA"/>
            </a:solidFill>
          </a:ln>
        </p:spPr>
        <p:txBody>
          <a:bodyPr/>
          <a:lstStyle/>
          <a:p>
            <a:endParaRPr lang="zh-CN" altLang="en-US"/>
          </a:p>
        </p:txBody>
      </p:sp>
      <p:sp>
        <p:nvSpPr>
          <p:cNvPr id="38" name="p0-101">
            <a:extLst>
              <a:ext uri="{FF2B5EF4-FFF2-40B4-BE49-F238E27FC236}">
                <a16:creationId xmlns:a16="http://schemas.microsoft.com/office/drawing/2014/main" id="{5F3D20D8-4FF2-41E7-AF3D-1F2CDABB7DE5}"/>
              </a:ext>
            </a:extLst>
          </p:cNvPr>
          <p:cNvSpPr>
            <a:spLocks noGrp="1"/>
          </p:cNvSpPr>
          <p:nvPr/>
        </p:nvSpPr>
        <p:spPr>
          <a:xfrm>
            <a:off x="6438900" y="1600200"/>
            <a:ext cx="2209800" cy="390525"/>
          </a:xfrm>
          <a:prstGeom prst="rect">
            <a:avLst/>
          </a:prstGeom>
          <a:noFill/>
          <a:ln w="0">
            <a:noFill/>
          </a:ln>
        </p:spPr>
        <p:txBody>
          <a:bodyPr lIns="0" tIns="0" rIns="0" bIns="0" anchor="ctr">
            <a:noAutofit/>
          </a:bodyPr>
          <a:lstStyle>
            <a:defPPr algn="l">
              <a:defRPr sz="2100" b="1">
                <a:solidFill>
                  <a:srgbClr val="1B1D63"/>
                </a:solidFill>
                <a:latin typeface="Arial"/>
                <a:ea typeface="Arial"/>
                <a:cs typeface="Arial"/>
              </a:defRPr>
            </a:defPPr>
          </a:lstStyle>
          <a:p>
            <a:pPr algn="l">
              <a:defRPr sz="2100" b="1">
                <a:solidFill>
                  <a:srgbClr val="1B1D63"/>
                </a:solidFill>
                <a:latin typeface="Arial"/>
                <a:ea typeface="Arial"/>
                <a:cs typeface="Arial"/>
              </a:defRPr>
            </a:pPr>
            <a:r>
              <a:rPr sz="2100" b="1">
                <a:solidFill>
                  <a:srgbClr val="1B1D63"/>
                </a:solidFill>
                <a:latin typeface="Arial"/>
                <a:ea typeface="Arial"/>
                <a:cs typeface="Arial"/>
              </a:rPr>
              <a:t>E2</a:t>
            </a:r>
          </a:p>
        </p:txBody>
      </p:sp>
      <p:sp>
        <p:nvSpPr>
          <p:cNvPr id="39" name="p0-102">
            <a:extLst>
              <a:ext uri="{FF2B5EF4-FFF2-40B4-BE49-F238E27FC236}">
                <a16:creationId xmlns:a16="http://schemas.microsoft.com/office/drawing/2014/main" id="{93228D8C-44C0-4D88-AD35-358BC5968A8D}"/>
              </a:ext>
            </a:extLst>
          </p:cNvPr>
          <p:cNvSpPr>
            <a:spLocks noGrp="1"/>
          </p:cNvSpPr>
          <p:nvPr/>
        </p:nvSpPr>
        <p:spPr>
          <a:xfrm>
            <a:off x="6438900" y="2095500"/>
            <a:ext cx="2209800" cy="514350"/>
          </a:xfrm>
          <a:prstGeom prst="rect">
            <a:avLst/>
          </a:prstGeom>
          <a:noFill/>
          <a:ln w="0">
            <a:noFill/>
          </a:ln>
        </p:spPr>
        <p:txBody>
          <a:bodyPr lIns="0" tIns="0" rIns="0" bIns="0" anchor="ctr">
            <a:noAutofit/>
          </a:bodyPr>
          <a:lstStyle>
            <a:defPPr algn="l">
              <a:defRPr sz="1425" b="0">
                <a:solidFill>
                  <a:srgbClr val="697386"/>
                </a:solidFill>
                <a:latin typeface="Arial"/>
                <a:ea typeface="Arial"/>
                <a:cs typeface="Arial"/>
              </a:defRPr>
            </a:defPPr>
          </a:lstStyle>
          <a:p>
            <a:pPr algn="l">
              <a:defRPr sz="1425" b="0">
                <a:solidFill>
                  <a:srgbClr val="697386"/>
                </a:solidFill>
                <a:latin typeface="Arial"/>
                <a:ea typeface="Arial"/>
                <a:cs typeface="Arial"/>
              </a:defRPr>
            </a:pPr>
            <a:r>
              <a:rPr sz="1425" b="0">
                <a:solidFill>
                  <a:srgbClr val="697386"/>
                </a:solidFill>
                <a:latin typeface="Arial"/>
                <a:ea typeface="Arial"/>
                <a:cs typeface="Arial"/>
              </a:rPr>
              <a:t>Pooled relation</a:t>
            </a:r>
          </a:p>
        </p:txBody>
      </p:sp>
      <p:sp>
        <p:nvSpPr>
          <p:cNvPr id="40" name="p0-103">
            <a:extLst>
              <a:ext uri="{FF2B5EF4-FFF2-40B4-BE49-F238E27FC236}">
                <a16:creationId xmlns:a16="http://schemas.microsoft.com/office/drawing/2014/main" id="{B83D5108-2D6B-4284-B24A-721F429CD78C}"/>
              </a:ext>
            </a:extLst>
          </p:cNvPr>
          <p:cNvSpPr>
            <a:spLocks noGrp="1"/>
          </p:cNvSpPr>
          <p:nvPr/>
        </p:nvSpPr>
        <p:spPr>
          <a:xfrm>
            <a:off x="6438900" y="2876550"/>
            <a:ext cx="942975" cy="409575"/>
          </a:xfrm>
          <a:prstGeom prst="roundRect">
            <a:avLst>
              <a:gd name="adj" fmla="val 37209"/>
            </a:avLst>
          </a:prstGeom>
          <a:solidFill>
            <a:srgbClr val="E9EDF8"/>
          </a:solidFill>
          <a:ln w="0">
            <a:noFill/>
          </a:ln>
        </p:spPr>
        <p:txBody>
          <a:bodyPr/>
          <a:lstStyle/>
          <a:p>
            <a:endParaRPr lang="zh-CN" altLang="en-US"/>
          </a:p>
        </p:txBody>
      </p:sp>
      <p:sp>
        <p:nvSpPr>
          <p:cNvPr id="41" name="p0-104">
            <a:extLst>
              <a:ext uri="{FF2B5EF4-FFF2-40B4-BE49-F238E27FC236}">
                <a16:creationId xmlns:a16="http://schemas.microsoft.com/office/drawing/2014/main" id="{D087BDFC-BC00-4931-AD05-1641BD23EA86}"/>
              </a:ext>
            </a:extLst>
          </p:cNvPr>
          <p:cNvSpPr>
            <a:spLocks noGrp="1"/>
          </p:cNvSpPr>
          <p:nvPr/>
        </p:nvSpPr>
        <p:spPr>
          <a:xfrm>
            <a:off x="6562725" y="2924175"/>
            <a:ext cx="695325" cy="314325"/>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A</a:t>
            </a:r>
          </a:p>
        </p:txBody>
      </p:sp>
      <p:sp>
        <p:nvSpPr>
          <p:cNvPr id="42" name="p0-105">
            <a:extLst>
              <a:ext uri="{FF2B5EF4-FFF2-40B4-BE49-F238E27FC236}">
                <a16:creationId xmlns:a16="http://schemas.microsoft.com/office/drawing/2014/main" id="{7D6B5207-10A9-435F-8EA8-54D8258EC7EF}"/>
              </a:ext>
            </a:extLst>
          </p:cNvPr>
          <p:cNvSpPr>
            <a:spLocks noGrp="1"/>
          </p:cNvSpPr>
          <p:nvPr/>
        </p:nvSpPr>
        <p:spPr>
          <a:xfrm>
            <a:off x="7639050" y="2876550"/>
            <a:ext cx="942975" cy="409575"/>
          </a:xfrm>
          <a:prstGeom prst="roundRect">
            <a:avLst>
              <a:gd name="adj" fmla="val 37209"/>
            </a:avLst>
          </a:prstGeom>
          <a:solidFill>
            <a:srgbClr val="E6F6F4"/>
          </a:solidFill>
          <a:ln w="0">
            <a:noFill/>
          </a:ln>
        </p:spPr>
        <p:txBody>
          <a:bodyPr/>
          <a:lstStyle/>
          <a:p>
            <a:endParaRPr lang="zh-CN" altLang="en-US"/>
          </a:p>
        </p:txBody>
      </p:sp>
      <p:sp>
        <p:nvSpPr>
          <p:cNvPr id="43" name="p0-106">
            <a:extLst>
              <a:ext uri="{FF2B5EF4-FFF2-40B4-BE49-F238E27FC236}">
                <a16:creationId xmlns:a16="http://schemas.microsoft.com/office/drawing/2014/main" id="{CE085C27-B1C9-4745-A637-87896A2F58AB}"/>
              </a:ext>
            </a:extLst>
          </p:cNvPr>
          <p:cNvSpPr>
            <a:spLocks noGrp="1"/>
          </p:cNvSpPr>
          <p:nvPr/>
        </p:nvSpPr>
        <p:spPr>
          <a:xfrm>
            <a:off x="7762875" y="2924175"/>
            <a:ext cx="695325" cy="314325"/>
          </a:xfrm>
          <a:prstGeom prst="rect">
            <a:avLst/>
          </a:prstGeom>
          <a:noFill/>
          <a:ln w="0">
            <a:noFill/>
          </a:ln>
        </p:spPr>
        <p:txBody>
          <a:bodyPr lIns="0" tIns="0" rIns="0" bIns="0" anchor="ctr">
            <a:noAutofit/>
          </a:bodyPr>
          <a:lstStyle>
            <a:defPPr algn="ctr">
              <a:defRPr sz="1650" b="1">
                <a:solidFill>
                  <a:srgbClr val="38AFA2"/>
                </a:solidFill>
                <a:latin typeface="Arial"/>
                <a:ea typeface="Arial"/>
                <a:cs typeface="Arial"/>
              </a:defRPr>
            </a:defPPr>
          </a:lstStyle>
          <a:p>
            <a:pPr algn="ctr">
              <a:defRPr sz="1650" b="1">
                <a:solidFill>
                  <a:srgbClr val="38AFA2"/>
                </a:solidFill>
                <a:latin typeface="Arial"/>
                <a:ea typeface="Arial"/>
                <a:cs typeface="Arial"/>
              </a:defRPr>
            </a:pPr>
            <a:r>
              <a:rPr sz="1650" b="1">
                <a:solidFill>
                  <a:srgbClr val="38AFA2"/>
                </a:solidFill>
                <a:latin typeface="Arial"/>
                <a:ea typeface="Arial"/>
                <a:cs typeface="Arial"/>
              </a:rPr>
              <a:t>B</a:t>
            </a:r>
          </a:p>
        </p:txBody>
      </p:sp>
      <p:sp>
        <p:nvSpPr>
          <p:cNvPr id="44" name="p0-107">
            <a:extLst>
              <a:ext uri="{FF2B5EF4-FFF2-40B4-BE49-F238E27FC236}">
                <a16:creationId xmlns:a16="http://schemas.microsoft.com/office/drawing/2014/main" id="{E6D07BC1-5DE6-464A-995A-DFB6CDD83EBE}"/>
              </a:ext>
            </a:extLst>
          </p:cNvPr>
          <p:cNvSpPr>
            <a:spLocks noGrp="1"/>
          </p:cNvSpPr>
          <p:nvPr/>
        </p:nvSpPr>
        <p:spPr>
          <a:xfrm>
            <a:off x="7458075" y="3390900"/>
            <a:ext cx="171450" cy="190500"/>
          </a:xfrm>
          <a:prstGeom prst="downArrow">
            <a:avLst/>
          </a:prstGeom>
          <a:solidFill>
            <a:srgbClr val="697386"/>
          </a:solidFill>
          <a:ln w="0">
            <a:noFill/>
          </a:ln>
        </p:spPr>
        <p:txBody>
          <a:bodyPr/>
          <a:lstStyle/>
          <a:p>
            <a:endParaRPr lang="zh-CN" altLang="en-US"/>
          </a:p>
        </p:txBody>
      </p:sp>
      <p:sp>
        <p:nvSpPr>
          <p:cNvPr id="45" name="p0-108">
            <a:extLst>
              <a:ext uri="{FF2B5EF4-FFF2-40B4-BE49-F238E27FC236}">
                <a16:creationId xmlns:a16="http://schemas.microsoft.com/office/drawing/2014/main" id="{BBBAD201-052D-46AE-8710-E50EBFD53DF2}"/>
              </a:ext>
            </a:extLst>
          </p:cNvPr>
          <p:cNvSpPr>
            <a:spLocks noGrp="1"/>
          </p:cNvSpPr>
          <p:nvPr/>
        </p:nvSpPr>
        <p:spPr>
          <a:xfrm>
            <a:off x="6400800" y="3695700"/>
            <a:ext cx="2286000" cy="428625"/>
          </a:xfrm>
          <a:prstGeom prst="roundRect">
            <a:avLst>
              <a:gd name="adj" fmla="val 35556"/>
            </a:avLst>
          </a:prstGeom>
          <a:solidFill>
            <a:srgbClr val="F6F7FB"/>
          </a:solidFill>
          <a:ln w="0">
            <a:noFill/>
          </a:ln>
        </p:spPr>
        <p:txBody>
          <a:bodyPr/>
          <a:lstStyle/>
          <a:p>
            <a:endParaRPr lang="zh-CN" altLang="en-US"/>
          </a:p>
        </p:txBody>
      </p:sp>
      <p:sp>
        <p:nvSpPr>
          <p:cNvPr id="46" name="p0-109">
            <a:extLst>
              <a:ext uri="{FF2B5EF4-FFF2-40B4-BE49-F238E27FC236}">
                <a16:creationId xmlns:a16="http://schemas.microsoft.com/office/drawing/2014/main" id="{4CEF580D-BC67-4912-95FB-9772935ABE16}"/>
              </a:ext>
            </a:extLst>
          </p:cNvPr>
          <p:cNvSpPr>
            <a:spLocks noGrp="1"/>
          </p:cNvSpPr>
          <p:nvPr/>
        </p:nvSpPr>
        <p:spPr>
          <a:xfrm>
            <a:off x="6524625" y="3743325"/>
            <a:ext cx="2038350" cy="333375"/>
          </a:xfrm>
          <a:prstGeom prst="rect">
            <a:avLst/>
          </a:prstGeom>
          <a:noFill/>
          <a:ln w="0">
            <a:noFill/>
          </a:ln>
        </p:spPr>
        <p:txBody>
          <a:bodyPr lIns="0" tIns="0" rIns="0" bIns="0" anchor="ctr">
            <a:noAutofit/>
          </a:bodyPr>
          <a:lstStyle>
            <a:defPPr algn="ctr">
              <a:defRPr sz="1350" b="1">
                <a:solidFill>
                  <a:srgbClr val="1B1D63"/>
                </a:solidFill>
                <a:latin typeface="Arial"/>
                <a:ea typeface="Arial"/>
                <a:cs typeface="Arial"/>
              </a:defRPr>
            </a:defPPr>
          </a:lstStyle>
          <a:p>
            <a:pPr algn="ctr">
              <a:defRPr sz="1350" b="1">
                <a:solidFill>
                  <a:srgbClr val="1B1D63"/>
                </a:solidFill>
                <a:latin typeface="Arial"/>
                <a:ea typeface="Arial"/>
                <a:cs typeface="Arial"/>
              </a:defRPr>
            </a:pPr>
            <a:r>
              <a:rPr sz="1350" b="1">
                <a:solidFill>
                  <a:srgbClr val="1B1D63"/>
                </a:solidFill>
                <a:latin typeface="Arial"/>
                <a:ea typeface="Arial"/>
                <a:cs typeface="Arial"/>
              </a:rPr>
              <a:t>Mean each slot over time</a:t>
            </a:r>
          </a:p>
        </p:txBody>
      </p:sp>
      <p:sp>
        <p:nvSpPr>
          <p:cNvPr id="47" name="p0-110">
            <a:extLst>
              <a:ext uri="{FF2B5EF4-FFF2-40B4-BE49-F238E27FC236}">
                <a16:creationId xmlns:a16="http://schemas.microsoft.com/office/drawing/2014/main" id="{54C55274-0410-4015-B74B-260898218F22}"/>
              </a:ext>
            </a:extLst>
          </p:cNvPr>
          <p:cNvSpPr>
            <a:spLocks noGrp="1"/>
          </p:cNvSpPr>
          <p:nvPr/>
        </p:nvSpPr>
        <p:spPr>
          <a:xfrm>
            <a:off x="6400800" y="4219575"/>
            <a:ext cx="2286000" cy="428625"/>
          </a:xfrm>
          <a:prstGeom prst="roundRect">
            <a:avLst>
              <a:gd name="adj" fmla="val 35556"/>
            </a:avLst>
          </a:prstGeom>
          <a:solidFill>
            <a:srgbClr val="F6F7FB"/>
          </a:solidFill>
          <a:ln w="0">
            <a:noFill/>
          </a:ln>
        </p:spPr>
        <p:txBody>
          <a:bodyPr/>
          <a:lstStyle/>
          <a:p>
            <a:endParaRPr lang="zh-CN" altLang="en-US"/>
          </a:p>
        </p:txBody>
      </p:sp>
      <p:sp>
        <p:nvSpPr>
          <p:cNvPr id="48" name="p0-111">
            <a:extLst>
              <a:ext uri="{FF2B5EF4-FFF2-40B4-BE49-F238E27FC236}">
                <a16:creationId xmlns:a16="http://schemas.microsoft.com/office/drawing/2014/main" id="{BB85D87A-36AB-43FA-B932-C5709A9FB947}"/>
              </a:ext>
            </a:extLst>
          </p:cNvPr>
          <p:cNvSpPr>
            <a:spLocks noGrp="1"/>
          </p:cNvSpPr>
          <p:nvPr/>
        </p:nvSpPr>
        <p:spPr>
          <a:xfrm>
            <a:off x="6524625" y="4267200"/>
            <a:ext cx="2038350" cy="333375"/>
          </a:xfrm>
          <a:prstGeom prst="rect">
            <a:avLst/>
          </a:prstGeom>
          <a:noFill/>
          <a:ln w="0">
            <a:noFill/>
          </a:ln>
        </p:spPr>
        <p:txBody>
          <a:bodyPr lIns="0" tIns="0" rIns="0" bIns="0" anchor="ctr">
            <a:noAutofit/>
          </a:bodyPr>
          <a:lstStyle>
            <a:defPPr algn="ctr">
              <a:defRPr sz="1275" b="1">
                <a:solidFill>
                  <a:srgbClr val="1B1D63"/>
                </a:solidFill>
                <a:latin typeface="Arial"/>
                <a:ea typeface="Arial"/>
                <a:cs typeface="Arial"/>
              </a:defRPr>
            </a:defPPr>
          </a:lstStyle>
          <a:p>
            <a:pPr algn="ctr">
              <a:defRPr sz="1275" b="1">
                <a:solidFill>
                  <a:srgbClr val="1B1D63"/>
                </a:solidFill>
                <a:latin typeface="Arial"/>
                <a:ea typeface="Arial"/>
                <a:cs typeface="Arial"/>
              </a:defRPr>
            </a:pPr>
            <a:r>
              <a:rPr sz="1275" b="1">
                <a:solidFill>
                  <a:srgbClr val="1B1D63"/>
                </a:solidFill>
                <a:latin typeface="Arial"/>
                <a:ea typeface="Arial"/>
                <a:cs typeface="Arial"/>
              </a:rPr>
              <a:t>P([sum, |difference|])</a:t>
            </a:r>
          </a:p>
        </p:txBody>
      </p:sp>
      <p:sp>
        <p:nvSpPr>
          <p:cNvPr id="49" name="p0-112">
            <a:extLst>
              <a:ext uri="{FF2B5EF4-FFF2-40B4-BE49-F238E27FC236}">
                <a16:creationId xmlns:a16="http://schemas.microsoft.com/office/drawing/2014/main" id="{46519318-288C-4062-BA6C-36920E8B13AD}"/>
              </a:ext>
            </a:extLst>
          </p:cNvPr>
          <p:cNvSpPr>
            <a:spLocks noGrp="1"/>
          </p:cNvSpPr>
          <p:nvPr/>
        </p:nvSpPr>
        <p:spPr>
          <a:xfrm>
            <a:off x="6400800" y="4743450"/>
            <a:ext cx="2286000" cy="428625"/>
          </a:xfrm>
          <a:prstGeom prst="roundRect">
            <a:avLst>
              <a:gd name="adj" fmla="val 35556"/>
            </a:avLst>
          </a:prstGeom>
          <a:solidFill>
            <a:srgbClr val="E9EDF8"/>
          </a:solidFill>
          <a:ln w="0">
            <a:noFill/>
          </a:ln>
        </p:spPr>
        <p:txBody>
          <a:bodyPr/>
          <a:lstStyle/>
          <a:p>
            <a:endParaRPr lang="zh-CN" altLang="en-US"/>
          </a:p>
        </p:txBody>
      </p:sp>
      <p:sp>
        <p:nvSpPr>
          <p:cNvPr id="50" name="p0-113">
            <a:extLst>
              <a:ext uri="{FF2B5EF4-FFF2-40B4-BE49-F238E27FC236}">
                <a16:creationId xmlns:a16="http://schemas.microsoft.com/office/drawing/2014/main" id="{398F605B-1E0C-4F01-B9D1-B4AD8E362507}"/>
              </a:ext>
            </a:extLst>
          </p:cNvPr>
          <p:cNvSpPr>
            <a:spLocks noGrp="1"/>
          </p:cNvSpPr>
          <p:nvPr/>
        </p:nvSpPr>
        <p:spPr>
          <a:xfrm>
            <a:off x="6524625" y="4791075"/>
            <a:ext cx="2038350" cy="333375"/>
          </a:xfrm>
          <a:prstGeom prst="rect">
            <a:avLst/>
          </a:prstGeom>
          <a:noFill/>
          <a:ln w="0">
            <a:noFill/>
          </a:ln>
        </p:spPr>
        <p:txBody>
          <a:bodyPr lIns="0" tIns="0" rIns="0" bIns="0" anchor="ctr">
            <a:noAutofit/>
          </a:bodyPr>
          <a:lstStyle>
            <a:defPPr algn="ctr">
              <a:defRPr sz="1275" b="1">
                <a:solidFill>
                  <a:srgbClr val="1B1D63"/>
                </a:solidFill>
                <a:latin typeface="Arial"/>
                <a:ea typeface="Arial"/>
                <a:cs typeface="Arial"/>
              </a:defRPr>
            </a:defPPr>
          </a:lstStyle>
          <a:p>
            <a:pPr algn="ctr">
              <a:defRPr sz="1275" b="1">
                <a:solidFill>
                  <a:srgbClr val="1B1D63"/>
                </a:solidFill>
                <a:latin typeface="Arial"/>
                <a:ea typeface="Arial"/>
                <a:cs typeface="Arial"/>
              </a:defRPr>
            </a:pPr>
            <a:r>
              <a:rPr sz="1275" b="1">
                <a:solidFill>
                  <a:srgbClr val="1B1D63"/>
                </a:solidFill>
                <a:latin typeface="Arial"/>
                <a:ea typeface="Arial"/>
                <a:cs typeface="Arial"/>
              </a:rPr>
              <a:t>Residual add</a:t>
            </a:r>
          </a:p>
        </p:txBody>
      </p:sp>
      <p:sp>
        <p:nvSpPr>
          <p:cNvPr id="51" name="p0-114">
            <a:extLst>
              <a:ext uri="{FF2B5EF4-FFF2-40B4-BE49-F238E27FC236}">
                <a16:creationId xmlns:a16="http://schemas.microsoft.com/office/drawing/2014/main" id="{A84345B1-FE4D-4637-9623-41FB2B088EE8}"/>
              </a:ext>
            </a:extLst>
          </p:cNvPr>
          <p:cNvSpPr>
            <a:spLocks noGrp="1"/>
          </p:cNvSpPr>
          <p:nvPr/>
        </p:nvSpPr>
        <p:spPr>
          <a:xfrm>
            <a:off x="9124950" y="1438275"/>
            <a:ext cx="2590800" cy="4067175"/>
          </a:xfrm>
          <a:prstGeom prst="roundRect">
            <a:avLst>
              <a:gd name="adj" fmla="val 5882"/>
            </a:avLst>
          </a:prstGeom>
          <a:solidFill>
            <a:srgbClr val="FBE8EF"/>
          </a:solidFill>
          <a:ln w="11430">
            <a:solidFill>
              <a:srgbClr val="D9DDEA"/>
            </a:solidFill>
          </a:ln>
        </p:spPr>
        <p:txBody>
          <a:bodyPr/>
          <a:lstStyle/>
          <a:p>
            <a:endParaRPr lang="zh-CN" altLang="en-US"/>
          </a:p>
        </p:txBody>
      </p:sp>
      <p:sp>
        <p:nvSpPr>
          <p:cNvPr id="52" name="p0-115">
            <a:extLst>
              <a:ext uri="{FF2B5EF4-FFF2-40B4-BE49-F238E27FC236}">
                <a16:creationId xmlns:a16="http://schemas.microsoft.com/office/drawing/2014/main" id="{CB687FAF-B6F1-4EC4-A7F1-81A64F1C7988}"/>
              </a:ext>
            </a:extLst>
          </p:cNvPr>
          <p:cNvSpPr>
            <a:spLocks noGrp="1"/>
          </p:cNvSpPr>
          <p:nvPr/>
        </p:nvSpPr>
        <p:spPr>
          <a:xfrm>
            <a:off x="9315450" y="1600200"/>
            <a:ext cx="2209800" cy="390525"/>
          </a:xfrm>
          <a:prstGeom prst="rect">
            <a:avLst/>
          </a:prstGeom>
          <a:noFill/>
          <a:ln w="0">
            <a:noFill/>
          </a:ln>
        </p:spPr>
        <p:txBody>
          <a:bodyPr lIns="0" tIns="0" rIns="0" bIns="0" anchor="ctr">
            <a:noAutofit/>
          </a:bodyPr>
          <a:lstStyle>
            <a:defPPr algn="l">
              <a:defRPr sz="2100" b="1">
                <a:solidFill>
                  <a:srgbClr val="E31346"/>
                </a:solidFill>
                <a:latin typeface="Arial"/>
                <a:ea typeface="Arial"/>
                <a:cs typeface="Arial"/>
              </a:defRPr>
            </a:defPPr>
          </a:lstStyle>
          <a:p>
            <a:pPr algn="l">
              <a:defRPr sz="2100" b="1">
                <a:solidFill>
                  <a:srgbClr val="E31346"/>
                </a:solidFill>
                <a:latin typeface="Arial"/>
                <a:ea typeface="Arial"/>
                <a:cs typeface="Arial"/>
              </a:defRPr>
            </a:pPr>
            <a:r>
              <a:rPr sz="2100" b="1">
                <a:solidFill>
                  <a:srgbClr val="E31346"/>
                </a:solidFill>
                <a:latin typeface="Arial"/>
                <a:ea typeface="Arial"/>
                <a:cs typeface="Arial"/>
              </a:rPr>
              <a:t>E3 · TP-SPR</a:t>
            </a:r>
          </a:p>
        </p:txBody>
      </p:sp>
      <p:sp>
        <p:nvSpPr>
          <p:cNvPr id="53" name="p0-116">
            <a:extLst>
              <a:ext uri="{FF2B5EF4-FFF2-40B4-BE49-F238E27FC236}">
                <a16:creationId xmlns:a16="http://schemas.microsoft.com/office/drawing/2014/main" id="{884F7BC2-FC28-4D2E-8C97-D7EE0A0EE310}"/>
              </a:ext>
            </a:extLst>
          </p:cNvPr>
          <p:cNvSpPr>
            <a:spLocks noGrp="1"/>
          </p:cNvSpPr>
          <p:nvPr/>
        </p:nvSpPr>
        <p:spPr>
          <a:xfrm>
            <a:off x="9315450" y="2095500"/>
            <a:ext cx="2209800" cy="514350"/>
          </a:xfrm>
          <a:prstGeom prst="rect">
            <a:avLst/>
          </a:prstGeom>
          <a:noFill/>
          <a:ln w="0">
            <a:noFill/>
          </a:ln>
        </p:spPr>
        <p:txBody>
          <a:bodyPr lIns="0" tIns="0" rIns="0" bIns="0" anchor="ctr">
            <a:noAutofit/>
          </a:bodyPr>
          <a:lstStyle>
            <a:defPPr algn="l">
              <a:defRPr sz="1425" b="0">
                <a:solidFill>
                  <a:srgbClr val="697386"/>
                </a:solidFill>
                <a:latin typeface="Arial"/>
                <a:ea typeface="Arial"/>
                <a:cs typeface="Arial"/>
              </a:defRPr>
            </a:defPPr>
          </a:lstStyle>
          <a:p>
            <a:pPr algn="l">
              <a:defRPr sz="1425" b="0">
                <a:solidFill>
                  <a:srgbClr val="697386"/>
                </a:solidFill>
                <a:latin typeface="Arial"/>
                <a:ea typeface="Arial"/>
                <a:cs typeface="Arial"/>
              </a:defRPr>
            </a:pPr>
            <a:r>
              <a:rPr sz="1425" b="0">
                <a:solidFill>
                  <a:srgbClr val="697386"/>
                </a:solidFill>
                <a:latin typeface="Arial"/>
                <a:ea typeface="Arial"/>
                <a:cs typeface="Arial"/>
              </a:rPr>
              <a:t>Relation before time mean</a:t>
            </a:r>
          </a:p>
        </p:txBody>
      </p:sp>
      <p:sp>
        <p:nvSpPr>
          <p:cNvPr id="54" name="p0-117">
            <a:extLst>
              <a:ext uri="{FF2B5EF4-FFF2-40B4-BE49-F238E27FC236}">
                <a16:creationId xmlns:a16="http://schemas.microsoft.com/office/drawing/2014/main" id="{6DE06038-E637-4D0B-874F-8454FF0B6E5D}"/>
              </a:ext>
            </a:extLst>
          </p:cNvPr>
          <p:cNvSpPr>
            <a:spLocks noGrp="1"/>
          </p:cNvSpPr>
          <p:nvPr/>
        </p:nvSpPr>
        <p:spPr>
          <a:xfrm>
            <a:off x="9315450" y="2876550"/>
            <a:ext cx="942975" cy="409575"/>
          </a:xfrm>
          <a:prstGeom prst="roundRect">
            <a:avLst>
              <a:gd name="adj" fmla="val 37209"/>
            </a:avLst>
          </a:prstGeom>
          <a:solidFill>
            <a:srgbClr val="E9EDF8"/>
          </a:solidFill>
          <a:ln w="0">
            <a:noFill/>
          </a:ln>
        </p:spPr>
        <p:txBody>
          <a:bodyPr/>
          <a:lstStyle/>
          <a:p>
            <a:endParaRPr lang="zh-CN" altLang="en-US"/>
          </a:p>
        </p:txBody>
      </p:sp>
      <p:sp>
        <p:nvSpPr>
          <p:cNvPr id="55" name="p0-118">
            <a:extLst>
              <a:ext uri="{FF2B5EF4-FFF2-40B4-BE49-F238E27FC236}">
                <a16:creationId xmlns:a16="http://schemas.microsoft.com/office/drawing/2014/main" id="{69D718AC-D581-4B53-B8BF-4BF26D8E26F4}"/>
              </a:ext>
            </a:extLst>
          </p:cNvPr>
          <p:cNvSpPr>
            <a:spLocks noGrp="1"/>
          </p:cNvSpPr>
          <p:nvPr/>
        </p:nvSpPr>
        <p:spPr>
          <a:xfrm>
            <a:off x="9439275" y="2924175"/>
            <a:ext cx="695325" cy="314325"/>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A</a:t>
            </a:r>
          </a:p>
        </p:txBody>
      </p:sp>
      <p:sp>
        <p:nvSpPr>
          <p:cNvPr id="56" name="p0-119">
            <a:extLst>
              <a:ext uri="{FF2B5EF4-FFF2-40B4-BE49-F238E27FC236}">
                <a16:creationId xmlns:a16="http://schemas.microsoft.com/office/drawing/2014/main" id="{843F7094-5F87-4C3B-85F2-4B0441F468E6}"/>
              </a:ext>
            </a:extLst>
          </p:cNvPr>
          <p:cNvSpPr>
            <a:spLocks noGrp="1"/>
          </p:cNvSpPr>
          <p:nvPr/>
        </p:nvSpPr>
        <p:spPr>
          <a:xfrm>
            <a:off x="10515600" y="2876550"/>
            <a:ext cx="942975" cy="409575"/>
          </a:xfrm>
          <a:prstGeom prst="roundRect">
            <a:avLst>
              <a:gd name="adj" fmla="val 37209"/>
            </a:avLst>
          </a:prstGeom>
          <a:solidFill>
            <a:srgbClr val="E6F6F4"/>
          </a:solidFill>
          <a:ln w="0">
            <a:noFill/>
          </a:ln>
        </p:spPr>
        <p:txBody>
          <a:bodyPr/>
          <a:lstStyle/>
          <a:p>
            <a:endParaRPr lang="zh-CN" altLang="en-US"/>
          </a:p>
        </p:txBody>
      </p:sp>
      <p:sp>
        <p:nvSpPr>
          <p:cNvPr id="57" name="p0-120">
            <a:extLst>
              <a:ext uri="{FF2B5EF4-FFF2-40B4-BE49-F238E27FC236}">
                <a16:creationId xmlns:a16="http://schemas.microsoft.com/office/drawing/2014/main" id="{C4FEB984-A3B2-4B70-946B-80F140492B7A}"/>
              </a:ext>
            </a:extLst>
          </p:cNvPr>
          <p:cNvSpPr>
            <a:spLocks noGrp="1"/>
          </p:cNvSpPr>
          <p:nvPr/>
        </p:nvSpPr>
        <p:spPr>
          <a:xfrm>
            <a:off x="10639425" y="2924175"/>
            <a:ext cx="695325" cy="314325"/>
          </a:xfrm>
          <a:prstGeom prst="rect">
            <a:avLst/>
          </a:prstGeom>
          <a:noFill/>
          <a:ln w="0">
            <a:noFill/>
          </a:ln>
        </p:spPr>
        <p:txBody>
          <a:bodyPr lIns="0" tIns="0" rIns="0" bIns="0" anchor="ctr">
            <a:noAutofit/>
          </a:bodyPr>
          <a:lstStyle>
            <a:defPPr algn="ctr">
              <a:defRPr sz="1650" b="1">
                <a:solidFill>
                  <a:srgbClr val="38AFA2"/>
                </a:solidFill>
                <a:latin typeface="Arial"/>
                <a:ea typeface="Arial"/>
                <a:cs typeface="Arial"/>
              </a:defRPr>
            </a:defPPr>
          </a:lstStyle>
          <a:p>
            <a:pPr algn="ctr">
              <a:defRPr sz="1650" b="1">
                <a:solidFill>
                  <a:srgbClr val="38AFA2"/>
                </a:solidFill>
                <a:latin typeface="Arial"/>
                <a:ea typeface="Arial"/>
                <a:cs typeface="Arial"/>
              </a:defRPr>
            </a:pPr>
            <a:r>
              <a:rPr sz="1650" b="1">
                <a:solidFill>
                  <a:srgbClr val="38AFA2"/>
                </a:solidFill>
                <a:latin typeface="Arial"/>
                <a:ea typeface="Arial"/>
                <a:cs typeface="Arial"/>
              </a:rPr>
              <a:t>B</a:t>
            </a:r>
          </a:p>
        </p:txBody>
      </p:sp>
      <p:sp>
        <p:nvSpPr>
          <p:cNvPr id="58" name="p0-121">
            <a:extLst>
              <a:ext uri="{FF2B5EF4-FFF2-40B4-BE49-F238E27FC236}">
                <a16:creationId xmlns:a16="http://schemas.microsoft.com/office/drawing/2014/main" id="{557C8981-75FB-403C-8860-6C0E3CBB66A2}"/>
              </a:ext>
            </a:extLst>
          </p:cNvPr>
          <p:cNvSpPr>
            <a:spLocks noGrp="1"/>
          </p:cNvSpPr>
          <p:nvPr/>
        </p:nvSpPr>
        <p:spPr>
          <a:xfrm>
            <a:off x="10334625" y="3390900"/>
            <a:ext cx="171450" cy="190500"/>
          </a:xfrm>
          <a:prstGeom prst="downArrow">
            <a:avLst/>
          </a:prstGeom>
          <a:solidFill>
            <a:srgbClr val="697386"/>
          </a:solidFill>
          <a:ln w="0">
            <a:noFill/>
          </a:ln>
        </p:spPr>
        <p:txBody>
          <a:bodyPr/>
          <a:lstStyle/>
          <a:p>
            <a:endParaRPr lang="zh-CN" altLang="en-US"/>
          </a:p>
        </p:txBody>
      </p:sp>
      <p:sp>
        <p:nvSpPr>
          <p:cNvPr id="59" name="p0-122">
            <a:extLst>
              <a:ext uri="{FF2B5EF4-FFF2-40B4-BE49-F238E27FC236}">
                <a16:creationId xmlns:a16="http://schemas.microsoft.com/office/drawing/2014/main" id="{318B6CB6-1F16-429E-8619-C05C4F97A70C}"/>
              </a:ext>
            </a:extLst>
          </p:cNvPr>
          <p:cNvSpPr>
            <a:spLocks noGrp="1"/>
          </p:cNvSpPr>
          <p:nvPr/>
        </p:nvSpPr>
        <p:spPr>
          <a:xfrm>
            <a:off x="9277350" y="3695700"/>
            <a:ext cx="2286000" cy="428625"/>
          </a:xfrm>
          <a:prstGeom prst="roundRect">
            <a:avLst>
              <a:gd name="adj" fmla="val 35556"/>
            </a:avLst>
          </a:prstGeom>
          <a:solidFill>
            <a:srgbClr val="F6F7FB"/>
          </a:solidFill>
          <a:ln w="0">
            <a:noFill/>
          </a:ln>
        </p:spPr>
        <p:txBody>
          <a:bodyPr/>
          <a:lstStyle/>
          <a:p>
            <a:endParaRPr lang="zh-CN" altLang="en-US"/>
          </a:p>
        </p:txBody>
      </p:sp>
      <p:sp>
        <p:nvSpPr>
          <p:cNvPr id="60" name="p0-123">
            <a:extLst>
              <a:ext uri="{FF2B5EF4-FFF2-40B4-BE49-F238E27FC236}">
                <a16:creationId xmlns:a16="http://schemas.microsoft.com/office/drawing/2014/main" id="{7072513D-48F1-4858-8286-D697887FAFC2}"/>
              </a:ext>
            </a:extLst>
          </p:cNvPr>
          <p:cNvSpPr>
            <a:spLocks noGrp="1"/>
          </p:cNvSpPr>
          <p:nvPr/>
        </p:nvSpPr>
        <p:spPr>
          <a:xfrm>
            <a:off x="9401175" y="3743325"/>
            <a:ext cx="2038350" cy="333375"/>
          </a:xfrm>
          <a:prstGeom prst="rect">
            <a:avLst/>
          </a:prstGeom>
          <a:noFill/>
          <a:ln w="0">
            <a:noFill/>
          </a:ln>
        </p:spPr>
        <p:txBody>
          <a:bodyPr lIns="0" tIns="0" rIns="0" bIns="0" anchor="ctr">
            <a:noAutofit/>
          </a:bodyPr>
          <a:lstStyle>
            <a:defPPr algn="ctr">
              <a:defRPr sz="1350" b="1">
                <a:solidFill>
                  <a:srgbClr val="1B1D63"/>
                </a:solidFill>
                <a:latin typeface="Arial"/>
                <a:ea typeface="Arial"/>
                <a:cs typeface="Arial"/>
              </a:defRPr>
            </a:defPPr>
          </a:lstStyle>
          <a:p>
            <a:pPr algn="ctr">
              <a:defRPr sz="1350" b="1">
                <a:solidFill>
                  <a:srgbClr val="1B1D63"/>
                </a:solidFill>
                <a:latin typeface="Arial"/>
                <a:ea typeface="Arial"/>
                <a:cs typeface="Arial"/>
              </a:defRPr>
            </a:pPr>
            <a:r>
              <a:rPr sz="1350" b="1">
                <a:solidFill>
                  <a:srgbClr val="1B1D63"/>
                </a:solidFill>
                <a:latin typeface="Arial"/>
                <a:ea typeface="Arial"/>
                <a:cs typeface="Arial"/>
              </a:rPr>
              <a:t>[sum, |difference|] at t</a:t>
            </a:r>
          </a:p>
        </p:txBody>
      </p:sp>
      <p:sp>
        <p:nvSpPr>
          <p:cNvPr id="61" name="p0-124">
            <a:extLst>
              <a:ext uri="{FF2B5EF4-FFF2-40B4-BE49-F238E27FC236}">
                <a16:creationId xmlns:a16="http://schemas.microsoft.com/office/drawing/2014/main" id="{6A36B506-35E5-46B2-BD4F-26737C512DB8}"/>
              </a:ext>
            </a:extLst>
          </p:cNvPr>
          <p:cNvSpPr>
            <a:spLocks noGrp="1"/>
          </p:cNvSpPr>
          <p:nvPr/>
        </p:nvSpPr>
        <p:spPr>
          <a:xfrm>
            <a:off x="9277350" y="4219575"/>
            <a:ext cx="2286000" cy="428625"/>
          </a:xfrm>
          <a:prstGeom prst="roundRect">
            <a:avLst>
              <a:gd name="adj" fmla="val 35556"/>
            </a:avLst>
          </a:prstGeom>
          <a:solidFill>
            <a:srgbClr val="F6F7FB"/>
          </a:solidFill>
          <a:ln w="0">
            <a:noFill/>
          </a:ln>
        </p:spPr>
        <p:txBody>
          <a:bodyPr/>
          <a:lstStyle/>
          <a:p>
            <a:endParaRPr lang="zh-CN" altLang="en-US"/>
          </a:p>
        </p:txBody>
      </p:sp>
      <p:sp>
        <p:nvSpPr>
          <p:cNvPr id="62" name="p0-125">
            <a:extLst>
              <a:ext uri="{FF2B5EF4-FFF2-40B4-BE49-F238E27FC236}">
                <a16:creationId xmlns:a16="http://schemas.microsoft.com/office/drawing/2014/main" id="{64B78611-1583-4FA6-B33C-4E550858E3C9}"/>
              </a:ext>
            </a:extLst>
          </p:cNvPr>
          <p:cNvSpPr>
            <a:spLocks noGrp="1"/>
          </p:cNvSpPr>
          <p:nvPr/>
        </p:nvSpPr>
        <p:spPr>
          <a:xfrm>
            <a:off x="9401175" y="4267200"/>
            <a:ext cx="2038350" cy="333375"/>
          </a:xfrm>
          <a:prstGeom prst="rect">
            <a:avLst/>
          </a:prstGeom>
          <a:noFill/>
          <a:ln w="0">
            <a:noFill/>
          </a:ln>
        </p:spPr>
        <p:txBody>
          <a:bodyPr lIns="0" tIns="0" rIns="0" bIns="0" anchor="ctr">
            <a:noAutofit/>
          </a:bodyPr>
          <a:lstStyle>
            <a:defPPr algn="ctr">
              <a:defRPr sz="1275" b="1">
                <a:solidFill>
                  <a:srgbClr val="1B1D63"/>
                </a:solidFill>
                <a:latin typeface="Arial"/>
                <a:ea typeface="Arial"/>
                <a:cs typeface="Arial"/>
              </a:defRPr>
            </a:defPPr>
          </a:lstStyle>
          <a:p>
            <a:pPr algn="ctr">
              <a:defRPr sz="1275" b="1">
                <a:solidFill>
                  <a:srgbClr val="1B1D63"/>
                </a:solidFill>
                <a:latin typeface="Arial"/>
                <a:ea typeface="Arial"/>
                <a:cs typeface="Arial"/>
              </a:defRPr>
            </a:pPr>
            <a:r>
              <a:rPr sz="1275" b="1">
                <a:solidFill>
                  <a:srgbClr val="1B1D63"/>
                </a:solidFill>
                <a:latin typeface="Arial"/>
                <a:ea typeface="Arial"/>
                <a:cs typeface="Arial"/>
              </a:rPr>
              <a:t>Affine P, then mean time</a:t>
            </a:r>
          </a:p>
        </p:txBody>
      </p:sp>
      <p:sp>
        <p:nvSpPr>
          <p:cNvPr id="63" name="p0-126">
            <a:extLst>
              <a:ext uri="{FF2B5EF4-FFF2-40B4-BE49-F238E27FC236}">
                <a16:creationId xmlns:a16="http://schemas.microsoft.com/office/drawing/2014/main" id="{DCEE08B0-FF3C-4E2D-A35A-6A3ABEB88428}"/>
              </a:ext>
            </a:extLst>
          </p:cNvPr>
          <p:cNvSpPr>
            <a:spLocks noGrp="1"/>
          </p:cNvSpPr>
          <p:nvPr/>
        </p:nvSpPr>
        <p:spPr>
          <a:xfrm>
            <a:off x="9277350" y="4743450"/>
            <a:ext cx="2286000" cy="428625"/>
          </a:xfrm>
          <a:prstGeom prst="roundRect">
            <a:avLst>
              <a:gd name="adj" fmla="val 35556"/>
            </a:avLst>
          </a:prstGeom>
          <a:solidFill>
            <a:srgbClr val="E9EDF8"/>
          </a:solidFill>
          <a:ln w="0">
            <a:noFill/>
          </a:ln>
        </p:spPr>
        <p:txBody>
          <a:bodyPr/>
          <a:lstStyle/>
          <a:p>
            <a:endParaRPr lang="zh-CN" altLang="en-US"/>
          </a:p>
        </p:txBody>
      </p:sp>
      <p:sp>
        <p:nvSpPr>
          <p:cNvPr id="64" name="p0-127">
            <a:extLst>
              <a:ext uri="{FF2B5EF4-FFF2-40B4-BE49-F238E27FC236}">
                <a16:creationId xmlns:a16="http://schemas.microsoft.com/office/drawing/2014/main" id="{FDEFA9B5-58D1-4B2F-A770-1E87A6121219}"/>
              </a:ext>
            </a:extLst>
          </p:cNvPr>
          <p:cNvSpPr>
            <a:spLocks noGrp="1"/>
          </p:cNvSpPr>
          <p:nvPr/>
        </p:nvSpPr>
        <p:spPr>
          <a:xfrm>
            <a:off x="9401175" y="4791075"/>
            <a:ext cx="2038350" cy="333375"/>
          </a:xfrm>
          <a:prstGeom prst="rect">
            <a:avLst/>
          </a:prstGeom>
          <a:noFill/>
          <a:ln w="0">
            <a:noFill/>
          </a:ln>
        </p:spPr>
        <p:txBody>
          <a:bodyPr lIns="0" tIns="0" rIns="0" bIns="0" anchor="ctr">
            <a:noAutofit/>
          </a:bodyPr>
          <a:lstStyle>
            <a:defPPr algn="ctr">
              <a:defRPr sz="1275" b="1">
                <a:solidFill>
                  <a:srgbClr val="1B1D63"/>
                </a:solidFill>
                <a:latin typeface="Arial"/>
                <a:ea typeface="Arial"/>
                <a:cs typeface="Arial"/>
              </a:defRPr>
            </a:defPPr>
          </a:lstStyle>
          <a:p>
            <a:pPr algn="ctr">
              <a:defRPr sz="1275" b="1">
                <a:solidFill>
                  <a:srgbClr val="1B1D63"/>
                </a:solidFill>
                <a:latin typeface="Arial"/>
                <a:ea typeface="Arial"/>
                <a:cs typeface="Arial"/>
              </a:defRPr>
            </a:pPr>
            <a:r>
              <a:rPr sz="1275" b="1">
                <a:solidFill>
                  <a:srgbClr val="1B1D63"/>
                </a:solidFill>
                <a:latin typeface="Arial"/>
                <a:ea typeface="Arial"/>
                <a:cs typeface="Arial"/>
              </a:rPr>
              <a:t>Residual add</a:t>
            </a:r>
          </a:p>
        </p:txBody>
      </p:sp>
      <p:sp>
        <p:nvSpPr>
          <p:cNvPr id="65" name="p0-128">
            <a:extLst>
              <a:ext uri="{FF2B5EF4-FFF2-40B4-BE49-F238E27FC236}">
                <a16:creationId xmlns:a16="http://schemas.microsoft.com/office/drawing/2014/main" id="{C824E460-BC59-47EF-A9A2-3D523E0EB289}"/>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66" name="p0-129">
            <a:extLst>
              <a:ext uri="{FF2B5EF4-FFF2-40B4-BE49-F238E27FC236}">
                <a16:creationId xmlns:a16="http://schemas.microsoft.com/office/drawing/2014/main" id="{2D8048DA-0535-4FEE-B4F5-804E778DEEEB}"/>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725" b="1">
                <a:solidFill>
                  <a:srgbClr val="FFFFFF"/>
                </a:solidFill>
                <a:latin typeface="Arial"/>
                <a:ea typeface="Arial"/>
                <a:cs typeface="Arial"/>
              </a:defRPr>
            </a:def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E0-FT controls extra training; E2 and E3 compare aggregation at equal capacity</a:t>
            </a:r>
          </a:p>
        </p:txBody>
      </p:sp>
    </p:spTree>
    <p:extLst>
      <p:ext uri="{BB962C8B-B14F-4D97-AF65-F5344CB8AC3E}">
        <p14:creationId xmlns:p14="http://schemas.microsoft.com/office/powerpoint/2010/main" val="1429174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p0-130">
            <a:extLst>
              <a:ext uri="{FF2B5EF4-FFF2-40B4-BE49-F238E27FC236}">
                <a16:creationId xmlns:a16="http://schemas.microsoft.com/office/drawing/2014/main" id="{604C77A7-BB0B-4F9C-9CC3-F591A7F56DC4}"/>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p0-131">
            <a:extLst>
              <a:ext uri="{FF2B5EF4-FFF2-40B4-BE49-F238E27FC236}">
                <a16:creationId xmlns:a16="http://schemas.microsoft.com/office/drawing/2014/main" id="{E80B22AD-2C0C-4D9E-8AFA-F4DC1B6A818E}"/>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3" name="p0-132">
            <a:extLst>
              <a:ext uri="{FF2B5EF4-FFF2-40B4-BE49-F238E27FC236}">
                <a16:creationId xmlns:a16="http://schemas.microsoft.com/office/drawing/2014/main" id="{EDDF6CF6-1DAC-4EBD-8DEA-BE07ACA75B61}"/>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50" b="1">
                <a:solidFill>
                  <a:srgbClr val="1B1D63"/>
                </a:solidFill>
                <a:latin typeface="Arial"/>
                <a:ea typeface="Arial"/>
                <a:cs typeface="Arial"/>
              </a:defRPr>
            </a:defPPr>
          </a:lstStyle>
          <a:p>
            <a:pPr algn="l">
              <a:defRPr sz="2550" b="1">
                <a:solidFill>
                  <a:srgbClr val="1B1D63"/>
                </a:solidFill>
                <a:latin typeface="Arial"/>
                <a:ea typeface="Arial"/>
                <a:cs typeface="Arial"/>
              </a:defRPr>
            </a:pPr>
            <a:r>
              <a:rPr sz="2550" b="1">
                <a:solidFill>
                  <a:srgbClr val="1B1D63"/>
                </a:solidFill>
                <a:latin typeface="Arial"/>
                <a:ea typeface="Arial"/>
                <a:cs typeface="Arial"/>
              </a:rPr>
              <a:t>E2 vs E3 · What Can Time Averaging Erase?</a:t>
            </a:r>
          </a:p>
        </p:txBody>
      </p:sp>
      <p:sp>
        <p:nvSpPr>
          <p:cNvPr id="4" name="p0-133">
            <a:extLst>
              <a:ext uri="{FF2B5EF4-FFF2-40B4-BE49-F238E27FC236}">
                <a16:creationId xmlns:a16="http://schemas.microsoft.com/office/drawing/2014/main" id="{434EFA10-47D3-4224-9871-2E9E781B3CB9}"/>
              </a:ext>
            </a:extLst>
          </p:cNvPr>
          <p:cNvSpPr>
            <a:spLocks noGrp="1"/>
          </p:cNvSpPr>
          <p:nvPr/>
        </p:nvSpPr>
        <p:spPr>
          <a:xfrm>
            <a:off x="590550" y="723900"/>
            <a:ext cx="7239000" cy="219075"/>
          </a:xfrm>
          <a:prstGeom prst="rect">
            <a:avLst/>
          </a:prstGeom>
          <a:noFill/>
          <a:ln w="0">
            <a:noFill/>
          </a:ln>
        </p:spPr>
        <p:txBody>
          <a:bodyPr lIns="0" tIns="0" rIns="0" bIns="0" anchor="ctr">
            <a:noAutofit/>
          </a:bodyPr>
          <a:lstStyle>
            <a:defPPr algn="l">
              <a:defRPr sz="900" b="1">
                <a:solidFill>
                  <a:srgbClr val="E31346"/>
                </a:solidFill>
                <a:latin typeface="Arial"/>
                <a:ea typeface="Arial"/>
                <a:cs typeface="Arial"/>
              </a:defRPr>
            </a:defPPr>
          </a:lstStyle>
          <a:p>
            <a:pPr algn="l">
              <a:defRPr sz="900" b="1">
                <a:solidFill>
                  <a:srgbClr val="E31346"/>
                </a:solidFill>
                <a:latin typeface="Arial"/>
                <a:ea typeface="Arial"/>
                <a:cs typeface="Arial"/>
              </a:defRPr>
            </a:pPr>
            <a:r>
              <a:rPr sz="900" b="1">
                <a:solidFill>
                  <a:srgbClr val="E31346"/>
                </a:solidFill>
                <a:latin typeface="Arial"/>
                <a:ea typeface="Arial"/>
                <a:cs typeface="Arial"/>
              </a:rPr>
              <a:t>EE6008 · HUMAN POSE GROUP PROJECT</a:t>
            </a:r>
          </a:p>
        </p:txBody>
      </p:sp>
      <p:sp>
        <p:nvSpPr>
          <p:cNvPr id="5" name="p0-134">
            <a:extLst>
              <a:ext uri="{FF2B5EF4-FFF2-40B4-BE49-F238E27FC236}">
                <a16:creationId xmlns:a16="http://schemas.microsoft.com/office/drawing/2014/main" id="{4581CD90-BC4F-4F79-A660-BB56DD778FD4}"/>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pic>
        <p:nvPicPr>
          <p:cNvPr id="6" name="图片 5">
            <a:extLst>
              <a:ext uri="{FF2B5EF4-FFF2-40B4-BE49-F238E27FC236}">
                <a16:creationId xmlns:a16="http://schemas.microsoft.com/office/drawing/2014/main" id="{2F966946-71F7-4EFB-8A7A-A4D5CED47635}"/>
              </a:ext>
            </a:extLst>
          </p:cNvPr>
          <p:cNvPicPr>
            <a:picLocks noChangeAspect="1"/>
          </p:cNvPicPr>
          <p:nvPr/>
        </p:nvPicPr>
        <p:blipFill>
          <a:blip r:embed="rId3"/>
          <a:stretch/>
        </p:blipFill>
        <p:spPr>
          <a:xfrm>
            <a:off x="9696450" y="191381"/>
            <a:ext cx="2038350" cy="731663"/>
          </a:xfrm>
          <a:prstGeom prst="rect">
            <a:avLst/>
          </a:prstGeom>
        </p:spPr>
      </p:pic>
      <p:sp>
        <p:nvSpPr>
          <p:cNvPr id="7" name="p0-135">
            <a:extLst>
              <a:ext uri="{FF2B5EF4-FFF2-40B4-BE49-F238E27FC236}">
                <a16:creationId xmlns:a16="http://schemas.microsoft.com/office/drawing/2014/main" id="{12419A9B-C479-4D83-8AF7-E0287CD4909D}"/>
              </a:ext>
            </a:extLst>
          </p:cNvPr>
          <p:cNvSpPr>
            <a:spLocks noGrp="1"/>
          </p:cNvSpPr>
          <p:nvPr/>
        </p:nvSpPr>
        <p:spPr>
          <a:xfrm>
            <a:off x="590550" y="6591300"/>
            <a:ext cx="2857500" cy="219075"/>
          </a:xfrm>
          <a:prstGeom prst="rect">
            <a:avLst/>
          </a:prstGeom>
          <a:noFill/>
          <a:ln w="0">
            <a:noFill/>
          </a:ln>
        </p:spPr>
        <p:txBody>
          <a:bodyPr lIns="0" tIns="0" rIns="0" bIns="0" anchor="ctr">
            <a:noAutofit/>
          </a:bodyPr>
          <a:lstStyle>
            <a:defPPr algn="l">
              <a:defRPr sz="750" b="1">
                <a:solidFill>
                  <a:srgbClr val="FFFFFF"/>
                </a:solidFill>
                <a:latin typeface="Arial"/>
                <a:ea typeface="Arial"/>
                <a:cs typeface="Arial"/>
              </a:defRPr>
            </a:defP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p0-136">
            <a:extLst>
              <a:ext uri="{FF2B5EF4-FFF2-40B4-BE49-F238E27FC236}">
                <a16:creationId xmlns:a16="http://schemas.microsoft.com/office/drawing/2014/main" id="{DC406533-B8E8-42B3-96B1-F8D453EBDC23}"/>
              </a:ext>
            </a:extLst>
          </p:cNvPr>
          <p:cNvSpPr>
            <a:spLocks noGrp="1"/>
          </p:cNvSpPr>
          <p:nvPr/>
        </p:nvSpPr>
        <p:spPr>
          <a:xfrm>
            <a:off x="11049000" y="6591300"/>
            <a:ext cx="619125" cy="219075"/>
          </a:xfrm>
          <a:prstGeom prst="rect">
            <a:avLst/>
          </a:prstGeom>
          <a:noFill/>
          <a:ln w="0">
            <a:noFill/>
          </a:ln>
        </p:spPr>
        <p:txBody>
          <a:bodyPr lIns="0" tIns="0" rIns="0" bIns="0" anchor="ctr">
            <a:noAutofit/>
          </a:bodyPr>
          <a:lstStyle>
            <a:defPPr algn="r">
              <a:defRPr sz="750" b="1">
                <a:solidFill>
                  <a:srgbClr val="FFFFFF"/>
                </a:solidFill>
                <a:latin typeface="Arial"/>
                <a:ea typeface="Arial"/>
                <a:cs typeface="Arial"/>
              </a:defRPr>
            </a:defPPr>
          </a:lstStyle>
          <a:p>
            <a:pPr algn="r">
              <a:defRPr sz="750" b="1">
                <a:solidFill>
                  <a:srgbClr val="FFFFFF"/>
                </a:solidFill>
                <a:latin typeface="Arial"/>
                <a:ea typeface="Arial"/>
                <a:cs typeface="Arial"/>
              </a:defRPr>
            </a:pPr>
            <a:r>
              <a:rPr sz="750" b="1" dirty="0">
                <a:solidFill>
                  <a:srgbClr val="FFFFFF"/>
                </a:solidFill>
                <a:latin typeface="Arial"/>
                <a:ea typeface="Arial"/>
                <a:cs typeface="Arial"/>
              </a:rPr>
              <a:t>0</a:t>
            </a:r>
            <a:r>
              <a:rPr lang="en-US" sz="750" b="1" dirty="0">
                <a:solidFill>
                  <a:srgbClr val="FFFFFF"/>
                </a:solidFill>
                <a:latin typeface="Arial"/>
                <a:ea typeface="Arial"/>
                <a:cs typeface="Arial"/>
              </a:rPr>
              <a:t>6</a:t>
            </a:r>
            <a:endParaRPr sz="750" b="1" dirty="0">
              <a:solidFill>
                <a:srgbClr val="FFFFFF"/>
              </a:solidFill>
              <a:latin typeface="Arial"/>
              <a:ea typeface="Arial"/>
              <a:cs typeface="Arial"/>
            </a:endParaRPr>
          </a:p>
        </p:txBody>
      </p:sp>
      <p:sp>
        <p:nvSpPr>
          <p:cNvPr id="9" name="p0-137">
            <a:extLst>
              <a:ext uri="{FF2B5EF4-FFF2-40B4-BE49-F238E27FC236}">
                <a16:creationId xmlns:a16="http://schemas.microsoft.com/office/drawing/2014/main" id="{D052A314-A8EF-465B-B176-9B28D09FB736}"/>
              </a:ext>
            </a:extLst>
          </p:cNvPr>
          <p:cNvSpPr>
            <a:spLocks noGrp="1"/>
          </p:cNvSpPr>
          <p:nvPr/>
        </p:nvSpPr>
        <p:spPr>
          <a:xfrm>
            <a:off x="495300" y="1390650"/>
            <a:ext cx="11220450" cy="238125"/>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ILLUSTRATIVE FEATURE DIFFERENCE d(t) = h_A(t) − h_B(t)</a:t>
            </a:r>
          </a:p>
        </p:txBody>
      </p:sp>
      <p:sp>
        <p:nvSpPr>
          <p:cNvPr id="10" name="p0-138">
            <a:extLst>
              <a:ext uri="{FF2B5EF4-FFF2-40B4-BE49-F238E27FC236}">
                <a16:creationId xmlns:a16="http://schemas.microsoft.com/office/drawing/2014/main" id="{35826DB9-573B-4588-87DE-A62785DA78CD}"/>
              </a:ext>
            </a:extLst>
          </p:cNvPr>
          <p:cNvSpPr>
            <a:spLocks noGrp="1"/>
          </p:cNvSpPr>
          <p:nvPr/>
        </p:nvSpPr>
        <p:spPr>
          <a:xfrm>
            <a:off x="3076575" y="1895475"/>
            <a:ext cx="2200275" cy="409575"/>
          </a:xfrm>
          <a:prstGeom prst="roundRect">
            <a:avLst>
              <a:gd name="adj" fmla="val 37209"/>
            </a:avLst>
          </a:prstGeom>
          <a:solidFill>
            <a:srgbClr val="E9EDF8"/>
          </a:solidFill>
          <a:ln w="0">
            <a:noFill/>
          </a:ln>
        </p:spPr>
        <p:txBody>
          <a:bodyPr/>
          <a:lstStyle/>
          <a:p>
            <a:endParaRPr lang="zh-CN" altLang="en-US"/>
          </a:p>
        </p:txBody>
      </p:sp>
      <p:sp>
        <p:nvSpPr>
          <p:cNvPr id="11" name="p0-139">
            <a:extLst>
              <a:ext uri="{FF2B5EF4-FFF2-40B4-BE49-F238E27FC236}">
                <a16:creationId xmlns:a16="http://schemas.microsoft.com/office/drawing/2014/main" id="{D7F96475-902E-490B-9F8A-8BE245F65B42}"/>
              </a:ext>
            </a:extLst>
          </p:cNvPr>
          <p:cNvSpPr>
            <a:spLocks noGrp="1"/>
          </p:cNvSpPr>
          <p:nvPr/>
        </p:nvSpPr>
        <p:spPr>
          <a:xfrm>
            <a:off x="3200400" y="1943100"/>
            <a:ext cx="1952625" cy="314325"/>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t₁: +1</a:t>
            </a:r>
          </a:p>
        </p:txBody>
      </p:sp>
      <p:sp>
        <p:nvSpPr>
          <p:cNvPr id="12" name="p0-140">
            <a:extLst>
              <a:ext uri="{FF2B5EF4-FFF2-40B4-BE49-F238E27FC236}">
                <a16:creationId xmlns:a16="http://schemas.microsoft.com/office/drawing/2014/main" id="{84F3ADFB-983C-41FC-8831-ABED1ADF9C5D}"/>
              </a:ext>
            </a:extLst>
          </p:cNvPr>
          <p:cNvSpPr>
            <a:spLocks noGrp="1"/>
          </p:cNvSpPr>
          <p:nvPr/>
        </p:nvSpPr>
        <p:spPr>
          <a:xfrm>
            <a:off x="6781800" y="1895475"/>
            <a:ext cx="2200275" cy="409575"/>
          </a:xfrm>
          <a:prstGeom prst="roundRect">
            <a:avLst>
              <a:gd name="adj" fmla="val 37209"/>
            </a:avLst>
          </a:prstGeom>
          <a:solidFill>
            <a:srgbClr val="E6F6F4"/>
          </a:solidFill>
          <a:ln w="0">
            <a:noFill/>
          </a:ln>
        </p:spPr>
        <p:txBody>
          <a:bodyPr/>
          <a:lstStyle/>
          <a:p>
            <a:endParaRPr lang="zh-CN" altLang="en-US"/>
          </a:p>
        </p:txBody>
      </p:sp>
      <p:sp>
        <p:nvSpPr>
          <p:cNvPr id="13" name="p0-141">
            <a:extLst>
              <a:ext uri="{FF2B5EF4-FFF2-40B4-BE49-F238E27FC236}">
                <a16:creationId xmlns:a16="http://schemas.microsoft.com/office/drawing/2014/main" id="{86714FAA-C8D6-4F6E-BCE2-9979110CDDF5}"/>
              </a:ext>
            </a:extLst>
          </p:cNvPr>
          <p:cNvSpPr>
            <a:spLocks noGrp="1"/>
          </p:cNvSpPr>
          <p:nvPr/>
        </p:nvSpPr>
        <p:spPr>
          <a:xfrm>
            <a:off x="6905625" y="1943100"/>
            <a:ext cx="1952625" cy="314325"/>
          </a:xfrm>
          <a:prstGeom prst="rect">
            <a:avLst/>
          </a:prstGeom>
          <a:noFill/>
          <a:ln w="0">
            <a:noFill/>
          </a:ln>
        </p:spPr>
        <p:txBody>
          <a:bodyPr lIns="0" tIns="0" rIns="0" bIns="0" anchor="ctr">
            <a:noAutofit/>
          </a:bodyPr>
          <a:lstStyle>
            <a:defPPr algn="ctr">
              <a:defRPr sz="1650" b="1">
                <a:solidFill>
                  <a:srgbClr val="38AFA2"/>
                </a:solidFill>
                <a:latin typeface="Arial"/>
                <a:ea typeface="Arial"/>
                <a:cs typeface="Arial"/>
              </a:defRPr>
            </a:defPPr>
          </a:lstStyle>
          <a:p>
            <a:pPr algn="ctr">
              <a:defRPr sz="1650" b="1">
                <a:solidFill>
                  <a:srgbClr val="38AFA2"/>
                </a:solidFill>
                <a:latin typeface="Arial"/>
                <a:ea typeface="Arial"/>
                <a:cs typeface="Arial"/>
              </a:defRPr>
            </a:pPr>
            <a:r>
              <a:rPr sz="1650" b="1">
                <a:solidFill>
                  <a:srgbClr val="38AFA2"/>
                </a:solidFill>
                <a:latin typeface="Arial"/>
                <a:ea typeface="Arial"/>
                <a:cs typeface="Arial"/>
              </a:rPr>
              <a:t>t₂: −1</a:t>
            </a:r>
          </a:p>
        </p:txBody>
      </p:sp>
      <p:sp>
        <p:nvSpPr>
          <p:cNvPr id="14" name="p0-142">
            <a:extLst>
              <a:ext uri="{FF2B5EF4-FFF2-40B4-BE49-F238E27FC236}">
                <a16:creationId xmlns:a16="http://schemas.microsoft.com/office/drawing/2014/main" id="{90F76FB5-220C-4A30-BEBC-14C95BA66911}"/>
              </a:ext>
            </a:extLst>
          </p:cNvPr>
          <p:cNvSpPr>
            <a:spLocks noGrp="1"/>
          </p:cNvSpPr>
          <p:nvPr/>
        </p:nvSpPr>
        <p:spPr>
          <a:xfrm>
            <a:off x="495300" y="2781300"/>
            <a:ext cx="5467350" cy="2609850"/>
          </a:xfrm>
          <a:prstGeom prst="roundRect">
            <a:avLst>
              <a:gd name="adj" fmla="val 5839"/>
            </a:avLst>
          </a:prstGeom>
          <a:solidFill>
            <a:srgbClr val="E9EDF8"/>
          </a:solidFill>
          <a:ln w="0">
            <a:noFill/>
          </a:ln>
        </p:spPr>
        <p:txBody>
          <a:bodyPr/>
          <a:lstStyle/>
          <a:p>
            <a:endParaRPr lang="zh-CN" altLang="en-US"/>
          </a:p>
        </p:txBody>
      </p:sp>
      <p:sp>
        <p:nvSpPr>
          <p:cNvPr id="15" name="p0-143">
            <a:extLst>
              <a:ext uri="{FF2B5EF4-FFF2-40B4-BE49-F238E27FC236}">
                <a16:creationId xmlns:a16="http://schemas.microsoft.com/office/drawing/2014/main" id="{51874158-9043-463C-8380-969CE45EBC36}"/>
              </a:ext>
            </a:extLst>
          </p:cNvPr>
          <p:cNvSpPr>
            <a:spLocks noGrp="1"/>
          </p:cNvSpPr>
          <p:nvPr/>
        </p:nvSpPr>
        <p:spPr>
          <a:xfrm>
            <a:off x="6191250" y="2781300"/>
            <a:ext cx="5524500" cy="2609850"/>
          </a:xfrm>
          <a:prstGeom prst="roundRect">
            <a:avLst>
              <a:gd name="adj" fmla="val 5839"/>
            </a:avLst>
          </a:prstGeom>
          <a:solidFill>
            <a:srgbClr val="FBE8EF"/>
          </a:solidFill>
          <a:ln w="0">
            <a:noFill/>
          </a:ln>
        </p:spPr>
        <p:txBody>
          <a:bodyPr/>
          <a:lstStyle/>
          <a:p>
            <a:endParaRPr lang="zh-CN" altLang="en-US"/>
          </a:p>
        </p:txBody>
      </p:sp>
      <p:sp>
        <p:nvSpPr>
          <p:cNvPr id="16" name="p0-144">
            <a:extLst>
              <a:ext uri="{FF2B5EF4-FFF2-40B4-BE49-F238E27FC236}">
                <a16:creationId xmlns:a16="http://schemas.microsoft.com/office/drawing/2014/main" id="{CAC0C676-E86A-45FC-A38D-79FC0B6C82B7}"/>
              </a:ext>
            </a:extLst>
          </p:cNvPr>
          <p:cNvSpPr>
            <a:spLocks noGrp="1"/>
          </p:cNvSpPr>
          <p:nvPr/>
        </p:nvSpPr>
        <p:spPr>
          <a:xfrm>
            <a:off x="733425" y="2971800"/>
            <a:ext cx="4991100" cy="342900"/>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E2: average, then magnitude</a:t>
            </a:r>
          </a:p>
        </p:txBody>
      </p:sp>
      <p:sp>
        <p:nvSpPr>
          <p:cNvPr id="17" name="p0-145">
            <a:extLst>
              <a:ext uri="{FF2B5EF4-FFF2-40B4-BE49-F238E27FC236}">
                <a16:creationId xmlns:a16="http://schemas.microsoft.com/office/drawing/2014/main" id="{DFA5D051-C5C6-445F-9BD5-8A5196EF5FD8}"/>
              </a:ext>
            </a:extLst>
          </p:cNvPr>
          <p:cNvSpPr>
            <a:spLocks noGrp="1"/>
          </p:cNvSpPr>
          <p:nvPr/>
        </p:nvSpPr>
        <p:spPr>
          <a:xfrm>
            <a:off x="6429375" y="2971800"/>
            <a:ext cx="5048250" cy="342900"/>
          </a:xfrm>
          <a:prstGeom prst="rect">
            <a:avLst/>
          </a:prstGeom>
          <a:noFill/>
          <a:ln w="0">
            <a:noFill/>
          </a:ln>
        </p:spPr>
        <p:txBody>
          <a:bodyPr lIns="0" tIns="0" rIns="0" bIns="0" anchor="ctr">
            <a:noAutofit/>
          </a:bodyPr>
          <a:lstStyle>
            <a:defPPr algn="l">
              <a:defRPr sz="1950" b="1">
                <a:solidFill>
                  <a:srgbClr val="E31346"/>
                </a:solidFill>
                <a:latin typeface="Arial"/>
                <a:ea typeface="Arial"/>
                <a:cs typeface="Arial"/>
              </a:defRPr>
            </a:defPPr>
          </a:lstStyle>
          <a:p>
            <a:pPr algn="l">
              <a:defRPr sz="1950" b="1">
                <a:solidFill>
                  <a:srgbClr val="E31346"/>
                </a:solidFill>
                <a:latin typeface="Arial"/>
                <a:ea typeface="Arial"/>
                <a:cs typeface="Arial"/>
              </a:defRPr>
            </a:pPr>
            <a:r>
              <a:rPr sz="1950" b="1">
                <a:solidFill>
                  <a:srgbClr val="E31346"/>
                </a:solidFill>
                <a:latin typeface="Arial"/>
                <a:ea typeface="Arial"/>
                <a:cs typeface="Arial"/>
              </a:rPr>
              <a:t>E3: magnitude, then average</a:t>
            </a:r>
          </a:p>
        </p:txBody>
      </p:sp>
      <p:sp>
        <p:nvSpPr>
          <p:cNvPr id="18" name="p0-146">
            <a:extLst>
              <a:ext uri="{FF2B5EF4-FFF2-40B4-BE49-F238E27FC236}">
                <a16:creationId xmlns:a16="http://schemas.microsoft.com/office/drawing/2014/main" id="{FA395DF6-BB09-429F-B968-33CC326C9E2F}"/>
              </a:ext>
            </a:extLst>
          </p:cNvPr>
          <p:cNvSpPr>
            <a:spLocks noGrp="1"/>
          </p:cNvSpPr>
          <p:nvPr/>
        </p:nvSpPr>
        <p:spPr>
          <a:xfrm>
            <a:off x="733425" y="3590925"/>
            <a:ext cx="4991100" cy="523875"/>
          </a:xfrm>
          <a:prstGeom prst="roundRect">
            <a:avLst>
              <a:gd name="adj" fmla="val 29091"/>
            </a:avLst>
          </a:prstGeom>
          <a:solidFill>
            <a:srgbClr val="FFFFFF"/>
          </a:solidFill>
          <a:ln w="0">
            <a:noFill/>
          </a:ln>
        </p:spPr>
        <p:txBody>
          <a:bodyPr/>
          <a:lstStyle/>
          <a:p>
            <a:endParaRPr lang="zh-CN" altLang="en-US"/>
          </a:p>
        </p:txBody>
      </p:sp>
      <p:sp>
        <p:nvSpPr>
          <p:cNvPr id="19" name="p0-147">
            <a:extLst>
              <a:ext uri="{FF2B5EF4-FFF2-40B4-BE49-F238E27FC236}">
                <a16:creationId xmlns:a16="http://schemas.microsoft.com/office/drawing/2014/main" id="{4C4A1754-9C47-4AB2-BF6D-04A004283D56}"/>
              </a:ext>
            </a:extLst>
          </p:cNvPr>
          <p:cNvSpPr>
            <a:spLocks noGrp="1"/>
          </p:cNvSpPr>
          <p:nvPr/>
        </p:nvSpPr>
        <p:spPr>
          <a:xfrm>
            <a:off x="857250" y="3638550"/>
            <a:ext cx="4743450" cy="428625"/>
          </a:xfrm>
          <a:prstGeom prst="rect">
            <a:avLst/>
          </a:prstGeom>
          <a:noFill/>
          <a:ln w="0">
            <a:noFill/>
          </a:ln>
        </p:spPr>
        <p:txBody>
          <a:bodyPr lIns="0" tIns="0" rIns="0" bIns="0" anchor="ctr">
            <a:noAutofit/>
          </a:bodyPr>
          <a:lstStyle>
            <a:defPPr algn="ctr">
              <a:defRPr sz="2025" b="1">
                <a:solidFill>
                  <a:srgbClr val="1B1D63"/>
                </a:solidFill>
                <a:latin typeface="Arial"/>
                <a:ea typeface="Arial"/>
                <a:cs typeface="Arial"/>
              </a:defRPr>
            </a:defPPr>
          </a:lstStyle>
          <a:p>
            <a:pPr algn="ctr">
              <a:defRPr sz="2025" b="1">
                <a:solidFill>
                  <a:srgbClr val="1B1D63"/>
                </a:solidFill>
                <a:latin typeface="Arial"/>
                <a:ea typeface="Arial"/>
                <a:cs typeface="Arial"/>
              </a:defRPr>
            </a:pPr>
            <a:r>
              <a:rPr sz="2025" b="1">
                <a:solidFill>
                  <a:srgbClr val="1B1D63"/>
                </a:solidFill>
                <a:latin typeface="Arial"/>
                <a:ea typeface="Arial"/>
                <a:cs typeface="Arial"/>
              </a:rPr>
              <a:t>mean(+1, −1) = 0</a:t>
            </a:r>
          </a:p>
        </p:txBody>
      </p:sp>
      <p:sp>
        <p:nvSpPr>
          <p:cNvPr id="20" name="p0-148">
            <a:extLst>
              <a:ext uri="{FF2B5EF4-FFF2-40B4-BE49-F238E27FC236}">
                <a16:creationId xmlns:a16="http://schemas.microsoft.com/office/drawing/2014/main" id="{F1927E1E-F7B3-4FDB-8206-51FB348C0A8C}"/>
              </a:ext>
            </a:extLst>
          </p:cNvPr>
          <p:cNvSpPr>
            <a:spLocks noGrp="1"/>
          </p:cNvSpPr>
          <p:nvPr/>
        </p:nvSpPr>
        <p:spPr>
          <a:xfrm>
            <a:off x="3133725" y="4181475"/>
            <a:ext cx="171450" cy="209550"/>
          </a:xfrm>
          <a:prstGeom prst="downArrow">
            <a:avLst/>
          </a:prstGeom>
          <a:solidFill>
            <a:srgbClr val="697386"/>
          </a:solidFill>
          <a:ln w="0">
            <a:noFill/>
          </a:ln>
        </p:spPr>
        <p:txBody>
          <a:bodyPr/>
          <a:lstStyle/>
          <a:p>
            <a:endParaRPr lang="zh-CN" altLang="en-US"/>
          </a:p>
        </p:txBody>
      </p:sp>
      <p:sp>
        <p:nvSpPr>
          <p:cNvPr id="21" name="p0-149">
            <a:extLst>
              <a:ext uri="{FF2B5EF4-FFF2-40B4-BE49-F238E27FC236}">
                <a16:creationId xmlns:a16="http://schemas.microsoft.com/office/drawing/2014/main" id="{DE85A022-2C73-43F7-880C-D40AE5AF91C0}"/>
              </a:ext>
            </a:extLst>
          </p:cNvPr>
          <p:cNvSpPr>
            <a:spLocks noGrp="1"/>
          </p:cNvSpPr>
          <p:nvPr/>
        </p:nvSpPr>
        <p:spPr>
          <a:xfrm>
            <a:off x="733425" y="4562475"/>
            <a:ext cx="4991100" cy="561975"/>
          </a:xfrm>
          <a:prstGeom prst="roundRect">
            <a:avLst>
              <a:gd name="adj" fmla="val 27119"/>
            </a:avLst>
          </a:prstGeom>
          <a:solidFill>
            <a:srgbClr val="FFFFFF"/>
          </a:solidFill>
          <a:ln w="0">
            <a:noFill/>
          </a:ln>
        </p:spPr>
        <p:txBody>
          <a:bodyPr/>
          <a:lstStyle/>
          <a:p>
            <a:endParaRPr lang="zh-CN" altLang="en-US"/>
          </a:p>
        </p:txBody>
      </p:sp>
      <p:sp>
        <p:nvSpPr>
          <p:cNvPr id="22" name="p0-150">
            <a:extLst>
              <a:ext uri="{FF2B5EF4-FFF2-40B4-BE49-F238E27FC236}">
                <a16:creationId xmlns:a16="http://schemas.microsoft.com/office/drawing/2014/main" id="{B1D4CE90-6572-4DB7-8F9B-8EEC6F629D75}"/>
              </a:ext>
            </a:extLst>
          </p:cNvPr>
          <p:cNvSpPr>
            <a:spLocks noGrp="1"/>
          </p:cNvSpPr>
          <p:nvPr/>
        </p:nvSpPr>
        <p:spPr>
          <a:xfrm>
            <a:off x="857250" y="4610100"/>
            <a:ext cx="4743450" cy="466725"/>
          </a:xfrm>
          <a:prstGeom prst="rect">
            <a:avLst/>
          </a:prstGeom>
          <a:noFill/>
          <a:ln w="0">
            <a:noFill/>
          </a:ln>
        </p:spPr>
        <p:txBody>
          <a:bodyPr lIns="0" tIns="0" rIns="0" bIns="0" anchor="ctr">
            <a:noAutofit/>
          </a:bodyPr>
          <a:lstStyle>
            <a:defPPr algn="ctr">
              <a:defRPr sz="2325" b="1">
                <a:solidFill>
                  <a:srgbClr val="1B1D63"/>
                </a:solidFill>
                <a:latin typeface="Arial"/>
                <a:ea typeface="Arial"/>
                <a:cs typeface="Arial"/>
              </a:defRPr>
            </a:defPPr>
          </a:lstStyle>
          <a:p>
            <a:pPr algn="ctr">
              <a:defRPr sz="2325" b="1">
                <a:solidFill>
                  <a:srgbClr val="1B1D63"/>
                </a:solidFill>
                <a:latin typeface="Arial"/>
                <a:ea typeface="Arial"/>
                <a:cs typeface="Arial"/>
              </a:defRPr>
            </a:pPr>
            <a:r>
              <a:rPr sz="2325" b="1">
                <a:solidFill>
                  <a:srgbClr val="1B1D63"/>
                </a:solidFill>
                <a:latin typeface="Arial"/>
                <a:ea typeface="Arial"/>
                <a:cs typeface="Arial"/>
              </a:rPr>
              <a:t>|0| = 0</a:t>
            </a:r>
          </a:p>
        </p:txBody>
      </p:sp>
      <p:sp>
        <p:nvSpPr>
          <p:cNvPr id="23" name="p0-151">
            <a:extLst>
              <a:ext uri="{FF2B5EF4-FFF2-40B4-BE49-F238E27FC236}">
                <a16:creationId xmlns:a16="http://schemas.microsoft.com/office/drawing/2014/main" id="{C9AF21DF-28AC-47BA-BEF4-81E6A0D8A36D}"/>
              </a:ext>
            </a:extLst>
          </p:cNvPr>
          <p:cNvSpPr>
            <a:spLocks noGrp="1"/>
          </p:cNvSpPr>
          <p:nvPr/>
        </p:nvSpPr>
        <p:spPr>
          <a:xfrm>
            <a:off x="6429375" y="3590925"/>
            <a:ext cx="5048250" cy="523875"/>
          </a:xfrm>
          <a:prstGeom prst="roundRect">
            <a:avLst>
              <a:gd name="adj" fmla="val 29091"/>
            </a:avLst>
          </a:prstGeom>
          <a:solidFill>
            <a:srgbClr val="FFFFFF"/>
          </a:solidFill>
          <a:ln w="0">
            <a:noFill/>
          </a:ln>
        </p:spPr>
        <p:txBody>
          <a:bodyPr/>
          <a:lstStyle/>
          <a:p>
            <a:endParaRPr lang="zh-CN" altLang="en-US"/>
          </a:p>
        </p:txBody>
      </p:sp>
      <p:sp>
        <p:nvSpPr>
          <p:cNvPr id="24" name="p0-152">
            <a:extLst>
              <a:ext uri="{FF2B5EF4-FFF2-40B4-BE49-F238E27FC236}">
                <a16:creationId xmlns:a16="http://schemas.microsoft.com/office/drawing/2014/main" id="{7FC5A2BF-5F57-4DFE-BF48-7B975D1A6C59}"/>
              </a:ext>
            </a:extLst>
          </p:cNvPr>
          <p:cNvSpPr>
            <a:spLocks noGrp="1"/>
          </p:cNvSpPr>
          <p:nvPr/>
        </p:nvSpPr>
        <p:spPr>
          <a:xfrm>
            <a:off x="6553200" y="3638550"/>
            <a:ext cx="4800600" cy="428625"/>
          </a:xfrm>
          <a:prstGeom prst="rect">
            <a:avLst/>
          </a:prstGeom>
          <a:noFill/>
          <a:ln w="0">
            <a:noFill/>
          </a:ln>
        </p:spPr>
        <p:txBody>
          <a:bodyPr lIns="0" tIns="0" rIns="0" bIns="0" anchor="ctr">
            <a:noAutofit/>
          </a:bodyPr>
          <a:lstStyle>
            <a:defPPr algn="ctr">
              <a:defRPr sz="2025" b="1">
                <a:solidFill>
                  <a:srgbClr val="E31346"/>
                </a:solidFill>
                <a:latin typeface="Arial"/>
                <a:ea typeface="Arial"/>
                <a:cs typeface="Arial"/>
              </a:defRPr>
            </a:defPPr>
          </a:lstStyle>
          <a:p>
            <a:pPr algn="ctr">
              <a:defRPr sz="2025" b="1">
                <a:solidFill>
                  <a:srgbClr val="E31346"/>
                </a:solidFill>
                <a:latin typeface="Arial"/>
                <a:ea typeface="Arial"/>
                <a:cs typeface="Arial"/>
              </a:defRPr>
            </a:pPr>
            <a:r>
              <a:rPr sz="2025" b="1">
                <a:solidFill>
                  <a:srgbClr val="E31346"/>
                </a:solidFill>
                <a:latin typeface="Arial"/>
                <a:ea typeface="Arial"/>
                <a:cs typeface="Arial"/>
              </a:rPr>
              <a:t>|+1| = 1    |−1| = 1</a:t>
            </a:r>
          </a:p>
        </p:txBody>
      </p:sp>
      <p:sp>
        <p:nvSpPr>
          <p:cNvPr id="25" name="p0-153">
            <a:extLst>
              <a:ext uri="{FF2B5EF4-FFF2-40B4-BE49-F238E27FC236}">
                <a16:creationId xmlns:a16="http://schemas.microsoft.com/office/drawing/2014/main" id="{5466312F-7FD0-4E88-9B1D-0834479ACA39}"/>
              </a:ext>
            </a:extLst>
          </p:cNvPr>
          <p:cNvSpPr>
            <a:spLocks noGrp="1"/>
          </p:cNvSpPr>
          <p:nvPr/>
        </p:nvSpPr>
        <p:spPr>
          <a:xfrm>
            <a:off x="8867775" y="4181475"/>
            <a:ext cx="171450" cy="209550"/>
          </a:xfrm>
          <a:prstGeom prst="downArrow">
            <a:avLst/>
          </a:prstGeom>
          <a:solidFill>
            <a:srgbClr val="697386"/>
          </a:solidFill>
          <a:ln w="0">
            <a:noFill/>
          </a:ln>
        </p:spPr>
        <p:txBody>
          <a:bodyPr/>
          <a:lstStyle/>
          <a:p>
            <a:endParaRPr lang="zh-CN" altLang="en-US"/>
          </a:p>
        </p:txBody>
      </p:sp>
      <p:sp>
        <p:nvSpPr>
          <p:cNvPr id="26" name="p0-154">
            <a:extLst>
              <a:ext uri="{FF2B5EF4-FFF2-40B4-BE49-F238E27FC236}">
                <a16:creationId xmlns:a16="http://schemas.microsoft.com/office/drawing/2014/main" id="{F8B96AF5-2061-4926-A4C1-D702208924BD}"/>
              </a:ext>
            </a:extLst>
          </p:cNvPr>
          <p:cNvSpPr>
            <a:spLocks noGrp="1"/>
          </p:cNvSpPr>
          <p:nvPr/>
        </p:nvSpPr>
        <p:spPr>
          <a:xfrm>
            <a:off x="6429375" y="4562475"/>
            <a:ext cx="5048250" cy="561975"/>
          </a:xfrm>
          <a:prstGeom prst="roundRect">
            <a:avLst>
              <a:gd name="adj" fmla="val 27119"/>
            </a:avLst>
          </a:prstGeom>
          <a:solidFill>
            <a:srgbClr val="FFFFFF"/>
          </a:solidFill>
          <a:ln w="0">
            <a:noFill/>
          </a:ln>
        </p:spPr>
        <p:txBody>
          <a:bodyPr/>
          <a:lstStyle/>
          <a:p>
            <a:endParaRPr lang="zh-CN" altLang="en-US"/>
          </a:p>
        </p:txBody>
      </p:sp>
      <p:sp>
        <p:nvSpPr>
          <p:cNvPr id="27" name="p0-155">
            <a:extLst>
              <a:ext uri="{FF2B5EF4-FFF2-40B4-BE49-F238E27FC236}">
                <a16:creationId xmlns:a16="http://schemas.microsoft.com/office/drawing/2014/main" id="{85D4C69A-DFB2-42C2-B19D-444775F845A3}"/>
              </a:ext>
            </a:extLst>
          </p:cNvPr>
          <p:cNvSpPr>
            <a:spLocks noGrp="1"/>
          </p:cNvSpPr>
          <p:nvPr/>
        </p:nvSpPr>
        <p:spPr>
          <a:xfrm>
            <a:off x="6553200" y="4610100"/>
            <a:ext cx="4800600" cy="466725"/>
          </a:xfrm>
          <a:prstGeom prst="rect">
            <a:avLst/>
          </a:prstGeom>
          <a:noFill/>
          <a:ln w="0">
            <a:noFill/>
          </a:ln>
        </p:spPr>
        <p:txBody>
          <a:bodyPr lIns="0" tIns="0" rIns="0" bIns="0" anchor="ctr">
            <a:noAutofit/>
          </a:bodyPr>
          <a:lstStyle>
            <a:defPPr algn="ctr">
              <a:defRPr sz="2325" b="1">
                <a:solidFill>
                  <a:srgbClr val="E31346"/>
                </a:solidFill>
                <a:latin typeface="Arial"/>
                <a:ea typeface="Arial"/>
                <a:cs typeface="Arial"/>
              </a:defRPr>
            </a:defPPr>
          </a:lstStyle>
          <a:p>
            <a:pPr algn="ctr">
              <a:defRPr sz="2325" b="1">
                <a:solidFill>
                  <a:srgbClr val="E31346"/>
                </a:solidFill>
                <a:latin typeface="Arial"/>
                <a:ea typeface="Arial"/>
                <a:cs typeface="Arial"/>
              </a:defRPr>
            </a:pPr>
            <a:r>
              <a:rPr sz="2325" b="1">
                <a:solidFill>
                  <a:srgbClr val="E31346"/>
                </a:solidFill>
                <a:latin typeface="Arial"/>
                <a:ea typeface="Arial"/>
                <a:cs typeface="Arial"/>
              </a:rPr>
              <a:t>mean(1, 1) = 1</a:t>
            </a:r>
          </a:p>
        </p:txBody>
      </p:sp>
      <p:sp>
        <p:nvSpPr>
          <p:cNvPr id="28" name="p0-156">
            <a:extLst>
              <a:ext uri="{FF2B5EF4-FFF2-40B4-BE49-F238E27FC236}">
                <a16:creationId xmlns:a16="http://schemas.microsoft.com/office/drawing/2014/main" id="{50EDCA53-13D0-4F91-8331-1C41F788F06C}"/>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29" name="p0-157">
            <a:extLst>
              <a:ext uri="{FF2B5EF4-FFF2-40B4-BE49-F238E27FC236}">
                <a16:creationId xmlns:a16="http://schemas.microsoft.com/office/drawing/2014/main" id="{1B3FC776-7A2F-4C3D-99A2-48857C0B622B}"/>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E3 retains average difference magnitude; temporal order is still absent</a:t>
            </a:r>
          </a:p>
        </p:txBody>
      </p:sp>
    </p:spTree>
    <p:extLst>
      <p:ext uri="{BB962C8B-B14F-4D97-AF65-F5344CB8AC3E}">
        <p14:creationId xmlns:p14="http://schemas.microsoft.com/office/powerpoint/2010/main" val="1292762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p0-158">
            <a:extLst>
              <a:ext uri="{FF2B5EF4-FFF2-40B4-BE49-F238E27FC236}">
                <a16:creationId xmlns:a16="http://schemas.microsoft.com/office/drawing/2014/main" id="{133278A4-CEED-4612-A2DC-C45DE7B7F3BA}"/>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p0-159">
            <a:extLst>
              <a:ext uri="{FF2B5EF4-FFF2-40B4-BE49-F238E27FC236}">
                <a16:creationId xmlns:a16="http://schemas.microsoft.com/office/drawing/2014/main" id="{611631D4-2340-432A-859C-CB285C60F800}"/>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3" name="p0-160">
            <a:extLst>
              <a:ext uri="{FF2B5EF4-FFF2-40B4-BE49-F238E27FC236}">
                <a16:creationId xmlns:a16="http://schemas.microsoft.com/office/drawing/2014/main" id="{335BA443-E615-4169-8F47-4E0EEB7D6290}"/>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50" b="1">
                <a:solidFill>
                  <a:srgbClr val="1B1D63"/>
                </a:solidFill>
                <a:latin typeface="Arial"/>
                <a:ea typeface="Arial"/>
                <a:cs typeface="Arial"/>
              </a:defRPr>
            </a:defPPr>
          </a:lstStyle>
          <a:p>
            <a:pPr algn="l">
              <a:defRPr sz="2550" b="1">
                <a:solidFill>
                  <a:srgbClr val="1B1D63"/>
                </a:solidFill>
                <a:latin typeface="Arial"/>
                <a:ea typeface="Arial"/>
                <a:cs typeface="Arial"/>
              </a:defRPr>
            </a:pPr>
            <a:r>
              <a:rPr sz="2550" b="1">
                <a:solidFill>
                  <a:srgbClr val="1B1D63"/>
                </a:solidFill>
                <a:latin typeface="Arial"/>
                <a:ea typeface="Arial"/>
                <a:cs typeface="Arial"/>
              </a:rPr>
              <a:t>P0 · Matched Training, Then Functional Diagnosis</a:t>
            </a:r>
          </a:p>
        </p:txBody>
      </p:sp>
      <p:sp>
        <p:nvSpPr>
          <p:cNvPr id="4" name="p0-161">
            <a:extLst>
              <a:ext uri="{FF2B5EF4-FFF2-40B4-BE49-F238E27FC236}">
                <a16:creationId xmlns:a16="http://schemas.microsoft.com/office/drawing/2014/main" id="{1F42DBA1-8AF1-4D0E-8268-13BF7FE1817B}"/>
              </a:ext>
            </a:extLst>
          </p:cNvPr>
          <p:cNvSpPr>
            <a:spLocks noGrp="1"/>
          </p:cNvSpPr>
          <p:nvPr/>
        </p:nvSpPr>
        <p:spPr>
          <a:xfrm>
            <a:off x="590550" y="723900"/>
            <a:ext cx="7239000" cy="219075"/>
          </a:xfrm>
          <a:prstGeom prst="rect">
            <a:avLst/>
          </a:prstGeom>
          <a:noFill/>
          <a:ln w="0">
            <a:noFill/>
          </a:ln>
        </p:spPr>
        <p:txBody>
          <a:bodyPr lIns="0" tIns="0" rIns="0" bIns="0" anchor="ctr">
            <a:noAutofit/>
          </a:bodyPr>
          <a:lstStyle>
            <a:defPPr algn="l">
              <a:defRPr sz="900" b="1">
                <a:solidFill>
                  <a:srgbClr val="E31346"/>
                </a:solidFill>
                <a:latin typeface="Arial"/>
                <a:ea typeface="Arial"/>
                <a:cs typeface="Arial"/>
              </a:defRPr>
            </a:defPPr>
          </a:lstStyle>
          <a:p>
            <a:pPr algn="l">
              <a:defRPr sz="900" b="1">
                <a:solidFill>
                  <a:srgbClr val="E31346"/>
                </a:solidFill>
                <a:latin typeface="Arial"/>
                <a:ea typeface="Arial"/>
                <a:cs typeface="Arial"/>
              </a:defRPr>
            </a:pPr>
            <a:r>
              <a:rPr sz="900" b="1">
                <a:solidFill>
                  <a:srgbClr val="E31346"/>
                </a:solidFill>
                <a:latin typeface="Arial"/>
                <a:ea typeface="Arial"/>
                <a:cs typeface="Arial"/>
              </a:rPr>
              <a:t>EE6008 · HUMAN POSE GROUP PROJECT</a:t>
            </a:r>
          </a:p>
        </p:txBody>
      </p:sp>
      <p:sp>
        <p:nvSpPr>
          <p:cNvPr id="5" name="p0-162">
            <a:extLst>
              <a:ext uri="{FF2B5EF4-FFF2-40B4-BE49-F238E27FC236}">
                <a16:creationId xmlns:a16="http://schemas.microsoft.com/office/drawing/2014/main" id="{64FD9120-BD76-4680-A356-1DB58F0F85FC}"/>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pic>
        <p:nvPicPr>
          <p:cNvPr id="6" name="图片 5">
            <a:extLst>
              <a:ext uri="{FF2B5EF4-FFF2-40B4-BE49-F238E27FC236}">
                <a16:creationId xmlns:a16="http://schemas.microsoft.com/office/drawing/2014/main" id="{D0586EDE-68A7-4EEC-9408-E45773B97A19}"/>
              </a:ext>
            </a:extLst>
          </p:cNvPr>
          <p:cNvPicPr>
            <a:picLocks noChangeAspect="1"/>
          </p:cNvPicPr>
          <p:nvPr/>
        </p:nvPicPr>
        <p:blipFill>
          <a:blip r:embed="rId3"/>
          <a:stretch/>
        </p:blipFill>
        <p:spPr>
          <a:xfrm>
            <a:off x="9696450" y="191381"/>
            <a:ext cx="2038350" cy="731663"/>
          </a:xfrm>
          <a:prstGeom prst="rect">
            <a:avLst/>
          </a:prstGeom>
        </p:spPr>
      </p:pic>
      <p:sp>
        <p:nvSpPr>
          <p:cNvPr id="7" name="p0-163">
            <a:extLst>
              <a:ext uri="{FF2B5EF4-FFF2-40B4-BE49-F238E27FC236}">
                <a16:creationId xmlns:a16="http://schemas.microsoft.com/office/drawing/2014/main" id="{424D0C46-D3A5-45A8-91D1-E96430FC1CDA}"/>
              </a:ext>
            </a:extLst>
          </p:cNvPr>
          <p:cNvSpPr>
            <a:spLocks noGrp="1"/>
          </p:cNvSpPr>
          <p:nvPr/>
        </p:nvSpPr>
        <p:spPr>
          <a:xfrm>
            <a:off x="590550" y="6591300"/>
            <a:ext cx="2857500" cy="219075"/>
          </a:xfrm>
          <a:prstGeom prst="rect">
            <a:avLst/>
          </a:prstGeom>
          <a:noFill/>
          <a:ln w="0">
            <a:noFill/>
          </a:ln>
        </p:spPr>
        <p:txBody>
          <a:bodyPr lIns="0" tIns="0" rIns="0" bIns="0" anchor="ctr">
            <a:noAutofit/>
          </a:bodyPr>
          <a:lstStyle>
            <a:defPPr algn="l">
              <a:defRPr sz="750" b="1">
                <a:solidFill>
                  <a:srgbClr val="FFFFFF"/>
                </a:solidFill>
                <a:latin typeface="Arial"/>
                <a:ea typeface="Arial"/>
                <a:cs typeface="Arial"/>
              </a:defRPr>
            </a:defP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p0-164">
            <a:extLst>
              <a:ext uri="{FF2B5EF4-FFF2-40B4-BE49-F238E27FC236}">
                <a16:creationId xmlns:a16="http://schemas.microsoft.com/office/drawing/2014/main" id="{73C7AA64-EF79-4FCC-B2E1-B1F84AA21E0F}"/>
              </a:ext>
            </a:extLst>
          </p:cNvPr>
          <p:cNvSpPr>
            <a:spLocks noGrp="1"/>
          </p:cNvSpPr>
          <p:nvPr/>
        </p:nvSpPr>
        <p:spPr>
          <a:xfrm>
            <a:off x="11049000" y="6591300"/>
            <a:ext cx="619125" cy="219075"/>
          </a:xfrm>
          <a:prstGeom prst="rect">
            <a:avLst/>
          </a:prstGeom>
          <a:noFill/>
          <a:ln w="0">
            <a:noFill/>
          </a:ln>
        </p:spPr>
        <p:txBody>
          <a:bodyPr lIns="0" tIns="0" rIns="0" bIns="0" anchor="ctr">
            <a:noAutofit/>
          </a:bodyPr>
          <a:lstStyle>
            <a:defPPr algn="r">
              <a:defRPr sz="750" b="1">
                <a:solidFill>
                  <a:srgbClr val="FFFFFF"/>
                </a:solidFill>
                <a:latin typeface="Arial"/>
                <a:ea typeface="Arial"/>
                <a:cs typeface="Arial"/>
              </a:defRPr>
            </a:defPPr>
          </a:lstStyle>
          <a:p>
            <a:pPr algn="r">
              <a:defRPr sz="750" b="1">
                <a:solidFill>
                  <a:srgbClr val="FFFFFF"/>
                </a:solidFill>
                <a:latin typeface="Arial"/>
                <a:ea typeface="Arial"/>
                <a:cs typeface="Arial"/>
              </a:defRPr>
            </a:pPr>
            <a:r>
              <a:rPr sz="750" b="1" dirty="0">
                <a:solidFill>
                  <a:srgbClr val="FFFFFF"/>
                </a:solidFill>
                <a:latin typeface="Arial"/>
                <a:ea typeface="Arial"/>
                <a:cs typeface="Arial"/>
              </a:rPr>
              <a:t>0</a:t>
            </a:r>
            <a:r>
              <a:rPr lang="en-US" sz="750" b="1" dirty="0">
                <a:solidFill>
                  <a:srgbClr val="FFFFFF"/>
                </a:solidFill>
                <a:latin typeface="Arial"/>
                <a:ea typeface="Arial"/>
                <a:cs typeface="Arial"/>
              </a:rPr>
              <a:t>7</a:t>
            </a:r>
            <a:endParaRPr sz="750" b="1" dirty="0">
              <a:solidFill>
                <a:srgbClr val="FFFFFF"/>
              </a:solidFill>
              <a:latin typeface="Arial"/>
              <a:ea typeface="Arial"/>
              <a:cs typeface="Arial"/>
            </a:endParaRPr>
          </a:p>
        </p:txBody>
      </p:sp>
      <p:sp>
        <p:nvSpPr>
          <p:cNvPr id="9" name="p0-165">
            <a:extLst>
              <a:ext uri="{FF2B5EF4-FFF2-40B4-BE49-F238E27FC236}">
                <a16:creationId xmlns:a16="http://schemas.microsoft.com/office/drawing/2014/main" id="{B00D3B93-7A1C-4D8B-93BA-6EF3DC9B418A}"/>
              </a:ext>
            </a:extLst>
          </p:cNvPr>
          <p:cNvSpPr>
            <a:spLocks noGrp="1"/>
          </p:cNvSpPr>
          <p:nvPr/>
        </p:nvSpPr>
        <p:spPr>
          <a:xfrm>
            <a:off x="495300" y="1476375"/>
            <a:ext cx="3476625" cy="1619250"/>
          </a:xfrm>
          <a:prstGeom prst="roundRect">
            <a:avLst>
              <a:gd name="adj" fmla="val 9412"/>
            </a:avLst>
          </a:prstGeom>
          <a:solidFill>
            <a:srgbClr val="E9EDF8"/>
          </a:solidFill>
          <a:ln w="0">
            <a:noFill/>
          </a:ln>
        </p:spPr>
        <p:txBody>
          <a:bodyPr/>
          <a:lstStyle/>
          <a:p>
            <a:endParaRPr lang="zh-CN" altLang="en-US"/>
          </a:p>
        </p:txBody>
      </p:sp>
      <p:sp>
        <p:nvSpPr>
          <p:cNvPr id="10" name="p0-166">
            <a:extLst>
              <a:ext uri="{FF2B5EF4-FFF2-40B4-BE49-F238E27FC236}">
                <a16:creationId xmlns:a16="http://schemas.microsoft.com/office/drawing/2014/main" id="{7A9DD344-91E8-4A13-8467-F01B8A6DB0A2}"/>
              </a:ext>
            </a:extLst>
          </p:cNvPr>
          <p:cNvSpPr>
            <a:spLocks noGrp="1"/>
          </p:cNvSpPr>
          <p:nvPr/>
        </p:nvSpPr>
        <p:spPr>
          <a:xfrm>
            <a:off x="723900" y="1647825"/>
            <a:ext cx="3019425" cy="352425"/>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Common start</a:t>
            </a:r>
          </a:p>
        </p:txBody>
      </p:sp>
      <p:sp>
        <p:nvSpPr>
          <p:cNvPr id="11" name="p0-167">
            <a:extLst>
              <a:ext uri="{FF2B5EF4-FFF2-40B4-BE49-F238E27FC236}">
                <a16:creationId xmlns:a16="http://schemas.microsoft.com/office/drawing/2014/main" id="{CF4D6D04-B773-4AFA-B878-95C2DDE6F665}"/>
              </a:ext>
            </a:extLst>
          </p:cNvPr>
          <p:cNvSpPr>
            <a:spLocks noGrp="1"/>
          </p:cNvSpPr>
          <p:nvPr/>
        </p:nvSpPr>
        <p:spPr>
          <a:xfrm>
            <a:off x="723900" y="2152650"/>
            <a:ext cx="3019425" cy="695325"/>
          </a:xfrm>
          <a:prstGeom prst="rect">
            <a:avLst/>
          </a:prstGeom>
          <a:noFill/>
          <a:ln w="0">
            <a:noFill/>
          </a:ln>
        </p:spPr>
        <p:txBody>
          <a:bodyPr lIns="0" tIns="0" rIns="0" bIns="0" anchor="ctr">
            <a:noAutofit/>
          </a:bodyPr>
          <a:lstStyle>
            <a:defPPr algn="l">
              <a:defRPr sz="1500" b="0">
                <a:solidFill>
                  <a:srgbClr val="2A2E45"/>
                </a:solidFill>
                <a:latin typeface="Arial"/>
                <a:ea typeface="Arial"/>
                <a:cs typeface="Arial"/>
              </a:defRPr>
            </a:defPPr>
          </a:lstStyle>
          <a:p>
            <a:pPr algn="l">
              <a:defRPr sz="1500" b="0">
                <a:solidFill>
                  <a:srgbClr val="2A2E45"/>
                </a:solidFill>
                <a:latin typeface="Arial"/>
                <a:ea typeface="Arial"/>
                <a:cs typeface="Arial"/>
              </a:defRPr>
            </a:pPr>
            <a:r>
              <a:rPr sz="1500" b="0">
                <a:solidFill>
                  <a:srgbClr val="2A2E45"/>
                </a:solidFill>
                <a:latin typeface="Arial"/>
                <a:ea typeface="Arial"/>
                <a:cs typeface="Arial"/>
              </a:rPr>
              <a:t>Same archived Joint checkpoint</a:t>
            </a:r>
          </a:p>
          <a:p>
            <a:pPr algn="l">
              <a:defRPr sz="1500" b="0">
                <a:solidFill>
                  <a:srgbClr val="2A2E45"/>
                </a:solidFill>
                <a:latin typeface="Arial"/>
                <a:ea typeface="Arial"/>
                <a:cs typeface="Arial"/>
              </a:defRPr>
            </a:pPr>
            <a:r>
              <a:rPr sz="1500" b="0">
                <a:solidFill>
                  <a:srgbClr val="2A2E45"/>
                </a:solidFill>
                <a:latin typeface="Arial"/>
                <a:ea typeface="Arial"/>
                <a:cs typeface="Arial"/>
              </a:rPr>
              <a:t>Residual weights start at zero</a:t>
            </a:r>
          </a:p>
        </p:txBody>
      </p:sp>
      <p:sp>
        <p:nvSpPr>
          <p:cNvPr id="12" name="p0-168">
            <a:extLst>
              <a:ext uri="{FF2B5EF4-FFF2-40B4-BE49-F238E27FC236}">
                <a16:creationId xmlns:a16="http://schemas.microsoft.com/office/drawing/2014/main" id="{C25F0C00-1079-48DF-98D8-7DEBD4A4F614}"/>
              </a:ext>
            </a:extLst>
          </p:cNvPr>
          <p:cNvSpPr>
            <a:spLocks noGrp="1"/>
          </p:cNvSpPr>
          <p:nvPr/>
        </p:nvSpPr>
        <p:spPr>
          <a:xfrm>
            <a:off x="4048125" y="2143125"/>
            <a:ext cx="247650" cy="190500"/>
          </a:xfrm>
          <a:prstGeom prst="rightArrow">
            <a:avLst/>
          </a:prstGeom>
          <a:solidFill>
            <a:srgbClr val="697386"/>
          </a:solidFill>
          <a:ln w="0">
            <a:noFill/>
          </a:ln>
        </p:spPr>
        <p:txBody>
          <a:bodyPr/>
          <a:lstStyle/>
          <a:p>
            <a:endParaRPr lang="zh-CN" altLang="en-US"/>
          </a:p>
        </p:txBody>
      </p:sp>
      <p:sp>
        <p:nvSpPr>
          <p:cNvPr id="13" name="p0-169">
            <a:extLst>
              <a:ext uri="{FF2B5EF4-FFF2-40B4-BE49-F238E27FC236}">
                <a16:creationId xmlns:a16="http://schemas.microsoft.com/office/drawing/2014/main" id="{4110A077-2566-4E6F-A142-B3DFF77593C1}"/>
              </a:ext>
            </a:extLst>
          </p:cNvPr>
          <p:cNvSpPr>
            <a:spLocks noGrp="1"/>
          </p:cNvSpPr>
          <p:nvPr/>
        </p:nvSpPr>
        <p:spPr>
          <a:xfrm>
            <a:off x="4371975" y="1476375"/>
            <a:ext cx="3476625" cy="1619250"/>
          </a:xfrm>
          <a:prstGeom prst="roundRect">
            <a:avLst>
              <a:gd name="adj" fmla="val 9412"/>
            </a:avLst>
          </a:prstGeom>
          <a:solidFill>
            <a:srgbClr val="E9EDF8"/>
          </a:solidFill>
          <a:ln w="0">
            <a:noFill/>
          </a:ln>
        </p:spPr>
        <p:txBody>
          <a:bodyPr/>
          <a:lstStyle/>
          <a:p>
            <a:endParaRPr lang="zh-CN" altLang="en-US"/>
          </a:p>
        </p:txBody>
      </p:sp>
      <p:sp>
        <p:nvSpPr>
          <p:cNvPr id="14" name="p0-170">
            <a:extLst>
              <a:ext uri="{FF2B5EF4-FFF2-40B4-BE49-F238E27FC236}">
                <a16:creationId xmlns:a16="http://schemas.microsoft.com/office/drawing/2014/main" id="{698DB14C-BEA4-4AC0-B02A-201FF3BDBF1D}"/>
              </a:ext>
            </a:extLst>
          </p:cNvPr>
          <p:cNvSpPr>
            <a:spLocks noGrp="1"/>
          </p:cNvSpPr>
          <p:nvPr/>
        </p:nvSpPr>
        <p:spPr>
          <a:xfrm>
            <a:off x="4600575" y="1647825"/>
            <a:ext cx="3019425" cy="352425"/>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Equal budget</a:t>
            </a:r>
          </a:p>
        </p:txBody>
      </p:sp>
      <p:sp>
        <p:nvSpPr>
          <p:cNvPr id="15" name="p0-171">
            <a:extLst>
              <a:ext uri="{FF2B5EF4-FFF2-40B4-BE49-F238E27FC236}">
                <a16:creationId xmlns:a16="http://schemas.microsoft.com/office/drawing/2014/main" id="{1BF36A0F-9A8B-400A-BB22-8C972D013D9B}"/>
              </a:ext>
            </a:extLst>
          </p:cNvPr>
          <p:cNvSpPr>
            <a:spLocks noGrp="1"/>
          </p:cNvSpPr>
          <p:nvPr/>
        </p:nvSpPr>
        <p:spPr>
          <a:xfrm>
            <a:off x="4600575" y="2152650"/>
            <a:ext cx="3019425" cy="695325"/>
          </a:xfrm>
          <a:prstGeom prst="rect">
            <a:avLst/>
          </a:prstGeom>
          <a:noFill/>
          <a:ln w="0">
            <a:noFill/>
          </a:ln>
        </p:spPr>
        <p:txBody>
          <a:bodyPr lIns="0" tIns="0" rIns="0" bIns="0" anchor="ctr">
            <a:noAutofit/>
          </a:bodyPr>
          <a:lstStyle>
            <a:defPPr algn="l">
              <a:defRPr sz="1500" b="0">
                <a:solidFill>
                  <a:srgbClr val="2A2E45"/>
                </a:solidFill>
                <a:latin typeface="Arial"/>
                <a:ea typeface="Arial"/>
                <a:cs typeface="Arial"/>
              </a:defRPr>
            </a:defPPr>
          </a:lstStyle>
          <a:p>
            <a:pPr algn="l">
              <a:defRPr sz="1500" b="0">
                <a:solidFill>
                  <a:srgbClr val="2A2E45"/>
                </a:solidFill>
                <a:latin typeface="Arial"/>
                <a:ea typeface="Arial"/>
                <a:cs typeface="Arial"/>
              </a:defRPr>
            </a:pPr>
            <a:r>
              <a:rPr sz="1500" b="0">
                <a:solidFill>
                  <a:srgbClr val="2A2E45"/>
                </a:solidFill>
                <a:latin typeface="Arial"/>
                <a:ea typeface="Arial"/>
                <a:cs typeface="Arial"/>
              </a:rPr>
              <a:t>50 epochs per variant</a:t>
            </a:r>
          </a:p>
          <a:p>
            <a:pPr algn="l">
              <a:defRPr sz="1500" b="0">
                <a:solidFill>
                  <a:srgbClr val="2A2E45"/>
                </a:solidFill>
                <a:latin typeface="Arial"/>
                <a:ea typeface="Arial"/>
                <a:cs typeface="Arial"/>
              </a:defRPr>
            </a:pPr>
            <a:r>
              <a:rPr sz="1500" b="0">
                <a:solidFill>
                  <a:srgbClr val="2A2E45"/>
                </a:solidFill>
                <a:latin typeface="Arial"/>
                <a:ea typeface="Arial"/>
                <a:cs typeface="Arial"/>
              </a:rPr>
              <a:t>Same seed and optimizer recipe</a:t>
            </a:r>
          </a:p>
        </p:txBody>
      </p:sp>
      <p:sp>
        <p:nvSpPr>
          <p:cNvPr id="16" name="p0-172">
            <a:extLst>
              <a:ext uri="{FF2B5EF4-FFF2-40B4-BE49-F238E27FC236}">
                <a16:creationId xmlns:a16="http://schemas.microsoft.com/office/drawing/2014/main" id="{E36EDEAB-9AB5-46FC-854B-9AF1DC24D396}"/>
              </a:ext>
            </a:extLst>
          </p:cNvPr>
          <p:cNvSpPr>
            <a:spLocks noGrp="1"/>
          </p:cNvSpPr>
          <p:nvPr/>
        </p:nvSpPr>
        <p:spPr>
          <a:xfrm>
            <a:off x="7924800" y="2143125"/>
            <a:ext cx="247650" cy="190500"/>
          </a:xfrm>
          <a:prstGeom prst="rightArrow">
            <a:avLst/>
          </a:prstGeom>
          <a:solidFill>
            <a:srgbClr val="697386"/>
          </a:solidFill>
          <a:ln w="0">
            <a:noFill/>
          </a:ln>
        </p:spPr>
        <p:txBody>
          <a:bodyPr/>
          <a:lstStyle/>
          <a:p>
            <a:endParaRPr lang="zh-CN" altLang="en-US"/>
          </a:p>
        </p:txBody>
      </p:sp>
      <p:sp>
        <p:nvSpPr>
          <p:cNvPr id="17" name="p0-173">
            <a:extLst>
              <a:ext uri="{FF2B5EF4-FFF2-40B4-BE49-F238E27FC236}">
                <a16:creationId xmlns:a16="http://schemas.microsoft.com/office/drawing/2014/main" id="{2BEA243A-8032-49E6-B45F-B80027FA589C}"/>
              </a:ext>
            </a:extLst>
          </p:cNvPr>
          <p:cNvSpPr>
            <a:spLocks noGrp="1"/>
          </p:cNvSpPr>
          <p:nvPr/>
        </p:nvSpPr>
        <p:spPr>
          <a:xfrm>
            <a:off x="8248650" y="1476375"/>
            <a:ext cx="3476625" cy="1619250"/>
          </a:xfrm>
          <a:prstGeom prst="roundRect">
            <a:avLst>
              <a:gd name="adj" fmla="val 9412"/>
            </a:avLst>
          </a:prstGeom>
          <a:solidFill>
            <a:srgbClr val="E9EDF8"/>
          </a:solidFill>
          <a:ln w="0">
            <a:noFill/>
          </a:ln>
        </p:spPr>
        <p:txBody>
          <a:bodyPr/>
          <a:lstStyle/>
          <a:p>
            <a:endParaRPr lang="zh-CN" altLang="en-US"/>
          </a:p>
        </p:txBody>
      </p:sp>
      <p:sp>
        <p:nvSpPr>
          <p:cNvPr id="18" name="p0-174">
            <a:extLst>
              <a:ext uri="{FF2B5EF4-FFF2-40B4-BE49-F238E27FC236}">
                <a16:creationId xmlns:a16="http://schemas.microsoft.com/office/drawing/2014/main" id="{B778C837-732E-4E20-94EE-CD0B0C4AF395}"/>
              </a:ext>
            </a:extLst>
          </p:cNvPr>
          <p:cNvSpPr>
            <a:spLocks noGrp="1"/>
          </p:cNvSpPr>
          <p:nvPr/>
        </p:nvSpPr>
        <p:spPr>
          <a:xfrm>
            <a:off x="8477250" y="1647825"/>
            <a:ext cx="3019425" cy="352425"/>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Validation selection</a:t>
            </a:r>
          </a:p>
        </p:txBody>
      </p:sp>
      <p:sp>
        <p:nvSpPr>
          <p:cNvPr id="19" name="p0-175">
            <a:extLst>
              <a:ext uri="{FF2B5EF4-FFF2-40B4-BE49-F238E27FC236}">
                <a16:creationId xmlns:a16="http://schemas.microsoft.com/office/drawing/2014/main" id="{5240E13F-BCD8-4D3A-B699-37F909F4FD27}"/>
              </a:ext>
            </a:extLst>
          </p:cNvPr>
          <p:cNvSpPr>
            <a:spLocks noGrp="1"/>
          </p:cNvSpPr>
          <p:nvPr/>
        </p:nvSpPr>
        <p:spPr>
          <a:xfrm>
            <a:off x="8477250" y="2152650"/>
            <a:ext cx="3019425" cy="695325"/>
          </a:xfrm>
          <a:prstGeom prst="rect">
            <a:avLst/>
          </a:prstGeom>
          <a:noFill/>
          <a:ln w="0">
            <a:noFill/>
          </a:ln>
        </p:spPr>
        <p:txBody>
          <a:bodyPr lIns="0" tIns="0" rIns="0" bIns="0" anchor="ctr">
            <a:noAutofit/>
          </a:bodyPr>
          <a:lstStyle>
            <a:defPPr algn="l">
              <a:defRPr sz="1500" b="0">
                <a:solidFill>
                  <a:srgbClr val="2A2E45"/>
                </a:solidFill>
                <a:latin typeface="Arial"/>
                <a:ea typeface="Arial"/>
                <a:cs typeface="Arial"/>
              </a:defRPr>
            </a:defPPr>
          </a:lstStyle>
          <a:p>
            <a:pPr algn="l">
              <a:defRPr sz="1500" b="0">
                <a:solidFill>
                  <a:srgbClr val="2A2E45"/>
                </a:solidFill>
                <a:latin typeface="Arial"/>
                <a:ea typeface="Arial"/>
                <a:cs typeface="Arial"/>
              </a:defRPr>
            </a:pPr>
            <a:r>
              <a:rPr sz="1500" b="0">
                <a:solidFill>
                  <a:srgbClr val="2A2E45"/>
                </a:solidFill>
                <a:latin typeface="Arial"/>
                <a:ea typeface="Arial"/>
                <a:cs typeface="Arial"/>
              </a:rPr>
              <a:t>Best Top-1 checkpoint</a:t>
            </a:r>
          </a:p>
          <a:p>
            <a:pPr algn="l">
              <a:defRPr sz="1500" b="0">
                <a:solidFill>
                  <a:srgbClr val="2A2E45"/>
                </a:solidFill>
                <a:latin typeface="Arial"/>
                <a:ea typeface="Arial"/>
                <a:cs typeface="Arial"/>
              </a:defRPr>
            </a:pPr>
            <a:r>
              <a:rPr sz="1500" b="0">
                <a:solidFill>
                  <a:srgbClr val="2A2E45"/>
                </a:solidFill>
                <a:latin typeface="Arial"/>
                <a:ea typeface="Arial"/>
                <a:cs typeface="Arial"/>
              </a:rPr>
              <a:t>Earliest epoch on a tie</a:t>
            </a:r>
          </a:p>
        </p:txBody>
      </p:sp>
      <p:sp>
        <p:nvSpPr>
          <p:cNvPr id="20" name="p0-176">
            <a:extLst>
              <a:ext uri="{FF2B5EF4-FFF2-40B4-BE49-F238E27FC236}">
                <a16:creationId xmlns:a16="http://schemas.microsoft.com/office/drawing/2014/main" id="{8267FBC2-4789-4059-9BD3-48DE2C595B32}"/>
              </a:ext>
            </a:extLst>
          </p:cNvPr>
          <p:cNvSpPr>
            <a:spLocks noGrp="1"/>
          </p:cNvSpPr>
          <p:nvPr/>
        </p:nvSpPr>
        <p:spPr>
          <a:xfrm>
            <a:off x="495300" y="3486150"/>
            <a:ext cx="5343525" cy="1781175"/>
          </a:xfrm>
          <a:prstGeom prst="roundRect">
            <a:avLst>
              <a:gd name="adj" fmla="val 8556"/>
            </a:avLst>
          </a:prstGeom>
          <a:solidFill>
            <a:srgbClr val="FFFFFF"/>
          </a:solidFill>
          <a:ln w="11430">
            <a:solidFill>
              <a:srgbClr val="D9DDEA"/>
            </a:solidFill>
          </a:ln>
        </p:spPr>
        <p:txBody>
          <a:bodyPr/>
          <a:lstStyle/>
          <a:p>
            <a:endParaRPr lang="zh-CN" altLang="en-US"/>
          </a:p>
        </p:txBody>
      </p:sp>
      <p:sp>
        <p:nvSpPr>
          <p:cNvPr id="21" name="p0-177">
            <a:extLst>
              <a:ext uri="{FF2B5EF4-FFF2-40B4-BE49-F238E27FC236}">
                <a16:creationId xmlns:a16="http://schemas.microsoft.com/office/drawing/2014/main" id="{234586F1-1484-4132-8927-CA4D65D2EF9B}"/>
              </a:ext>
            </a:extLst>
          </p:cNvPr>
          <p:cNvSpPr>
            <a:spLocks noGrp="1"/>
          </p:cNvSpPr>
          <p:nvPr/>
        </p:nvSpPr>
        <p:spPr>
          <a:xfrm>
            <a:off x="6115050" y="3486150"/>
            <a:ext cx="5600700" cy="1781175"/>
          </a:xfrm>
          <a:prstGeom prst="roundRect">
            <a:avLst>
              <a:gd name="adj" fmla="val 8556"/>
            </a:avLst>
          </a:prstGeom>
          <a:solidFill>
            <a:srgbClr val="E6F6F4"/>
          </a:solidFill>
          <a:ln w="0">
            <a:noFill/>
          </a:ln>
        </p:spPr>
        <p:txBody>
          <a:bodyPr/>
          <a:lstStyle/>
          <a:p>
            <a:endParaRPr lang="zh-CN" altLang="en-US"/>
          </a:p>
        </p:txBody>
      </p:sp>
      <p:sp>
        <p:nvSpPr>
          <p:cNvPr id="22" name="p0-178">
            <a:extLst>
              <a:ext uri="{FF2B5EF4-FFF2-40B4-BE49-F238E27FC236}">
                <a16:creationId xmlns:a16="http://schemas.microsoft.com/office/drawing/2014/main" id="{089DAA49-408F-452B-90BA-4CEDC0A5319A}"/>
              </a:ext>
            </a:extLst>
          </p:cNvPr>
          <p:cNvSpPr>
            <a:spLocks noGrp="1"/>
          </p:cNvSpPr>
          <p:nvPr/>
        </p:nvSpPr>
        <p:spPr>
          <a:xfrm>
            <a:off x="723900" y="3648075"/>
            <a:ext cx="4857750" cy="238125"/>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PHASE A · OFFLINE ANALYSIS</a:t>
            </a:r>
          </a:p>
        </p:txBody>
      </p:sp>
      <p:sp>
        <p:nvSpPr>
          <p:cNvPr id="23" name="p0-179">
            <a:extLst>
              <a:ext uri="{FF2B5EF4-FFF2-40B4-BE49-F238E27FC236}">
                <a16:creationId xmlns:a16="http://schemas.microsoft.com/office/drawing/2014/main" id="{D5E55607-DA32-440B-9ED3-A7EBC315FC38}"/>
              </a:ext>
            </a:extLst>
          </p:cNvPr>
          <p:cNvSpPr>
            <a:spLocks noGrp="1"/>
          </p:cNvSpPr>
          <p:nvPr/>
        </p:nvSpPr>
        <p:spPr>
          <a:xfrm>
            <a:off x="6343650" y="3648075"/>
            <a:ext cx="5153025" cy="238125"/>
          </a:xfrm>
          <a:prstGeom prst="rect">
            <a:avLst/>
          </a:prstGeom>
          <a:noFill/>
          <a:ln w="0">
            <a:noFill/>
          </a:ln>
        </p:spPr>
        <p:txBody>
          <a:bodyPr lIns="0" tIns="0" rIns="0" bIns="0" anchor="ctr">
            <a:noAutofit/>
          </a:bodyPr>
          <a:lstStyle>
            <a:defPPr algn="l">
              <a:defRPr sz="1050" b="1">
                <a:solidFill>
                  <a:srgbClr val="38AFA2"/>
                </a:solidFill>
                <a:latin typeface="Arial"/>
                <a:ea typeface="Arial"/>
                <a:cs typeface="Arial"/>
              </a:defRPr>
            </a:defPPr>
          </a:lstStyle>
          <a:p>
            <a:pPr algn="l">
              <a:defRPr sz="1050" b="1">
                <a:solidFill>
                  <a:srgbClr val="38AFA2"/>
                </a:solidFill>
                <a:latin typeface="Arial"/>
                <a:ea typeface="Arial"/>
                <a:cs typeface="Arial"/>
              </a:defRPr>
            </a:pPr>
            <a:r>
              <a:rPr sz="1050" b="1">
                <a:solidFill>
                  <a:srgbClr val="38AFA2"/>
                </a:solidFill>
                <a:latin typeface="Arial"/>
                <a:ea typeface="Arial"/>
                <a:cs typeface="Arial"/>
              </a:rPr>
              <a:t>PHASE B · COMPLETED INFERENCE</a:t>
            </a:r>
          </a:p>
        </p:txBody>
      </p:sp>
      <p:sp>
        <p:nvSpPr>
          <p:cNvPr id="24" name="p0-180">
            <a:extLst>
              <a:ext uri="{FF2B5EF4-FFF2-40B4-BE49-F238E27FC236}">
                <a16:creationId xmlns:a16="http://schemas.microsoft.com/office/drawing/2014/main" id="{B5535641-75B3-44BB-93B4-1A745766A972}"/>
              </a:ext>
            </a:extLst>
          </p:cNvPr>
          <p:cNvSpPr>
            <a:spLocks noGrp="1"/>
          </p:cNvSpPr>
          <p:nvPr/>
        </p:nvSpPr>
        <p:spPr>
          <a:xfrm>
            <a:off x="723900" y="4095750"/>
            <a:ext cx="4857750" cy="762000"/>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Did the runs complete?</a:t>
            </a:r>
          </a:p>
          <a:p>
            <a:pPr algn="l">
              <a:defRPr sz="1950" b="1">
                <a:solidFill>
                  <a:srgbClr val="1B1D63"/>
                </a:solidFill>
                <a:latin typeface="Arial"/>
                <a:ea typeface="Arial"/>
                <a:cs typeface="Arial"/>
              </a:defRPr>
            </a:pPr>
            <a:r>
              <a:rPr sz="1950" b="1">
                <a:solidFill>
                  <a:srgbClr val="1B1D63"/>
                </a:solidFill>
                <a:latin typeface="Arial"/>
                <a:ea typeface="Arial"/>
                <a:cs typeface="Arial"/>
              </a:rPr>
              <a:t>Did the new parameters learn?</a:t>
            </a:r>
          </a:p>
        </p:txBody>
      </p:sp>
      <p:sp>
        <p:nvSpPr>
          <p:cNvPr id="25" name="p0-181">
            <a:extLst>
              <a:ext uri="{FF2B5EF4-FFF2-40B4-BE49-F238E27FC236}">
                <a16:creationId xmlns:a16="http://schemas.microsoft.com/office/drawing/2014/main" id="{18AED08D-2E0D-43EE-B028-548D880FA496}"/>
              </a:ext>
            </a:extLst>
          </p:cNvPr>
          <p:cNvSpPr>
            <a:spLocks noGrp="1"/>
          </p:cNvSpPr>
          <p:nvPr/>
        </p:nvSpPr>
        <p:spPr>
          <a:xfrm>
            <a:off x="6343650" y="4095750"/>
            <a:ext cx="5153025" cy="762000"/>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Did predictions change?</a:t>
            </a:r>
          </a:p>
          <a:p>
            <a:pPr algn="l">
              <a:defRPr sz="1875" b="1">
                <a:solidFill>
                  <a:srgbClr val="1B1D63"/>
                </a:solidFill>
                <a:latin typeface="Arial"/>
                <a:ea typeface="Arial"/>
                <a:cs typeface="Arial"/>
              </a:defRPr>
            </a:pPr>
            <a:r>
              <a:rPr sz="1875" b="1">
                <a:solidFill>
                  <a:srgbClr val="1B1D63"/>
                </a:solidFill>
                <a:latin typeface="Arial"/>
                <a:ea typeface="Arial"/>
                <a:cs typeface="Arial"/>
              </a:rPr>
              <a:t>Does switching the residual off matter?</a:t>
            </a:r>
          </a:p>
        </p:txBody>
      </p:sp>
      <p:sp>
        <p:nvSpPr>
          <p:cNvPr id="26" name="p0-182">
            <a:extLst>
              <a:ext uri="{FF2B5EF4-FFF2-40B4-BE49-F238E27FC236}">
                <a16:creationId xmlns:a16="http://schemas.microsoft.com/office/drawing/2014/main" id="{0BCAC198-5ADE-42E6-9F88-AB8A88B7EE04}"/>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27" name="p0-183">
            <a:extLst>
              <a:ext uri="{FF2B5EF4-FFF2-40B4-BE49-F238E27FC236}">
                <a16:creationId xmlns:a16="http://schemas.microsoft.com/office/drawing/2014/main" id="{336A7432-9749-483A-A26F-8529CEC9C93F}"/>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75" b="1">
                <a:solidFill>
                  <a:srgbClr val="FFFFFF"/>
                </a:solidFill>
                <a:latin typeface="Arial"/>
                <a:ea typeface="Arial"/>
                <a:cs typeface="Arial"/>
              </a:defRPr>
            </a:def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Completed scope: Joint Validation, one seed, matched fine-tuning</a:t>
            </a:r>
          </a:p>
        </p:txBody>
      </p:sp>
    </p:spTree>
    <p:extLst>
      <p:ext uri="{BB962C8B-B14F-4D97-AF65-F5344CB8AC3E}">
        <p14:creationId xmlns:p14="http://schemas.microsoft.com/office/powerpoint/2010/main" val="1935799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p0-184">
            <a:extLst>
              <a:ext uri="{FF2B5EF4-FFF2-40B4-BE49-F238E27FC236}">
                <a16:creationId xmlns:a16="http://schemas.microsoft.com/office/drawing/2014/main" id="{65010783-0194-41CF-AAF0-28384F9D0310}"/>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p0-185">
            <a:extLst>
              <a:ext uri="{FF2B5EF4-FFF2-40B4-BE49-F238E27FC236}">
                <a16:creationId xmlns:a16="http://schemas.microsoft.com/office/drawing/2014/main" id="{4925E5B0-25C5-433D-BC01-83010BD8E257}"/>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3" name="p0-186">
            <a:extLst>
              <a:ext uri="{FF2B5EF4-FFF2-40B4-BE49-F238E27FC236}">
                <a16:creationId xmlns:a16="http://schemas.microsoft.com/office/drawing/2014/main" id="{D3309EEC-1B64-4186-9A35-52AFB77E0269}"/>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50" b="1">
                <a:solidFill>
                  <a:srgbClr val="1B1D63"/>
                </a:solidFill>
                <a:latin typeface="Arial"/>
                <a:ea typeface="Arial"/>
                <a:cs typeface="Arial"/>
              </a:defRPr>
            </a:defPPr>
          </a:lstStyle>
          <a:p>
            <a:pPr algn="l">
              <a:defRPr sz="2550" b="1">
                <a:solidFill>
                  <a:srgbClr val="1B1D63"/>
                </a:solidFill>
                <a:latin typeface="Arial"/>
                <a:ea typeface="Arial"/>
                <a:cs typeface="Arial"/>
              </a:defRPr>
            </a:pPr>
            <a:r>
              <a:rPr sz="2550" b="1">
                <a:solidFill>
                  <a:srgbClr val="1B1D63"/>
                </a:solidFill>
                <a:latin typeface="Arial"/>
                <a:ea typeface="Arial"/>
                <a:cs typeface="Arial"/>
              </a:rPr>
              <a:t>Equal Accuracy Can Hide Different Errors</a:t>
            </a:r>
          </a:p>
        </p:txBody>
      </p:sp>
      <p:sp>
        <p:nvSpPr>
          <p:cNvPr id="4" name="p0-187">
            <a:extLst>
              <a:ext uri="{FF2B5EF4-FFF2-40B4-BE49-F238E27FC236}">
                <a16:creationId xmlns:a16="http://schemas.microsoft.com/office/drawing/2014/main" id="{C1711540-4382-4A1A-8E0B-37E765B230A5}"/>
              </a:ext>
            </a:extLst>
          </p:cNvPr>
          <p:cNvSpPr>
            <a:spLocks noGrp="1"/>
          </p:cNvSpPr>
          <p:nvPr/>
        </p:nvSpPr>
        <p:spPr>
          <a:xfrm>
            <a:off x="590550" y="723900"/>
            <a:ext cx="7239000" cy="219075"/>
          </a:xfrm>
          <a:prstGeom prst="rect">
            <a:avLst/>
          </a:prstGeom>
          <a:noFill/>
          <a:ln w="0">
            <a:noFill/>
          </a:ln>
        </p:spPr>
        <p:txBody>
          <a:bodyPr lIns="0" tIns="0" rIns="0" bIns="0" anchor="ctr">
            <a:noAutofit/>
          </a:bodyPr>
          <a:lstStyle>
            <a:defPPr algn="l">
              <a:defRPr sz="900" b="1">
                <a:solidFill>
                  <a:srgbClr val="E31346"/>
                </a:solidFill>
                <a:latin typeface="Arial"/>
                <a:ea typeface="Arial"/>
                <a:cs typeface="Arial"/>
              </a:defRPr>
            </a:defPPr>
          </a:lstStyle>
          <a:p>
            <a:pPr algn="l">
              <a:defRPr sz="900" b="1">
                <a:solidFill>
                  <a:srgbClr val="E31346"/>
                </a:solidFill>
                <a:latin typeface="Arial"/>
                <a:ea typeface="Arial"/>
                <a:cs typeface="Arial"/>
              </a:defRPr>
            </a:pPr>
            <a:r>
              <a:rPr sz="900" b="1">
                <a:solidFill>
                  <a:srgbClr val="E31346"/>
                </a:solidFill>
                <a:latin typeface="Arial"/>
                <a:ea typeface="Arial"/>
                <a:cs typeface="Arial"/>
              </a:rPr>
              <a:t>EE6008 · HUMAN POSE GROUP PROJECT</a:t>
            </a:r>
          </a:p>
        </p:txBody>
      </p:sp>
      <p:sp>
        <p:nvSpPr>
          <p:cNvPr id="5" name="p0-188">
            <a:extLst>
              <a:ext uri="{FF2B5EF4-FFF2-40B4-BE49-F238E27FC236}">
                <a16:creationId xmlns:a16="http://schemas.microsoft.com/office/drawing/2014/main" id="{B3716A75-6639-4E5C-BE0F-F4B422F1810E}"/>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pic>
        <p:nvPicPr>
          <p:cNvPr id="6" name="图片 5">
            <a:extLst>
              <a:ext uri="{FF2B5EF4-FFF2-40B4-BE49-F238E27FC236}">
                <a16:creationId xmlns:a16="http://schemas.microsoft.com/office/drawing/2014/main" id="{236B6BC7-A7F1-4C52-B7F2-6EDB06D20325}"/>
              </a:ext>
            </a:extLst>
          </p:cNvPr>
          <p:cNvPicPr>
            <a:picLocks noChangeAspect="1"/>
          </p:cNvPicPr>
          <p:nvPr/>
        </p:nvPicPr>
        <p:blipFill>
          <a:blip r:embed="rId3"/>
          <a:stretch/>
        </p:blipFill>
        <p:spPr>
          <a:xfrm>
            <a:off x="9696450" y="191381"/>
            <a:ext cx="2038350" cy="731663"/>
          </a:xfrm>
          <a:prstGeom prst="rect">
            <a:avLst/>
          </a:prstGeom>
        </p:spPr>
      </p:pic>
      <p:sp>
        <p:nvSpPr>
          <p:cNvPr id="7" name="p0-189">
            <a:extLst>
              <a:ext uri="{FF2B5EF4-FFF2-40B4-BE49-F238E27FC236}">
                <a16:creationId xmlns:a16="http://schemas.microsoft.com/office/drawing/2014/main" id="{F9C893E1-67C9-441E-A6FF-50C7C397ACED}"/>
              </a:ext>
            </a:extLst>
          </p:cNvPr>
          <p:cNvSpPr>
            <a:spLocks noGrp="1"/>
          </p:cNvSpPr>
          <p:nvPr/>
        </p:nvSpPr>
        <p:spPr>
          <a:xfrm>
            <a:off x="590550" y="6591300"/>
            <a:ext cx="2857500" cy="219075"/>
          </a:xfrm>
          <a:prstGeom prst="rect">
            <a:avLst/>
          </a:prstGeom>
          <a:noFill/>
          <a:ln w="0">
            <a:noFill/>
          </a:ln>
        </p:spPr>
        <p:txBody>
          <a:bodyPr lIns="0" tIns="0" rIns="0" bIns="0" anchor="ctr">
            <a:noAutofit/>
          </a:bodyPr>
          <a:lstStyle>
            <a:defPPr algn="l">
              <a:defRPr sz="750" b="1">
                <a:solidFill>
                  <a:srgbClr val="FFFFFF"/>
                </a:solidFill>
                <a:latin typeface="Arial"/>
                <a:ea typeface="Arial"/>
                <a:cs typeface="Arial"/>
              </a:defRPr>
            </a:defP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p0-190">
            <a:extLst>
              <a:ext uri="{FF2B5EF4-FFF2-40B4-BE49-F238E27FC236}">
                <a16:creationId xmlns:a16="http://schemas.microsoft.com/office/drawing/2014/main" id="{2B0828FC-0869-4DDB-B551-CDB1DF7E8C6B}"/>
              </a:ext>
            </a:extLst>
          </p:cNvPr>
          <p:cNvSpPr>
            <a:spLocks noGrp="1"/>
          </p:cNvSpPr>
          <p:nvPr/>
        </p:nvSpPr>
        <p:spPr>
          <a:xfrm>
            <a:off x="11049000" y="6591300"/>
            <a:ext cx="619125" cy="219075"/>
          </a:xfrm>
          <a:prstGeom prst="rect">
            <a:avLst/>
          </a:prstGeom>
          <a:noFill/>
          <a:ln w="0">
            <a:noFill/>
          </a:ln>
        </p:spPr>
        <p:txBody>
          <a:bodyPr lIns="0" tIns="0" rIns="0" bIns="0" anchor="ctr">
            <a:noAutofit/>
          </a:bodyPr>
          <a:lstStyle>
            <a:defPPr algn="r">
              <a:defRPr sz="750" b="1">
                <a:solidFill>
                  <a:srgbClr val="FFFFFF"/>
                </a:solidFill>
                <a:latin typeface="Arial"/>
                <a:ea typeface="Arial"/>
                <a:cs typeface="Arial"/>
              </a:defRPr>
            </a:defPPr>
          </a:lstStyle>
          <a:p>
            <a:pPr algn="r">
              <a:defRPr sz="750" b="1">
                <a:solidFill>
                  <a:srgbClr val="FFFFFF"/>
                </a:solidFill>
                <a:latin typeface="Arial"/>
                <a:ea typeface="Arial"/>
                <a:cs typeface="Arial"/>
              </a:defRPr>
            </a:pPr>
            <a:r>
              <a:rPr sz="750" b="1" dirty="0">
                <a:solidFill>
                  <a:srgbClr val="FFFFFF"/>
                </a:solidFill>
                <a:latin typeface="Arial"/>
                <a:ea typeface="Arial"/>
                <a:cs typeface="Arial"/>
              </a:rPr>
              <a:t>0</a:t>
            </a:r>
            <a:r>
              <a:rPr lang="en-US" sz="750" b="1" dirty="0">
                <a:solidFill>
                  <a:srgbClr val="FFFFFF"/>
                </a:solidFill>
                <a:latin typeface="Arial"/>
                <a:ea typeface="Arial"/>
                <a:cs typeface="Arial"/>
              </a:rPr>
              <a:t>8</a:t>
            </a:r>
            <a:endParaRPr sz="750" b="1" dirty="0">
              <a:solidFill>
                <a:srgbClr val="FFFFFF"/>
              </a:solidFill>
              <a:latin typeface="Arial"/>
              <a:ea typeface="Arial"/>
              <a:cs typeface="Arial"/>
            </a:endParaRPr>
          </a:p>
        </p:txBody>
      </p:sp>
      <p:sp>
        <p:nvSpPr>
          <p:cNvPr id="9" name="p0-191">
            <a:extLst>
              <a:ext uri="{FF2B5EF4-FFF2-40B4-BE49-F238E27FC236}">
                <a16:creationId xmlns:a16="http://schemas.microsoft.com/office/drawing/2014/main" id="{9F45B266-D03F-401D-8C8A-CEE2FAA13A87}"/>
              </a:ext>
            </a:extLst>
          </p:cNvPr>
          <p:cNvSpPr>
            <a:spLocks noGrp="1"/>
          </p:cNvSpPr>
          <p:nvPr/>
        </p:nvSpPr>
        <p:spPr>
          <a:xfrm>
            <a:off x="495300" y="1438275"/>
            <a:ext cx="11220450" cy="1181100"/>
          </a:xfrm>
          <a:prstGeom prst="roundRect">
            <a:avLst>
              <a:gd name="adj" fmla="val 12903"/>
            </a:avLst>
          </a:prstGeom>
          <a:solidFill>
            <a:srgbClr val="1B1D63"/>
          </a:solidFill>
          <a:ln w="11430">
            <a:solidFill>
              <a:srgbClr val="1B1D63"/>
            </a:solidFill>
          </a:ln>
        </p:spPr>
        <p:txBody>
          <a:bodyPr/>
          <a:lstStyle/>
          <a:p>
            <a:endParaRPr lang="zh-CN" altLang="en-US"/>
          </a:p>
        </p:txBody>
      </p:sp>
      <p:sp>
        <p:nvSpPr>
          <p:cNvPr id="10" name="p0-192">
            <a:extLst>
              <a:ext uri="{FF2B5EF4-FFF2-40B4-BE49-F238E27FC236}">
                <a16:creationId xmlns:a16="http://schemas.microsoft.com/office/drawing/2014/main" id="{8EF3E9C0-88E2-4C5E-896A-8538A49FAC2A}"/>
              </a:ext>
            </a:extLst>
          </p:cNvPr>
          <p:cNvSpPr>
            <a:spLocks noGrp="1"/>
          </p:cNvSpPr>
          <p:nvPr/>
        </p:nvSpPr>
        <p:spPr>
          <a:xfrm>
            <a:off x="742950" y="1619250"/>
            <a:ext cx="5895975" cy="523875"/>
          </a:xfrm>
          <a:prstGeom prst="rect">
            <a:avLst/>
          </a:prstGeom>
          <a:noFill/>
          <a:ln w="0">
            <a:noFill/>
          </a:ln>
        </p:spPr>
        <p:txBody>
          <a:bodyPr lIns="0" tIns="0" rIns="0" bIns="0" anchor="ctr">
            <a:noAutofit/>
          </a:bodyPr>
          <a:lstStyle>
            <a:defPPr algn="l">
              <a:defRPr sz="3075" b="1">
                <a:solidFill>
                  <a:srgbClr val="FFFFFF"/>
                </a:solidFill>
                <a:latin typeface="Arial"/>
                <a:ea typeface="Arial"/>
                <a:cs typeface="Arial"/>
              </a:defRPr>
            </a:defPPr>
          </a:lstStyle>
          <a:p>
            <a:pPr algn="l">
              <a:defRPr sz="3075" b="1">
                <a:solidFill>
                  <a:srgbClr val="FFFFFF"/>
                </a:solidFill>
                <a:latin typeface="Arial"/>
                <a:ea typeface="Arial"/>
                <a:cs typeface="Arial"/>
              </a:defRPr>
            </a:pPr>
            <a:r>
              <a:rPr sz="3075" b="1">
                <a:solidFill>
                  <a:srgbClr val="FFFFFF"/>
                </a:solidFill>
                <a:latin typeface="Arial"/>
                <a:ea typeface="Arial"/>
                <a:cs typeface="Arial"/>
              </a:rPr>
              <a:t>1,275 / 1,308 correct</a:t>
            </a:r>
          </a:p>
        </p:txBody>
      </p:sp>
      <p:sp>
        <p:nvSpPr>
          <p:cNvPr id="11" name="p0-193">
            <a:extLst>
              <a:ext uri="{FF2B5EF4-FFF2-40B4-BE49-F238E27FC236}">
                <a16:creationId xmlns:a16="http://schemas.microsoft.com/office/drawing/2014/main" id="{A33F2663-6B56-4D85-936B-9735EC6FE72C}"/>
              </a:ext>
            </a:extLst>
          </p:cNvPr>
          <p:cNvSpPr>
            <a:spLocks noGrp="1"/>
          </p:cNvSpPr>
          <p:nvPr/>
        </p:nvSpPr>
        <p:spPr>
          <a:xfrm>
            <a:off x="6972300" y="1676400"/>
            <a:ext cx="4486275" cy="676275"/>
          </a:xfrm>
          <a:prstGeom prst="rect">
            <a:avLst/>
          </a:prstGeom>
          <a:noFill/>
          <a:ln w="0">
            <a:noFill/>
          </a:ln>
        </p:spPr>
        <p:txBody>
          <a:bodyPr lIns="0" tIns="0" rIns="0" bIns="0" anchor="ctr">
            <a:noAutofit/>
          </a:bodyPr>
          <a:lstStyle>
            <a:defPPr algn="l">
              <a:defRPr sz="1950" b="1">
                <a:solidFill>
                  <a:srgbClr val="FFFFFF"/>
                </a:solidFill>
                <a:latin typeface="Arial"/>
                <a:ea typeface="Arial"/>
                <a:cs typeface="Arial"/>
              </a:defRPr>
            </a:defPPr>
          </a:lstStyle>
          <a:p>
            <a:pPr algn="l">
              <a:defRPr sz="1950" b="1">
                <a:solidFill>
                  <a:srgbClr val="FFFFFF"/>
                </a:solidFill>
                <a:latin typeface="Arial"/>
                <a:ea typeface="Arial"/>
                <a:cs typeface="Arial"/>
              </a:defRPr>
            </a:pPr>
            <a:r>
              <a:rPr sz="1950" b="1">
                <a:solidFill>
                  <a:srgbClr val="FFFFFF"/>
                </a:solidFill>
                <a:latin typeface="Arial"/>
                <a:ea typeface="Arial"/>
                <a:cs typeface="Arial"/>
              </a:rPr>
              <a:t>Same selected result for all four readouts</a:t>
            </a:r>
          </a:p>
        </p:txBody>
      </p:sp>
      <p:sp>
        <p:nvSpPr>
          <p:cNvPr id="12" name="p0-194">
            <a:extLst>
              <a:ext uri="{FF2B5EF4-FFF2-40B4-BE49-F238E27FC236}">
                <a16:creationId xmlns:a16="http://schemas.microsoft.com/office/drawing/2014/main" id="{24566C7C-48B1-476C-94A2-241BB7863D84}"/>
              </a:ext>
            </a:extLst>
          </p:cNvPr>
          <p:cNvSpPr>
            <a:spLocks noGrp="1"/>
          </p:cNvSpPr>
          <p:nvPr/>
        </p:nvSpPr>
        <p:spPr>
          <a:xfrm>
            <a:off x="495300" y="2714625"/>
            <a:ext cx="11220450" cy="238125"/>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IDENTICAL PREDICTIONS WITHIN EACH GROUP</a:t>
            </a:r>
          </a:p>
        </p:txBody>
      </p:sp>
      <p:sp>
        <p:nvSpPr>
          <p:cNvPr id="13" name="p0-195">
            <a:extLst>
              <a:ext uri="{FF2B5EF4-FFF2-40B4-BE49-F238E27FC236}">
                <a16:creationId xmlns:a16="http://schemas.microsoft.com/office/drawing/2014/main" id="{5F542519-0491-4231-AADE-4AA9E83E43F0}"/>
              </a:ext>
            </a:extLst>
          </p:cNvPr>
          <p:cNvSpPr>
            <a:spLocks noGrp="1"/>
          </p:cNvSpPr>
          <p:nvPr/>
        </p:nvSpPr>
        <p:spPr>
          <a:xfrm>
            <a:off x="495300" y="3019425"/>
            <a:ext cx="4552950" cy="619125"/>
          </a:xfrm>
          <a:prstGeom prst="roundRect">
            <a:avLst>
              <a:gd name="adj" fmla="val 24615"/>
            </a:avLst>
          </a:prstGeom>
          <a:solidFill>
            <a:srgbClr val="E9EDF8"/>
          </a:solidFill>
          <a:ln w="0">
            <a:noFill/>
          </a:ln>
        </p:spPr>
        <p:txBody>
          <a:bodyPr/>
          <a:lstStyle/>
          <a:p>
            <a:endParaRPr lang="zh-CN" altLang="en-US"/>
          </a:p>
        </p:txBody>
      </p:sp>
      <p:sp>
        <p:nvSpPr>
          <p:cNvPr id="14" name="p0-196">
            <a:extLst>
              <a:ext uri="{FF2B5EF4-FFF2-40B4-BE49-F238E27FC236}">
                <a16:creationId xmlns:a16="http://schemas.microsoft.com/office/drawing/2014/main" id="{71A848E2-1F8A-4318-B414-CB6B7E30ABC4}"/>
              </a:ext>
            </a:extLst>
          </p:cNvPr>
          <p:cNvSpPr>
            <a:spLocks noGrp="1"/>
          </p:cNvSpPr>
          <p:nvPr/>
        </p:nvSpPr>
        <p:spPr>
          <a:xfrm>
            <a:off x="619125" y="3067050"/>
            <a:ext cx="4305300" cy="523875"/>
          </a:xfrm>
          <a:prstGeom prst="rect">
            <a:avLst/>
          </a:prstGeom>
          <a:noFill/>
          <a:ln w="0">
            <a:noFill/>
          </a:ln>
        </p:spPr>
        <p:txBody>
          <a:bodyPr lIns="0" tIns="0" rIns="0" bIns="0" anchor="ctr">
            <a:noAutofit/>
          </a:bodyPr>
          <a:lstStyle>
            <a:defPPr algn="ctr">
              <a:defRPr sz="2175" b="1">
                <a:solidFill>
                  <a:srgbClr val="1B1D63"/>
                </a:solidFill>
                <a:latin typeface="Arial"/>
                <a:ea typeface="Arial"/>
                <a:cs typeface="Arial"/>
              </a:defRPr>
            </a:defPPr>
          </a:lstStyle>
          <a:p>
            <a:pPr algn="ctr">
              <a:defRPr sz="2175" b="1">
                <a:solidFill>
                  <a:srgbClr val="1B1D63"/>
                </a:solidFill>
                <a:latin typeface="Arial"/>
                <a:ea typeface="Arial"/>
                <a:cs typeface="Arial"/>
              </a:defRPr>
            </a:pPr>
            <a:r>
              <a:rPr sz="2175" b="1">
                <a:solidFill>
                  <a:srgbClr val="1B1D63"/>
                </a:solidFill>
                <a:latin typeface="Arial"/>
                <a:ea typeface="Arial"/>
                <a:cs typeface="Arial"/>
              </a:rPr>
              <a:t>E0-FT = E1</a:t>
            </a:r>
          </a:p>
        </p:txBody>
      </p:sp>
      <p:sp>
        <p:nvSpPr>
          <p:cNvPr id="15" name="p0-197">
            <a:extLst>
              <a:ext uri="{FF2B5EF4-FFF2-40B4-BE49-F238E27FC236}">
                <a16:creationId xmlns:a16="http://schemas.microsoft.com/office/drawing/2014/main" id="{7BA984E8-F0DC-43AE-8605-5BD5254E7055}"/>
              </a:ext>
            </a:extLst>
          </p:cNvPr>
          <p:cNvSpPr>
            <a:spLocks noGrp="1"/>
          </p:cNvSpPr>
          <p:nvPr/>
        </p:nvSpPr>
        <p:spPr>
          <a:xfrm>
            <a:off x="7162800" y="3019425"/>
            <a:ext cx="4552950" cy="619125"/>
          </a:xfrm>
          <a:prstGeom prst="roundRect">
            <a:avLst>
              <a:gd name="adj" fmla="val 24615"/>
            </a:avLst>
          </a:prstGeom>
          <a:solidFill>
            <a:srgbClr val="FBE8EF"/>
          </a:solidFill>
          <a:ln w="0">
            <a:noFill/>
          </a:ln>
        </p:spPr>
        <p:txBody>
          <a:bodyPr/>
          <a:lstStyle/>
          <a:p>
            <a:endParaRPr lang="zh-CN" altLang="en-US"/>
          </a:p>
        </p:txBody>
      </p:sp>
      <p:sp>
        <p:nvSpPr>
          <p:cNvPr id="16" name="p0-198">
            <a:extLst>
              <a:ext uri="{FF2B5EF4-FFF2-40B4-BE49-F238E27FC236}">
                <a16:creationId xmlns:a16="http://schemas.microsoft.com/office/drawing/2014/main" id="{00FCB335-32D2-4709-9D4E-F3484F435F25}"/>
              </a:ext>
            </a:extLst>
          </p:cNvPr>
          <p:cNvSpPr>
            <a:spLocks noGrp="1"/>
          </p:cNvSpPr>
          <p:nvPr/>
        </p:nvSpPr>
        <p:spPr>
          <a:xfrm>
            <a:off x="7286625" y="3067050"/>
            <a:ext cx="4305300" cy="523875"/>
          </a:xfrm>
          <a:prstGeom prst="rect">
            <a:avLst/>
          </a:prstGeom>
          <a:noFill/>
          <a:ln w="0">
            <a:noFill/>
          </a:ln>
        </p:spPr>
        <p:txBody>
          <a:bodyPr lIns="0" tIns="0" rIns="0" bIns="0" anchor="ctr">
            <a:noAutofit/>
          </a:bodyPr>
          <a:lstStyle>
            <a:defPPr algn="ctr">
              <a:defRPr sz="2175" b="1">
                <a:solidFill>
                  <a:srgbClr val="E31346"/>
                </a:solidFill>
                <a:latin typeface="Arial"/>
                <a:ea typeface="Arial"/>
                <a:cs typeface="Arial"/>
              </a:defRPr>
            </a:defPPr>
          </a:lstStyle>
          <a:p>
            <a:pPr algn="ctr">
              <a:defRPr sz="2175" b="1">
                <a:solidFill>
                  <a:srgbClr val="E31346"/>
                </a:solidFill>
                <a:latin typeface="Arial"/>
                <a:ea typeface="Arial"/>
                <a:cs typeface="Arial"/>
              </a:defRPr>
            </a:pPr>
            <a:r>
              <a:rPr sz="2175" b="1">
                <a:solidFill>
                  <a:srgbClr val="E31346"/>
                </a:solidFill>
                <a:latin typeface="Arial"/>
                <a:ea typeface="Arial"/>
                <a:cs typeface="Arial"/>
              </a:rPr>
              <a:t>E2 = E3</a:t>
            </a:r>
          </a:p>
        </p:txBody>
      </p:sp>
      <p:sp>
        <p:nvSpPr>
          <p:cNvPr id="17" name="p0-199">
            <a:extLst>
              <a:ext uri="{FF2B5EF4-FFF2-40B4-BE49-F238E27FC236}">
                <a16:creationId xmlns:a16="http://schemas.microsoft.com/office/drawing/2014/main" id="{66253464-36D5-43FC-80F8-8F1A1E7885E3}"/>
              </a:ext>
            </a:extLst>
          </p:cNvPr>
          <p:cNvSpPr>
            <a:spLocks noGrp="1"/>
          </p:cNvSpPr>
          <p:nvPr/>
        </p:nvSpPr>
        <p:spPr>
          <a:xfrm>
            <a:off x="5305425" y="3238500"/>
            <a:ext cx="542925" cy="190500"/>
          </a:xfrm>
          <a:prstGeom prst="rightArrow">
            <a:avLst/>
          </a:prstGeom>
          <a:solidFill>
            <a:srgbClr val="697386"/>
          </a:solidFill>
          <a:ln w="0">
            <a:noFill/>
          </a:ln>
        </p:spPr>
        <p:txBody>
          <a:bodyPr/>
          <a:lstStyle/>
          <a:p>
            <a:endParaRPr lang="zh-CN" altLang="en-US"/>
          </a:p>
        </p:txBody>
      </p:sp>
      <p:sp>
        <p:nvSpPr>
          <p:cNvPr id="18" name="p0-200">
            <a:extLst>
              <a:ext uri="{FF2B5EF4-FFF2-40B4-BE49-F238E27FC236}">
                <a16:creationId xmlns:a16="http://schemas.microsoft.com/office/drawing/2014/main" id="{1C05F97F-3EB7-4DAC-8918-0140E7B514E3}"/>
              </a:ext>
            </a:extLst>
          </p:cNvPr>
          <p:cNvSpPr>
            <a:spLocks noGrp="1"/>
          </p:cNvSpPr>
          <p:nvPr/>
        </p:nvSpPr>
        <p:spPr>
          <a:xfrm>
            <a:off x="5876925" y="3057525"/>
            <a:ext cx="1076325" cy="561975"/>
          </a:xfrm>
          <a:prstGeom prst="rect">
            <a:avLst/>
          </a:prstGeom>
          <a:noFill/>
          <a:ln w="0">
            <a:noFill/>
          </a:ln>
        </p:spPr>
        <p:txBody>
          <a:bodyPr lIns="0" tIns="0" rIns="0" bIns="0" anchor="ctr">
            <a:noAutofit/>
          </a:bodyPr>
          <a:lstStyle>
            <a:defPPr algn="ctr">
              <a:defRPr sz="1425" b="0">
                <a:solidFill>
                  <a:srgbClr val="697386"/>
                </a:solidFill>
                <a:latin typeface="Arial"/>
                <a:ea typeface="Arial"/>
                <a:cs typeface="Arial"/>
              </a:defRPr>
            </a:defPPr>
          </a:lstStyle>
          <a:p>
            <a:pPr algn="ctr">
              <a:defRPr sz="1425" b="0">
                <a:solidFill>
                  <a:srgbClr val="697386"/>
                </a:solidFill>
                <a:latin typeface="Arial"/>
                <a:ea typeface="Arial"/>
                <a:cs typeface="Arial"/>
              </a:defRPr>
            </a:pPr>
            <a:r>
              <a:rPr sz="1425" b="0">
                <a:solidFill>
                  <a:srgbClr val="697386"/>
                </a:solidFill>
                <a:latin typeface="Arial"/>
                <a:ea typeface="Arial"/>
                <a:cs typeface="Arial"/>
              </a:rPr>
              <a:t>8 changed</a:t>
            </a:r>
          </a:p>
          <a:p>
            <a:pPr algn="ctr">
              <a:defRPr sz="1425" b="0">
                <a:solidFill>
                  <a:srgbClr val="697386"/>
                </a:solidFill>
                <a:latin typeface="Arial"/>
                <a:ea typeface="Arial"/>
                <a:cs typeface="Arial"/>
              </a:defRPr>
            </a:pPr>
            <a:r>
              <a:rPr sz="1425" b="0">
                <a:solidFill>
                  <a:srgbClr val="697386"/>
                </a:solidFill>
                <a:latin typeface="Arial"/>
                <a:ea typeface="Arial"/>
                <a:cs typeface="Arial"/>
              </a:rPr>
              <a:t>predictions</a:t>
            </a:r>
          </a:p>
        </p:txBody>
      </p:sp>
      <p:sp>
        <p:nvSpPr>
          <p:cNvPr id="19" name="p0-201">
            <a:extLst>
              <a:ext uri="{FF2B5EF4-FFF2-40B4-BE49-F238E27FC236}">
                <a16:creationId xmlns:a16="http://schemas.microsoft.com/office/drawing/2014/main" id="{36E72D0B-F8F5-4C17-9385-B74A3ABC0607}"/>
              </a:ext>
            </a:extLst>
          </p:cNvPr>
          <p:cNvSpPr>
            <a:spLocks noGrp="1"/>
          </p:cNvSpPr>
          <p:nvPr/>
        </p:nvSpPr>
        <p:spPr>
          <a:xfrm>
            <a:off x="495300" y="4038600"/>
            <a:ext cx="3476625" cy="1400175"/>
          </a:xfrm>
          <a:prstGeom prst="roundRect">
            <a:avLst>
              <a:gd name="adj" fmla="val 10884"/>
            </a:avLst>
          </a:prstGeom>
          <a:solidFill>
            <a:srgbClr val="E6F6F4"/>
          </a:solidFill>
          <a:ln w="0">
            <a:noFill/>
          </a:ln>
        </p:spPr>
        <p:txBody>
          <a:bodyPr/>
          <a:lstStyle/>
          <a:p>
            <a:endParaRPr lang="zh-CN" altLang="en-US"/>
          </a:p>
        </p:txBody>
      </p:sp>
      <p:sp>
        <p:nvSpPr>
          <p:cNvPr id="20" name="p0-202">
            <a:extLst>
              <a:ext uri="{FF2B5EF4-FFF2-40B4-BE49-F238E27FC236}">
                <a16:creationId xmlns:a16="http://schemas.microsoft.com/office/drawing/2014/main" id="{368A5A7E-3790-4746-A2BB-4B6F5F0242CA}"/>
              </a:ext>
            </a:extLst>
          </p:cNvPr>
          <p:cNvSpPr>
            <a:spLocks noGrp="1"/>
          </p:cNvSpPr>
          <p:nvPr/>
        </p:nvSpPr>
        <p:spPr>
          <a:xfrm>
            <a:off x="723900" y="4181475"/>
            <a:ext cx="3019425" cy="419100"/>
          </a:xfrm>
          <a:prstGeom prst="rect">
            <a:avLst/>
          </a:prstGeom>
          <a:noFill/>
          <a:ln w="0">
            <a:noFill/>
          </a:ln>
        </p:spPr>
        <p:txBody>
          <a:bodyPr lIns="0" tIns="0" rIns="0" bIns="0" anchor="ctr">
            <a:noAutofit/>
          </a:bodyPr>
          <a:lstStyle>
            <a:defPPr algn="l">
              <a:defRPr sz="2325" b="1">
                <a:solidFill>
                  <a:srgbClr val="38AFA2"/>
                </a:solidFill>
                <a:latin typeface="Arial"/>
                <a:ea typeface="Arial"/>
                <a:cs typeface="Arial"/>
              </a:defRPr>
            </a:defPPr>
          </a:lstStyle>
          <a:p>
            <a:pPr algn="l">
              <a:defRPr sz="2325" b="1">
                <a:solidFill>
                  <a:srgbClr val="38AFA2"/>
                </a:solidFill>
                <a:latin typeface="Arial"/>
                <a:ea typeface="Arial"/>
                <a:cs typeface="Arial"/>
              </a:defRPr>
            </a:pPr>
            <a:r>
              <a:rPr sz="2325" b="1">
                <a:solidFill>
                  <a:srgbClr val="38AFA2"/>
                </a:solidFill>
                <a:latin typeface="Arial"/>
                <a:ea typeface="Arial"/>
                <a:cs typeface="Arial"/>
              </a:rPr>
              <a:t>3 corrected</a:t>
            </a:r>
          </a:p>
        </p:txBody>
      </p:sp>
      <p:sp>
        <p:nvSpPr>
          <p:cNvPr id="21" name="p0-203">
            <a:extLst>
              <a:ext uri="{FF2B5EF4-FFF2-40B4-BE49-F238E27FC236}">
                <a16:creationId xmlns:a16="http://schemas.microsoft.com/office/drawing/2014/main" id="{8E6F121A-36B7-424A-908B-ECEFBACD1945}"/>
              </a:ext>
            </a:extLst>
          </p:cNvPr>
          <p:cNvSpPr>
            <a:spLocks noGrp="1"/>
          </p:cNvSpPr>
          <p:nvPr/>
        </p:nvSpPr>
        <p:spPr>
          <a:xfrm>
            <a:off x="723900" y="4752975"/>
            <a:ext cx="3019425" cy="485775"/>
          </a:xfrm>
          <a:prstGeom prst="rect">
            <a:avLst/>
          </a:prstGeom>
          <a:noFill/>
          <a:ln w="0">
            <a:noFill/>
          </a:ln>
        </p:spPr>
        <p:txBody>
          <a:bodyPr lIns="0" tIns="0" rIns="0" bIns="0" anchor="ctr">
            <a:noAutofit/>
          </a:bodyPr>
          <a:lstStyle>
            <a:defPPr algn="l">
              <a:defRPr sz="1425" b="0">
                <a:solidFill>
                  <a:srgbClr val="2A2E45"/>
                </a:solidFill>
                <a:latin typeface="Arial"/>
                <a:ea typeface="Arial"/>
                <a:cs typeface="Arial"/>
              </a:defRPr>
            </a:defPPr>
          </a:lstStyle>
          <a:p>
            <a:pPr algn="l">
              <a:defRPr sz="1425" b="0">
                <a:solidFill>
                  <a:srgbClr val="2A2E45"/>
                </a:solidFill>
                <a:latin typeface="Arial"/>
                <a:ea typeface="Arial"/>
                <a:cs typeface="Arial"/>
              </a:defRPr>
            </a:pPr>
            <a:r>
              <a:rPr sz="1425" b="0">
                <a:solidFill>
                  <a:srgbClr val="2A2E45"/>
                </a:solidFill>
                <a:latin typeface="Arial"/>
                <a:ea typeface="Arial"/>
                <a:cs typeface="Arial"/>
              </a:rPr>
              <a:t>Old errors become correct</a:t>
            </a:r>
          </a:p>
        </p:txBody>
      </p:sp>
      <p:sp>
        <p:nvSpPr>
          <p:cNvPr id="22" name="p0-204">
            <a:extLst>
              <a:ext uri="{FF2B5EF4-FFF2-40B4-BE49-F238E27FC236}">
                <a16:creationId xmlns:a16="http://schemas.microsoft.com/office/drawing/2014/main" id="{8F9973FB-86FD-4B69-935D-56CC4436D638}"/>
              </a:ext>
            </a:extLst>
          </p:cNvPr>
          <p:cNvSpPr>
            <a:spLocks noGrp="1"/>
          </p:cNvSpPr>
          <p:nvPr/>
        </p:nvSpPr>
        <p:spPr>
          <a:xfrm>
            <a:off x="4371975" y="4038600"/>
            <a:ext cx="3476625" cy="1400175"/>
          </a:xfrm>
          <a:prstGeom prst="roundRect">
            <a:avLst>
              <a:gd name="adj" fmla="val 10884"/>
            </a:avLst>
          </a:prstGeom>
          <a:solidFill>
            <a:srgbClr val="FBE8EF"/>
          </a:solidFill>
          <a:ln w="0">
            <a:noFill/>
          </a:ln>
        </p:spPr>
        <p:txBody>
          <a:bodyPr/>
          <a:lstStyle/>
          <a:p>
            <a:endParaRPr lang="zh-CN" altLang="en-US"/>
          </a:p>
        </p:txBody>
      </p:sp>
      <p:sp>
        <p:nvSpPr>
          <p:cNvPr id="23" name="p0-205">
            <a:extLst>
              <a:ext uri="{FF2B5EF4-FFF2-40B4-BE49-F238E27FC236}">
                <a16:creationId xmlns:a16="http://schemas.microsoft.com/office/drawing/2014/main" id="{A9D8162C-4082-4DB4-9F70-CB42BEF4D3CA}"/>
              </a:ext>
            </a:extLst>
          </p:cNvPr>
          <p:cNvSpPr>
            <a:spLocks noGrp="1"/>
          </p:cNvSpPr>
          <p:nvPr/>
        </p:nvSpPr>
        <p:spPr>
          <a:xfrm>
            <a:off x="4600575" y="4181475"/>
            <a:ext cx="3019425" cy="419100"/>
          </a:xfrm>
          <a:prstGeom prst="rect">
            <a:avLst/>
          </a:prstGeom>
          <a:noFill/>
          <a:ln w="0">
            <a:noFill/>
          </a:ln>
        </p:spPr>
        <p:txBody>
          <a:bodyPr lIns="0" tIns="0" rIns="0" bIns="0" anchor="ctr">
            <a:noAutofit/>
          </a:bodyPr>
          <a:lstStyle>
            <a:defPPr algn="l">
              <a:defRPr sz="2325" b="1">
                <a:solidFill>
                  <a:srgbClr val="E31346"/>
                </a:solidFill>
                <a:latin typeface="Arial"/>
                <a:ea typeface="Arial"/>
                <a:cs typeface="Arial"/>
              </a:defRPr>
            </a:defPPr>
          </a:lstStyle>
          <a:p>
            <a:pPr algn="l">
              <a:defRPr sz="2325" b="1">
                <a:solidFill>
                  <a:srgbClr val="E31346"/>
                </a:solidFill>
                <a:latin typeface="Arial"/>
                <a:ea typeface="Arial"/>
                <a:cs typeface="Arial"/>
              </a:defRPr>
            </a:pPr>
            <a:r>
              <a:rPr sz="2325" b="1">
                <a:solidFill>
                  <a:srgbClr val="E31346"/>
                </a:solidFill>
                <a:latin typeface="Arial"/>
                <a:ea typeface="Arial"/>
                <a:cs typeface="Arial"/>
              </a:rPr>
              <a:t>3 regressed</a:t>
            </a:r>
          </a:p>
        </p:txBody>
      </p:sp>
      <p:sp>
        <p:nvSpPr>
          <p:cNvPr id="24" name="p0-206">
            <a:extLst>
              <a:ext uri="{FF2B5EF4-FFF2-40B4-BE49-F238E27FC236}">
                <a16:creationId xmlns:a16="http://schemas.microsoft.com/office/drawing/2014/main" id="{1F9EC0FA-ADC5-404C-8B52-ADECFB1A4E1F}"/>
              </a:ext>
            </a:extLst>
          </p:cNvPr>
          <p:cNvSpPr>
            <a:spLocks noGrp="1"/>
          </p:cNvSpPr>
          <p:nvPr/>
        </p:nvSpPr>
        <p:spPr>
          <a:xfrm>
            <a:off x="4600575" y="4752975"/>
            <a:ext cx="3019425" cy="485775"/>
          </a:xfrm>
          <a:prstGeom prst="rect">
            <a:avLst/>
          </a:prstGeom>
          <a:noFill/>
          <a:ln w="0">
            <a:noFill/>
          </a:ln>
        </p:spPr>
        <p:txBody>
          <a:bodyPr lIns="0" tIns="0" rIns="0" bIns="0" anchor="ctr">
            <a:noAutofit/>
          </a:bodyPr>
          <a:lstStyle>
            <a:defPPr algn="l">
              <a:defRPr sz="1425" b="0">
                <a:solidFill>
                  <a:srgbClr val="2A2E45"/>
                </a:solidFill>
                <a:latin typeface="Arial"/>
                <a:ea typeface="Arial"/>
                <a:cs typeface="Arial"/>
              </a:defRPr>
            </a:defPPr>
          </a:lstStyle>
          <a:p>
            <a:pPr algn="l">
              <a:defRPr sz="1425" b="0">
                <a:solidFill>
                  <a:srgbClr val="2A2E45"/>
                </a:solidFill>
                <a:latin typeface="Arial"/>
                <a:ea typeface="Arial"/>
                <a:cs typeface="Arial"/>
              </a:defRPr>
            </a:pPr>
            <a:r>
              <a:rPr sz="1425" b="0">
                <a:solidFill>
                  <a:srgbClr val="2A2E45"/>
                </a:solidFill>
                <a:latin typeface="Arial"/>
                <a:ea typeface="Arial"/>
                <a:cs typeface="Arial"/>
              </a:rPr>
              <a:t>Old correct decisions become wrong</a:t>
            </a:r>
          </a:p>
        </p:txBody>
      </p:sp>
      <p:sp>
        <p:nvSpPr>
          <p:cNvPr id="25" name="p0-207">
            <a:extLst>
              <a:ext uri="{FF2B5EF4-FFF2-40B4-BE49-F238E27FC236}">
                <a16:creationId xmlns:a16="http://schemas.microsoft.com/office/drawing/2014/main" id="{71E68D72-8E66-46A6-8DC9-BF0E357467E0}"/>
              </a:ext>
            </a:extLst>
          </p:cNvPr>
          <p:cNvSpPr>
            <a:spLocks noGrp="1"/>
          </p:cNvSpPr>
          <p:nvPr/>
        </p:nvSpPr>
        <p:spPr>
          <a:xfrm>
            <a:off x="8248650" y="4038600"/>
            <a:ext cx="3476625" cy="1400175"/>
          </a:xfrm>
          <a:prstGeom prst="roundRect">
            <a:avLst>
              <a:gd name="adj" fmla="val 10884"/>
            </a:avLst>
          </a:prstGeom>
          <a:solidFill>
            <a:srgbClr val="E9EDF8"/>
          </a:solidFill>
          <a:ln w="0">
            <a:noFill/>
          </a:ln>
        </p:spPr>
        <p:txBody>
          <a:bodyPr/>
          <a:lstStyle/>
          <a:p>
            <a:endParaRPr lang="zh-CN" altLang="en-US"/>
          </a:p>
        </p:txBody>
      </p:sp>
      <p:sp>
        <p:nvSpPr>
          <p:cNvPr id="26" name="p0-208">
            <a:extLst>
              <a:ext uri="{FF2B5EF4-FFF2-40B4-BE49-F238E27FC236}">
                <a16:creationId xmlns:a16="http://schemas.microsoft.com/office/drawing/2014/main" id="{BB125A92-030B-4522-930C-E319DB742ECB}"/>
              </a:ext>
            </a:extLst>
          </p:cNvPr>
          <p:cNvSpPr>
            <a:spLocks noGrp="1"/>
          </p:cNvSpPr>
          <p:nvPr/>
        </p:nvSpPr>
        <p:spPr>
          <a:xfrm>
            <a:off x="8477250" y="4181475"/>
            <a:ext cx="3019425" cy="419100"/>
          </a:xfrm>
          <a:prstGeom prst="rect">
            <a:avLst/>
          </a:prstGeom>
          <a:noFill/>
          <a:ln w="0">
            <a:noFill/>
          </a:ln>
        </p:spPr>
        <p:txBody>
          <a:bodyPr lIns="0" tIns="0" rIns="0" bIns="0" anchor="ctr">
            <a:noAutofit/>
          </a:bodyPr>
          <a:lstStyle>
            <a:defPPr algn="l">
              <a:defRPr sz="2325" b="1">
                <a:solidFill>
                  <a:srgbClr val="1B1D63"/>
                </a:solidFill>
                <a:latin typeface="Arial"/>
                <a:ea typeface="Arial"/>
                <a:cs typeface="Arial"/>
              </a:defRPr>
            </a:defPPr>
          </a:lstStyle>
          <a:p>
            <a:pPr algn="l">
              <a:defRPr sz="2325" b="1">
                <a:solidFill>
                  <a:srgbClr val="1B1D63"/>
                </a:solidFill>
                <a:latin typeface="Arial"/>
                <a:ea typeface="Arial"/>
                <a:cs typeface="Arial"/>
              </a:defRPr>
            </a:pPr>
            <a:r>
              <a:rPr sz="2325" b="1">
                <a:solidFill>
                  <a:srgbClr val="1B1D63"/>
                </a:solidFill>
                <a:latin typeface="Arial"/>
                <a:ea typeface="Arial"/>
                <a:cs typeface="Arial"/>
              </a:rPr>
              <a:t>2 still wrong</a:t>
            </a:r>
          </a:p>
        </p:txBody>
      </p:sp>
      <p:sp>
        <p:nvSpPr>
          <p:cNvPr id="27" name="p0-209">
            <a:extLst>
              <a:ext uri="{FF2B5EF4-FFF2-40B4-BE49-F238E27FC236}">
                <a16:creationId xmlns:a16="http://schemas.microsoft.com/office/drawing/2014/main" id="{2245CCD5-D7BB-4F42-A526-C28FC9D0DDF8}"/>
              </a:ext>
            </a:extLst>
          </p:cNvPr>
          <p:cNvSpPr>
            <a:spLocks noGrp="1"/>
          </p:cNvSpPr>
          <p:nvPr/>
        </p:nvSpPr>
        <p:spPr>
          <a:xfrm>
            <a:off x="8477250" y="4752975"/>
            <a:ext cx="3019425" cy="485775"/>
          </a:xfrm>
          <a:prstGeom prst="rect">
            <a:avLst/>
          </a:prstGeom>
          <a:noFill/>
          <a:ln w="0">
            <a:noFill/>
          </a:ln>
        </p:spPr>
        <p:txBody>
          <a:bodyPr lIns="0" tIns="0" rIns="0" bIns="0" anchor="ctr">
            <a:noAutofit/>
          </a:bodyPr>
          <a:lstStyle>
            <a:defPPr algn="l">
              <a:defRPr sz="1425" b="0">
                <a:solidFill>
                  <a:srgbClr val="2A2E45"/>
                </a:solidFill>
                <a:latin typeface="Arial"/>
                <a:ea typeface="Arial"/>
                <a:cs typeface="Arial"/>
              </a:defRPr>
            </a:defPPr>
          </a:lstStyle>
          <a:p>
            <a:pPr algn="l">
              <a:defRPr sz="1425" b="0">
                <a:solidFill>
                  <a:srgbClr val="2A2E45"/>
                </a:solidFill>
                <a:latin typeface="Arial"/>
                <a:ea typeface="Arial"/>
                <a:cs typeface="Arial"/>
              </a:defRPr>
            </a:pPr>
            <a:r>
              <a:rPr sz="1425" b="0">
                <a:solidFill>
                  <a:srgbClr val="2A2E45"/>
                </a:solidFill>
                <a:latin typeface="Arial"/>
                <a:ea typeface="Arial"/>
                <a:cs typeface="Arial"/>
              </a:rPr>
              <a:t>Wrong class changes</a:t>
            </a:r>
          </a:p>
        </p:txBody>
      </p:sp>
      <p:sp>
        <p:nvSpPr>
          <p:cNvPr id="28" name="p0-210">
            <a:extLst>
              <a:ext uri="{FF2B5EF4-FFF2-40B4-BE49-F238E27FC236}">
                <a16:creationId xmlns:a16="http://schemas.microsoft.com/office/drawing/2014/main" id="{F1CE4D88-453A-4746-A940-56E221BD5E82}"/>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29" name="p0-211">
            <a:extLst>
              <a:ext uri="{FF2B5EF4-FFF2-40B4-BE49-F238E27FC236}">
                <a16:creationId xmlns:a16="http://schemas.microsoft.com/office/drawing/2014/main" id="{B18F27DD-AE6F-4887-AF95-D90571DB1824}"/>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No net Top-1 gain beyond the equally fine-tuned original readout</a:t>
            </a:r>
          </a:p>
        </p:txBody>
      </p:sp>
    </p:spTree>
    <p:extLst>
      <p:ext uri="{BB962C8B-B14F-4D97-AF65-F5344CB8AC3E}">
        <p14:creationId xmlns:p14="http://schemas.microsoft.com/office/powerpoint/2010/main" val="1769154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p0-212">
            <a:extLst>
              <a:ext uri="{FF2B5EF4-FFF2-40B4-BE49-F238E27FC236}">
                <a16:creationId xmlns:a16="http://schemas.microsoft.com/office/drawing/2014/main" id="{847342D6-E2A3-4FBB-A6C4-64D47DBBEACA}"/>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p0-213">
            <a:extLst>
              <a:ext uri="{FF2B5EF4-FFF2-40B4-BE49-F238E27FC236}">
                <a16:creationId xmlns:a16="http://schemas.microsoft.com/office/drawing/2014/main" id="{F2F9B338-E379-4D73-9D39-E420AE62A078}"/>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3" name="p0-214">
            <a:extLst>
              <a:ext uri="{FF2B5EF4-FFF2-40B4-BE49-F238E27FC236}">
                <a16:creationId xmlns:a16="http://schemas.microsoft.com/office/drawing/2014/main" id="{2F8D5D47-74D6-46DE-874F-D749BD8806EE}"/>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50" b="1">
                <a:solidFill>
                  <a:srgbClr val="1B1D63"/>
                </a:solidFill>
                <a:latin typeface="Arial"/>
                <a:ea typeface="Arial"/>
                <a:cs typeface="Arial"/>
              </a:defRPr>
            </a:defPPr>
          </a:lstStyle>
          <a:p>
            <a:pPr algn="l">
              <a:defRPr sz="2550" b="1">
                <a:solidFill>
                  <a:srgbClr val="1B1D63"/>
                </a:solidFill>
                <a:latin typeface="Arial"/>
                <a:ea typeface="Arial"/>
                <a:cs typeface="Arial"/>
              </a:defRPr>
            </a:pPr>
            <a:r>
              <a:rPr sz="2550" b="1">
                <a:solidFill>
                  <a:srgbClr val="1B1D63"/>
                </a:solidFill>
                <a:latin typeface="Arial"/>
                <a:ea typeface="Arial"/>
                <a:cs typeface="Arial"/>
              </a:rPr>
              <a:t>Switch the Residual Off · What Changes?</a:t>
            </a:r>
          </a:p>
        </p:txBody>
      </p:sp>
      <p:sp>
        <p:nvSpPr>
          <p:cNvPr id="4" name="p0-215">
            <a:extLst>
              <a:ext uri="{FF2B5EF4-FFF2-40B4-BE49-F238E27FC236}">
                <a16:creationId xmlns:a16="http://schemas.microsoft.com/office/drawing/2014/main" id="{45B473AE-C474-4483-A61F-E91B8548FBFA}"/>
              </a:ext>
            </a:extLst>
          </p:cNvPr>
          <p:cNvSpPr>
            <a:spLocks noGrp="1"/>
          </p:cNvSpPr>
          <p:nvPr/>
        </p:nvSpPr>
        <p:spPr>
          <a:xfrm>
            <a:off x="590550" y="723900"/>
            <a:ext cx="7239000" cy="219075"/>
          </a:xfrm>
          <a:prstGeom prst="rect">
            <a:avLst/>
          </a:prstGeom>
          <a:noFill/>
          <a:ln w="0">
            <a:noFill/>
          </a:ln>
        </p:spPr>
        <p:txBody>
          <a:bodyPr lIns="0" tIns="0" rIns="0" bIns="0" anchor="ctr">
            <a:noAutofit/>
          </a:bodyPr>
          <a:lstStyle>
            <a:defPPr algn="l">
              <a:defRPr sz="900" b="1">
                <a:solidFill>
                  <a:srgbClr val="E31346"/>
                </a:solidFill>
                <a:latin typeface="Arial"/>
                <a:ea typeface="Arial"/>
                <a:cs typeface="Arial"/>
              </a:defRPr>
            </a:defPPr>
          </a:lstStyle>
          <a:p>
            <a:pPr algn="l">
              <a:defRPr sz="900" b="1">
                <a:solidFill>
                  <a:srgbClr val="E31346"/>
                </a:solidFill>
                <a:latin typeface="Arial"/>
                <a:ea typeface="Arial"/>
                <a:cs typeface="Arial"/>
              </a:defRPr>
            </a:pPr>
            <a:r>
              <a:rPr sz="900" b="1">
                <a:solidFill>
                  <a:srgbClr val="E31346"/>
                </a:solidFill>
                <a:latin typeface="Arial"/>
                <a:ea typeface="Arial"/>
                <a:cs typeface="Arial"/>
              </a:rPr>
              <a:t>EE6008 · HUMAN POSE GROUP PROJECT</a:t>
            </a:r>
          </a:p>
        </p:txBody>
      </p:sp>
      <p:sp>
        <p:nvSpPr>
          <p:cNvPr id="5" name="p0-216">
            <a:extLst>
              <a:ext uri="{FF2B5EF4-FFF2-40B4-BE49-F238E27FC236}">
                <a16:creationId xmlns:a16="http://schemas.microsoft.com/office/drawing/2014/main" id="{53C4F557-81AB-4BBB-A1AD-9937DFDE16D7}"/>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pic>
        <p:nvPicPr>
          <p:cNvPr id="6" name="图片 5">
            <a:extLst>
              <a:ext uri="{FF2B5EF4-FFF2-40B4-BE49-F238E27FC236}">
                <a16:creationId xmlns:a16="http://schemas.microsoft.com/office/drawing/2014/main" id="{1334E0C8-E41C-4C48-9CFE-8E9480409282}"/>
              </a:ext>
            </a:extLst>
          </p:cNvPr>
          <p:cNvPicPr>
            <a:picLocks noChangeAspect="1"/>
          </p:cNvPicPr>
          <p:nvPr/>
        </p:nvPicPr>
        <p:blipFill>
          <a:blip r:embed="rId3"/>
          <a:stretch/>
        </p:blipFill>
        <p:spPr>
          <a:xfrm>
            <a:off x="9696450" y="191381"/>
            <a:ext cx="2038350" cy="731663"/>
          </a:xfrm>
          <a:prstGeom prst="rect">
            <a:avLst/>
          </a:prstGeom>
        </p:spPr>
      </p:pic>
      <p:sp>
        <p:nvSpPr>
          <p:cNvPr id="7" name="p0-217">
            <a:extLst>
              <a:ext uri="{FF2B5EF4-FFF2-40B4-BE49-F238E27FC236}">
                <a16:creationId xmlns:a16="http://schemas.microsoft.com/office/drawing/2014/main" id="{AA9044A4-0A27-4560-BDA4-E46863C51C5E}"/>
              </a:ext>
            </a:extLst>
          </p:cNvPr>
          <p:cNvSpPr>
            <a:spLocks noGrp="1"/>
          </p:cNvSpPr>
          <p:nvPr/>
        </p:nvSpPr>
        <p:spPr>
          <a:xfrm>
            <a:off x="590550" y="6591300"/>
            <a:ext cx="2857500" cy="219075"/>
          </a:xfrm>
          <a:prstGeom prst="rect">
            <a:avLst/>
          </a:prstGeom>
          <a:noFill/>
          <a:ln w="0">
            <a:noFill/>
          </a:ln>
        </p:spPr>
        <p:txBody>
          <a:bodyPr lIns="0" tIns="0" rIns="0" bIns="0" anchor="ctr">
            <a:noAutofit/>
          </a:bodyPr>
          <a:lstStyle>
            <a:defPPr algn="l">
              <a:defRPr sz="750" b="1">
                <a:solidFill>
                  <a:srgbClr val="FFFFFF"/>
                </a:solidFill>
                <a:latin typeface="Arial"/>
                <a:ea typeface="Arial"/>
                <a:cs typeface="Arial"/>
              </a:defRPr>
            </a:defP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p0-218">
            <a:extLst>
              <a:ext uri="{FF2B5EF4-FFF2-40B4-BE49-F238E27FC236}">
                <a16:creationId xmlns:a16="http://schemas.microsoft.com/office/drawing/2014/main" id="{10150404-3C09-421E-BEF6-1AD460827ADE}"/>
              </a:ext>
            </a:extLst>
          </p:cNvPr>
          <p:cNvSpPr>
            <a:spLocks noGrp="1"/>
          </p:cNvSpPr>
          <p:nvPr/>
        </p:nvSpPr>
        <p:spPr>
          <a:xfrm>
            <a:off x="11049000" y="6591300"/>
            <a:ext cx="619125" cy="219075"/>
          </a:xfrm>
          <a:prstGeom prst="rect">
            <a:avLst/>
          </a:prstGeom>
          <a:noFill/>
          <a:ln w="0">
            <a:noFill/>
          </a:ln>
        </p:spPr>
        <p:txBody>
          <a:bodyPr lIns="0" tIns="0" rIns="0" bIns="0" anchor="ctr">
            <a:noAutofit/>
          </a:bodyPr>
          <a:lstStyle>
            <a:defPPr algn="r">
              <a:defRPr sz="750" b="1">
                <a:solidFill>
                  <a:srgbClr val="FFFFFF"/>
                </a:solidFill>
                <a:latin typeface="Arial"/>
                <a:ea typeface="Arial"/>
                <a:cs typeface="Arial"/>
              </a:defRPr>
            </a:defPPr>
          </a:lstStyle>
          <a:p>
            <a:pPr algn="r">
              <a:defRPr sz="750" b="1">
                <a:solidFill>
                  <a:srgbClr val="FFFFFF"/>
                </a:solidFill>
                <a:latin typeface="Arial"/>
                <a:ea typeface="Arial"/>
                <a:cs typeface="Arial"/>
              </a:defRPr>
            </a:pPr>
            <a:r>
              <a:rPr sz="750" b="1" dirty="0">
                <a:solidFill>
                  <a:srgbClr val="FFFFFF"/>
                </a:solidFill>
                <a:latin typeface="Arial"/>
                <a:ea typeface="Arial"/>
                <a:cs typeface="Arial"/>
              </a:rPr>
              <a:t>0</a:t>
            </a:r>
            <a:r>
              <a:rPr lang="en-US" sz="750" b="1" dirty="0">
                <a:solidFill>
                  <a:srgbClr val="FFFFFF"/>
                </a:solidFill>
                <a:latin typeface="Arial"/>
                <a:ea typeface="Arial"/>
                <a:cs typeface="Arial"/>
              </a:rPr>
              <a:t>9</a:t>
            </a:r>
            <a:endParaRPr sz="750" b="1" dirty="0">
              <a:solidFill>
                <a:srgbClr val="FFFFFF"/>
              </a:solidFill>
              <a:latin typeface="Arial"/>
              <a:ea typeface="Arial"/>
              <a:cs typeface="Arial"/>
            </a:endParaRPr>
          </a:p>
        </p:txBody>
      </p:sp>
      <p:sp>
        <p:nvSpPr>
          <p:cNvPr id="9" name="p0-219">
            <a:extLst>
              <a:ext uri="{FF2B5EF4-FFF2-40B4-BE49-F238E27FC236}">
                <a16:creationId xmlns:a16="http://schemas.microsoft.com/office/drawing/2014/main" id="{A0BDE8DD-0515-4943-B6AA-B119B411AF61}"/>
              </a:ext>
            </a:extLst>
          </p:cNvPr>
          <p:cNvSpPr>
            <a:spLocks noGrp="1"/>
          </p:cNvSpPr>
          <p:nvPr/>
        </p:nvSpPr>
        <p:spPr>
          <a:xfrm>
            <a:off x="495300" y="1400175"/>
            <a:ext cx="5343525" cy="238125"/>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SAME TRAINED CHECKPOINT</a:t>
            </a:r>
          </a:p>
        </p:txBody>
      </p:sp>
      <p:sp>
        <p:nvSpPr>
          <p:cNvPr id="10" name="p0-220">
            <a:extLst>
              <a:ext uri="{FF2B5EF4-FFF2-40B4-BE49-F238E27FC236}">
                <a16:creationId xmlns:a16="http://schemas.microsoft.com/office/drawing/2014/main" id="{95147E2A-7D24-4E06-832C-57D6B3418AF3}"/>
              </a:ext>
            </a:extLst>
          </p:cNvPr>
          <p:cNvSpPr>
            <a:spLocks noGrp="1"/>
          </p:cNvSpPr>
          <p:nvPr/>
        </p:nvSpPr>
        <p:spPr>
          <a:xfrm>
            <a:off x="495300" y="1971675"/>
            <a:ext cx="5067300" cy="638175"/>
          </a:xfrm>
          <a:prstGeom prst="roundRect">
            <a:avLst>
              <a:gd name="adj" fmla="val 23881"/>
            </a:avLst>
          </a:prstGeom>
          <a:solidFill>
            <a:srgbClr val="E9EDF8"/>
          </a:solidFill>
          <a:ln w="0">
            <a:noFill/>
          </a:ln>
        </p:spPr>
        <p:txBody>
          <a:bodyPr/>
          <a:lstStyle/>
          <a:p>
            <a:endParaRPr lang="zh-CN" altLang="en-US"/>
          </a:p>
        </p:txBody>
      </p:sp>
      <p:sp>
        <p:nvSpPr>
          <p:cNvPr id="11" name="p0-221">
            <a:extLst>
              <a:ext uri="{FF2B5EF4-FFF2-40B4-BE49-F238E27FC236}">
                <a16:creationId xmlns:a16="http://schemas.microsoft.com/office/drawing/2014/main" id="{32542193-E363-4C94-A03F-32E9D6BE1D79}"/>
              </a:ext>
            </a:extLst>
          </p:cNvPr>
          <p:cNvSpPr>
            <a:spLocks noGrp="1"/>
          </p:cNvSpPr>
          <p:nvPr/>
        </p:nvSpPr>
        <p:spPr>
          <a:xfrm>
            <a:off x="619125" y="2019300"/>
            <a:ext cx="4819650" cy="542925"/>
          </a:xfrm>
          <a:prstGeom prst="rect">
            <a:avLst/>
          </a:prstGeom>
          <a:noFill/>
          <a:ln w="0">
            <a:noFill/>
          </a:ln>
        </p:spPr>
        <p:txBody>
          <a:bodyPr lIns="0" tIns="0" rIns="0" bIns="0" anchor="ctr">
            <a:noAutofit/>
          </a:bodyPr>
          <a:lstStyle>
            <a:defPPr algn="ctr">
              <a:defRPr sz="2025" b="1">
                <a:solidFill>
                  <a:srgbClr val="1B1D63"/>
                </a:solidFill>
                <a:latin typeface="Arial"/>
                <a:ea typeface="Arial"/>
                <a:cs typeface="Arial"/>
              </a:defRPr>
            </a:defPPr>
          </a:lstStyle>
          <a:p>
            <a:pPr algn="ctr">
              <a:defRPr sz="2025" b="1">
                <a:solidFill>
                  <a:srgbClr val="1B1D63"/>
                </a:solidFill>
                <a:latin typeface="Arial"/>
                <a:ea typeface="Arial"/>
                <a:cs typeface="Arial"/>
              </a:defRPr>
            </a:pPr>
            <a:r>
              <a:rPr sz="2025" b="1">
                <a:solidFill>
                  <a:srgbClr val="1B1D63"/>
                </a:solidFill>
                <a:latin typeface="Arial"/>
                <a:ea typeface="Arial"/>
                <a:cs typeface="Arial"/>
              </a:rPr>
              <a:t>Same backbone features</a:t>
            </a:r>
          </a:p>
        </p:txBody>
      </p:sp>
      <p:sp>
        <p:nvSpPr>
          <p:cNvPr id="12" name="p0-222">
            <a:extLst>
              <a:ext uri="{FF2B5EF4-FFF2-40B4-BE49-F238E27FC236}">
                <a16:creationId xmlns:a16="http://schemas.microsoft.com/office/drawing/2014/main" id="{FC51A2C1-B89F-42E7-8C22-37067F4E8CE0}"/>
              </a:ext>
            </a:extLst>
          </p:cNvPr>
          <p:cNvSpPr>
            <a:spLocks noGrp="1"/>
          </p:cNvSpPr>
          <p:nvPr/>
        </p:nvSpPr>
        <p:spPr>
          <a:xfrm>
            <a:off x="2943225" y="2695575"/>
            <a:ext cx="190500" cy="209550"/>
          </a:xfrm>
          <a:prstGeom prst="downArrow">
            <a:avLst/>
          </a:prstGeom>
          <a:solidFill>
            <a:srgbClr val="697386"/>
          </a:solidFill>
          <a:ln w="0">
            <a:noFill/>
          </a:ln>
        </p:spPr>
        <p:txBody>
          <a:bodyPr/>
          <a:lstStyle/>
          <a:p>
            <a:endParaRPr lang="zh-CN" altLang="en-US"/>
          </a:p>
        </p:txBody>
      </p:sp>
      <p:sp>
        <p:nvSpPr>
          <p:cNvPr id="13" name="p0-223">
            <a:extLst>
              <a:ext uri="{FF2B5EF4-FFF2-40B4-BE49-F238E27FC236}">
                <a16:creationId xmlns:a16="http://schemas.microsoft.com/office/drawing/2014/main" id="{A5C8F48E-DF99-495B-8D5F-A578EA67786D}"/>
              </a:ext>
            </a:extLst>
          </p:cNvPr>
          <p:cNvSpPr>
            <a:spLocks noGrp="1"/>
          </p:cNvSpPr>
          <p:nvPr/>
        </p:nvSpPr>
        <p:spPr>
          <a:xfrm>
            <a:off x="495300" y="3009900"/>
            <a:ext cx="2295525" cy="628650"/>
          </a:xfrm>
          <a:prstGeom prst="roundRect">
            <a:avLst>
              <a:gd name="adj" fmla="val 24242"/>
            </a:avLst>
          </a:prstGeom>
          <a:solidFill>
            <a:srgbClr val="E9EDF8"/>
          </a:solidFill>
          <a:ln w="0">
            <a:noFill/>
          </a:ln>
        </p:spPr>
        <p:txBody>
          <a:bodyPr/>
          <a:lstStyle/>
          <a:p>
            <a:endParaRPr lang="zh-CN" altLang="en-US"/>
          </a:p>
        </p:txBody>
      </p:sp>
      <p:sp>
        <p:nvSpPr>
          <p:cNvPr id="14" name="p0-224">
            <a:extLst>
              <a:ext uri="{FF2B5EF4-FFF2-40B4-BE49-F238E27FC236}">
                <a16:creationId xmlns:a16="http://schemas.microsoft.com/office/drawing/2014/main" id="{6D68576A-0CDA-4511-BC02-261BF23C14AB}"/>
              </a:ext>
            </a:extLst>
          </p:cNvPr>
          <p:cNvSpPr>
            <a:spLocks noGrp="1"/>
          </p:cNvSpPr>
          <p:nvPr/>
        </p:nvSpPr>
        <p:spPr>
          <a:xfrm>
            <a:off x="619125" y="3057525"/>
            <a:ext cx="2047875" cy="533400"/>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Original pooled vector</a:t>
            </a:r>
          </a:p>
        </p:txBody>
      </p:sp>
      <p:sp>
        <p:nvSpPr>
          <p:cNvPr id="15" name="p0-225">
            <a:extLst>
              <a:ext uri="{FF2B5EF4-FFF2-40B4-BE49-F238E27FC236}">
                <a16:creationId xmlns:a16="http://schemas.microsoft.com/office/drawing/2014/main" id="{39245382-5F87-4CFD-9806-DF91FEF4F0A2}"/>
              </a:ext>
            </a:extLst>
          </p:cNvPr>
          <p:cNvSpPr>
            <a:spLocks noGrp="1"/>
          </p:cNvSpPr>
          <p:nvPr/>
        </p:nvSpPr>
        <p:spPr>
          <a:xfrm>
            <a:off x="3267075" y="3009900"/>
            <a:ext cx="2295525" cy="628650"/>
          </a:xfrm>
          <a:prstGeom prst="roundRect">
            <a:avLst>
              <a:gd name="adj" fmla="val 24242"/>
            </a:avLst>
          </a:prstGeom>
          <a:solidFill>
            <a:srgbClr val="FBE8EF"/>
          </a:solidFill>
          <a:ln w="0">
            <a:noFill/>
          </a:ln>
        </p:spPr>
        <p:txBody>
          <a:bodyPr/>
          <a:lstStyle/>
          <a:p>
            <a:endParaRPr lang="zh-CN" altLang="en-US"/>
          </a:p>
        </p:txBody>
      </p:sp>
      <p:sp>
        <p:nvSpPr>
          <p:cNvPr id="16" name="p0-226">
            <a:extLst>
              <a:ext uri="{FF2B5EF4-FFF2-40B4-BE49-F238E27FC236}">
                <a16:creationId xmlns:a16="http://schemas.microsoft.com/office/drawing/2014/main" id="{71BCC78E-799F-4940-901A-7C1BFA2DE69B}"/>
              </a:ext>
            </a:extLst>
          </p:cNvPr>
          <p:cNvSpPr>
            <a:spLocks noGrp="1"/>
          </p:cNvSpPr>
          <p:nvPr/>
        </p:nvSpPr>
        <p:spPr>
          <a:xfrm>
            <a:off x="3390900" y="3057525"/>
            <a:ext cx="2047875" cy="533400"/>
          </a:xfrm>
          <a:prstGeom prst="rect">
            <a:avLst/>
          </a:prstGeom>
          <a:noFill/>
          <a:ln w="0">
            <a:noFill/>
          </a:ln>
        </p:spPr>
        <p:txBody>
          <a:bodyPr lIns="0" tIns="0" rIns="0" bIns="0" anchor="ctr">
            <a:noAutofit/>
          </a:bodyPr>
          <a:lstStyle>
            <a:defPPr algn="ctr">
              <a:defRPr sz="1650" b="1">
                <a:solidFill>
                  <a:srgbClr val="E31346"/>
                </a:solidFill>
                <a:latin typeface="Arial"/>
                <a:ea typeface="Arial"/>
                <a:cs typeface="Arial"/>
              </a:defRPr>
            </a:defPPr>
          </a:lstStyle>
          <a:p>
            <a:pPr algn="ctr">
              <a:defRPr sz="1650" b="1">
                <a:solidFill>
                  <a:srgbClr val="E31346"/>
                </a:solidFill>
                <a:latin typeface="Arial"/>
                <a:ea typeface="Arial"/>
                <a:cs typeface="Arial"/>
              </a:defRPr>
            </a:pPr>
            <a:r>
              <a:rPr sz="1650" b="1">
                <a:solidFill>
                  <a:srgbClr val="E31346"/>
                </a:solidFill>
                <a:latin typeface="Arial"/>
                <a:ea typeface="Arial"/>
                <a:cs typeface="Arial"/>
              </a:rPr>
              <a:t>Residual Δv</a:t>
            </a:r>
          </a:p>
        </p:txBody>
      </p:sp>
      <p:sp>
        <p:nvSpPr>
          <p:cNvPr id="17" name="p0-227">
            <a:extLst>
              <a:ext uri="{FF2B5EF4-FFF2-40B4-BE49-F238E27FC236}">
                <a16:creationId xmlns:a16="http://schemas.microsoft.com/office/drawing/2014/main" id="{F1D37CA6-9357-43D7-A963-24EE052C45C0}"/>
              </a:ext>
            </a:extLst>
          </p:cNvPr>
          <p:cNvSpPr>
            <a:spLocks noGrp="1"/>
          </p:cNvSpPr>
          <p:nvPr/>
        </p:nvSpPr>
        <p:spPr>
          <a:xfrm>
            <a:off x="2867025" y="3009900"/>
            <a:ext cx="323850" cy="628650"/>
          </a:xfrm>
          <a:prstGeom prst="rect">
            <a:avLst/>
          </a:prstGeom>
          <a:noFill/>
          <a:ln w="0">
            <a:noFill/>
          </a:ln>
        </p:spPr>
        <p:txBody>
          <a:bodyPr lIns="0" tIns="0" rIns="0" bIns="0" anchor="ctr">
            <a:noAutofit/>
          </a:bodyPr>
          <a:lstStyle>
            <a:defPPr algn="l">
              <a:defRPr sz="2550" b="1">
                <a:solidFill>
                  <a:srgbClr val="E31346"/>
                </a:solidFill>
                <a:latin typeface="Arial"/>
                <a:ea typeface="Arial"/>
                <a:cs typeface="Arial"/>
              </a:defRPr>
            </a:defPPr>
          </a:lstStyle>
          <a:p>
            <a:pPr algn="l">
              <a:defRPr sz="2550" b="1">
                <a:solidFill>
                  <a:srgbClr val="E31346"/>
                </a:solidFill>
                <a:latin typeface="Arial"/>
                <a:ea typeface="Arial"/>
                <a:cs typeface="Arial"/>
              </a:defRPr>
            </a:pPr>
            <a:r>
              <a:rPr sz="2550" b="1">
                <a:solidFill>
                  <a:srgbClr val="E31346"/>
                </a:solidFill>
                <a:latin typeface="Arial"/>
                <a:ea typeface="Arial"/>
                <a:cs typeface="Arial"/>
              </a:rPr>
              <a:t>+</a:t>
            </a:r>
          </a:p>
        </p:txBody>
      </p:sp>
      <p:sp>
        <p:nvSpPr>
          <p:cNvPr id="18" name="p0-228">
            <a:extLst>
              <a:ext uri="{FF2B5EF4-FFF2-40B4-BE49-F238E27FC236}">
                <a16:creationId xmlns:a16="http://schemas.microsoft.com/office/drawing/2014/main" id="{A112EFE6-C240-47F5-A543-69FEA87A5ABD}"/>
              </a:ext>
            </a:extLst>
          </p:cNvPr>
          <p:cNvSpPr>
            <a:spLocks noGrp="1"/>
          </p:cNvSpPr>
          <p:nvPr/>
        </p:nvSpPr>
        <p:spPr>
          <a:xfrm>
            <a:off x="2933700" y="3724275"/>
            <a:ext cx="190500" cy="238125"/>
          </a:xfrm>
          <a:prstGeom prst="downArrow">
            <a:avLst/>
          </a:prstGeom>
          <a:solidFill>
            <a:srgbClr val="697386"/>
          </a:solidFill>
          <a:ln w="0">
            <a:noFill/>
          </a:ln>
        </p:spPr>
        <p:txBody>
          <a:bodyPr/>
          <a:lstStyle/>
          <a:p>
            <a:endParaRPr lang="zh-CN" altLang="en-US"/>
          </a:p>
        </p:txBody>
      </p:sp>
      <p:sp>
        <p:nvSpPr>
          <p:cNvPr id="19" name="p0-229">
            <a:extLst>
              <a:ext uri="{FF2B5EF4-FFF2-40B4-BE49-F238E27FC236}">
                <a16:creationId xmlns:a16="http://schemas.microsoft.com/office/drawing/2014/main" id="{107CEDB9-24AB-42E0-8178-FB13B90B5D59}"/>
              </a:ext>
            </a:extLst>
          </p:cNvPr>
          <p:cNvSpPr>
            <a:spLocks noGrp="1"/>
          </p:cNvSpPr>
          <p:nvPr/>
        </p:nvSpPr>
        <p:spPr>
          <a:xfrm>
            <a:off x="495300" y="4095750"/>
            <a:ext cx="5067300" cy="600075"/>
          </a:xfrm>
          <a:prstGeom prst="roundRect">
            <a:avLst>
              <a:gd name="adj" fmla="val 25397"/>
            </a:avLst>
          </a:prstGeom>
          <a:solidFill>
            <a:srgbClr val="1B1D63"/>
          </a:solidFill>
          <a:ln w="0">
            <a:noFill/>
          </a:ln>
        </p:spPr>
        <p:txBody>
          <a:bodyPr/>
          <a:lstStyle/>
          <a:p>
            <a:endParaRPr lang="zh-CN" altLang="en-US"/>
          </a:p>
        </p:txBody>
      </p:sp>
      <p:sp>
        <p:nvSpPr>
          <p:cNvPr id="20" name="p0-230">
            <a:extLst>
              <a:ext uri="{FF2B5EF4-FFF2-40B4-BE49-F238E27FC236}">
                <a16:creationId xmlns:a16="http://schemas.microsoft.com/office/drawing/2014/main" id="{9C768D0A-0C77-4A45-9917-101BEA233909}"/>
              </a:ext>
            </a:extLst>
          </p:cNvPr>
          <p:cNvSpPr>
            <a:spLocks noGrp="1"/>
          </p:cNvSpPr>
          <p:nvPr/>
        </p:nvSpPr>
        <p:spPr>
          <a:xfrm>
            <a:off x="619125" y="4143375"/>
            <a:ext cx="4819650" cy="504825"/>
          </a:xfrm>
          <a:prstGeom prst="rect">
            <a:avLst/>
          </a:prstGeom>
          <a:noFill/>
          <a:ln w="0">
            <a:noFill/>
          </a:ln>
        </p:spPr>
        <p:txBody>
          <a:bodyPr lIns="0" tIns="0" rIns="0" bIns="0" anchor="ctr">
            <a:noAutofit/>
          </a:bodyPr>
          <a:lstStyle>
            <a:defPPr algn="ctr">
              <a:defRPr sz="1875" b="1">
                <a:solidFill>
                  <a:srgbClr val="FFFFFF"/>
                </a:solidFill>
                <a:latin typeface="Arial"/>
                <a:ea typeface="Arial"/>
                <a:cs typeface="Arial"/>
              </a:defRPr>
            </a:def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Same classifier</a:t>
            </a:r>
          </a:p>
        </p:txBody>
      </p:sp>
      <p:sp>
        <p:nvSpPr>
          <p:cNvPr id="21" name="p0-231">
            <a:extLst>
              <a:ext uri="{FF2B5EF4-FFF2-40B4-BE49-F238E27FC236}">
                <a16:creationId xmlns:a16="http://schemas.microsoft.com/office/drawing/2014/main" id="{3C488DB3-02FA-47BD-9DC4-9F65C59803B1}"/>
              </a:ext>
            </a:extLst>
          </p:cNvPr>
          <p:cNvSpPr>
            <a:spLocks noGrp="1"/>
          </p:cNvSpPr>
          <p:nvPr/>
        </p:nvSpPr>
        <p:spPr>
          <a:xfrm>
            <a:off x="495300" y="4953000"/>
            <a:ext cx="5067300" cy="657225"/>
          </a:xfrm>
          <a:prstGeom prst="rect">
            <a:avLst/>
          </a:prstGeom>
          <a:noFill/>
          <a:ln w="0">
            <a:noFill/>
          </a:ln>
        </p:spPr>
        <p:txBody>
          <a:bodyPr lIns="0" tIns="0" rIns="0" bIns="0" anchor="ctr">
            <a:noAutofit/>
          </a:bodyPr>
          <a:lstStyle>
            <a:defPPr algn="l">
              <a:defRPr sz="1725" b="1">
                <a:solidFill>
                  <a:srgbClr val="1B1D63"/>
                </a:solidFill>
                <a:latin typeface="Arial"/>
                <a:ea typeface="Arial"/>
                <a:cs typeface="Arial"/>
              </a:defRPr>
            </a:defPPr>
          </a:lstStyle>
          <a:p>
            <a:pPr algn="l">
              <a:defRPr sz="1725" b="1">
                <a:solidFill>
                  <a:srgbClr val="1B1D63"/>
                </a:solidFill>
                <a:latin typeface="Arial"/>
                <a:ea typeface="Arial"/>
                <a:cs typeface="Arial"/>
              </a:defRPr>
            </a:pPr>
            <a:r>
              <a:rPr sz="1725" b="1">
                <a:solidFill>
                  <a:srgbClr val="1B1D63"/>
                </a:solidFill>
                <a:latin typeface="Arial"/>
                <a:ea typeface="Arial"/>
                <a:cs typeface="Arial"/>
              </a:rPr>
              <a:t>OFF: bypass Δv only</a:t>
            </a:r>
          </a:p>
          <a:p>
            <a:pPr algn="l">
              <a:defRPr sz="1725" b="1">
                <a:solidFill>
                  <a:srgbClr val="1B1D63"/>
                </a:solidFill>
                <a:latin typeface="Arial"/>
                <a:ea typeface="Arial"/>
                <a:cs typeface="Arial"/>
              </a:defRPr>
            </a:pPr>
            <a:r>
              <a:rPr sz="1725" b="1">
                <a:solidFill>
                  <a:srgbClr val="1B1D63"/>
                </a:solidFill>
                <a:latin typeface="Arial"/>
                <a:ea typeface="Arial"/>
                <a:cs typeface="Arial"/>
              </a:rPr>
              <a:t>Same correct count for every ON / OFF pair</a:t>
            </a:r>
          </a:p>
        </p:txBody>
      </p:sp>
      <p:sp>
        <p:nvSpPr>
          <p:cNvPr id="22" name="p0-232">
            <a:extLst>
              <a:ext uri="{FF2B5EF4-FFF2-40B4-BE49-F238E27FC236}">
                <a16:creationId xmlns:a16="http://schemas.microsoft.com/office/drawing/2014/main" id="{60389075-25C0-427A-A15F-1A8BF5D96711}"/>
              </a:ext>
            </a:extLst>
          </p:cNvPr>
          <p:cNvSpPr>
            <a:spLocks noGrp="1"/>
          </p:cNvSpPr>
          <p:nvPr/>
        </p:nvSpPr>
        <p:spPr>
          <a:xfrm>
            <a:off x="6353175" y="1400175"/>
            <a:ext cx="5153025" cy="238125"/>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E3 EXAMPLE · HARD-LABEL CE</a:t>
            </a:r>
          </a:p>
        </p:txBody>
      </p:sp>
      <p:graphicFrame>
        <p:nvGraphicFramePr>
          <p:cNvPr id="23" name="Chart">
            <a:extLst>
              <a:ext uri="{FF2B5EF4-FFF2-40B4-BE49-F238E27FC236}">
                <a16:creationId xmlns:a16="http://schemas.microsoft.com/office/drawing/2014/main" id="{60D614D2-83E2-4512-84A6-810EC737D87B}"/>
              </a:ext>
            </a:extLst>
          </p:cNvPr>
          <p:cNvGraphicFramePr/>
          <p:nvPr/>
        </p:nvGraphicFramePr>
        <p:xfrm>
          <a:off x="6296025" y="1943100"/>
          <a:ext cx="5219700" cy="3409950"/>
        </p:xfrm>
        <a:graphic>
          <a:graphicData uri="http://schemas.openxmlformats.org/drawingml/2006/chart">
            <c:chart xmlns:c="http://schemas.openxmlformats.org/drawingml/2006/chart" xmlns:r="http://schemas.openxmlformats.org/officeDocument/2006/relationships" r:id="rId4"/>
          </a:graphicData>
        </a:graphic>
      </p:graphicFrame>
      <p:sp>
        <p:nvSpPr>
          <p:cNvPr id="24" name="p0-233">
            <a:extLst>
              <a:ext uri="{FF2B5EF4-FFF2-40B4-BE49-F238E27FC236}">
                <a16:creationId xmlns:a16="http://schemas.microsoft.com/office/drawing/2014/main" id="{F589E878-FCB4-4AF7-8867-378F6A950F93}"/>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25" name="p0-234">
            <a:extLst>
              <a:ext uri="{FF2B5EF4-FFF2-40B4-BE49-F238E27FC236}">
                <a16:creationId xmlns:a16="http://schemas.microsoft.com/office/drawing/2014/main" id="{86B4E4EE-7CB3-4FC7-8184-F05E98561D3A}"/>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75" b="1">
                <a:solidFill>
                  <a:srgbClr val="FFFFFF"/>
                </a:solidFill>
                <a:latin typeface="Arial"/>
                <a:ea typeface="Arial"/>
                <a:cs typeface="Arial"/>
              </a:defRPr>
            </a:def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The residual changes output scores without adding correct decisions</a:t>
            </a:r>
          </a:p>
        </p:txBody>
      </p:sp>
    </p:spTree>
    <p:extLst>
      <p:ext uri="{BB962C8B-B14F-4D97-AF65-F5344CB8AC3E}">
        <p14:creationId xmlns:p14="http://schemas.microsoft.com/office/powerpoint/2010/main" val="1334480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p0-235">
            <a:extLst>
              <a:ext uri="{FF2B5EF4-FFF2-40B4-BE49-F238E27FC236}">
                <a16:creationId xmlns:a16="http://schemas.microsoft.com/office/drawing/2014/main" id="{BE13718A-418B-45C9-B5D3-329BE6A51F08}"/>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p0-236">
            <a:extLst>
              <a:ext uri="{FF2B5EF4-FFF2-40B4-BE49-F238E27FC236}">
                <a16:creationId xmlns:a16="http://schemas.microsoft.com/office/drawing/2014/main" id="{E467EEC4-5F4C-433C-BC89-5609346E59D9}"/>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3" name="p0-237">
            <a:extLst>
              <a:ext uri="{FF2B5EF4-FFF2-40B4-BE49-F238E27FC236}">
                <a16:creationId xmlns:a16="http://schemas.microsoft.com/office/drawing/2014/main" id="{2D073DF9-8B67-403F-A84C-456B68491248}"/>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50" b="1">
                <a:solidFill>
                  <a:srgbClr val="1B1D63"/>
                </a:solidFill>
                <a:latin typeface="Arial"/>
                <a:ea typeface="Arial"/>
                <a:cs typeface="Arial"/>
              </a:defRPr>
            </a:defPPr>
          </a:lstStyle>
          <a:p>
            <a:pPr algn="l">
              <a:defRPr sz="2550" b="1">
                <a:solidFill>
                  <a:srgbClr val="1B1D63"/>
                </a:solidFill>
                <a:latin typeface="Arial"/>
                <a:ea typeface="Arial"/>
                <a:cs typeface="Arial"/>
              </a:defRPr>
            </a:pPr>
            <a:r>
              <a:rPr sz="2550" b="1">
                <a:solidFill>
                  <a:srgbClr val="1B1D63"/>
                </a:solidFill>
                <a:latin typeface="Arial"/>
                <a:ea typeface="Arial"/>
                <a:cs typeface="Arial"/>
              </a:rPr>
              <a:t>What P0 Establishes · Three Evidence Levels</a:t>
            </a:r>
          </a:p>
        </p:txBody>
      </p:sp>
      <p:sp>
        <p:nvSpPr>
          <p:cNvPr id="4" name="p0-238">
            <a:extLst>
              <a:ext uri="{FF2B5EF4-FFF2-40B4-BE49-F238E27FC236}">
                <a16:creationId xmlns:a16="http://schemas.microsoft.com/office/drawing/2014/main" id="{8523113B-5C0F-435C-BE57-29C2545DDAF8}"/>
              </a:ext>
            </a:extLst>
          </p:cNvPr>
          <p:cNvSpPr>
            <a:spLocks noGrp="1"/>
          </p:cNvSpPr>
          <p:nvPr/>
        </p:nvSpPr>
        <p:spPr>
          <a:xfrm>
            <a:off x="590550" y="723900"/>
            <a:ext cx="7239000" cy="219075"/>
          </a:xfrm>
          <a:prstGeom prst="rect">
            <a:avLst/>
          </a:prstGeom>
          <a:noFill/>
          <a:ln w="0">
            <a:noFill/>
          </a:ln>
        </p:spPr>
        <p:txBody>
          <a:bodyPr lIns="0" tIns="0" rIns="0" bIns="0" anchor="ctr">
            <a:noAutofit/>
          </a:bodyPr>
          <a:lstStyle>
            <a:defPPr algn="l">
              <a:defRPr sz="900" b="1">
                <a:solidFill>
                  <a:srgbClr val="E31346"/>
                </a:solidFill>
                <a:latin typeface="Arial"/>
                <a:ea typeface="Arial"/>
                <a:cs typeface="Arial"/>
              </a:defRPr>
            </a:defPPr>
          </a:lstStyle>
          <a:p>
            <a:pPr algn="l">
              <a:defRPr sz="900" b="1">
                <a:solidFill>
                  <a:srgbClr val="E31346"/>
                </a:solidFill>
                <a:latin typeface="Arial"/>
                <a:ea typeface="Arial"/>
                <a:cs typeface="Arial"/>
              </a:defRPr>
            </a:pPr>
            <a:r>
              <a:rPr sz="900" b="1">
                <a:solidFill>
                  <a:srgbClr val="E31346"/>
                </a:solidFill>
                <a:latin typeface="Arial"/>
                <a:ea typeface="Arial"/>
                <a:cs typeface="Arial"/>
              </a:rPr>
              <a:t>EE6008 · HUMAN POSE GROUP PROJECT</a:t>
            </a:r>
          </a:p>
        </p:txBody>
      </p:sp>
      <p:sp>
        <p:nvSpPr>
          <p:cNvPr id="5" name="p0-239">
            <a:extLst>
              <a:ext uri="{FF2B5EF4-FFF2-40B4-BE49-F238E27FC236}">
                <a16:creationId xmlns:a16="http://schemas.microsoft.com/office/drawing/2014/main" id="{3A1FE32C-81D5-4F73-BDCA-9506EA98BC1A}"/>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pic>
        <p:nvPicPr>
          <p:cNvPr id="6" name="图片 5">
            <a:extLst>
              <a:ext uri="{FF2B5EF4-FFF2-40B4-BE49-F238E27FC236}">
                <a16:creationId xmlns:a16="http://schemas.microsoft.com/office/drawing/2014/main" id="{D2F28B3B-2BC1-4CAF-AEAA-4F6D421E4906}"/>
              </a:ext>
            </a:extLst>
          </p:cNvPr>
          <p:cNvPicPr>
            <a:picLocks noChangeAspect="1"/>
          </p:cNvPicPr>
          <p:nvPr/>
        </p:nvPicPr>
        <p:blipFill>
          <a:blip r:embed="rId3"/>
          <a:stretch/>
        </p:blipFill>
        <p:spPr>
          <a:xfrm>
            <a:off x="9696450" y="191381"/>
            <a:ext cx="2038350" cy="731663"/>
          </a:xfrm>
          <a:prstGeom prst="rect">
            <a:avLst/>
          </a:prstGeom>
        </p:spPr>
      </p:pic>
      <p:sp>
        <p:nvSpPr>
          <p:cNvPr id="7" name="p0-240">
            <a:extLst>
              <a:ext uri="{FF2B5EF4-FFF2-40B4-BE49-F238E27FC236}">
                <a16:creationId xmlns:a16="http://schemas.microsoft.com/office/drawing/2014/main" id="{B478B413-859E-46F3-A762-FABAACF3CB34}"/>
              </a:ext>
            </a:extLst>
          </p:cNvPr>
          <p:cNvSpPr>
            <a:spLocks noGrp="1"/>
          </p:cNvSpPr>
          <p:nvPr/>
        </p:nvSpPr>
        <p:spPr>
          <a:xfrm>
            <a:off x="590550" y="6591300"/>
            <a:ext cx="2857500" cy="219075"/>
          </a:xfrm>
          <a:prstGeom prst="rect">
            <a:avLst/>
          </a:prstGeom>
          <a:noFill/>
          <a:ln w="0">
            <a:noFill/>
          </a:ln>
        </p:spPr>
        <p:txBody>
          <a:bodyPr lIns="0" tIns="0" rIns="0" bIns="0" anchor="ctr">
            <a:noAutofit/>
          </a:bodyPr>
          <a:lstStyle>
            <a:defPPr algn="l">
              <a:defRPr sz="750" b="1">
                <a:solidFill>
                  <a:srgbClr val="FFFFFF"/>
                </a:solidFill>
                <a:latin typeface="Arial"/>
                <a:ea typeface="Arial"/>
                <a:cs typeface="Arial"/>
              </a:defRPr>
            </a:defP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p0-241">
            <a:extLst>
              <a:ext uri="{FF2B5EF4-FFF2-40B4-BE49-F238E27FC236}">
                <a16:creationId xmlns:a16="http://schemas.microsoft.com/office/drawing/2014/main" id="{6632A196-9578-4C91-A4F3-106E00A7B91C}"/>
              </a:ext>
            </a:extLst>
          </p:cNvPr>
          <p:cNvSpPr>
            <a:spLocks noGrp="1"/>
          </p:cNvSpPr>
          <p:nvPr/>
        </p:nvSpPr>
        <p:spPr>
          <a:xfrm>
            <a:off x="11049000" y="6591300"/>
            <a:ext cx="619125" cy="219075"/>
          </a:xfrm>
          <a:prstGeom prst="rect">
            <a:avLst/>
          </a:prstGeom>
          <a:noFill/>
          <a:ln w="0">
            <a:noFill/>
          </a:ln>
        </p:spPr>
        <p:txBody>
          <a:bodyPr lIns="0" tIns="0" rIns="0" bIns="0" anchor="ctr">
            <a:noAutofit/>
          </a:bodyPr>
          <a:lstStyle>
            <a:defPPr algn="r">
              <a:defRPr sz="750" b="1">
                <a:solidFill>
                  <a:srgbClr val="FFFFFF"/>
                </a:solidFill>
                <a:latin typeface="Arial"/>
                <a:ea typeface="Arial"/>
                <a:cs typeface="Arial"/>
              </a:defRPr>
            </a:defPPr>
          </a:lstStyle>
          <a:p>
            <a:pPr algn="r">
              <a:defRPr sz="750" b="1">
                <a:solidFill>
                  <a:srgbClr val="FFFFFF"/>
                </a:solidFill>
                <a:latin typeface="Arial"/>
                <a:ea typeface="Arial"/>
                <a:cs typeface="Arial"/>
              </a:defRPr>
            </a:pPr>
            <a:r>
              <a:rPr lang="en-US" sz="750" b="1" dirty="0">
                <a:solidFill>
                  <a:srgbClr val="FFFFFF"/>
                </a:solidFill>
                <a:latin typeface="Arial"/>
                <a:ea typeface="Arial"/>
                <a:cs typeface="Arial"/>
              </a:rPr>
              <a:t>10</a:t>
            </a:r>
            <a:endParaRPr sz="750" b="1" dirty="0">
              <a:solidFill>
                <a:srgbClr val="FFFFFF"/>
              </a:solidFill>
              <a:latin typeface="Arial"/>
              <a:ea typeface="Arial"/>
              <a:cs typeface="Arial"/>
            </a:endParaRPr>
          </a:p>
        </p:txBody>
      </p:sp>
      <p:sp>
        <p:nvSpPr>
          <p:cNvPr id="9" name="p0-242">
            <a:extLst>
              <a:ext uri="{FF2B5EF4-FFF2-40B4-BE49-F238E27FC236}">
                <a16:creationId xmlns:a16="http://schemas.microsoft.com/office/drawing/2014/main" id="{5F21E8B2-1A7F-447D-BC0C-B939EFC2832E}"/>
              </a:ext>
            </a:extLst>
          </p:cNvPr>
          <p:cNvSpPr>
            <a:spLocks noGrp="1"/>
          </p:cNvSpPr>
          <p:nvPr/>
        </p:nvSpPr>
        <p:spPr>
          <a:xfrm>
            <a:off x="495300" y="1647825"/>
            <a:ext cx="3476625" cy="3533775"/>
          </a:xfrm>
          <a:prstGeom prst="roundRect">
            <a:avLst>
              <a:gd name="adj" fmla="val 4384"/>
            </a:avLst>
          </a:prstGeom>
          <a:solidFill>
            <a:srgbClr val="E6F6F4"/>
          </a:solidFill>
          <a:ln w="0">
            <a:noFill/>
          </a:ln>
        </p:spPr>
        <p:txBody>
          <a:bodyPr/>
          <a:lstStyle/>
          <a:p>
            <a:endParaRPr lang="zh-CN" altLang="en-US"/>
          </a:p>
        </p:txBody>
      </p:sp>
      <p:sp>
        <p:nvSpPr>
          <p:cNvPr id="10" name="p0-243">
            <a:extLst>
              <a:ext uri="{FF2B5EF4-FFF2-40B4-BE49-F238E27FC236}">
                <a16:creationId xmlns:a16="http://schemas.microsoft.com/office/drawing/2014/main" id="{8D197DD2-E046-4BFA-9A99-FF532A04A206}"/>
              </a:ext>
            </a:extLst>
          </p:cNvPr>
          <p:cNvSpPr>
            <a:spLocks noGrp="1"/>
          </p:cNvSpPr>
          <p:nvPr/>
        </p:nvSpPr>
        <p:spPr>
          <a:xfrm>
            <a:off x="723900" y="1809750"/>
            <a:ext cx="3019425" cy="409575"/>
          </a:xfrm>
          <a:prstGeom prst="rect">
            <a:avLst/>
          </a:prstGeom>
          <a:noFill/>
          <a:ln w="0">
            <a:noFill/>
          </a:ln>
        </p:spPr>
        <p:txBody>
          <a:bodyPr lIns="0" tIns="0" rIns="0" bIns="0" anchor="ctr">
            <a:noAutofit/>
          </a:bodyPr>
          <a:lstStyle>
            <a:defPPr algn="l">
              <a:defRPr sz="2325" b="1">
                <a:solidFill>
                  <a:srgbClr val="38AFA2"/>
                </a:solidFill>
                <a:latin typeface="Arial"/>
                <a:ea typeface="Arial"/>
                <a:cs typeface="Arial"/>
              </a:defRPr>
            </a:defPPr>
          </a:lstStyle>
          <a:p>
            <a:pPr algn="l">
              <a:defRPr sz="2325" b="1">
                <a:solidFill>
                  <a:srgbClr val="38AFA2"/>
                </a:solidFill>
                <a:latin typeface="Arial"/>
                <a:ea typeface="Arial"/>
                <a:cs typeface="Arial"/>
              </a:defRPr>
            </a:pPr>
            <a:r>
              <a:rPr sz="2325" b="1">
                <a:solidFill>
                  <a:srgbClr val="38AFA2"/>
                </a:solidFill>
                <a:latin typeface="Arial"/>
                <a:ea typeface="Arial"/>
                <a:cs typeface="Arial"/>
              </a:rPr>
              <a:t>1</a:t>
            </a:r>
          </a:p>
        </p:txBody>
      </p:sp>
      <p:sp>
        <p:nvSpPr>
          <p:cNvPr id="11" name="p0-244">
            <a:extLst>
              <a:ext uri="{FF2B5EF4-FFF2-40B4-BE49-F238E27FC236}">
                <a16:creationId xmlns:a16="http://schemas.microsoft.com/office/drawing/2014/main" id="{5123FC29-1309-4CB2-93D5-91FDF67D1C75}"/>
              </a:ext>
            </a:extLst>
          </p:cNvPr>
          <p:cNvSpPr>
            <a:spLocks noGrp="1"/>
          </p:cNvSpPr>
          <p:nvPr/>
        </p:nvSpPr>
        <p:spPr>
          <a:xfrm>
            <a:off x="723900" y="2362200"/>
            <a:ext cx="3019425" cy="561975"/>
          </a:xfrm>
          <a:prstGeom prst="rect">
            <a:avLst/>
          </a:prstGeom>
          <a:noFill/>
          <a:ln w="0">
            <a:noFill/>
          </a:ln>
        </p:spPr>
        <p:txBody>
          <a:bodyPr lIns="0" tIns="0" rIns="0" bIns="0" anchor="ctr">
            <a:noAutofit/>
          </a:bodyPr>
          <a:lstStyle>
            <a:defPPr algn="l">
              <a:defRPr sz="2100" b="1">
                <a:solidFill>
                  <a:srgbClr val="1B1D63"/>
                </a:solidFill>
                <a:latin typeface="Arial"/>
                <a:ea typeface="Arial"/>
                <a:cs typeface="Arial"/>
              </a:defRPr>
            </a:defPPr>
          </a:lstStyle>
          <a:p>
            <a:pPr algn="l">
              <a:defRPr sz="2100" b="1">
                <a:solidFill>
                  <a:srgbClr val="1B1D63"/>
                </a:solidFill>
                <a:latin typeface="Arial"/>
                <a:ea typeface="Arial"/>
                <a:cs typeface="Arial"/>
              </a:defRPr>
            </a:pPr>
            <a:r>
              <a:rPr sz="2100" b="1">
                <a:solidFill>
                  <a:srgbClr val="1B1D63"/>
                </a:solidFill>
                <a:latin typeface="Arial"/>
                <a:ea typeface="Arial"/>
                <a:cs typeface="Arial"/>
              </a:rPr>
              <a:t>Branch learning</a:t>
            </a:r>
          </a:p>
        </p:txBody>
      </p:sp>
      <p:sp>
        <p:nvSpPr>
          <p:cNvPr id="12" name="p0-245">
            <a:extLst>
              <a:ext uri="{FF2B5EF4-FFF2-40B4-BE49-F238E27FC236}">
                <a16:creationId xmlns:a16="http://schemas.microsoft.com/office/drawing/2014/main" id="{FC259804-8FE1-4ACA-889A-E8E0680122DE}"/>
              </a:ext>
            </a:extLst>
          </p:cNvPr>
          <p:cNvSpPr>
            <a:spLocks noGrp="1"/>
          </p:cNvSpPr>
          <p:nvPr/>
        </p:nvSpPr>
        <p:spPr>
          <a:xfrm>
            <a:off x="723900" y="3257550"/>
            <a:ext cx="3019425" cy="1000125"/>
          </a:xfrm>
          <a:prstGeom prst="rect">
            <a:avLst/>
          </a:prstGeom>
          <a:noFill/>
          <a:ln w="0">
            <a:noFill/>
          </a:ln>
        </p:spPr>
        <p:txBody>
          <a:bodyPr lIns="0" tIns="0" rIns="0" bIns="0" anchor="ctr">
            <a:noAutofit/>
          </a:bodyPr>
          <a:lstStyle>
            <a:defPPr algn="l">
              <a:defRPr sz="1725" b="0">
                <a:solidFill>
                  <a:srgbClr val="2A2E45"/>
                </a:solidFill>
                <a:latin typeface="Arial"/>
                <a:ea typeface="Arial"/>
                <a:cs typeface="Arial"/>
              </a:defRPr>
            </a:defPPr>
          </a:lstStyle>
          <a:p>
            <a:pPr algn="l">
              <a:defRPr sz="1725" b="0">
                <a:solidFill>
                  <a:srgbClr val="2A2E45"/>
                </a:solidFill>
                <a:latin typeface="Arial"/>
                <a:ea typeface="Arial"/>
                <a:cs typeface="Arial"/>
              </a:defRPr>
            </a:pPr>
            <a:r>
              <a:rPr sz="1725" b="0">
                <a:solidFill>
                  <a:srgbClr val="2A2E45"/>
                </a:solidFill>
                <a:latin typeface="Arial"/>
                <a:ea typeface="Arial"/>
                <a:cs typeface="Arial"/>
              </a:rPr>
              <a:t>Zero initialization</a:t>
            </a:r>
          </a:p>
          <a:p>
            <a:pPr algn="l">
              <a:defRPr sz="1725" b="0">
                <a:solidFill>
                  <a:srgbClr val="2A2E45"/>
                </a:solidFill>
                <a:latin typeface="Arial"/>
                <a:ea typeface="Arial"/>
                <a:cs typeface="Arial"/>
              </a:defRPr>
            </a:pPr>
            <a:r>
              <a:rPr sz="1725" b="0">
                <a:solidFill>
                  <a:srgbClr val="2A2E45"/>
                </a:solidFill>
                <a:latin typeface="Arial"/>
                <a:ea typeface="Arial"/>
                <a:cs typeface="Arial"/>
              </a:rPr>
              <a:t>↓</a:t>
            </a:r>
          </a:p>
          <a:p>
            <a:pPr algn="l">
              <a:defRPr sz="1725" b="0">
                <a:solidFill>
                  <a:srgbClr val="2A2E45"/>
                </a:solidFill>
                <a:latin typeface="Arial"/>
                <a:ea typeface="Arial"/>
                <a:cs typeface="Arial"/>
              </a:defRPr>
            </a:pPr>
            <a:r>
              <a:rPr sz="1725" b="0">
                <a:solidFill>
                  <a:srgbClr val="2A2E45"/>
                </a:solidFill>
                <a:latin typeface="Arial"/>
                <a:ea typeface="Arial"/>
                <a:cs typeface="Arial"/>
              </a:rPr>
              <a:t>Learned nonzero residual</a:t>
            </a:r>
          </a:p>
        </p:txBody>
      </p:sp>
      <p:sp>
        <p:nvSpPr>
          <p:cNvPr id="13" name="p0-246">
            <a:extLst>
              <a:ext uri="{FF2B5EF4-FFF2-40B4-BE49-F238E27FC236}">
                <a16:creationId xmlns:a16="http://schemas.microsoft.com/office/drawing/2014/main" id="{5E9DC729-24DB-430E-B72C-857E4B3815DE}"/>
              </a:ext>
            </a:extLst>
          </p:cNvPr>
          <p:cNvSpPr>
            <a:spLocks noGrp="1"/>
          </p:cNvSpPr>
          <p:nvPr/>
        </p:nvSpPr>
        <p:spPr>
          <a:xfrm>
            <a:off x="723900" y="4638675"/>
            <a:ext cx="3019425" cy="333375"/>
          </a:xfrm>
          <a:prstGeom prst="rect">
            <a:avLst/>
          </a:prstGeom>
          <a:noFill/>
          <a:ln w="0">
            <a:noFill/>
          </a:ln>
        </p:spPr>
        <p:txBody>
          <a:bodyPr lIns="0" tIns="0" rIns="0" bIns="0" anchor="ctr">
            <a:noAutofit/>
          </a:bodyPr>
          <a:lstStyle>
            <a:defPPr algn="l">
              <a:defRPr sz="1875" b="1">
                <a:solidFill>
                  <a:srgbClr val="38AFA2"/>
                </a:solidFill>
                <a:latin typeface="Arial"/>
                <a:ea typeface="Arial"/>
                <a:cs typeface="Arial"/>
              </a:defRPr>
            </a:defPPr>
          </a:lstStyle>
          <a:p>
            <a:pPr algn="l">
              <a:defRPr sz="1875" b="1">
                <a:solidFill>
                  <a:srgbClr val="38AFA2"/>
                </a:solidFill>
                <a:latin typeface="Arial"/>
                <a:ea typeface="Arial"/>
                <a:cs typeface="Arial"/>
              </a:defRPr>
            </a:pPr>
            <a:r>
              <a:rPr sz="1875" b="1">
                <a:solidFill>
                  <a:srgbClr val="38AFA2"/>
                </a:solidFill>
                <a:latin typeface="Arial"/>
                <a:ea typeface="Arial"/>
                <a:cs typeface="Arial"/>
              </a:rPr>
              <a:t>Supported</a:t>
            </a:r>
          </a:p>
        </p:txBody>
      </p:sp>
      <p:sp>
        <p:nvSpPr>
          <p:cNvPr id="14" name="p0-247">
            <a:extLst>
              <a:ext uri="{FF2B5EF4-FFF2-40B4-BE49-F238E27FC236}">
                <a16:creationId xmlns:a16="http://schemas.microsoft.com/office/drawing/2014/main" id="{880ACC1F-8C54-4605-B97D-1E7B8C540FFD}"/>
              </a:ext>
            </a:extLst>
          </p:cNvPr>
          <p:cNvSpPr>
            <a:spLocks noGrp="1"/>
          </p:cNvSpPr>
          <p:nvPr/>
        </p:nvSpPr>
        <p:spPr>
          <a:xfrm>
            <a:off x="4371975" y="1647825"/>
            <a:ext cx="3476625" cy="3533775"/>
          </a:xfrm>
          <a:prstGeom prst="roundRect">
            <a:avLst>
              <a:gd name="adj" fmla="val 4384"/>
            </a:avLst>
          </a:prstGeom>
          <a:solidFill>
            <a:srgbClr val="E6F6F4"/>
          </a:solidFill>
          <a:ln w="0">
            <a:noFill/>
          </a:ln>
        </p:spPr>
        <p:txBody>
          <a:bodyPr/>
          <a:lstStyle/>
          <a:p>
            <a:endParaRPr lang="zh-CN" altLang="en-US"/>
          </a:p>
        </p:txBody>
      </p:sp>
      <p:sp>
        <p:nvSpPr>
          <p:cNvPr id="15" name="p0-248">
            <a:extLst>
              <a:ext uri="{FF2B5EF4-FFF2-40B4-BE49-F238E27FC236}">
                <a16:creationId xmlns:a16="http://schemas.microsoft.com/office/drawing/2014/main" id="{818285CA-CE7B-4DA0-9E0A-07DB62C75A9D}"/>
              </a:ext>
            </a:extLst>
          </p:cNvPr>
          <p:cNvSpPr>
            <a:spLocks noGrp="1"/>
          </p:cNvSpPr>
          <p:nvPr/>
        </p:nvSpPr>
        <p:spPr>
          <a:xfrm>
            <a:off x="4600575" y="1809750"/>
            <a:ext cx="3019425" cy="409575"/>
          </a:xfrm>
          <a:prstGeom prst="rect">
            <a:avLst/>
          </a:prstGeom>
          <a:noFill/>
          <a:ln w="0">
            <a:noFill/>
          </a:ln>
        </p:spPr>
        <p:txBody>
          <a:bodyPr lIns="0" tIns="0" rIns="0" bIns="0" anchor="ctr">
            <a:noAutofit/>
          </a:bodyPr>
          <a:lstStyle>
            <a:defPPr algn="l">
              <a:defRPr sz="2325" b="1">
                <a:solidFill>
                  <a:srgbClr val="38AFA2"/>
                </a:solidFill>
                <a:latin typeface="Arial"/>
                <a:ea typeface="Arial"/>
                <a:cs typeface="Arial"/>
              </a:defRPr>
            </a:defPPr>
          </a:lstStyle>
          <a:p>
            <a:pPr algn="l">
              <a:defRPr sz="2325" b="1">
                <a:solidFill>
                  <a:srgbClr val="38AFA2"/>
                </a:solidFill>
                <a:latin typeface="Arial"/>
                <a:ea typeface="Arial"/>
                <a:cs typeface="Arial"/>
              </a:defRPr>
            </a:pPr>
            <a:r>
              <a:rPr sz="2325" b="1">
                <a:solidFill>
                  <a:srgbClr val="38AFA2"/>
                </a:solidFill>
                <a:latin typeface="Arial"/>
                <a:ea typeface="Arial"/>
                <a:cs typeface="Arial"/>
              </a:rPr>
              <a:t>2</a:t>
            </a:r>
          </a:p>
        </p:txBody>
      </p:sp>
      <p:sp>
        <p:nvSpPr>
          <p:cNvPr id="16" name="p0-249">
            <a:extLst>
              <a:ext uri="{FF2B5EF4-FFF2-40B4-BE49-F238E27FC236}">
                <a16:creationId xmlns:a16="http://schemas.microsoft.com/office/drawing/2014/main" id="{D0E68BC5-72CE-4048-9AE5-9A051F5018BB}"/>
              </a:ext>
            </a:extLst>
          </p:cNvPr>
          <p:cNvSpPr>
            <a:spLocks noGrp="1"/>
          </p:cNvSpPr>
          <p:nvPr/>
        </p:nvSpPr>
        <p:spPr>
          <a:xfrm>
            <a:off x="4600575" y="2362200"/>
            <a:ext cx="3019425" cy="561975"/>
          </a:xfrm>
          <a:prstGeom prst="rect">
            <a:avLst/>
          </a:prstGeom>
          <a:noFill/>
          <a:ln w="0">
            <a:noFill/>
          </a:ln>
        </p:spPr>
        <p:txBody>
          <a:bodyPr lIns="0" tIns="0" rIns="0" bIns="0" anchor="ctr">
            <a:noAutofit/>
          </a:bodyPr>
          <a:lstStyle>
            <a:defPPr algn="l">
              <a:defRPr sz="2100" b="1">
                <a:solidFill>
                  <a:srgbClr val="1B1D63"/>
                </a:solidFill>
                <a:latin typeface="Arial"/>
                <a:ea typeface="Arial"/>
                <a:cs typeface="Arial"/>
              </a:defRPr>
            </a:defPPr>
          </a:lstStyle>
          <a:p>
            <a:pPr algn="l">
              <a:defRPr sz="2100" b="1">
                <a:solidFill>
                  <a:srgbClr val="1B1D63"/>
                </a:solidFill>
                <a:latin typeface="Arial"/>
                <a:ea typeface="Arial"/>
                <a:cs typeface="Arial"/>
              </a:defRPr>
            </a:pPr>
            <a:r>
              <a:rPr sz="2100" b="1">
                <a:solidFill>
                  <a:srgbClr val="1B1D63"/>
                </a:solidFill>
                <a:latin typeface="Arial"/>
                <a:ea typeface="Arial"/>
                <a:cs typeface="Arial"/>
              </a:rPr>
              <a:t>Score contribution</a:t>
            </a:r>
          </a:p>
        </p:txBody>
      </p:sp>
      <p:sp>
        <p:nvSpPr>
          <p:cNvPr id="17" name="p0-250">
            <a:extLst>
              <a:ext uri="{FF2B5EF4-FFF2-40B4-BE49-F238E27FC236}">
                <a16:creationId xmlns:a16="http://schemas.microsoft.com/office/drawing/2014/main" id="{ADB42A79-FB8F-40FE-80C2-4C0DEF45D527}"/>
              </a:ext>
            </a:extLst>
          </p:cNvPr>
          <p:cNvSpPr>
            <a:spLocks noGrp="1"/>
          </p:cNvSpPr>
          <p:nvPr/>
        </p:nvSpPr>
        <p:spPr>
          <a:xfrm>
            <a:off x="4600575" y="3257550"/>
            <a:ext cx="3019425" cy="1000125"/>
          </a:xfrm>
          <a:prstGeom prst="rect">
            <a:avLst/>
          </a:prstGeom>
          <a:noFill/>
          <a:ln w="0">
            <a:noFill/>
          </a:ln>
        </p:spPr>
        <p:txBody>
          <a:bodyPr lIns="0" tIns="0" rIns="0" bIns="0" anchor="ctr">
            <a:noAutofit/>
          </a:bodyPr>
          <a:lstStyle>
            <a:defPPr algn="l">
              <a:defRPr sz="1725" b="0">
                <a:solidFill>
                  <a:srgbClr val="2A2E45"/>
                </a:solidFill>
                <a:latin typeface="Arial"/>
                <a:ea typeface="Arial"/>
                <a:cs typeface="Arial"/>
              </a:defRPr>
            </a:defPPr>
          </a:lstStyle>
          <a:p>
            <a:pPr algn="l">
              <a:defRPr sz="1725" b="0">
                <a:solidFill>
                  <a:srgbClr val="2A2E45"/>
                </a:solidFill>
                <a:latin typeface="Arial"/>
                <a:ea typeface="Arial"/>
                <a:cs typeface="Arial"/>
              </a:defRPr>
            </a:pPr>
            <a:r>
              <a:rPr sz="1725" b="0">
                <a:solidFill>
                  <a:srgbClr val="2A2E45"/>
                </a:solidFill>
                <a:latin typeface="Arial"/>
                <a:ea typeface="Arial"/>
                <a:cs typeface="Arial"/>
              </a:rPr>
              <a:t>Residual enabled</a:t>
            </a:r>
          </a:p>
          <a:p>
            <a:pPr algn="l">
              <a:defRPr sz="1725" b="0">
                <a:solidFill>
                  <a:srgbClr val="2A2E45"/>
                </a:solidFill>
                <a:latin typeface="Arial"/>
                <a:ea typeface="Arial"/>
                <a:cs typeface="Arial"/>
              </a:defRPr>
            </a:pPr>
            <a:r>
              <a:rPr sz="1725" b="0">
                <a:solidFill>
                  <a:srgbClr val="2A2E45"/>
                </a:solidFill>
                <a:latin typeface="Arial"/>
                <a:ea typeface="Arial"/>
                <a:cs typeface="Arial"/>
              </a:rPr>
              <a:t>↓</a:t>
            </a:r>
          </a:p>
          <a:p>
            <a:pPr algn="l">
              <a:defRPr sz="1725" b="0">
                <a:solidFill>
                  <a:srgbClr val="2A2E45"/>
                </a:solidFill>
                <a:latin typeface="Arial"/>
                <a:ea typeface="Arial"/>
                <a:cs typeface="Arial"/>
              </a:defRPr>
            </a:pPr>
            <a:r>
              <a:rPr sz="1725" b="0">
                <a:solidFill>
                  <a:srgbClr val="2A2E45"/>
                </a:solidFill>
                <a:latin typeface="Arial"/>
                <a:ea typeface="Arial"/>
                <a:cs typeface="Arial"/>
              </a:rPr>
              <a:t>Lower Validation CE</a:t>
            </a:r>
          </a:p>
        </p:txBody>
      </p:sp>
      <p:sp>
        <p:nvSpPr>
          <p:cNvPr id="18" name="p0-251">
            <a:extLst>
              <a:ext uri="{FF2B5EF4-FFF2-40B4-BE49-F238E27FC236}">
                <a16:creationId xmlns:a16="http://schemas.microsoft.com/office/drawing/2014/main" id="{7FF973C9-6463-4639-B512-705F09C0DF5C}"/>
              </a:ext>
            </a:extLst>
          </p:cNvPr>
          <p:cNvSpPr>
            <a:spLocks noGrp="1"/>
          </p:cNvSpPr>
          <p:nvPr/>
        </p:nvSpPr>
        <p:spPr>
          <a:xfrm>
            <a:off x="4600575" y="4638675"/>
            <a:ext cx="3019425" cy="333375"/>
          </a:xfrm>
          <a:prstGeom prst="rect">
            <a:avLst/>
          </a:prstGeom>
          <a:noFill/>
          <a:ln w="0">
            <a:noFill/>
          </a:ln>
        </p:spPr>
        <p:txBody>
          <a:bodyPr lIns="0" tIns="0" rIns="0" bIns="0" anchor="ctr">
            <a:noAutofit/>
          </a:bodyPr>
          <a:lstStyle>
            <a:defPPr algn="l">
              <a:defRPr sz="1875" b="1">
                <a:solidFill>
                  <a:srgbClr val="38AFA2"/>
                </a:solidFill>
                <a:latin typeface="Arial"/>
                <a:ea typeface="Arial"/>
                <a:cs typeface="Arial"/>
              </a:defRPr>
            </a:defPPr>
          </a:lstStyle>
          <a:p>
            <a:pPr algn="l">
              <a:defRPr sz="1875" b="1">
                <a:solidFill>
                  <a:srgbClr val="38AFA2"/>
                </a:solidFill>
                <a:latin typeface="Arial"/>
                <a:ea typeface="Arial"/>
                <a:cs typeface="Arial"/>
              </a:defRPr>
            </a:pPr>
            <a:r>
              <a:rPr sz="1875" b="1">
                <a:solidFill>
                  <a:srgbClr val="38AFA2"/>
                </a:solidFill>
                <a:latin typeface="Arial"/>
                <a:ea typeface="Arial"/>
                <a:cs typeface="Arial"/>
              </a:rPr>
              <a:t>Supported</a:t>
            </a:r>
          </a:p>
        </p:txBody>
      </p:sp>
      <p:sp>
        <p:nvSpPr>
          <p:cNvPr id="19" name="p0-252">
            <a:extLst>
              <a:ext uri="{FF2B5EF4-FFF2-40B4-BE49-F238E27FC236}">
                <a16:creationId xmlns:a16="http://schemas.microsoft.com/office/drawing/2014/main" id="{7CE89F87-A883-4F1C-B78C-2E7C07884D6E}"/>
              </a:ext>
            </a:extLst>
          </p:cNvPr>
          <p:cNvSpPr>
            <a:spLocks noGrp="1"/>
          </p:cNvSpPr>
          <p:nvPr/>
        </p:nvSpPr>
        <p:spPr>
          <a:xfrm>
            <a:off x="8248650" y="1647825"/>
            <a:ext cx="3476625" cy="3533775"/>
          </a:xfrm>
          <a:prstGeom prst="roundRect">
            <a:avLst>
              <a:gd name="adj" fmla="val 4384"/>
            </a:avLst>
          </a:prstGeom>
          <a:solidFill>
            <a:srgbClr val="FBE8EF"/>
          </a:solidFill>
          <a:ln w="0">
            <a:noFill/>
          </a:ln>
        </p:spPr>
        <p:txBody>
          <a:bodyPr/>
          <a:lstStyle/>
          <a:p>
            <a:endParaRPr lang="zh-CN" altLang="en-US"/>
          </a:p>
        </p:txBody>
      </p:sp>
      <p:sp>
        <p:nvSpPr>
          <p:cNvPr id="20" name="p0-253">
            <a:extLst>
              <a:ext uri="{FF2B5EF4-FFF2-40B4-BE49-F238E27FC236}">
                <a16:creationId xmlns:a16="http://schemas.microsoft.com/office/drawing/2014/main" id="{AFAC5E28-5F5E-49BB-8544-75CE052352FA}"/>
              </a:ext>
            </a:extLst>
          </p:cNvPr>
          <p:cNvSpPr>
            <a:spLocks noGrp="1"/>
          </p:cNvSpPr>
          <p:nvPr/>
        </p:nvSpPr>
        <p:spPr>
          <a:xfrm>
            <a:off x="8477250" y="1809750"/>
            <a:ext cx="3019425" cy="409575"/>
          </a:xfrm>
          <a:prstGeom prst="rect">
            <a:avLst/>
          </a:prstGeom>
          <a:noFill/>
          <a:ln w="0">
            <a:noFill/>
          </a:ln>
        </p:spPr>
        <p:txBody>
          <a:bodyPr lIns="0" tIns="0" rIns="0" bIns="0" anchor="ctr">
            <a:noAutofit/>
          </a:bodyPr>
          <a:lstStyle>
            <a:defPPr algn="l">
              <a:defRPr sz="2325" b="1">
                <a:solidFill>
                  <a:srgbClr val="E31346"/>
                </a:solidFill>
                <a:latin typeface="Arial"/>
                <a:ea typeface="Arial"/>
                <a:cs typeface="Arial"/>
              </a:defRPr>
            </a:defPPr>
          </a:lstStyle>
          <a:p>
            <a:pPr algn="l">
              <a:defRPr sz="2325" b="1">
                <a:solidFill>
                  <a:srgbClr val="E31346"/>
                </a:solidFill>
                <a:latin typeface="Arial"/>
                <a:ea typeface="Arial"/>
                <a:cs typeface="Arial"/>
              </a:defRPr>
            </a:pPr>
            <a:r>
              <a:rPr sz="2325" b="1">
                <a:solidFill>
                  <a:srgbClr val="E31346"/>
                </a:solidFill>
                <a:latin typeface="Arial"/>
                <a:ea typeface="Arial"/>
                <a:cs typeface="Arial"/>
              </a:rPr>
              <a:t>3</a:t>
            </a:r>
          </a:p>
        </p:txBody>
      </p:sp>
      <p:sp>
        <p:nvSpPr>
          <p:cNvPr id="21" name="p0-254">
            <a:extLst>
              <a:ext uri="{FF2B5EF4-FFF2-40B4-BE49-F238E27FC236}">
                <a16:creationId xmlns:a16="http://schemas.microsoft.com/office/drawing/2014/main" id="{4941CF00-5FBA-474E-A3CF-6F448FE971A3}"/>
              </a:ext>
            </a:extLst>
          </p:cNvPr>
          <p:cNvSpPr>
            <a:spLocks noGrp="1"/>
          </p:cNvSpPr>
          <p:nvPr/>
        </p:nvSpPr>
        <p:spPr>
          <a:xfrm>
            <a:off x="8477250" y="2362200"/>
            <a:ext cx="3019425" cy="561975"/>
          </a:xfrm>
          <a:prstGeom prst="rect">
            <a:avLst/>
          </a:prstGeom>
          <a:noFill/>
          <a:ln w="0">
            <a:noFill/>
          </a:ln>
        </p:spPr>
        <p:txBody>
          <a:bodyPr lIns="0" tIns="0" rIns="0" bIns="0" anchor="ctr">
            <a:noAutofit/>
          </a:bodyPr>
          <a:lstStyle>
            <a:defPPr algn="l">
              <a:defRPr sz="2100" b="1">
                <a:solidFill>
                  <a:srgbClr val="1B1D63"/>
                </a:solidFill>
                <a:latin typeface="Arial"/>
                <a:ea typeface="Arial"/>
                <a:cs typeface="Arial"/>
              </a:defRPr>
            </a:defPPr>
          </a:lstStyle>
          <a:p>
            <a:pPr algn="l">
              <a:defRPr sz="2100" b="1">
                <a:solidFill>
                  <a:srgbClr val="1B1D63"/>
                </a:solidFill>
                <a:latin typeface="Arial"/>
                <a:ea typeface="Arial"/>
                <a:cs typeface="Arial"/>
              </a:defRPr>
            </a:pPr>
            <a:r>
              <a:rPr sz="2100" b="1">
                <a:solidFill>
                  <a:srgbClr val="1B1D63"/>
                </a:solidFill>
                <a:latin typeface="Arial"/>
                <a:ea typeface="Arial"/>
                <a:cs typeface="Arial"/>
              </a:rPr>
              <a:t>Decision improvement</a:t>
            </a:r>
          </a:p>
        </p:txBody>
      </p:sp>
      <p:sp>
        <p:nvSpPr>
          <p:cNvPr id="22" name="p0-255">
            <a:extLst>
              <a:ext uri="{FF2B5EF4-FFF2-40B4-BE49-F238E27FC236}">
                <a16:creationId xmlns:a16="http://schemas.microsoft.com/office/drawing/2014/main" id="{122242A8-F9E7-491D-A5A1-197B58762167}"/>
              </a:ext>
            </a:extLst>
          </p:cNvPr>
          <p:cNvSpPr>
            <a:spLocks noGrp="1"/>
          </p:cNvSpPr>
          <p:nvPr/>
        </p:nvSpPr>
        <p:spPr>
          <a:xfrm>
            <a:off x="8477250" y="3257550"/>
            <a:ext cx="3019425" cy="1000125"/>
          </a:xfrm>
          <a:prstGeom prst="rect">
            <a:avLst/>
          </a:prstGeom>
          <a:noFill/>
          <a:ln w="0">
            <a:noFill/>
          </a:ln>
        </p:spPr>
        <p:txBody>
          <a:bodyPr lIns="0" tIns="0" rIns="0" bIns="0" anchor="ctr">
            <a:noAutofit/>
          </a:bodyPr>
          <a:lstStyle>
            <a:defPPr algn="l">
              <a:defRPr sz="1725" b="0">
                <a:solidFill>
                  <a:srgbClr val="2A2E45"/>
                </a:solidFill>
                <a:latin typeface="Arial"/>
                <a:ea typeface="Arial"/>
                <a:cs typeface="Arial"/>
              </a:defRPr>
            </a:defPPr>
          </a:lstStyle>
          <a:p>
            <a:pPr algn="l">
              <a:defRPr sz="1725" b="0">
                <a:solidFill>
                  <a:srgbClr val="2A2E45"/>
                </a:solidFill>
                <a:latin typeface="Arial"/>
                <a:ea typeface="Arial"/>
                <a:cs typeface="Arial"/>
              </a:defRPr>
            </a:pPr>
            <a:r>
              <a:rPr sz="1725" b="0">
                <a:solidFill>
                  <a:srgbClr val="2A2E45"/>
                </a:solidFill>
                <a:latin typeface="Arial"/>
                <a:ea typeface="Arial"/>
                <a:cs typeface="Arial"/>
              </a:rPr>
              <a:t>Added branches / branch-off</a:t>
            </a:r>
          </a:p>
          <a:p>
            <a:pPr algn="l">
              <a:defRPr sz="1725" b="0">
                <a:solidFill>
                  <a:srgbClr val="2A2E45"/>
                </a:solidFill>
                <a:latin typeface="Arial"/>
                <a:ea typeface="Arial"/>
                <a:cs typeface="Arial"/>
              </a:defRPr>
            </a:pPr>
            <a:r>
              <a:rPr sz="1725" b="0">
                <a:solidFill>
                  <a:srgbClr val="2A2E45"/>
                </a:solidFill>
                <a:latin typeface="Arial"/>
                <a:ea typeface="Arial"/>
                <a:cs typeface="Arial"/>
              </a:rPr>
              <a:t>↓</a:t>
            </a:r>
          </a:p>
          <a:p>
            <a:pPr algn="l">
              <a:defRPr sz="1725" b="0">
                <a:solidFill>
                  <a:srgbClr val="2A2E45"/>
                </a:solidFill>
                <a:latin typeface="Arial"/>
                <a:ea typeface="Arial"/>
                <a:cs typeface="Arial"/>
              </a:defRPr>
            </a:pPr>
            <a:r>
              <a:rPr sz="1725" b="0">
                <a:solidFill>
                  <a:srgbClr val="2A2E45"/>
                </a:solidFill>
                <a:latin typeface="Arial"/>
                <a:ea typeface="Arial"/>
                <a:cs typeface="Arial"/>
              </a:rPr>
              <a:t>Same correct count</a:t>
            </a:r>
          </a:p>
        </p:txBody>
      </p:sp>
      <p:sp>
        <p:nvSpPr>
          <p:cNvPr id="23" name="p0-256">
            <a:extLst>
              <a:ext uri="{FF2B5EF4-FFF2-40B4-BE49-F238E27FC236}">
                <a16:creationId xmlns:a16="http://schemas.microsoft.com/office/drawing/2014/main" id="{62D163F8-4BA1-4EB8-86A6-8425E532233B}"/>
              </a:ext>
            </a:extLst>
          </p:cNvPr>
          <p:cNvSpPr>
            <a:spLocks noGrp="1"/>
          </p:cNvSpPr>
          <p:nvPr/>
        </p:nvSpPr>
        <p:spPr>
          <a:xfrm>
            <a:off x="8477250" y="4638675"/>
            <a:ext cx="3019425" cy="333375"/>
          </a:xfrm>
          <a:prstGeom prst="rect">
            <a:avLst/>
          </a:prstGeom>
          <a:noFill/>
          <a:ln w="0">
            <a:noFill/>
          </a:ln>
        </p:spPr>
        <p:txBody>
          <a:bodyPr lIns="0" tIns="0" rIns="0" bIns="0" anchor="ctr">
            <a:noAutofit/>
          </a:bodyPr>
          <a:lstStyle>
            <a:defPPr algn="l">
              <a:defRPr sz="1875" b="1">
                <a:solidFill>
                  <a:srgbClr val="E31346"/>
                </a:solidFill>
                <a:latin typeface="Arial"/>
                <a:ea typeface="Arial"/>
                <a:cs typeface="Arial"/>
              </a:defRPr>
            </a:defPPr>
          </a:lstStyle>
          <a:p>
            <a:pPr algn="l">
              <a:defRPr sz="1875" b="1">
                <a:solidFill>
                  <a:srgbClr val="E31346"/>
                </a:solidFill>
                <a:latin typeface="Arial"/>
                <a:ea typeface="Arial"/>
                <a:cs typeface="Arial"/>
              </a:defRPr>
            </a:pPr>
            <a:r>
              <a:rPr sz="1875" b="1">
                <a:solidFill>
                  <a:srgbClr val="E31346"/>
                </a:solidFill>
                <a:latin typeface="Arial"/>
                <a:ea typeface="Arial"/>
                <a:cs typeface="Arial"/>
              </a:rPr>
              <a:t>Not demonstrated</a:t>
            </a:r>
          </a:p>
        </p:txBody>
      </p:sp>
      <p:sp>
        <p:nvSpPr>
          <p:cNvPr id="24" name="p0-257">
            <a:extLst>
              <a:ext uri="{FF2B5EF4-FFF2-40B4-BE49-F238E27FC236}">
                <a16:creationId xmlns:a16="http://schemas.microsoft.com/office/drawing/2014/main" id="{09188137-D3AE-4A10-9ACD-1ABC0BC24F1C}"/>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25" name="p0-258">
            <a:extLst>
              <a:ext uri="{FF2B5EF4-FFF2-40B4-BE49-F238E27FC236}">
                <a16:creationId xmlns:a16="http://schemas.microsoft.com/office/drawing/2014/main" id="{4EA727E3-D375-4D05-B180-274357E1BE3C}"/>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Learning and functional contribution do not establish recognition benefit</a:t>
            </a:r>
          </a:p>
        </p:txBody>
      </p:sp>
    </p:spTree>
    <p:extLst>
      <p:ext uri="{BB962C8B-B14F-4D97-AF65-F5344CB8AC3E}">
        <p14:creationId xmlns:p14="http://schemas.microsoft.com/office/powerpoint/2010/main" val="249730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p0-259">
            <a:extLst>
              <a:ext uri="{FF2B5EF4-FFF2-40B4-BE49-F238E27FC236}">
                <a16:creationId xmlns:a16="http://schemas.microsoft.com/office/drawing/2014/main" id="{A92012F9-6C87-4064-A0E4-0C26E52AE417}"/>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p0-260">
            <a:extLst>
              <a:ext uri="{FF2B5EF4-FFF2-40B4-BE49-F238E27FC236}">
                <a16:creationId xmlns:a16="http://schemas.microsoft.com/office/drawing/2014/main" id="{1CAC1AD2-4EBB-4D5E-9E52-9BB8B52408E5}"/>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3" name="p0-261">
            <a:extLst>
              <a:ext uri="{FF2B5EF4-FFF2-40B4-BE49-F238E27FC236}">
                <a16:creationId xmlns:a16="http://schemas.microsoft.com/office/drawing/2014/main" id="{CD7892C2-65CB-485E-BD65-80B498208339}"/>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50" b="1">
                <a:solidFill>
                  <a:srgbClr val="1B1D63"/>
                </a:solidFill>
                <a:latin typeface="Arial"/>
                <a:ea typeface="Arial"/>
                <a:cs typeface="Arial"/>
              </a:defRPr>
            </a:defPPr>
          </a:lstStyle>
          <a:p>
            <a:pPr algn="l">
              <a:defRPr sz="2550" b="1">
                <a:solidFill>
                  <a:srgbClr val="1B1D63"/>
                </a:solidFill>
                <a:latin typeface="Arial"/>
                <a:ea typeface="Arial"/>
                <a:cs typeface="Arial"/>
              </a:defRPr>
            </a:pPr>
            <a:r>
              <a:rPr sz="2550" b="1">
                <a:solidFill>
                  <a:srgbClr val="1B1D63"/>
                </a:solidFill>
                <a:latin typeface="Arial"/>
                <a:ea typeface="Arial"/>
                <a:cs typeface="Arial"/>
              </a:rPr>
              <a:t>Why the Interpretation Remains Limited</a:t>
            </a:r>
          </a:p>
        </p:txBody>
      </p:sp>
      <p:sp>
        <p:nvSpPr>
          <p:cNvPr id="4" name="p0-262">
            <a:extLst>
              <a:ext uri="{FF2B5EF4-FFF2-40B4-BE49-F238E27FC236}">
                <a16:creationId xmlns:a16="http://schemas.microsoft.com/office/drawing/2014/main" id="{50F683D0-F08C-4946-A9E9-4DD76766F9BC}"/>
              </a:ext>
            </a:extLst>
          </p:cNvPr>
          <p:cNvSpPr>
            <a:spLocks noGrp="1"/>
          </p:cNvSpPr>
          <p:nvPr/>
        </p:nvSpPr>
        <p:spPr>
          <a:xfrm>
            <a:off x="590550" y="723900"/>
            <a:ext cx="7239000" cy="219075"/>
          </a:xfrm>
          <a:prstGeom prst="rect">
            <a:avLst/>
          </a:prstGeom>
          <a:noFill/>
          <a:ln w="0">
            <a:noFill/>
          </a:ln>
        </p:spPr>
        <p:txBody>
          <a:bodyPr lIns="0" tIns="0" rIns="0" bIns="0" anchor="ctr">
            <a:noAutofit/>
          </a:bodyPr>
          <a:lstStyle>
            <a:defPPr algn="l">
              <a:defRPr sz="900" b="1">
                <a:solidFill>
                  <a:srgbClr val="E31346"/>
                </a:solidFill>
                <a:latin typeface="Arial"/>
                <a:ea typeface="Arial"/>
                <a:cs typeface="Arial"/>
              </a:defRPr>
            </a:defPPr>
          </a:lstStyle>
          <a:p>
            <a:pPr algn="l">
              <a:defRPr sz="900" b="1">
                <a:solidFill>
                  <a:srgbClr val="E31346"/>
                </a:solidFill>
                <a:latin typeface="Arial"/>
                <a:ea typeface="Arial"/>
                <a:cs typeface="Arial"/>
              </a:defRPr>
            </a:pPr>
            <a:r>
              <a:rPr sz="900" b="1">
                <a:solidFill>
                  <a:srgbClr val="E31346"/>
                </a:solidFill>
                <a:latin typeface="Arial"/>
                <a:ea typeface="Arial"/>
                <a:cs typeface="Arial"/>
              </a:rPr>
              <a:t>EE6008 · HUMAN POSE GROUP PROJECT</a:t>
            </a:r>
          </a:p>
        </p:txBody>
      </p:sp>
      <p:sp>
        <p:nvSpPr>
          <p:cNvPr id="5" name="p0-263">
            <a:extLst>
              <a:ext uri="{FF2B5EF4-FFF2-40B4-BE49-F238E27FC236}">
                <a16:creationId xmlns:a16="http://schemas.microsoft.com/office/drawing/2014/main" id="{B120D952-CE65-4C9E-872E-F878220B05E7}"/>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pic>
        <p:nvPicPr>
          <p:cNvPr id="6" name="图片 5">
            <a:extLst>
              <a:ext uri="{FF2B5EF4-FFF2-40B4-BE49-F238E27FC236}">
                <a16:creationId xmlns:a16="http://schemas.microsoft.com/office/drawing/2014/main" id="{B1BDD25B-4E81-4550-8F74-198FEA0605D4}"/>
              </a:ext>
            </a:extLst>
          </p:cNvPr>
          <p:cNvPicPr>
            <a:picLocks noChangeAspect="1"/>
          </p:cNvPicPr>
          <p:nvPr/>
        </p:nvPicPr>
        <p:blipFill>
          <a:blip r:embed="rId3"/>
          <a:stretch/>
        </p:blipFill>
        <p:spPr>
          <a:xfrm>
            <a:off x="9696450" y="191381"/>
            <a:ext cx="2038350" cy="731663"/>
          </a:xfrm>
          <a:prstGeom prst="rect">
            <a:avLst/>
          </a:prstGeom>
        </p:spPr>
      </p:pic>
      <p:sp>
        <p:nvSpPr>
          <p:cNvPr id="7" name="p0-264">
            <a:extLst>
              <a:ext uri="{FF2B5EF4-FFF2-40B4-BE49-F238E27FC236}">
                <a16:creationId xmlns:a16="http://schemas.microsoft.com/office/drawing/2014/main" id="{767373A0-A70C-4C97-A6A9-50EAF63C6228}"/>
              </a:ext>
            </a:extLst>
          </p:cNvPr>
          <p:cNvSpPr>
            <a:spLocks noGrp="1"/>
          </p:cNvSpPr>
          <p:nvPr/>
        </p:nvSpPr>
        <p:spPr>
          <a:xfrm>
            <a:off x="590550" y="6591300"/>
            <a:ext cx="2857500" cy="219075"/>
          </a:xfrm>
          <a:prstGeom prst="rect">
            <a:avLst/>
          </a:prstGeom>
          <a:noFill/>
          <a:ln w="0">
            <a:noFill/>
          </a:ln>
        </p:spPr>
        <p:txBody>
          <a:bodyPr lIns="0" tIns="0" rIns="0" bIns="0" anchor="ctr">
            <a:noAutofit/>
          </a:bodyPr>
          <a:lstStyle>
            <a:defPPr algn="l">
              <a:defRPr sz="750" b="1">
                <a:solidFill>
                  <a:srgbClr val="FFFFFF"/>
                </a:solidFill>
                <a:latin typeface="Arial"/>
                <a:ea typeface="Arial"/>
                <a:cs typeface="Arial"/>
              </a:defRPr>
            </a:defP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p0-265">
            <a:extLst>
              <a:ext uri="{FF2B5EF4-FFF2-40B4-BE49-F238E27FC236}">
                <a16:creationId xmlns:a16="http://schemas.microsoft.com/office/drawing/2014/main" id="{A17092D4-D4A5-448C-A8D4-575F84968CAE}"/>
              </a:ext>
            </a:extLst>
          </p:cNvPr>
          <p:cNvSpPr>
            <a:spLocks noGrp="1"/>
          </p:cNvSpPr>
          <p:nvPr/>
        </p:nvSpPr>
        <p:spPr>
          <a:xfrm>
            <a:off x="11049000" y="6591300"/>
            <a:ext cx="619125" cy="219075"/>
          </a:xfrm>
          <a:prstGeom prst="rect">
            <a:avLst/>
          </a:prstGeom>
          <a:noFill/>
          <a:ln w="0">
            <a:noFill/>
          </a:ln>
        </p:spPr>
        <p:txBody>
          <a:bodyPr lIns="0" tIns="0" rIns="0" bIns="0" anchor="ctr">
            <a:noAutofit/>
          </a:bodyPr>
          <a:lstStyle>
            <a:defPPr algn="r">
              <a:defRPr sz="750" b="1">
                <a:solidFill>
                  <a:srgbClr val="FFFFFF"/>
                </a:solidFill>
                <a:latin typeface="Arial"/>
                <a:ea typeface="Arial"/>
                <a:cs typeface="Arial"/>
              </a:defRPr>
            </a:defPPr>
          </a:lstStyle>
          <a:p>
            <a:pPr algn="r">
              <a:defRPr sz="750" b="1">
                <a:solidFill>
                  <a:srgbClr val="FFFFFF"/>
                </a:solidFill>
                <a:latin typeface="Arial"/>
                <a:ea typeface="Arial"/>
                <a:cs typeface="Arial"/>
              </a:defRPr>
            </a:pPr>
            <a:r>
              <a:rPr lang="en-US" sz="750" b="1" dirty="0">
                <a:solidFill>
                  <a:srgbClr val="FFFFFF"/>
                </a:solidFill>
                <a:latin typeface="Arial"/>
                <a:ea typeface="Arial"/>
                <a:cs typeface="Arial"/>
              </a:rPr>
              <a:t>11</a:t>
            </a:r>
            <a:endParaRPr sz="750" b="1" dirty="0">
              <a:solidFill>
                <a:srgbClr val="FFFFFF"/>
              </a:solidFill>
              <a:latin typeface="Arial"/>
              <a:ea typeface="Arial"/>
              <a:cs typeface="Arial"/>
            </a:endParaRPr>
          </a:p>
        </p:txBody>
      </p:sp>
      <p:sp>
        <p:nvSpPr>
          <p:cNvPr id="9" name="p0-266">
            <a:extLst>
              <a:ext uri="{FF2B5EF4-FFF2-40B4-BE49-F238E27FC236}">
                <a16:creationId xmlns:a16="http://schemas.microsoft.com/office/drawing/2014/main" id="{4C33ECC6-A3AA-4F5C-B9D7-4935A45EF0FB}"/>
              </a:ext>
            </a:extLst>
          </p:cNvPr>
          <p:cNvSpPr>
            <a:spLocks noGrp="1"/>
          </p:cNvSpPr>
          <p:nvPr/>
        </p:nvSpPr>
        <p:spPr>
          <a:xfrm>
            <a:off x="495300" y="1428750"/>
            <a:ext cx="6267450" cy="238125"/>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CO-ADAPTATION DURING FINE-TUNING</a:t>
            </a:r>
          </a:p>
        </p:txBody>
      </p:sp>
      <p:sp>
        <p:nvSpPr>
          <p:cNvPr id="10" name="p0-267">
            <a:extLst>
              <a:ext uri="{FF2B5EF4-FFF2-40B4-BE49-F238E27FC236}">
                <a16:creationId xmlns:a16="http://schemas.microsoft.com/office/drawing/2014/main" id="{86E98CC1-E21C-4FE1-9459-D6EFEEF395C0}"/>
              </a:ext>
            </a:extLst>
          </p:cNvPr>
          <p:cNvSpPr>
            <a:spLocks noGrp="1"/>
          </p:cNvSpPr>
          <p:nvPr/>
        </p:nvSpPr>
        <p:spPr>
          <a:xfrm>
            <a:off x="495300" y="2190750"/>
            <a:ext cx="2600325" cy="695325"/>
          </a:xfrm>
          <a:prstGeom prst="roundRect">
            <a:avLst>
              <a:gd name="adj" fmla="val 21918"/>
            </a:avLst>
          </a:prstGeom>
          <a:solidFill>
            <a:srgbClr val="E9EDF8"/>
          </a:solidFill>
          <a:ln w="0">
            <a:noFill/>
          </a:ln>
        </p:spPr>
        <p:txBody>
          <a:bodyPr/>
          <a:lstStyle/>
          <a:p>
            <a:endParaRPr lang="zh-CN" altLang="en-US"/>
          </a:p>
        </p:txBody>
      </p:sp>
      <p:sp>
        <p:nvSpPr>
          <p:cNvPr id="11" name="p0-268">
            <a:extLst>
              <a:ext uri="{FF2B5EF4-FFF2-40B4-BE49-F238E27FC236}">
                <a16:creationId xmlns:a16="http://schemas.microsoft.com/office/drawing/2014/main" id="{D094CA44-DBE9-428C-80B4-2D7BE4E863E2}"/>
              </a:ext>
            </a:extLst>
          </p:cNvPr>
          <p:cNvSpPr>
            <a:spLocks noGrp="1"/>
          </p:cNvSpPr>
          <p:nvPr/>
        </p:nvSpPr>
        <p:spPr>
          <a:xfrm>
            <a:off x="619125" y="2238375"/>
            <a:ext cx="2352675" cy="600075"/>
          </a:xfrm>
          <a:prstGeom prst="rect">
            <a:avLst/>
          </a:prstGeom>
          <a:noFill/>
          <a:ln w="0">
            <a:noFill/>
          </a:ln>
        </p:spPr>
        <p:txBody>
          <a:bodyPr lIns="0" tIns="0" rIns="0" bIns="0" anchor="ctr">
            <a:noAutofit/>
          </a:bodyPr>
          <a:lstStyle>
            <a:defPPr algn="ctr">
              <a:defRPr sz="2100" b="1">
                <a:solidFill>
                  <a:srgbClr val="1B1D63"/>
                </a:solidFill>
                <a:latin typeface="Arial"/>
                <a:ea typeface="Arial"/>
                <a:cs typeface="Arial"/>
              </a:defRPr>
            </a:defPPr>
          </a:lstStyle>
          <a:p>
            <a:pPr algn="ctr">
              <a:defRPr sz="2100" b="1">
                <a:solidFill>
                  <a:srgbClr val="1B1D63"/>
                </a:solidFill>
                <a:latin typeface="Arial"/>
                <a:ea typeface="Arial"/>
                <a:cs typeface="Arial"/>
              </a:defRPr>
            </a:pPr>
            <a:r>
              <a:rPr sz="2100" b="1">
                <a:solidFill>
                  <a:srgbClr val="1B1D63"/>
                </a:solidFill>
                <a:latin typeface="Arial"/>
                <a:ea typeface="Arial"/>
                <a:cs typeface="Arial"/>
              </a:rPr>
              <a:t>Backbone</a:t>
            </a:r>
          </a:p>
        </p:txBody>
      </p:sp>
      <p:sp>
        <p:nvSpPr>
          <p:cNvPr id="12" name="p0-269">
            <a:extLst>
              <a:ext uri="{FF2B5EF4-FFF2-40B4-BE49-F238E27FC236}">
                <a16:creationId xmlns:a16="http://schemas.microsoft.com/office/drawing/2014/main" id="{A1F58E10-C62E-4B0D-9F9F-1570C2CF2FB6}"/>
              </a:ext>
            </a:extLst>
          </p:cNvPr>
          <p:cNvSpPr>
            <a:spLocks noGrp="1"/>
          </p:cNvSpPr>
          <p:nvPr/>
        </p:nvSpPr>
        <p:spPr>
          <a:xfrm>
            <a:off x="3209925" y="2447925"/>
            <a:ext cx="342900" cy="190500"/>
          </a:xfrm>
          <a:prstGeom prst="rightArrow">
            <a:avLst/>
          </a:prstGeom>
          <a:solidFill>
            <a:srgbClr val="697386"/>
          </a:solidFill>
          <a:ln w="0">
            <a:noFill/>
          </a:ln>
        </p:spPr>
        <p:txBody>
          <a:bodyPr/>
          <a:lstStyle/>
          <a:p>
            <a:endParaRPr lang="zh-CN" altLang="en-US"/>
          </a:p>
        </p:txBody>
      </p:sp>
      <p:sp>
        <p:nvSpPr>
          <p:cNvPr id="13" name="p0-270">
            <a:extLst>
              <a:ext uri="{FF2B5EF4-FFF2-40B4-BE49-F238E27FC236}">
                <a16:creationId xmlns:a16="http://schemas.microsoft.com/office/drawing/2014/main" id="{816D7E01-9303-41CD-A84F-196885E0B2C6}"/>
              </a:ext>
            </a:extLst>
          </p:cNvPr>
          <p:cNvSpPr>
            <a:spLocks noGrp="1"/>
          </p:cNvSpPr>
          <p:nvPr/>
        </p:nvSpPr>
        <p:spPr>
          <a:xfrm>
            <a:off x="3686175" y="2190750"/>
            <a:ext cx="2619375" cy="695325"/>
          </a:xfrm>
          <a:prstGeom prst="roundRect">
            <a:avLst>
              <a:gd name="adj" fmla="val 21918"/>
            </a:avLst>
          </a:prstGeom>
          <a:solidFill>
            <a:srgbClr val="E9EDF8"/>
          </a:solidFill>
          <a:ln w="0">
            <a:noFill/>
          </a:ln>
        </p:spPr>
        <p:txBody>
          <a:bodyPr/>
          <a:lstStyle/>
          <a:p>
            <a:endParaRPr lang="zh-CN" altLang="en-US"/>
          </a:p>
        </p:txBody>
      </p:sp>
      <p:sp>
        <p:nvSpPr>
          <p:cNvPr id="14" name="p0-271">
            <a:extLst>
              <a:ext uri="{FF2B5EF4-FFF2-40B4-BE49-F238E27FC236}">
                <a16:creationId xmlns:a16="http://schemas.microsoft.com/office/drawing/2014/main" id="{6D91EBCE-A0B4-465A-95D8-DA77948C7EDA}"/>
              </a:ext>
            </a:extLst>
          </p:cNvPr>
          <p:cNvSpPr>
            <a:spLocks noGrp="1"/>
          </p:cNvSpPr>
          <p:nvPr/>
        </p:nvSpPr>
        <p:spPr>
          <a:xfrm>
            <a:off x="3810000" y="2238375"/>
            <a:ext cx="2371725" cy="600075"/>
          </a:xfrm>
          <a:prstGeom prst="rect">
            <a:avLst/>
          </a:prstGeom>
          <a:noFill/>
          <a:ln w="0">
            <a:noFill/>
          </a:ln>
        </p:spPr>
        <p:txBody>
          <a:bodyPr lIns="0" tIns="0" rIns="0" bIns="0" anchor="ctr">
            <a:noAutofit/>
          </a:bodyPr>
          <a:lstStyle>
            <a:defPPr algn="ctr">
              <a:defRPr sz="2100" b="1">
                <a:solidFill>
                  <a:srgbClr val="1B1D63"/>
                </a:solidFill>
                <a:latin typeface="Arial"/>
                <a:ea typeface="Arial"/>
                <a:cs typeface="Arial"/>
              </a:defRPr>
            </a:defPPr>
          </a:lstStyle>
          <a:p>
            <a:pPr algn="ctr">
              <a:defRPr sz="2100" b="1">
                <a:solidFill>
                  <a:srgbClr val="1B1D63"/>
                </a:solidFill>
                <a:latin typeface="Arial"/>
                <a:ea typeface="Arial"/>
                <a:cs typeface="Arial"/>
              </a:defRPr>
            </a:pPr>
            <a:r>
              <a:rPr sz="2100" b="1">
                <a:solidFill>
                  <a:srgbClr val="1B1D63"/>
                </a:solidFill>
                <a:latin typeface="Arial"/>
                <a:ea typeface="Arial"/>
                <a:cs typeface="Arial"/>
              </a:rPr>
              <a:t>Classifier</a:t>
            </a:r>
          </a:p>
        </p:txBody>
      </p:sp>
      <p:sp>
        <p:nvSpPr>
          <p:cNvPr id="15" name="p0-272">
            <a:extLst>
              <a:ext uri="{FF2B5EF4-FFF2-40B4-BE49-F238E27FC236}">
                <a16:creationId xmlns:a16="http://schemas.microsoft.com/office/drawing/2014/main" id="{113A098A-6D08-4E74-AB00-B8EE44E2401B}"/>
              </a:ext>
            </a:extLst>
          </p:cNvPr>
          <p:cNvSpPr>
            <a:spLocks noGrp="1"/>
          </p:cNvSpPr>
          <p:nvPr/>
        </p:nvSpPr>
        <p:spPr>
          <a:xfrm>
            <a:off x="495300" y="3152775"/>
            <a:ext cx="5810250" cy="381000"/>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Both update during training</a:t>
            </a:r>
          </a:p>
        </p:txBody>
      </p:sp>
      <p:sp>
        <p:nvSpPr>
          <p:cNvPr id="16" name="p0-273">
            <a:extLst>
              <a:ext uri="{FF2B5EF4-FFF2-40B4-BE49-F238E27FC236}">
                <a16:creationId xmlns:a16="http://schemas.microsoft.com/office/drawing/2014/main" id="{70D94323-64E3-442E-B30B-68560CF2080D}"/>
              </a:ext>
            </a:extLst>
          </p:cNvPr>
          <p:cNvSpPr>
            <a:spLocks noGrp="1"/>
          </p:cNvSpPr>
          <p:nvPr/>
        </p:nvSpPr>
        <p:spPr>
          <a:xfrm>
            <a:off x="1733550" y="3914775"/>
            <a:ext cx="3276600" cy="676275"/>
          </a:xfrm>
          <a:prstGeom prst="roundRect">
            <a:avLst>
              <a:gd name="adj" fmla="val 22535"/>
            </a:avLst>
          </a:prstGeom>
          <a:solidFill>
            <a:srgbClr val="FBE8EF"/>
          </a:solidFill>
          <a:ln w="0">
            <a:noFill/>
          </a:ln>
        </p:spPr>
        <p:txBody>
          <a:bodyPr/>
          <a:lstStyle/>
          <a:p>
            <a:endParaRPr lang="zh-CN" altLang="en-US"/>
          </a:p>
        </p:txBody>
      </p:sp>
      <p:sp>
        <p:nvSpPr>
          <p:cNvPr id="17" name="p0-274">
            <a:extLst>
              <a:ext uri="{FF2B5EF4-FFF2-40B4-BE49-F238E27FC236}">
                <a16:creationId xmlns:a16="http://schemas.microsoft.com/office/drawing/2014/main" id="{4CC1F730-75B7-4D43-9876-3F22FAFC3352}"/>
              </a:ext>
            </a:extLst>
          </p:cNvPr>
          <p:cNvSpPr>
            <a:spLocks noGrp="1"/>
          </p:cNvSpPr>
          <p:nvPr/>
        </p:nvSpPr>
        <p:spPr>
          <a:xfrm>
            <a:off x="1857375" y="3962400"/>
            <a:ext cx="3028950" cy="581025"/>
          </a:xfrm>
          <a:prstGeom prst="rect">
            <a:avLst/>
          </a:prstGeom>
          <a:noFill/>
          <a:ln w="0">
            <a:noFill/>
          </a:ln>
        </p:spPr>
        <p:txBody>
          <a:bodyPr lIns="0" tIns="0" rIns="0" bIns="0" anchor="ctr">
            <a:noAutofit/>
          </a:bodyPr>
          <a:lstStyle>
            <a:defPPr algn="ctr">
              <a:defRPr sz="2100" b="1">
                <a:solidFill>
                  <a:srgbClr val="E31346"/>
                </a:solidFill>
                <a:latin typeface="Arial"/>
                <a:ea typeface="Arial"/>
                <a:cs typeface="Arial"/>
              </a:defRPr>
            </a:defPPr>
          </a:lstStyle>
          <a:p>
            <a:pPr algn="ctr">
              <a:defRPr sz="2100" b="1">
                <a:solidFill>
                  <a:srgbClr val="E31346"/>
                </a:solidFill>
                <a:latin typeface="Arial"/>
                <a:ea typeface="Arial"/>
                <a:cs typeface="Arial"/>
              </a:defRPr>
            </a:pPr>
            <a:r>
              <a:rPr sz="2100" b="1">
                <a:solidFill>
                  <a:srgbClr val="E31346"/>
                </a:solidFill>
                <a:latin typeface="Arial"/>
                <a:ea typeface="Arial"/>
                <a:cs typeface="Arial"/>
              </a:rPr>
              <a:t>Added residual</a:t>
            </a:r>
          </a:p>
        </p:txBody>
      </p:sp>
      <p:sp>
        <p:nvSpPr>
          <p:cNvPr id="18" name="p0-line-275">
            <a:extLst>
              <a:ext uri="{FF2B5EF4-FFF2-40B4-BE49-F238E27FC236}">
                <a16:creationId xmlns:a16="http://schemas.microsoft.com/office/drawing/2014/main" id="{E63D4E38-72A8-4C7E-83A0-B6239610F1C7}"/>
              </a:ext>
            </a:extLst>
          </p:cNvPr>
          <p:cNvSpPr>
            <a:spLocks noGrp="1"/>
          </p:cNvSpPr>
          <p:nvPr/>
        </p:nvSpPr>
        <p:spPr>
          <a:xfrm flipV="1">
            <a:off x="2209800" y="3552825"/>
            <a:ext cx="953" cy="352425"/>
          </a:xfrm>
          <a:prstGeom prst="line">
            <a:avLst/>
          </a:prstGeom>
          <a:noFill/>
          <a:ln w="19050">
            <a:solidFill>
              <a:srgbClr val="E31346"/>
            </a:solidFill>
          </a:ln>
        </p:spPr>
        <p:txBody>
          <a:bodyPr/>
          <a:lstStyle/>
          <a:p>
            <a:endParaRPr lang="zh-CN" altLang="en-US"/>
          </a:p>
        </p:txBody>
      </p:sp>
      <p:sp>
        <p:nvSpPr>
          <p:cNvPr id="19" name="p0-line-276">
            <a:extLst>
              <a:ext uri="{FF2B5EF4-FFF2-40B4-BE49-F238E27FC236}">
                <a16:creationId xmlns:a16="http://schemas.microsoft.com/office/drawing/2014/main" id="{551C34E2-4C49-4630-9C83-35270418B81E}"/>
              </a:ext>
            </a:extLst>
          </p:cNvPr>
          <p:cNvSpPr>
            <a:spLocks noGrp="1"/>
          </p:cNvSpPr>
          <p:nvPr/>
        </p:nvSpPr>
        <p:spPr>
          <a:xfrm flipV="1">
            <a:off x="4600575" y="3552825"/>
            <a:ext cx="953" cy="352425"/>
          </a:xfrm>
          <a:prstGeom prst="line">
            <a:avLst/>
          </a:prstGeom>
          <a:noFill/>
          <a:ln w="19050">
            <a:solidFill>
              <a:srgbClr val="E31346"/>
            </a:solidFill>
          </a:ln>
        </p:spPr>
        <p:txBody>
          <a:bodyPr/>
          <a:lstStyle/>
          <a:p>
            <a:endParaRPr lang="zh-CN" altLang="en-US"/>
          </a:p>
        </p:txBody>
      </p:sp>
      <p:sp>
        <p:nvSpPr>
          <p:cNvPr id="20" name="p0-277">
            <a:extLst>
              <a:ext uri="{FF2B5EF4-FFF2-40B4-BE49-F238E27FC236}">
                <a16:creationId xmlns:a16="http://schemas.microsoft.com/office/drawing/2014/main" id="{A5E7756F-68E4-47B9-B629-126C25976C0D}"/>
              </a:ext>
            </a:extLst>
          </p:cNvPr>
          <p:cNvSpPr>
            <a:spLocks noGrp="1"/>
          </p:cNvSpPr>
          <p:nvPr/>
        </p:nvSpPr>
        <p:spPr>
          <a:xfrm>
            <a:off x="495300" y="4895850"/>
            <a:ext cx="5924550" cy="647700"/>
          </a:xfrm>
          <a:prstGeom prst="rect">
            <a:avLst/>
          </a:prstGeom>
          <a:noFill/>
          <a:ln w="0">
            <a:noFill/>
          </a:ln>
        </p:spPr>
        <p:txBody>
          <a:bodyPr lIns="0" tIns="0" rIns="0" bIns="0" anchor="ctr">
            <a:noAutofit/>
          </a:bodyPr>
          <a:lstStyle>
            <a:defPPr algn="l">
              <a:defRPr sz="1575" b="0">
                <a:solidFill>
                  <a:srgbClr val="697386"/>
                </a:solidFill>
                <a:latin typeface="Arial"/>
                <a:ea typeface="Arial"/>
                <a:cs typeface="Arial"/>
              </a:defRPr>
            </a:defPPr>
          </a:lstStyle>
          <a:p>
            <a:pPr algn="l">
              <a:defRPr sz="1575" b="0">
                <a:solidFill>
                  <a:srgbClr val="697386"/>
                </a:solidFill>
                <a:latin typeface="Arial"/>
                <a:ea typeface="Arial"/>
                <a:cs typeface="Arial"/>
              </a:defRPr>
            </a:pPr>
            <a:r>
              <a:rPr sz="1575" b="0">
                <a:solidFill>
                  <a:srgbClr val="697386"/>
                </a:solidFill>
                <a:latin typeface="Arial"/>
                <a:ea typeface="Arial"/>
                <a:cs typeface="Arial"/>
              </a:rPr>
              <a:t>Branch OFF tests the trained solution</a:t>
            </a:r>
          </a:p>
          <a:p>
            <a:pPr algn="l">
              <a:defRPr sz="1575" b="0">
                <a:solidFill>
                  <a:srgbClr val="697386"/>
                </a:solidFill>
                <a:latin typeface="Arial"/>
                <a:ea typeface="Arial"/>
                <a:cs typeface="Arial"/>
              </a:defRPr>
            </a:pPr>
            <a:r>
              <a:rPr sz="1575" b="0">
                <a:solidFill>
                  <a:srgbClr val="697386"/>
                </a:solidFill>
                <a:latin typeface="Arial"/>
                <a:ea typeface="Arial"/>
                <a:cs typeface="Arial"/>
              </a:rPr>
              <a:t>It does not reconstruct branch-free training</a:t>
            </a:r>
          </a:p>
        </p:txBody>
      </p:sp>
      <p:sp>
        <p:nvSpPr>
          <p:cNvPr id="21" name="p0-278">
            <a:extLst>
              <a:ext uri="{FF2B5EF4-FFF2-40B4-BE49-F238E27FC236}">
                <a16:creationId xmlns:a16="http://schemas.microsoft.com/office/drawing/2014/main" id="{C3DCB386-93D3-41E7-8F7D-E83EAE15C3EA}"/>
              </a:ext>
            </a:extLst>
          </p:cNvPr>
          <p:cNvSpPr>
            <a:spLocks noGrp="1"/>
          </p:cNvSpPr>
          <p:nvPr/>
        </p:nvSpPr>
        <p:spPr>
          <a:xfrm>
            <a:off x="6829425" y="1543050"/>
            <a:ext cx="4886325" cy="3952875"/>
          </a:xfrm>
          <a:prstGeom prst="roundRect">
            <a:avLst>
              <a:gd name="adj" fmla="val 3855"/>
            </a:avLst>
          </a:prstGeom>
          <a:solidFill>
            <a:srgbClr val="FFFFFF"/>
          </a:solidFill>
          <a:ln w="11430">
            <a:solidFill>
              <a:srgbClr val="D9DDEA"/>
            </a:solidFill>
          </a:ln>
        </p:spPr>
        <p:txBody>
          <a:bodyPr/>
          <a:lstStyle/>
          <a:p>
            <a:endParaRPr lang="zh-CN" altLang="en-US"/>
          </a:p>
        </p:txBody>
      </p:sp>
      <p:sp>
        <p:nvSpPr>
          <p:cNvPr id="22" name="p0-279">
            <a:extLst>
              <a:ext uri="{FF2B5EF4-FFF2-40B4-BE49-F238E27FC236}">
                <a16:creationId xmlns:a16="http://schemas.microsoft.com/office/drawing/2014/main" id="{1BF3E5E2-2D09-4335-9E7D-66D7F7F01463}"/>
              </a:ext>
            </a:extLst>
          </p:cNvPr>
          <p:cNvSpPr>
            <a:spLocks noGrp="1"/>
          </p:cNvSpPr>
          <p:nvPr/>
        </p:nvSpPr>
        <p:spPr>
          <a:xfrm>
            <a:off x="7058025" y="1733550"/>
            <a:ext cx="4429125" cy="238125"/>
          </a:xfrm>
          <a:prstGeom prst="rect">
            <a:avLst/>
          </a:prstGeom>
          <a:noFill/>
          <a:ln w="0">
            <a:noFill/>
          </a:ln>
        </p:spPr>
        <p:txBody>
          <a:bodyPr lIns="0" tIns="0" rIns="0" bIns="0" anchor="ctr">
            <a:noAutofit/>
          </a:bodyPr>
          <a:lstStyle>
            <a:defPPr algn="l">
              <a:defRPr sz="1050" b="1">
                <a:solidFill>
                  <a:srgbClr val="E31346"/>
                </a:solidFill>
                <a:latin typeface="Arial"/>
                <a:ea typeface="Arial"/>
                <a:cs typeface="Arial"/>
              </a:defRPr>
            </a:defPPr>
          </a:lstStyle>
          <a:p>
            <a:pPr algn="l">
              <a:defRPr sz="1050" b="1">
                <a:solidFill>
                  <a:srgbClr val="E31346"/>
                </a:solidFill>
                <a:latin typeface="Arial"/>
                <a:ea typeface="Arial"/>
                <a:cs typeface="Arial"/>
              </a:defRPr>
            </a:pPr>
            <a:r>
              <a:rPr sz="1050" b="1">
                <a:solidFill>
                  <a:srgbClr val="E31346"/>
                </a:solidFill>
                <a:latin typeface="Arial"/>
                <a:ea typeface="Arial"/>
                <a:cs typeface="Arial"/>
              </a:rPr>
              <a:t>CURRENT EVIDENCE BOUNDARY</a:t>
            </a:r>
          </a:p>
        </p:txBody>
      </p:sp>
      <p:sp>
        <p:nvSpPr>
          <p:cNvPr id="23" name="p0-280">
            <a:extLst>
              <a:ext uri="{FF2B5EF4-FFF2-40B4-BE49-F238E27FC236}">
                <a16:creationId xmlns:a16="http://schemas.microsoft.com/office/drawing/2014/main" id="{1E6EC5FD-140A-4A4B-B667-18E08EF380B0}"/>
              </a:ext>
            </a:extLst>
          </p:cNvPr>
          <p:cNvSpPr>
            <a:spLocks noGrp="1"/>
          </p:cNvSpPr>
          <p:nvPr/>
        </p:nvSpPr>
        <p:spPr>
          <a:xfrm>
            <a:off x="7058025" y="2266950"/>
            <a:ext cx="4429125" cy="400050"/>
          </a:xfrm>
          <a:prstGeom prst="rect">
            <a:avLst/>
          </a:prstGeom>
          <a:noFill/>
          <a:ln w="0">
            <a:noFill/>
          </a:ln>
        </p:spPr>
        <p:txBody>
          <a:bodyPr lIns="0" tIns="0" rIns="0" bIns="0" anchor="ctr">
            <a:noAutofit/>
          </a:bodyPr>
          <a:lstStyle>
            <a:defPPr algn="l">
              <a:defRPr sz="2100" b="1">
                <a:solidFill>
                  <a:srgbClr val="1B1D63"/>
                </a:solidFill>
                <a:latin typeface="Arial"/>
                <a:ea typeface="Arial"/>
                <a:cs typeface="Arial"/>
              </a:defRPr>
            </a:defPPr>
          </a:lstStyle>
          <a:p>
            <a:pPr algn="l">
              <a:defRPr sz="2100" b="1">
                <a:solidFill>
                  <a:srgbClr val="1B1D63"/>
                </a:solidFill>
                <a:latin typeface="Arial"/>
                <a:ea typeface="Arial"/>
                <a:cs typeface="Arial"/>
              </a:defRPr>
            </a:pPr>
            <a:r>
              <a:rPr sz="2100" b="1">
                <a:solidFill>
                  <a:srgbClr val="1B1D63"/>
                </a:solidFill>
                <a:latin typeface="Arial"/>
                <a:ea typeface="Arial"/>
                <a:cs typeface="Arial"/>
              </a:rPr>
              <a:t>Joint only</a:t>
            </a:r>
          </a:p>
        </p:txBody>
      </p:sp>
      <p:sp>
        <p:nvSpPr>
          <p:cNvPr id="24" name="p0-281">
            <a:extLst>
              <a:ext uri="{FF2B5EF4-FFF2-40B4-BE49-F238E27FC236}">
                <a16:creationId xmlns:a16="http://schemas.microsoft.com/office/drawing/2014/main" id="{B1A2751A-A069-4228-A8B7-31714A4F5AC7}"/>
              </a:ext>
            </a:extLst>
          </p:cNvPr>
          <p:cNvSpPr>
            <a:spLocks noGrp="1"/>
          </p:cNvSpPr>
          <p:nvPr/>
        </p:nvSpPr>
        <p:spPr>
          <a:xfrm>
            <a:off x="7058025" y="2819400"/>
            <a:ext cx="4429125" cy="400050"/>
          </a:xfrm>
          <a:prstGeom prst="rect">
            <a:avLst/>
          </a:prstGeom>
          <a:noFill/>
          <a:ln w="0">
            <a:noFill/>
          </a:ln>
        </p:spPr>
        <p:txBody>
          <a:bodyPr lIns="0" tIns="0" rIns="0" bIns="0" anchor="ctr">
            <a:noAutofit/>
          </a:bodyPr>
          <a:lstStyle>
            <a:defPPr algn="l">
              <a:defRPr sz="1875" b="1">
                <a:solidFill>
                  <a:srgbClr val="1B1D63"/>
                </a:solidFill>
                <a:latin typeface="Arial"/>
                <a:ea typeface="Arial"/>
                <a:cs typeface="Arial"/>
              </a:defRPr>
            </a:defPPr>
          </a:lstStyle>
          <a:p>
            <a:pPr algn="l">
              <a:defRPr sz="1875" b="1">
                <a:solidFill>
                  <a:srgbClr val="1B1D63"/>
                </a:solidFill>
                <a:latin typeface="Arial"/>
                <a:ea typeface="Arial"/>
                <a:cs typeface="Arial"/>
              </a:defRPr>
            </a:pPr>
            <a:r>
              <a:rPr sz="1875" b="1">
                <a:solidFill>
                  <a:srgbClr val="1B1D63"/>
                </a:solidFill>
                <a:latin typeface="Arial"/>
                <a:ea typeface="Arial"/>
                <a:cs typeface="Arial"/>
              </a:rPr>
              <a:t>One seed · clean Validation</a:t>
            </a:r>
          </a:p>
        </p:txBody>
      </p:sp>
      <p:sp>
        <p:nvSpPr>
          <p:cNvPr id="25" name="p0-line-282">
            <a:extLst>
              <a:ext uri="{FF2B5EF4-FFF2-40B4-BE49-F238E27FC236}">
                <a16:creationId xmlns:a16="http://schemas.microsoft.com/office/drawing/2014/main" id="{55F428BD-051B-4731-9AAE-06F52C4F68CD}"/>
              </a:ext>
            </a:extLst>
          </p:cNvPr>
          <p:cNvSpPr>
            <a:spLocks noGrp="1"/>
          </p:cNvSpPr>
          <p:nvPr/>
        </p:nvSpPr>
        <p:spPr>
          <a:xfrm>
            <a:off x="7058025" y="3457575"/>
            <a:ext cx="4429125" cy="953"/>
          </a:xfrm>
          <a:prstGeom prst="line">
            <a:avLst/>
          </a:prstGeom>
          <a:noFill/>
          <a:ln w="9525">
            <a:solidFill>
              <a:srgbClr val="D9DDEA"/>
            </a:solidFill>
          </a:ln>
        </p:spPr>
        <p:txBody>
          <a:bodyPr/>
          <a:lstStyle/>
          <a:p>
            <a:endParaRPr lang="zh-CN" altLang="en-US"/>
          </a:p>
        </p:txBody>
      </p:sp>
      <p:sp>
        <p:nvSpPr>
          <p:cNvPr id="26" name="p0-283">
            <a:extLst>
              <a:ext uri="{FF2B5EF4-FFF2-40B4-BE49-F238E27FC236}">
                <a16:creationId xmlns:a16="http://schemas.microsoft.com/office/drawing/2014/main" id="{4FD77A2A-8A1E-440B-8904-951061F63D41}"/>
              </a:ext>
            </a:extLst>
          </p:cNvPr>
          <p:cNvSpPr>
            <a:spLocks noGrp="1"/>
          </p:cNvSpPr>
          <p:nvPr/>
        </p:nvSpPr>
        <p:spPr>
          <a:xfrm>
            <a:off x="7058025" y="3762375"/>
            <a:ext cx="4429125" cy="723900"/>
          </a:xfrm>
          <a:prstGeom prst="rect">
            <a:avLst/>
          </a:prstGeom>
          <a:noFill/>
          <a:ln w="0">
            <a:noFill/>
          </a:ln>
        </p:spPr>
        <p:txBody>
          <a:bodyPr lIns="0" tIns="0" rIns="0" bIns="0" anchor="ctr">
            <a:noAutofit/>
          </a:bodyPr>
          <a:lstStyle>
            <a:defPPr algn="l">
              <a:defRPr sz="2025" b="1">
                <a:solidFill>
                  <a:srgbClr val="E31346"/>
                </a:solidFill>
                <a:latin typeface="Arial"/>
                <a:ea typeface="Arial"/>
                <a:cs typeface="Arial"/>
              </a:defRPr>
            </a:defPPr>
          </a:lstStyle>
          <a:p>
            <a:pPr algn="l">
              <a:defRPr sz="2025" b="1">
                <a:solidFill>
                  <a:srgbClr val="E31346"/>
                </a:solidFill>
                <a:latin typeface="Arial"/>
                <a:ea typeface="Arial"/>
                <a:cs typeface="Arial"/>
              </a:defRPr>
            </a:pPr>
            <a:r>
              <a:rPr sz="2025" b="1">
                <a:solidFill>
                  <a:srgbClr val="E31346"/>
                </a:solidFill>
                <a:latin typeface="Arial"/>
                <a:ea typeface="Arial"/>
                <a:cs typeface="Arial"/>
              </a:rPr>
              <a:t>Continuity robustness</a:t>
            </a:r>
          </a:p>
          <a:p>
            <a:pPr algn="l">
              <a:defRPr sz="2025" b="1">
                <a:solidFill>
                  <a:srgbClr val="E31346"/>
                </a:solidFill>
                <a:latin typeface="Arial"/>
                <a:ea typeface="Arial"/>
                <a:cs typeface="Arial"/>
              </a:defRPr>
            </a:pPr>
            <a:r>
              <a:rPr sz="2025" b="1">
                <a:solidFill>
                  <a:srgbClr val="E31346"/>
                </a:solidFill>
                <a:latin typeface="Arial"/>
                <a:ea typeface="Arial"/>
                <a:cs typeface="Arial"/>
              </a:rPr>
              <a:t>not yet evaluated for P0</a:t>
            </a:r>
          </a:p>
        </p:txBody>
      </p:sp>
      <p:sp>
        <p:nvSpPr>
          <p:cNvPr id="27" name="p0-284">
            <a:extLst>
              <a:ext uri="{FF2B5EF4-FFF2-40B4-BE49-F238E27FC236}">
                <a16:creationId xmlns:a16="http://schemas.microsoft.com/office/drawing/2014/main" id="{38425250-65C8-4C3F-9A33-BA5FFE3B6D83}"/>
              </a:ext>
            </a:extLst>
          </p:cNvPr>
          <p:cNvSpPr>
            <a:spLocks noGrp="1"/>
          </p:cNvSpPr>
          <p:nvPr/>
        </p:nvSpPr>
        <p:spPr>
          <a:xfrm>
            <a:off x="7058025" y="4867275"/>
            <a:ext cx="4429125" cy="409575"/>
          </a:xfrm>
          <a:prstGeom prst="rect">
            <a:avLst/>
          </a:prstGeom>
          <a:noFill/>
          <a:ln w="0">
            <a:noFill/>
          </a:ln>
        </p:spPr>
        <p:txBody>
          <a:bodyPr lIns="0" tIns="0" rIns="0" bIns="0" anchor="ctr">
            <a:noAutofit/>
          </a:bodyPr>
          <a:lstStyle>
            <a:defPPr algn="l">
              <a:defRPr sz="1425" b="0">
                <a:solidFill>
                  <a:srgbClr val="697386"/>
                </a:solidFill>
                <a:latin typeface="Arial"/>
                <a:ea typeface="Arial"/>
                <a:cs typeface="Arial"/>
              </a:defRPr>
            </a:defPPr>
          </a:lstStyle>
          <a:p>
            <a:pPr algn="l">
              <a:defRPr sz="1425" b="0">
                <a:solidFill>
                  <a:srgbClr val="697386"/>
                </a:solidFill>
                <a:latin typeface="Arial"/>
                <a:ea typeface="Arial"/>
                <a:cs typeface="Arial"/>
              </a:defRPr>
            </a:pPr>
            <a:r>
              <a:rPr sz="1425" b="0">
                <a:solidFill>
                  <a:srgbClr val="697386"/>
                </a:solidFill>
                <a:latin typeface="Arial"/>
                <a:ea typeface="Arial"/>
                <a:cs typeface="Arial"/>
              </a:rPr>
              <a:t>Bone, fusion and held-out Test excluded</a:t>
            </a:r>
          </a:p>
        </p:txBody>
      </p:sp>
      <p:sp>
        <p:nvSpPr>
          <p:cNvPr id="28" name="p0-285">
            <a:extLst>
              <a:ext uri="{FF2B5EF4-FFF2-40B4-BE49-F238E27FC236}">
                <a16:creationId xmlns:a16="http://schemas.microsoft.com/office/drawing/2014/main" id="{F8C57426-D461-4A83-8FFB-3B9CA6513173}"/>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29" name="p0-286">
            <a:extLst>
              <a:ext uri="{FF2B5EF4-FFF2-40B4-BE49-F238E27FC236}">
                <a16:creationId xmlns:a16="http://schemas.microsoft.com/office/drawing/2014/main" id="{A7D663DA-3F67-4869-8BA7-66AA142A081A}"/>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00" b="1">
                <a:solidFill>
                  <a:srgbClr val="FFFFFF"/>
                </a:solidFill>
                <a:latin typeface="Arial"/>
                <a:ea typeface="Arial"/>
                <a:cs typeface="Arial"/>
              </a:defRPr>
            </a:def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P0 tests readout contribution; person-track benefits remain unverified</a:t>
            </a:r>
          </a:p>
        </p:txBody>
      </p:sp>
    </p:spTree>
    <p:extLst>
      <p:ext uri="{BB962C8B-B14F-4D97-AF65-F5344CB8AC3E}">
        <p14:creationId xmlns:p14="http://schemas.microsoft.com/office/powerpoint/2010/main" val="1795901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p0-287">
            <a:extLst>
              <a:ext uri="{FF2B5EF4-FFF2-40B4-BE49-F238E27FC236}">
                <a16:creationId xmlns:a16="http://schemas.microsoft.com/office/drawing/2014/main" id="{072ABB45-5975-4EB7-92F4-C008C1AAB9A3}"/>
              </a:ext>
            </a:extLst>
          </p:cNvPr>
          <p:cNvSpPr>
            <a:spLocks noGrp="1"/>
          </p:cNvSpPr>
          <p:nvPr/>
        </p:nvSpPr>
        <p:spPr>
          <a:xfrm>
            <a:off x="0" y="0"/>
            <a:ext cx="152400" cy="6858000"/>
          </a:xfrm>
          <a:prstGeom prst="rect">
            <a:avLst/>
          </a:prstGeom>
          <a:solidFill>
            <a:srgbClr val="E31346"/>
          </a:solidFill>
          <a:ln w="0">
            <a:noFill/>
          </a:ln>
        </p:spPr>
        <p:txBody>
          <a:bodyPr/>
          <a:lstStyle/>
          <a:p>
            <a:endParaRPr lang="zh-CN" altLang="en-US"/>
          </a:p>
        </p:txBody>
      </p:sp>
      <p:sp>
        <p:nvSpPr>
          <p:cNvPr id="2" name="p0-288">
            <a:extLst>
              <a:ext uri="{FF2B5EF4-FFF2-40B4-BE49-F238E27FC236}">
                <a16:creationId xmlns:a16="http://schemas.microsoft.com/office/drawing/2014/main" id="{A0562355-DF7E-459C-A322-94A66EA42D22}"/>
              </a:ext>
            </a:extLst>
          </p:cNvPr>
          <p:cNvSpPr>
            <a:spLocks noGrp="1"/>
          </p:cNvSpPr>
          <p:nvPr/>
        </p:nvSpPr>
        <p:spPr>
          <a:xfrm>
            <a:off x="152400" y="6562725"/>
            <a:ext cx="12039600" cy="295275"/>
          </a:xfrm>
          <a:prstGeom prst="rect">
            <a:avLst/>
          </a:prstGeom>
          <a:solidFill>
            <a:srgbClr val="1B1D63"/>
          </a:solidFill>
          <a:ln w="0">
            <a:noFill/>
          </a:ln>
        </p:spPr>
        <p:txBody>
          <a:bodyPr/>
          <a:lstStyle/>
          <a:p>
            <a:endParaRPr lang="zh-CN" altLang="en-US"/>
          </a:p>
        </p:txBody>
      </p:sp>
      <p:sp>
        <p:nvSpPr>
          <p:cNvPr id="3" name="p0-289">
            <a:extLst>
              <a:ext uri="{FF2B5EF4-FFF2-40B4-BE49-F238E27FC236}">
                <a16:creationId xmlns:a16="http://schemas.microsoft.com/office/drawing/2014/main" id="{4CB95D29-CA1C-43FE-BF9D-77A7FD726068}"/>
              </a:ext>
            </a:extLst>
          </p:cNvPr>
          <p:cNvSpPr>
            <a:spLocks noGrp="1"/>
          </p:cNvSpPr>
          <p:nvPr/>
        </p:nvSpPr>
        <p:spPr>
          <a:xfrm>
            <a:off x="590550" y="238125"/>
            <a:ext cx="8524875" cy="476250"/>
          </a:xfrm>
          <a:prstGeom prst="rect">
            <a:avLst/>
          </a:prstGeom>
          <a:noFill/>
          <a:ln w="0">
            <a:noFill/>
          </a:ln>
        </p:spPr>
        <p:txBody>
          <a:bodyPr lIns="0" tIns="0" rIns="0" bIns="0" anchor="ctr">
            <a:noAutofit/>
          </a:bodyPr>
          <a:lstStyle>
            <a:defPPr algn="l">
              <a:defRPr sz="2550" b="1">
                <a:solidFill>
                  <a:srgbClr val="1B1D63"/>
                </a:solidFill>
                <a:latin typeface="Arial"/>
                <a:ea typeface="Arial"/>
                <a:cs typeface="Arial"/>
              </a:defRPr>
            </a:defPPr>
          </a:lstStyle>
          <a:p>
            <a:pPr algn="l">
              <a:defRPr sz="2550" b="1">
                <a:solidFill>
                  <a:srgbClr val="1B1D63"/>
                </a:solidFill>
                <a:latin typeface="Arial"/>
                <a:ea typeface="Arial"/>
                <a:cs typeface="Arial"/>
              </a:defRPr>
            </a:pPr>
            <a:r>
              <a:rPr sz="2550" b="1">
                <a:solidFill>
                  <a:srgbClr val="1B1D63"/>
                </a:solidFill>
                <a:latin typeface="Arial"/>
                <a:ea typeface="Arial"/>
                <a:cs typeface="Arial"/>
              </a:rPr>
              <a:t>Next Experiments · Explain, Isolate, Stress-Test</a:t>
            </a:r>
          </a:p>
        </p:txBody>
      </p:sp>
      <p:sp>
        <p:nvSpPr>
          <p:cNvPr id="4" name="p0-290">
            <a:extLst>
              <a:ext uri="{FF2B5EF4-FFF2-40B4-BE49-F238E27FC236}">
                <a16:creationId xmlns:a16="http://schemas.microsoft.com/office/drawing/2014/main" id="{34D2FEDB-0BC8-45CA-B61E-8271EA085CD2}"/>
              </a:ext>
            </a:extLst>
          </p:cNvPr>
          <p:cNvSpPr>
            <a:spLocks noGrp="1"/>
          </p:cNvSpPr>
          <p:nvPr/>
        </p:nvSpPr>
        <p:spPr>
          <a:xfrm>
            <a:off x="590550" y="723900"/>
            <a:ext cx="7239000" cy="219075"/>
          </a:xfrm>
          <a:prstGeom prst="rect">
            <a:avLst/>
          </a:prstGeom>
          <a:noFill/>
          <a:ln w="0">
            <a:noFill/>
          </a:ln>
        </p:spPr>
        <p:txBody>
          <a:bodyPr lIns="0" tIns="0" rIns="0" bIns="0" anchor="ctr">
            <a:noAutofit/>
          </a:bodyPr>
          <a:lstStyle>
            <a:defPPr algn="l">
              <a:defRPr sz="900" b="1">
                <a:solidFill>
                  <a:srgbClr val="E31346"/>
                </a:solidFill>
                <a:latin typeface="Arial"/>
                <a:ea typeface="Arial"/>
                <a:cs typeface="Arial"/>
              </a:defRPr>
            </a:defPPr>
          </a:lstStyle>
          <a:p>
            <a:pPr algn="l">
              <a:defRPr sz="900" b="1">
                <a:solidFill>
                  <a:srgbClr val="E31346"/>
                </a:solidFill>
                <a:latin typeface="Arial"/>
                <a:ea typeface="Arial"/>
                <a:cs typeface="Arial"/>
              </a:defRPr>
            </a:pPr>
            <a:r>
              <a:rPr sz="900" b="1">
                <a:solidFill>
                  <a:srgbClr val="E31346"/>
                </a:solidFill>
                <a:latin typeface="Arial"/>
                <a:ea typeface="Arial"/>
                <a:cs typeface="Arial"/>
              </a:rPr>
              <a:t>EE6008 · HUMAN POSE GROUP PROJECT</a:t>
            </a:r>
          </a:p>
        </p:txBody>
      </p:sp>
      <p:sp>
        <p:nvSpPr>
          <p:cNvPr id="5" name="p0-291">
            <a:extLst>
              <a:ext uri="{FF2B5EF4-FFF2-40B4-BE49-F238E27FC236}">
                <a16:creationId xmlns:a16="http://schemas.microsoft.com/office/drawing/2014/main" id="{097668CD-6F88-44F1-9EF3-3F2A23BF217D}"/>
              </a:ext>
            </a:extLst>
          </p:cNvPr>
          <p:cNvSpPr>
            <a:spLocks noGrp="1"/>
          </p:cNvSpPr>
          <p:nvPr/>
        </p:nvSpPr>
        <p:spPr>
          <a:xfrm>
            <a:off x="495300" y="1009650"/>
            <a:ext cx="1562100" cy="47625"/>
          </a:xfrm>
          <a:prstGeom prst="rect">
            <a:avLst/>
          </a:prstGeom>
          <a:solidFill>
            <a:srgbClr val="E31346"/>
          </a:solidFill>
          <a:ln w="0">
            <a:noFill/>
          </a:ln>
        </p:spPr>
        <p:txBody>
          <a:bodyPr/>
          <a:lstStyle/>
          <a:p>
            <a:endParaRPr lang="zh-CN" altLang="en-US"/>
          </a:p>
        </p:txBody>
      </p:sp>
      <p:pic>
        <p:nvPicPr>
          <p:cNvPr id="6" name="图片 5">
            <a:extLst>
              <a:ext uri="{FF2B5EF4-FFF2-40B4-BE49-F238E27FC236}">
                <a16:creationId xmlns:a16="http://schemas.microsoft.com/office/drawing/2014/main" id="{1E8B0045-1743-479B-AB9D-DA076AD378E9}"/>
              </a:ext>
            </a:extLst>
          </p:cNvPr>
          <p:cNvPicPr>
            <a:picLocks noChangeAspect="1"/>
          </p:cNvPicPr>
          <p:nvPr/>
        </p:nvPicPr>
        <p:blipFill>
          <a:blip r:embed="rId3"/>
          <a:stretch/>
        </p:blipFill>
        <p:spPr>
          <a:xfrm>
            <a:off x="9696450" y="191381"/>
            <a:ext cx="2038350" cy="731663"/>
          </a:xfrm>
          <a:prstGeom prst="rect">
            <a:avLst/>
          </a:prstGeom>
        </p:spPr>
      </p:pic>
      <p:sp>
        <p:nvSpPr>
          <p:cNvPr id="7" name="p0-292">
            <a:extLst>
              <a:ext uri="{FF2B5EF4-FFF2-40B4-BE49-F238E27FC236}">
                <a16:creationId xmlns:a16="http://schemas.microsoft.com/office/drawing/2014/main" id="{C632B051-72D6-4611-AB70-6633345CEC38}"/>
              </a:ext>
            </a:extLst>
          </p:cNvPr>
          <p:cNvSpPr>
            <a:spLocks noGrp="1"/>
          </p:cNvSpPr>
          <p:nvPr/>
        </p:nvSpPr>
        <p:spPr>
          <a:xfrm>
            <a:off x="590550" y="6591300"/>
            <a:ext cx="2857500" cy="219075"/>
          </a:xfrm>
          <a:prstGeom prst="rect">
            <a:avLst/>
          </a:prstGeom>
          <a:noFill/>
          <a:ln w="0">
            <a:noFill/>
          </a:ln>
        </p:spPr>
        <p:txBody>
          <a:bodyPr lIns="0" tIns="0" rIns="0" bIns="0" anchor="ctr">
            <a:noAutofit/>
          </a:bodyPr>
          <a:lstStyle>
            <a:defPPr algn="l">
              <a:defRPr sz="750" b="1">
                <a:solidFill>
                  <a:srgbClr val="FFFFFF"/>
                </a:solidFill>
                <a:latin typeface="Arial"/>
                <a:ea typeface="Arial"/>
                <a:cs typeface="Arial"/>
              </a:defRPr>
            </a:defPPr>
          </a:lstStyle>
          <a:p>
            <a:pPr algn="l">
              <a:defRPr sz="750" b="1">
                <a:solidFill>
                  <a:srgbClr val="FFFFFF"/>
                </a:solidFill>
                <a:latin typeface="Arial"/>
                <a:ea typeface="Arial"/>
                <a:cs typeface="Arial"/>
              </a:defRPr>
            </a:pPr>
            <a:r>
              <a:rPr sz="750" b="1">
                <a:solidFill>
                  <a:srgbClr val="FFFFFF"/>
                </a:solidFill>
                <a:latin typeface="Arial"/>
                <a:ea typeface="Arial"/>
                <a:cs typeface="Arial"/>
              </a:rPr>
              <a:t>EE6008 · WEEKLY REPORT</a:t>
            </a:r>
          </a:p>
        </p:txBody>
      </p:sp>
      <p:sp>
        <p:nvSpPr>
          <p:cNvPr id="8" name="p0-293">
            <a:extLst>
              <a:ext uri="{FF2B5EF4-FFF2-40B4-BE49-F238E27FC236}">
                <a16:creationId xmlns:a16="http://schemas.microsoft.com/office/drawing/2014/main" id="{707C3825-D886-4CE6-A5AA-04D2CB7F02B2}"/>
              </a:ext>
            </a:extLst>
          </p:cNvPr>
          <p:cNvSpPr>
            <a:spLocks noGrp="1"/>
          </p:cNvSpPr>
          <p:nvPr/>
        </p:nvSpPr>
        <p:spPr>
          <a:xfrm>
            <a:off x="11049000" y="6591300"/>
            <a:ext cx="619125" cy="219075"/>
          </a:xfrm>
          <a:prstGeom prst="rect">
            <a:avLst/>
          </a:prstGeom>
          <a:noFill/>
          <a:ln w="0">
            <a:noFill/>
          </a:ln>
        </p:spPr>
        <p:txBody>
          <a:bodyPr lIns="0" tIns="0" rIns="0" bIns="0" anchor="ctr">
            <a:noAutofit/>
          </a:bodyPr>
          <a:lstStyle>
            <a:defPPr algn="r">
              <a:defRPr sz="750" b="1">
                <a:solidFill>
                  <a:srgbClr val="FFFFFF"/>
                </a:solidFill>
                <a:latin typeface="Arial"/>
                <a:ea typeface="Arial"/>
                <a:cs typeface="Arial"/>
              </a:defRPr>
            </a:defPPr>
          </a:lstStyle>
          <a:p>
            <a:pPr algn="r">
              <a:defRPr sz="750" b="1">
                <a:solidFill>
                  <a:srgbClr val="FFFFFF"/>
                </a:solidFill>
                <a:latin typeface="Arial"/>
                <a:ea typeface="Arial"/>
                <a:cs typeface="Arial"/>
              </a:defRPr>
            </a:pPr>
            <a:r>
              <a:rPr sz="750" b="1" dirty="0">
                <a:solidFill>
                  <a:srgbClr val="FFFFFF"/>
                </a:solidFill>
                <a:latin typeface="Arial"/>
                <a:ea typeface="Arial"/>
                <a:cs typeface="Arial"/>
              </a:rPr>
              <a:t>1</a:t>
            </a:r>
            <a:r>
              <a:rPr lang="en-US" sz="750" b="1" dirty="0">
                <a:solidFill>
                  <a:srgbClr val="FFFFFF"/>
                </a:solidFill>
                <a:latin typeface="Arial"/>
                <a:ea typeface="Arial"/>
                <a:cs typeface="Arial"/>
              </a:rPr>
              <a:t>2</a:t>
            </a:r>
            <a:endParaRPr sz="750" b="1" dirty="0">
              <a:solidFill>
                <a:srgbClr val="FFFFFF"/>
              </a:solidFill>
              <a:latin typeface="Arial"/>
              <a:ea typeface="Arial"/>
              <a:cs typeface="Arial"/>
            </a:endParaRPr>
          </a:p>
        </p:txBody>
      </p:sp>
      <p:sp>
        <p:nvSpPr>
          <p:cNvPr id="9" name="p0-294">
            <a:extLst>
              <a:ext uri="{FF2B5EF4-FFF2-40B4-BE49-F238E27FC236}">
                <a16:creationId xmlns:a16="http://schemas.microsoft.com/office/drawing/2014/main" id="{934D4C7C-2E3F-4F0F-9C5F-4ED2FD16284B}"/>
              </a:ext>
            </a:extLst>
          </p:cNvPr>
          <p:cNvSpPr>
            <a:spLocks noGrp="1"/>
          </p:cNvSpPr>
          <p:nvPr/>
        </p:nvSpPr>
        <p:spPr>
          <a:xfrm>
            <a:off x="495300" y="1504950"/>
            <a:ext cx="3476625" cy="4038600"/>
          </a:xfrm>
          <a:prstGeom prst="roundRect">
            <a:avLst>
              <a:gd name="adj" fmla="val 4384"/>
            </a:avLst>
          </a:prstGeom>
          <a:solidFill>
            <a:srgbClr val="E9EDF8"/>
          </a:solidFill>
          <a:ln w="0">
            <a:noFill/>
          </a:ln>
        </p:spPr>
        <p:txBody>
          <a:bodyPr/>
          <a:lstStyle/>
          <a:p>
            <a:endParaRPr lang="zh-CN" altLang="en-US"/>
          </a:p>
        </p:txBody>
      </p:sp>
      <p:sp>
        <p:nvSpPr>
          <p:cNvPr id="10" name="p0-295">
            <a:extLst>
              <a:ext uri="{FF2B5EF4-FFF2-40B4-BE49-F238E27FC236}">
                <a16:creationId xmlns:a16="http://schemas.microsoft.com/office/drawing/2014/main" id="{137EE394-79B4-462B-9F27-65A901C2C81A}"/>
              </a:ext>
            </a:extLst>
          </p:cNvPr>
          <p:cNvSpPr>
            <a:spLocks noGrp="1"/>
          </p:cNvSpPr>
          <p:nvPr/>
        </p:nvSpPr>
        <p:spPr>
          <a:xfrm>
            <a:off x="723900" y="1685925"/>
            <a:ext cx="3019425" cy="561975"/>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Explain score changes</a:t>
            </a:r>
          </a:p>
        </p:txBody>
      </p:sp>
      <p:sp>
        <p:nvSpPr>
          <p:cNvPr id="11" name="p0-296">
            <a:extLst>
              <a:ext uri="{FF2B5EF4-FFF2-40B4-BE49-F238E27FC236}">
                <a16:creationId xmlns:a16="http://schemas.microsoft.com/office/drawing/2014/main" id="{829A11A6-221D-485F-B478-2CB83E241D2F}"/>
              </a:ext>
            </a:extLst>
          </p:cNvPr>
          <p:cNvSpPr>
            <a:spLocks noGrp="1"/>
          </p:cNvSpPr>
          <p:nvPr/>
        </p:nvSpPr>
        <p:spPr>
          <a:xfrm>
            <a:off x="723900" y="2609850"/>
            <a:ext cx="3019425" cy="581025"/>
          </a:xfrm>
          <a:prstGeom prst="roundRect">
            <a:avLst>
              <a:gd name="adj" fmla="val 26230"/>
            </a:avLst>
          </a:prstGeom>
          <a:solidFill>
            <a:srgbClr val="FFFFFF"/>
          </a:solidFill>
          <a:ln w="0">
            <a:noFill/>
          </a:ln>
        </p:spPr>
        <p:txBody>
          <a:bodyPr/>
          <a:lstStyle/>
          <a:p>
            <a:endParaRPr lang="zh-CN" altLang="en-US"/>
          </a:p>
        </p:txBody>
      </p:sp>
      <p:sp>
        <p:nvSpPr>
          <p:cNvPr id="12" name="p0-297">
            <a:extLst>
              <a:ext uri="{FF2B5EF4-FFF2-40B4-BE49-F238E27FC236}">
                <a16:creationId xmlns:a16="http://schemas.microsoft.com/office/drawing/2014/main" id="{D7EECF81-4F2E-4987-996E-75C7AA8C5588}"/>
              </a:ext>
            </a:extLst>
          </p:cNvPr>
          <p:cNvSpPr>
            <a:spLocks noGrp="1"/>
          </p:cNvSpPr>
          <p:nvPr/>
        </p:nvSpPr>
        <p:spPr>
          <a:xfrm>
            <a:off x="847725" y="2657475"/>
            <a:ext cx="2771775" cy="485775"/>
          </a:xfrm>
          <a:prstGeom prst="rect">
            <a:avLst/>
          </a:prstGeom>
          <a:noFill/>
          <a:ln w="0">
            <a:noFill/>
          </a:ln>
        </p:spPr>
        <p:txBody>
          <a:bodyPr lIns="0" tIns="0" rIns="0" bIns="0" anchor="ctr">
            <a:noAutofit/>
          </a:bodyPr>
          <a:lstStyle>
            <a:defPPr algn="ctr">
              <a:defRPr sz="1725" b="1">
                <a:solidFill>
                  <a:srgbClr val="1B1D63"/>
                </a:solidFill>
                <a:latin typeface="Arial"/>
                <a:ea typeface="Arial"/>
                <a:cs typeface="Arial"/>
              </a:defRPr>
            </a:defPPr>
          </a:lstStyle>
          <a:p>
            <a:pPr algn="ctr">
              <a:defRPr sz="1725" b="1">
                <a:solidFill>
                  <a:srgbClr val="1B1D63"/>
                </a:solidFill>
                <a:latin typeface="Arial"/>
                <a:ea typeface="Arial"/>
                <a:cs typeface="Arial"/>
              </a:defRPr>
            </a:pPr>
            <a:r>
              <a:rPr sz="1725" b="1">
                <a:solidFill>
                  <a:srgbClr val="1B1D63"/>
                </a:solidFill>
                <a:latin typeface="Arial"/>
                <a:ea typeface="Arial"/>
                <a:cs typeface="Arial"/>
              </a:rPr>
              <a:t>Saved logits</a:t>
            </a:r>
          </a:p>
        </p:txBody>
      </p:sp>
      <p:sp>
        <p:nvSpPr>
          <p:cNvPr id="13" name="p0-298">
            <a:extLst>
              <a:ext uri="{FF2B5EF4-FFF2-40B4-BE49-F238E27FC236}">
                <a16:creationId xmlns:a16="http://schemas.microsoft.com/office/drawing/2014/main" id="{3AD13C37-DA61-4801-95C3-52C7BA3C4569}"/>
              </a:ext>
            </a:extLst>
          </p:cNvPr>
          <p:cNvSpPr>
            <a:spLocks noGrp="1"/>
          </p:cNvSpPr>
          <p:nvPr/>
        </p:nvSpPr>
        <p:spPr>
          <a:xfrm>
            <a:off x="2143125" y="3295650"/>
            <a:ext cx="180975" cy="276225"/>
          </a:xfrm>
          <a:prstGeom prst="downArrow">
            <a:avLst/>
          </a:prstGeom>
          <a:solidFill>
            <a:srgbClr val="697386"/>
          </a:solidFill>
          <a:ln w="0">
            <a:noFill/>
          </a:ln>
        </p:spPr>
        <p:txBody>
          <a:bodyPr/>
          <a:lstStyle/>
          <a:p>
            <a:endParaRPr lang="zh-CN" altLang="en-US"/>
          </a:p>
        </p:txBody>
      </p:sp>
      <p:sp>
        <p:nvSpPr>
          <p:cNvPr id="14" name="p0-299">
            <a:extLst>
              <a:ext uri="{FF2B5EF4-FFF2-40B4-BE49-F238E27FC236}">
                <a16:creationId xmlns:a16="http://schemas.microsoft.com/office/drawing/2014/main" id="{581C446E-A6C6-449F-9792-4CCA981DEDD1}"/>
              </a:ext>
            </a:extLst>
          </p:cNvPr>
          <p:cNvSpPr>
            <a:spLocks noGrp="1"/>
          </p:cNvSpPr>
          <p:nvPr/>
        </p:nvSpPr>
        <p:spPr>
          <a:xfrm>
            <a:off x="723900" y="3752850"/>
            <a:ext cx="3019425" cy="695325"/>
          </a:xfrm>
          <a:prstGeom prst="roundRect">
            <a:avLst>
              <a:gd name="adj" fmla="val 21918"/>
            </a:avLst>
          </a:prstGeom>
          <a:solidFill>
            <a:srgbClr val="FFFFFF"/>
          </a:solidFill>
          <a:ln w="0">
            <a:noFill/>
          </a:ln>
        </p:spPr>
        <p:txBody>
          <a:bodyPr/>
          <a:lstStyle/>
          <a:p>
            <a:endParaRPr lang="zh-CN" altLang="en-US"/>
          </a:p>
        </p:txBody>
      </p:sp>
      <p:sp>
        <p:nvSpPr>
          <p:cNvPr id="15" name="p0-300">
            <a:extLst>
              <a:ext uri="{FF2B5EF4-FFF2-40B4-BE49-F238E27FC236}">
                <a16:creationId xmlns:a16="http://schemas.microsoft.com/office/drawing/2014/main" id="{F998E63D-F610-4378-BBB8-AC9B025D8E08}"/>
              </a:ext>
            </a:extLst>
          </p:cNvPr>
          <p:cNvSpPr>
            <a:spLocks noGrp="1"/>
          </p:cNvSpPr>
          <p:nvPr/>
        </p:nvSpPr>
        <p:spPr>
          <a:xfrm>
            <a:off x="847725" y="3800475"/>
            <a:ext cx="2771775" cy="600075"/>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Margins / entropy / CE</a:t>
            </a:r>
          </a:p>
        </p:txBody>
      </p:sp>
      <p:sp>
        <p:nvSpPr>
          <p:cNvPr id="16" name="p0-301">
            <a:extLst>
              <a:ext uri="{FF2B5EF4-FFF2-40B4-BE49-F238E27FC236}">
                <a16:creationId xmlns:a16="http://schemas.microsoft.com/office/drawing/2014/main" id="{07AD260E-5F6A-439C-9BEA-7C54462C350E}"/>
              </a:ext>
            </a:extLst>
          </p:cNvPr>
          <p:cNvSpPr>
            <a:spLocks noGrp="1"/>
          </p:cNvSpPr>
          <p:nvPr/>
        </p:nvSpPr>
        <p:spPr>
          <a:xfrm>
            <a:off x="723900" y="4762500"/>
            <a:ext cx="3019425" cy="552450"/>
          </a:xfrm>
          <a:prstGeom prst="rect">
            <a:avLst/>
          </a:prstGeom>
          <a:noFill/>
          <a:ln w="0">
            <a:noFill/>
          </a:ln>
        </p:spPr>
        <p:txBody>
          <a:bodyPr lIns="0" tIns="0" rIns="0" bIns="0" anchor="ctr">
            <a:noAutofit/>
          </a:bodyPr>
          <a:lstStyle>
            <a:defPPr algn="l">
              <a:defRPr sz="1575" b="1">
                <a:solidFill>
                  <a:srgbClr val="697386"/>
                </a:solidFill>
                <a:latin typeface="Arial"/>
                <a:ea typeface="Arial"/>
                <a:cs typeface="Arial"/>
              </a:defRPr>
            </a:defPPr>
          </a:lstStyle>
          <a:p>
            <a:pPr algn="l">
              <a:defRPr sz="1575" b="1">
                <a:solidFill>
                  <a:srgbClr val="697386"/>
                </a:solidFill>
                <a:latin typeface="Arial"/>
                <a:ea typeface="Arial"/>
                <a:cs typeface="Arial"/>
              </a:defRPr>
            </a:pPr>
            <a:r>
              <a:rPr sz="1575" b="1">
                <a:solidFill>
                  <a:srgbClr val="697386"/>
                </a:solidFill>
                <a:latin typeface="Arial"/>
                <a:ea typeface="Arial"/>
                <a:cs typeface="Arial"/>
              </a:rPr>
              <a:t>Beyond global score scaling?</a:t>
            </a:r>
          </a:p>
        </p:txBody>
      </p:sp>
      <p:sp>
        <p:nvSpPr>
          <p:cNvPr id="17" name="p0-302">
            <a:extLst>
              <a:ext uri="{FF2B5EF4-FFF2-40B4-BE49-F238E27FC236}">
                <a16:creationId xmlns:a16="http://schemas.microsoft.com/office/drawing/2014/main" id="{1D25174D-59F2-4762-92D5-15D4D1E886EB}"/>
              </a:ext>
            </a:extLst>
          </p:cNvPr>
          <p:cNvSpPr>
            <a:spLocks noGrp="1"/>
          </p:cNvSpPr>
          <p:nvPr/>
        </p:nvSpPr>
        <p:spPr>
          <a:xfrm>
            <a:off x="4371975" y="1504950"/>
            <a:ext cx="3476625" cy="4038600"/>
          </a:xfrm>
          <a:prstGeom prst="roundRect">
            <a:avLst>
              <a:gd name="adj" fmla="val 4384"/>
            </a:avLst>
          </a:prstGeom>
          <a:solidFill>
            <a:srgbClr val="E9EDF8"/>
          </a:solidFill>
          <a:ln w="0">
            <a:noFill/>
          </a:ln>
        </p:spPr>
        <p:txBody>
          <a:bodyPr/>
          <a:lstStyle/>
          <a:p>
            <a:endParaRPr lang="zh-CN" altLang="en-US"/>
          </a:p>
        </p:txBody>
      </p:sp>
      <p:sp>
        <p:nvSpPr>
          <p:cNvPr id="18" name="p0-303">
            <a:extLst>
              <a:ext uri="{FF2B5EF4-FFF2-40B4-BE49-F238E27FC236}">
                <a16:creationId xmlns:a16="http://schemas.microsoft.com/office/drawing/2014/main" id="{A4DAF2C3-D8EC-474E-928A-18BDD64628A8}"/>
              </a:ext>
            </a:extLst>
          </p:cNvPr>
          <p:cNvSpPr>
            <a:spLocks noGrp="1"/>
          </p:cNvSpPr>
          <p:nvPr/>
        </p:nvSpPr>
        <p:spPr>
          <a:xfrm>
            <a:off x="4600575" y="1685925"/>
            <a:ext cx="3019425" cy="561975"/>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Isolate the mechanism</a:t>
            </a:r>
          </a:p>
        </p:txBody>
      </p:sp>
      <p:sp>
        <p:nvSpPr>
          <p:cNvPr id="19" name="p0-304">
            <a:extLst>
              <a:ext uri="{FF2B5EF4-FFF2-40B4-BE49-F238E27FC236}">
                <a16:creationId xmlns:a16="http://schemas.microsoft.com/office/drawing/2014/main" id="{0B0653D2-5F00-4489-85E2-5A6F543F60DA}"/>
              </a:ext>
            </a:extLst>
          </p:cNvPr>
          <p:cNvSpPr>
            <a:spLocks noGrp="1"/>
          </p:cNvSpPr>
          <p:nvPr/>
        </p:nvSpPr>
        <p:spPr>
          <a:xfrm>
            <a:off x="4600575" y="2609850"/>
            <a:ext cx="3019425" cy="581025"/>
          </a:xfrm>
          <a:prstGeom prst="roundRect">
            <a:avLst>
              <a:gd name="adj" fmla="val 26230"/>
            </a:avLst>
          </a:prstGeom>
          <a:solidFill>
            <a:srgbClr val="FFFFFF"/>
          </a:solidFill>
          <a:ln w="0">
            <a:noFill/>
          </a:ln>
        </p:spPr>
        <p:txBody>
          <a:bodyPr/>
          <a:lstStyle/>
          <a:p>
            <a:endParaRPr lang="zh-CN" altLang="en-US"/>
          </a:p>
        </p:txBody>
      </p:sp>
      <p:sp>
        <p:nvSpPr>
          <p:cNvPr id="20" name="p0-305">
            <a:extLst>
              <a:ext uri="{FF2B5EF4-FFF2-40B4-BE49-F238E27FC236}">
                <a16:creationId xmlns:a16="http://schemas.microsoft.com/office/drawing/2014/main" id="{A5542DBF-CD13-4BC6-A3AF-57350A1792D7}"/>
              </a:ext>
            </a:extLst>
          </p:cNvPr>
          <p:cNvSpPr>
            <a:spLocks noGrp="1"/>
          </p:cNvSpPr>
          <p:nvPr/>
        </p:nvSpPr>
        <p:spPr>
          <a:xfrm>
            <a:off x="4724400" y="2657475"/>
            <a:ext cx="2771775" cy="485775"/>
          </a:xfrm>
          <a:prstGeom prst="rect">
            <a:avLst/>
          </a:prstGeom>
          <a:noFill/>
          <a:ln w="0">
            <a:noFill/>
          </a:ln>
        </p:spPr>
        <p:txBody>
          <a:bodyPr lIns="0" tIns="0" rIns="0" bIns="0" anchor="ctr">
            <a:noAutofit/>
          </a:bodyPr>
          <a:lstStyle>
            <a:defPPr algn="ctr">
              <a:defRPr sz="1725" b="1">
                <a:solidFill>
                  <a:srgbClr val="1B1D63"/>
                </a:solidFill>
                <a:latin typeface="Arial"/>
                <a:ea typeface="Arial"/>
                <a:cs typeface="Arial"/>
              </a:defRPr>
            </a:defPPr>
          </a:lstStyle>
          <a:p>
            <a:pPr algn="ctr">
              <a:defRPr sz="1725" b="1">
                <a:solidFill>
                  <a:srgbClr val="1B1D63"/>
                </a:solidFill>
                <a:latin typeface="Arial"/>
                <a:ea typeface="Arial"/>
                <a:cs typeface="Arial"/>
              </a:defRPr>
            </a:pPr>
            <a:r>
              <a:rPr sz="1725" b="1">
                <a:solidFill>
                  <a:srgbClr val="1B1D63"/>
                </a:solidFill>
                <a:latin typeface="Arial"/>
                <a:ea typeface="Arial"/>
                <a:cs typeface="Arial"/>
              </a:rPr>
              <a:t>Fixed-backbone readouts</a:t>
            </a:r>
          </a:p>
        </p:txBody>
      </p:sp>
      <p:sp>
        <p:nvSpPr>
          <p:cNvPr id="21" name="p0-306">
            <a:extLst>
              <a:ext uri="{FF2B5EF4-FFF2-40B4-BE49-F238E27FC236}">
                <a16:creationId xmlns:a16="http://schemas.microsoft.com/office/drawing/2014/main" id="{A4AAC67A-C9CB-4D97-8ED8-EE673318141C}"/>
              </a:ext>
            </a:extLst>
          </p:cNvPr>
          <p:cNvSpPr>
            <a:spLocks noGrp="1"/>
          </p:cNvSpPr>
          <p:nvPr/>
        </p:nvSpPr>
        <p:spPr>
          <a:xfrm>
            <a:off x="6019800" y="3295650"/>
            <a:ext cx="180975" cy="276225"/>
          </a:xfrm>
          <a:prstGeom prst="downArrow">
            <a:avLst/>
          </a:prstGeom>
          <a:solidFill>
            <a:srgbClr val="697386"/>
          </a:solidFill>
          <a:ln w="0">
            <a:noFill/>
          </a:ln>
        </p:spPr>
        <p:txBody>
          <a:bodyPr/>
          <a:lstStyle/>
          <a:p>
            <a:endParaRPr lang="zh-CN" altLang="en-US"/>
          </a:p>
        </p:txBody>
      </p:sp>
      <p:sp>
        <p:nvSpPr>
          <p:cNvPr id="22" name="p0-307">
            <a:extLst>
              <a:ext uri="{FF2B5EF4-FFF2-40B4-BE49-F238E27FC236}">
                <a16:creationId xmlns:a16="http://schemas.microsoft.com/office/drawing/2014/main" id="{774FF771-292E-48A8-AA3E-6326AF47C983}"/>
              </a:ext>
            </a:extLst>
          </p:cNvPr>
          <p:cNvSpPr>
            <a:spLocks noGrp="1"/>
          </p:cNvSpPr>
          <p:nvPr/>
        </p:nvSpPr>
        <p:spPr>
          <a:xfrm>
            <a:off x="4600575" y="3752850"/>
            <a:ext cx="3019425" cy="695325"/>
          </a:xfrm>
          <a:prstGeom prst="roundRect">
            <a:avLst>
              <a:gd name="adj" fmla="val 21918"/>
            </a:avLst>
          </a:prstGeom>
          <a:solidFill>
            <a:srgbClr val="FFFFFF"/>
          </a:solidFill>
          <a:ln w="0">
            <a:noFill/>
          </a:ln>
        </p:spPr>
        <p:txBody>
          <a:bodyPr/>
          <a:lstStyle/>
          <a:p>
            <a:endParaRPr lang="zh-CN" altLang="en-US"/>
          </a:p>
        </p:txBody>
      </p:sp>
      <p:sp>
        <p:nvSpPr>
          <p:cNvPr id="23" name="p0-308">
            <a:extLst>
              <a:ext uri="{FF2B5EF4-FFF2-40B4-BE49-F238E27FC236}">
                <a16:creationId xmlns:a16="http://schemas.microsoft.com/office/drawing/2014/main" id="{DF41CCE6-BC28-4F31-B945-DD7BE8A2DAE8}"/>
              </a:ext>
            </a:extLst>
          </p:cNvPr>
          <p:cNvSpPr>
            <a:spLocks noGrp="1"/>
          </p:cNvSpPr>
          <p:nvPr/>
        </p:nvSpPr>
        <p:spPr>
          <a:xfrm>
            <a:off x="4724400" y="3800475"/>
            <a:ext cx="2771775" cy="600075"/>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Controlled sign changes</a:t>
            </a:r>
          </a:p>
        </p:txBody>
      </p:sp>
      <p:sp>
        <p:nvSpPr>
          <p:cNvPr id="24" name="p0-309">
            <a:extLst>
              <a:ext uri="{FF2B5EF4-FFF2-40B4-BE49-F238E27FC236}">
                <a16:creationId xmlns:a16="http://schemas.microsoft.com/office/drawing/2014/main" id="{9BBF3142-6CAE-4A08-8A9D-B0C95E46C00B}"/>
              </a:ext>
            </a:extLst>
          </p:cNvPr>
          <p:cNvSpPr>
            <a:spLocks noGrp="1"/>
          </p:cNvSpPr>
          <p:nvPr/>
        </p:nvSpPr>
        <p:spPr>
          <a:xfrm>
            <a:off x="4600575" y="4762500"/>
            <a:ext cx="3019425" cy="552450"/>
          </a:xfrm>
          <a:prstGeom prst="rect">
            <a:avLst/>
          </a:prstGeom>
          <a:noFill/>
          <a:ln w="0">
            <a:noFill/>
          </a:ln>
        </p:spPr>
        <p:txBody>
          <a:bodyPr lIns="0" tIns="0" rIns="0" bIns="0" anchor="ctr">
            <a:noAutofit/>
          </a:bodyPr>
          <a:lstStyle>
            <a:defPPr algn="l">
              <a:defRPr sz="1575" b="1">
                <a:solidFill>
                  <a:srgbClr val="697386"/>
                </a:solidFill>
                <a:latin typeface="Arial"/>
                <a:ea typeface="Arial"/>
                <a:cs typeface="Arial"/>
              </a:defRPr>
            </a:defPPr>
          </a:lstStyle>
          <a:p>
            <a:pPr algn="l">
              <a:defRPr sz="1575" b="1">
                <a:solidFill>
                  <a:srgbClr val="697386"/>
                </a:solidFill>
                <a:latin typeface="Arial"/>
                <a:ea typeface="Arial"/>
                <a:cs typeface="Arial"/>
              </a:defRPr>
            </a:pPr>
            <a:r>
              <a:rPr sz="1575" b="1">
                <a:solidFill>
                  <a:srgbClr val="697386"/>
                </a:solidFill>
                <a:latin typeface="Arial"/>
                <a:ea typeface="Arial"/>
                <a:cs typeface="Arial"/>
              </a:rPr>
              <a:t>When does cancellation matter?</a:t>
            </a:r>
          </a:p>
        </p:txBody>
      </p:sp>
      <p:sp>
        <p:nvSpPr>
          <p:cNvPr id="25" name="p0-310">
            <a:extLst>
              <a:ext uri="{FF2B5EF4-FFF2-40B4-BE49-F238E27FC236}">
                <a16:creationId xmlns:a16="http://schemas.microsoft.com/office/drawing/2014/main" id="{EDC7C386-318D-4D97-8E92-752EC975667E}"/>
              </a:ext>
            </a:extLst>
          </p:cNvPr>
          <p:cNvSpPr>
            <a:spLocks noGrp="1"/>
          </p:cNvSpPr>
          <p:nvPr/>
        </p:nvSpPr>
        <p:spPr>
          <a:xfrm>
            <a:off x="8248650" y="1504950"/>
            <a:ext cx="3476625" cy="4038600"/>
          </a:xfrm>
          <a:prstGeom prst="roundRect">
            <a:avLst>
              <a:gd name="adj" fmla="val 4384"/>
            </a:avLst>
          </a:prstGeom>
          <a:solidFill>
            <a:srgbClr val="FBE8EF"/>
          </a:solidFill>
          <a:ln w="0">
            <a:noFill/>
          </a:ln>
        </p:spPr>
        <p:txBody>
          <a:bodyPr/>
          <a:lstStyle/>
          <a:p>
            <a:endParaRPr lang="zh-CN" altLang="en-US"/>
          </a:p>
        </p:txBody>
      </p:sp>
      <p:sp>
        <p:nvSpPr>
          <p:cNvPr id="26" name="p0-311">
            <a:extLst>
              <a:ext uri="{FF2B5EF4-FFF2-40B4-BE49-F238E27FC236}">
                <a16:creationId xmlns:a16="http://schemas.microsoft.com/office/drawing/2014/main" id="{AD7E1B56-34AE-4159-BAD7-E94F9F338E1D}"/>
              </a:ext>
            </a:extLst>
          </p:cNvPr>
          <p:cNvSpPr>
            <a:spLocks noGrp="1"/>
          </p:cNvSpPr>
          <p:nvPr/>
        </p:nvSpPr>
        <p:spPr>
          <a:xfrm>
            <a:off x="8477250" y="1685925"/>
            <a:ext cx="3019425" cy="561975"/>
          </a:xfrm>
          <a:prstGeom prst="rect">
            <a:avLst/>
          </a:prstGeom>
          <a:noFill/>
          <a:ln w="0">
            <a:noFill/>
          </a:ln>
        </p:spPr>
        <p:txBody>
          <a:bodyPr lIns="0" tIns="0" rIns="0" bIns="0" anchor="ctr">
            <a:noAutofit/>
          </a:bodyPr>
          <a:lstStyle>
            <a:defPPr algn="l">
              <a:defRPr sz="1950" b="1">
                <a:solidFill>
                  <a:srgbClr val="1B1D63"/>
                </a:solidFill>
                <a:latin typeface="Arial"/>
                <a:ea typeface="Arial"/>
                <a:cs typeface="Arial"/>
              </a:defRPr>
            </a:defPPr>
          </a:lstStyle>
          <a:p>
            <a:pPr algn="l">
              <a:defRPr sz="1950" b="1">
                <a:solidFill>
                  <a:srgbClr val="1B1D63"/>
                </a:solidFill>
                <a:latin typeface="Arial"/>
                <a:ea typeface="Arial"/>
                <a:cs typeface="Arial"/>
              </a:defRPr>
            </a:pPr>
            <a:r>
              <a:rPr sz="1950" b="1">
                <a:solidFill>
                  <a:srgbClr val="1B1D63"/>
                </a:solidFill>
                <a:latin typeface="Arial"/>
                <a:ea typeface="Arial"/>
                <a:cs typeface="Arial"/>
              </a:rPr>
              <a:t>Test track robustness</a:t>
            </a:r>
          </a:p>
        </p:txBody>
      </p:sp>
      <p:sp>
        <p:nvSpPr>
          <p:cNvPr id="27" name="p0-312">
            <a:extLst>
              <a:ext uri="{FF2B5EF4-FFF2-40B4-BE49-F238E27FC236}">
                <a16:creationId xmlns:a16="http://schemas.microsoft.com/office/drawing/2014/main" id="{831C602D-93C1-4DC6-BD20-4E82326E4D5C}"/>
              </a:ext>
            </a:extLst>
          </p:cNvPr>
          <p:cNvSpPr>
            <a:spLocks noGrp="1"/>
          </p:cNvSpPr>
          <p:nvPr/>
        </p:nvSpPr>
        <p:spPr>
          <a:xfrm>
            <a:off x="8477250" y="2609850"/>
            <a:ext cx="3019425" cy="581025"/>
          </a:xfrm>
          <a:prstGeom prst="roundRect">
            <a:avLst>
              <a:gd name="adj" fmla="val 26230"/>
            </a:avLst>
          </a:prstGeom>
          <a:solidFill>
            <a:srgbClr val="FFFFFF"/>
          </a:solidFill>
          <a:ln w="0">
            <a:noFill/>
          </a:ln>
        </p:spPr>
        <p:txBody>
          <a:bodyPr/>
          <a:lstStyle/>
          <a:p>
            <a:endParaRPr lang="zh-CN" altLang="en-US"/>
          </a:p>
        </p:txBody>
      </p:sp>
      <p:sp>
        <p:nvSpPr>
          <p:cNvPr id="28" name="p0-313">
            <a:extLst>
              <a:ext uri="{FF2B5EF4-FFF2-40B4-BE49-F238E27FC236}">
                <a16:creationId xmlns:a16="http://schemas.microsoft.com/office/drawing/2014/main" id="{B92B899C-4993-4CCC-92A9-141ECCB59F25}"/>
              </a:ext>
            </a:extLst>
          </p:cNvPr>
          <p:cNvSpPr>
            <a:spLocks noGrp="1"/>
          </p:cNvSpPr>
          <p:nvPr/>
        </p:nvSpPr>
        <p:spPr>
          <a:xfrm>
            <a:off x="8601075" y="2657475"/>
            <a:ext cx="2771775" cy="485775"/>
          </a:xfrm>
          <a:prstGeom prst="rect">
            <a:avLst/>
          </a:prstGeom>
          <a:noFill/>
          <a:ln w="0">
            <a:noFill/>
          </a:ln>
        </p:spPr>
        <p:txBody>
          <a:bodyPr lIns="0" tIns="0" rIns="0" bIns="0" anchor="ctr">
            <a:noAutofit/>
          </a:bodyPr>
          <a:lstStyle>
            <a:defPPr algn="ctr">
              <a:defRPr sz="1725" b="1">
                <a:solidFill>
                  <a:srgbClr val="1B1D63"/>
                </a:solidFill>
                <a:latin typeface="Arial"/>
                <a:ea typeface="Arial"/>
                <a:cs typeface="Arial"/>
              </a:defRPr>
            </a:defPPr>
          </a:lstStyle>
          <a:p>
            <a:pPr algn="ctr">
              <a:defRPr sz="1725" b="1">
                <a:solidFill>
                  <a:srgbClr val="1B1D63"/>
                </a:solidFill>
                <a:latin typeface="Arial"/>
                <a:ea typeface="Arial"/>
                <a:cs typeface="Arial"/>
              </a:defRPr>
            </a:pPr>
            <a:r>
              <a:rPr sz="1725" b="1">
                <a:solidFill>
                  <a:srgbClr val="1B1D63"/>
                </a:solidFill>
                <a:latin typeface="Arial"/>
                <a:ea typeface="Arial"/>
                <a:cs typeface="Arial"/>
              </a:rPr>
              <a:t>Frozen P0 checkpoints</a:t>
            </a:r>
          </a:p>
        </p:txBody>
      </p:sp>
      <p:sp>
        <p:nvSpPr>
          <p:cNvPr id="29" name="p0-314">
            <a:extLst>
              <a:ext uri="{FF2B5EF4-FFF2-40B4-BE49-F238E27FC236}">
                <a16:creationId xmlns:a16="http://schemas.microsoft.com/office/drawing/2014/main" id="{C5794778-DD71-4064-9475-65B2C485CF56}"/>
              </a:ext>
            </a:extLst>
          </p:cNvPr>
          <p:cNvSpPr>
            <a:spLocks noGrp="1"/>
          </p:cNvSpPr>
          <p:nvPr/>
        </p:nvSpPr>
        <p:spPr>
          <a:xfrm>
            <a:off x="9896475" y="3295650"/>
            <a:ext cx="180975" cy="276225"/>
          </a:xfrm>
          <a:prstGeom prst="downArrow">
            <a:avLst/>
          </a:prstGeom>
          <a:solidFill>
            <a:srgbClr val="697386"/>
          </a:solidFill>
          <a:ln w="0">
            <a:noFill/>
          </a:ln>
        </p:spPr>
        <p:txBody>
          <a:bodyPr/>
          <a:lstStyle/>
          <a:p>
            <a:endParaRPr lang="zh-CN" altLang="en-US"/>
          </a:p>
        </p:txBody>
      </p:sp>
      <p:sp>
        <p:nvSpPr>
          <p:cNvPr id="30" name="p0-315">
            <a:extLst>
              <a:ext uri="{FF2B5EF4-FFF2-40B4-BE49-F238E27FC236}">
                <a16:creationId xmlns:a16="http://schemas.microsoft.com/office/drawing/2014/main" id="{3BBBBCA2-7D1D-486E-82C4-758D7302F845}"/>
              </a:ext>
            </a:extLst>
          </p:cNvPr>
          <p:cNvSpPr>
            <a:spLocks noGrp="1"/>
          </p:cNvSpPr>
          <p:nvPr/>
        </p:nvSpPr>
        <p:spPr>
          <a:xfrm>
            <a:off x="8477250" y="3752850"/>
            <a:ext cx="3019425" cy="695325"/>
          </a:xfrm>
          <a:prstGeom prst="roundRect">
            <a:avLst>
              <a:gd name="adj" fmla="val 21918"/>
            </a:avLst>
          </a:prstGeom>
          <a:solidFill>
            <a:srgbClr val="FFFFFF"/>
          </a:solidFill>
          <a:ln w="0">
            <a:noFill/>
          </a:ln>
        </p:spPr>
        <p:txBody>
          <a:bodyPr/>
          <a:lstStyle/>
          <a:p>
            <a:endParaRPr lang="zh-CN" altLang="en-US"/>
          </a:p>
        </p:txBody>
      </p:sp>
      <p:sp>
        <p:nvSpPr>
          <p:cNvPr id="31" name="p0-316">
            <a:extLst>
              <a:ext uri="{FF2B5EF4-FFF2-40B4-BE49-F238E27FC236}">
                <a16:creationId xmlns:a16="http://schemas.microsoft.com/office/drawing/2014/main" id="{B3234C7E-A82B-4F26-AE41-FD343B530828}"/>
              </a:ext>
            </a:extLst>
          </p:cNvPr>
          <p:cNvSpPr>
            <a:spLocks noGrp="1"/>
          </p:cNvSpPr>
          <p:nvPr/>
        </p:nvSpPr>
        <p:spPr>
          <a:xfrm>
            <a:off x="8601075" y="3800475"/>
            <a:ext cx="2771775" cy="600075"/>
          </a:xfrm>
          <a:prstGeom prst="rect">
            <a:avLst/>
          </a:prstGeom>
          <a:noFill/>
          <a:ln w="0">
            <a:noFill/>
          </a:ln>
        </p:spPr>
        <p:txBody>
          <a:bodyPr lIns="0" tIns="0" rIns="0" bIns="0" anchor="ctr">
            <a:noAutofit/>
          </a:bodyPr>
          <a:lstStyle>
            <a:defPPr algn="ctr">
              <a:defRPr sz="1650" b="1">
                <a:solidFill>
                  <a:srgbClr val="1B1D63"/>
                </a:solidFill>
                <a:latin typeface="Arial"/>
                <a:ea typeface="Arial"/>
                <a:cs typeface="Arial"/>
              </a:defRPr>
            </a:defPPr>
          </a:lstStyle>
          <a:p>
            <a:pPr algn="ctr">
              <a:defRPr sz="1650" b="1">
                <a:solidFill>
                  <a:srgbClr val="1B1D63"/>
                </a:solidFill>
                <a:latin typeface="Arial"/>
                <a:ea typeface="Arial"/>
                <a:cs typeface="Arial"/>
              </a:defRPr>
            </a:pPr>
            <a:r>
              <a:rPr sz="1650" b="1">
                <a:solidFill>
                  <a:srgbClr val="1B1D63"/>
                </a:solidFill>
                <a:latin typeface="Arial"/>
                <a:ea typeface="Arial"/>
                <a:cs typeface="Arial"/>
              </a:rPr>
              <a:t>Swap + continuity controls</a:t>
            </a:r>
          </a:p>
        </p:txBody>
      </p:sp>
      <p:sp>
        <p:nvSpPr>
          <p:cNvPr id="32" name="p0-317">
            <a:extLst>
              <a:ext uri="{FF2B5EF4-FFF2-40B4-BE49-F238E27FC236}">
                <a16:creationId xmlns:a16="http://schemas.microsoft.com/office/drawing/2014/main" id="{9A191030-371D-48A8-A464-6C80189B866F}"/>
              </a:ext>
            </a:extLst>
          </p:cNvPr>
          <p:cNvSpPr>
            <a:spLocks noGrp="1"/>
          </p:cNvSpPr>
          <p:nvPr/>
        </p:nvSpPr>
        <p:spPr>
          <a:xfrm>
            <a:off x="8477250" y="4762500"/>
            <a:ext cx="3019425" cy="552450"/>
          </a:xfrm>
          <a:prstGeom prst="rect">
            <a:avLst/>
          </a:prstGeom>
          <a:noFill/>
          <a:ln w="0">
            <a:noFill/>
          </a:ln>
        </p:spPr>
        <p:txBody>
          <a:bodyPr lIns="0" tIns="0" rIns="0" bIns="0" anchor="ctr">
            <a:noAutofit/>
          </a:bodyPr>
          <a:lstStyle>
            <a:defPPr algn="l">
              <a:defRPr sz="1575" b="1">
                <a:solidFill>
                  <a:srgbClr val="E31346"/>
                </a:solidFill>
                <a:latin typeface="Arial"/>
                <a:ea typeface="Arial"/>
                <a:cs typeface="Arial"/>
              </a:defRPr>
            </a:defPPr>
          </a:lstStyle>
          <a:p>
            <a:pPr algn="l">
              <a:defRPr sz="1575" b="1">
                <a:solidFill>
                  <a:srgbClr val="E31346"/>
                </a:solidFill>
                <a:latin typeface="Arial"/>
                <a:ea typeface="Arial"/>
                <a:cs typeface="Arial"/>
              </a:defRPr>
            </a:pPr>
            <a:r>
              <a:rPr sz="1575" b="1">
                <a:solidFill>
                  <a:srgbClr val="E31346"/>
                </a:solidFill>
                <a:latin typeface="Arial"/>
                <a:ea typeface="Arial"/>
                <a:cs typeface="Arial"/>
              </a:rPr>
              <a:t>Beyond artificial motion jumps?</a:t>
            </a:r>
          </a:p>
        </p:txBody>
      </p:sp>
      <p:sp>
        <p:nvSpPr>
          <p:cNvPr id="33" name="p0-318">
            <a:extLst>
              <a:ext uri="{FF2B5EF4-FFF2-40B4-BE49-F238E27FC236}">
                <a16:creationId xmlns:a16="http://schemas.microsoft.com/office/drawing/2014/main" id="{F4DE804D-3E0F-4CC3-BEB2-C12907F6578C}"/>
              </a:ext>
            </a:extLst>
          </p:cNvPr>
          <p:cNvSpPr>
            <a:spLocks noGrp="1"/>
          </p:cNvSpPr>
          <p:nvPr/>
        </p:nvSpPr>
        <p:spPr>
          <a:xfrm>
            <a:off x="495300" y="5810250"/>
            <a:ext cx="11220450" cy="495300"/>
          </a:xfrm>
          <a:prstGeom prst="roundRect">
            <a:avLst>
              <a:gd name="adj" fmla="val 30769"/>
            </a:avLst>
          </a:prstGeom>
          <a:solidFill>
            <a:srgbClr val="1B1D63"/>
          </a:solidFill>
          <a:ln w="11430">
            <a:solidFill>
              <a:srgbClr val="1B1D63"/>
            </a:solidFill>
          </a:ln>
        </p:spPr>
        <p:txBody>
          <a:bodyPr/>
          <a:lstStyle/>
          <a:p>
            <a:endParaRPr lang="zh-CN" altLang="en-US"/>
          </a:p>
        </p:txBody>
      </p:sp>
      <p:sp>
        <p:nvSpPr>
          <p:cNvPr id="34" name="p0-319">
            <a:extLst>
              <a:ext uri="{FF2B5EF4-FFF2-40B4-BE49-F238E27FC236}">
                <a16:creationId xmlns:a16="http://schemas.microsoft.com/office/drawing/2014/main" id="{7CF53FFD-7CD2-4098-A9FE-41E0C5C8FF9C}"/>
              </a:ext>
            </a:extLst>
          </p:cNvPr>
          <p:cNvSpPr>
            <a:spLocks noGrp="1"/>
          </p:cNvSpPr>
          <p:nvPr/>
        </p:nvSpPr>
        <p:spPr>
          <a:xfrm>
            <a:off x="723900" y="5857875"/>
            <a:ext cx="10763250" cy="400050"/>
          </a:xfrm>
          <a:prstGeom prst="rect">
            <a:avLst/>
          </a:prstGeom>
          <a:noFill/>
          <a:ln w="0">
            <a:noFill/>
          </a:ln>
        </p:spPr>
        <p:txBody>
          <a:bodyPr lIns="0" tIns="0" rIns="0" bIns="0" anchor="ctr">
            <a:noAutofit/>
          </a:bodyPr>
          <a:lstStyle>
            <a:defPPr algn="ctr">
              <a:defRPr sz="1875" b="1">
                <a:solidFill>
                  <a:srgbClr val="FFFFFF"/>
                </a:solidFill>
                <a:latin typeface="Arial"/>
                <a:ea typeface="Arial"/>
                <a:cs typeface="Arial"/>
              </a:defRPr>
            </a:def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P0 narrows the next hypotheses rather than claiming an accuracy gain</a:t>
            </a:r>
          </a:p>
        </p:txBody>
      </p:sp>
    </p:spTree>
    <p:extLst>
      <p:ext uri="{BB962C8B-B14F-4D97-AF65-F5344CB8AC3E}">
        <p14:creationId xmlns:p14="http://schemas.microsoft.com/office/powerpoint/2010/main" val="746963602"/>
      </p:ext>
    </p:extLst>
  </p:cSld>
  <p:clrMapOvr>
    <a:masterClrMapping/>
  </p:clrMapOvr>
</p:sld>
</file>

<file path=ppt/theme/theme1.xml><?xml version="1.0" encoding="utf-8"?>
<a:theme xmlns:a="http://schemas.openxmlformats.org/drawingml/2006/main" name="ChatGPT">
  <a:themeElements>
    <a:clrScheme name="EE6008 Weekly">
      <a:dk1>
        <a:srgbClr val="000000"/>
      </a:dk1>
      <a:lt1>
        <a:srgbClr val="FFFFFF"/>
      </a:lt1>
      <a:dk2>
        <a:srgbClr val="1B1D63"/>
      </a:dk2>
      <a:lt2>
        <a:srgbClr val="D9DDEA"/>
      </a:lt2>
      <a:accent1>
        <a:srgbClr val="E31346"/>
      </a:accent1>
      <a:accent2>
        <a:srgbClr val="1B1D63"/>
      </a:accent2>
      <a:accent3>
        <a:srgbClr val="38AFA2"/>
      </a:accent3>
      <a:accent4>
        <a:srgbClr val="B67516"/>
      </a:accent4>
      <a:accent5>
        <a:srgbClr val="A9B0CC"/>
      </a:accent5>
      <a:accent6>
        <a:srgbClr val="697386"/>
      </a:accent6>
      <a:hlink>
        <a:srgbClr val="E31346"/>
      </a:hlink>
      <a:folHlink>
        <a:srgbClr val="8F2A52"/>
      </a:folHlink>
    </a:clrScheme>
    <a:fontScheme name="">
      <a:majorFont>
        <a:latin typeface="Aptos"/>
        <a:ea typeface=""/>
        <a:cs typeface=""/>
      </a:majorFont>
      <a:minorFont>
        <a:latin typeface="Aptos"/>
        <a:ea typeface=""/>
        <a:cs typeface=""/>
      </a:minorFont>
    </a:fontScheme>
    <a:fmtScheme name="EE6008 Weekl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weekly_five_minute_research_update">
  <a:themeElements>
    <a:clrScheme name="weekly_five_minute_research_updat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weekly_five_minute_research_updat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ekly_five_minute_research_upd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tGPT">
  <a:themeElements>
    <a:clrScheme name="EE6008 Weekly">
      <a:dk1>
        <a:srgbClr val="000000"/>
      </a:dk1>
      <a:lt1>
        <a:srgbClr val="FFFFFF"/>
      </a:lt1>
      <a:dk2>
        <a:srgbClr val="1B1D63"/>
      </a:dk2>
      <a:lt2>
        <a:srgbClr val="D9DDEA"/>
      </a:lt2>
      <a:accent1>
        <a:srgbClr val="E31346"/>
      </a:accent1>
      <a:accent2>
        <a:srgbClr val="1B1D63"/>
      </a:accent2>
      <a:accent3>
        <a:srgbClr val="38AFA2"/>
      </a:accent3>
      <a:accent4>
        <a:srgbClr val="B67516"/>
      </a:accent4>
      <a:accent5>
        <a:srgbClr val="A9B0CC"/>
      </a:accent5>
      <a:accent6>
        <a:srgbClr val="697386"/>
      </a:accent6>
      <a:hlink>
        <a:srgbClr val="E31346"/>
      </a:hlink>
      <a:folHlink>
        <a:srgbClr val="8F2A52"/>
      </a:folHlink>
    </a:clrScheme>
    <a:fontScheme name="">
      <a:majorFont>
        <a:latin typeface="Aptos"/>
        <a:ea typeface=""/>
        <a:cs typeface=""/>
      </a:majorFont>
      <a:minorFont>
        <a:latin typeface="Aptos"/>
        <a:ea typeface=""/>
        <a:cs typeface=""/>
      </a:minorFont>
    </a:fontScheme>
    <a:fmtScheme name="EE6008 Weekl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3281</Words>
  <Application>Microsoft Office PowerPoint</Application>
  <DocSecurity>0</DocSecurity>
  <PresentationFormat>宽屏</PresentationFormat>
  <Paragraphs>327</Paragraphs>
  <Slides>13</Slides>
  <Notes>13</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13</vt:i4>
      </vt:variant>
    </vt:vector>
  </HeadingPairs>
  <TitlesOfParts>
    <vt:vector size="18" baseType="lpstr">
      <vt:lpstr>Aptos</vt:lpstr>
      <vt:lpstr>Arial</vt:lpstr>
      <vt:lpstr>Calibri</vt:lpstr>
      <vt:lpstr>ChatGPT</vt:lpstr>
      <vt:lpstr>weekly_five_minute_research_update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t1323</cp:lastModifiedBy>
  <cp:revision>4</cp:revision>
  <dcterms:created xsi:type="dcterms:W3CDTF">2026-10-13T19:05:03Z</dcterms:created>
  <dcterms:modified xsi:type="dcterms:W3CDTF">2026-10-13T19:31:04Z</dcterms:modified>
</cp:coreProperties>
</file>