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</p:sldMasterIdLst>
  <p:notesMasterIdLst>
    <p:notesMasterId r:id="rId12"/>
  </p:notesMasterIdLst>
  <p:sldIdLst>
    <p:sldId id="269" r:id="rId3"/>
    <p:sldId id="256" r:id="rId4"/>
    <p:sldId id="257" r:id="rId5"/>
    <p:sldId id="258" r:id="rId6"/>
    <p:sldId id="259" r:id="rId7"/>
    <p:sldId id="260" r:id="rId8"/>
    <p:sldId id="261" r:id="rId9"/>
    <p:sldId id="262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1" d="100"/>
          <a:sy n="121" d="100"/>
        </p:scale>
        <p:origin x="28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Fused Top-1</c:v>
                </c:pt>
              </c:strCache>
            </c:strRef>
          </c:tx>
          <c:dPt>
            <c:idx val="0"/>
            <c:spPr>
              <a:solidFill>
                <a:srgbClr val="E31346"/>
              </a:solidFill>
            </c:spPr>
          </c:dPt>
          <c:dPt>
            <c:idx val="1"/>
            <c:spPr>
              <a:solidFill>
                <a:srgbClr val="E31346"/>
              </a:solidFill>
            </c:spPr>
          </c:dPt>
          <c:dPt>
            <c:idx val="2"/>
            <c:spPr>
              <a:solidFill>
                <a:srgbClr val="E31346"/>
              </a:solidFill>
            </c:spPr>
          </c:dPt>
          <c:dPt>
            <c:idx val="3"/>
            <c:spPr>
              <a:solidFill>
                <a:srgbClr val="A9B0CC"/>
              </a:solidFill>
            </c:spPr>
          </c:dPt>
          <c:dPt>
            <c:idx val="4"/>
            <c:spPr>
              <a:solidFill>
                <a:srgbClr val="A9B0CC"/>
              </a:solidFill>
            </c:spPr>
          </c:dPt>
          <c:dPt>
            <c:idx val="5"/>
            <c:spPr>
              <a:solidFill>
                <a:srgbClr val="A9B0CC"/>
              </a:solidFill>
            </c:spPr>
          </c:dPt>
          <c:dPt>
            <c:idx val="6"/>
            <c:spPr>
              <a:solidFill>
                <a:srgbClr val="A9B0CC"/>
              </a:solidFill>
            </c:spPr>
          </c:dPt>
          <c:dPt>
            <c:idx val="7"/>
            <c:spPr>
              <a:solidFill>
                <a:srgbClr val="A9B0CC"/>
              </a:solidFill>
            </c:spPr>
          </c:dPt>
          <c:cat>
            <c:strRef>
              <c:f>Sheet1!$A$2:$A$9</c:f>
              <c:strCache>
                <c:ptCount val="8"/>
                <c:pt idx="0">
                  <c:v>A106  Hit with object</c:v>
                </c:pt>
                <c:pt idx="1">
                  <c:v>A107  Wield knife</c:v>
                </c:pt>
                <c:pt idx="2">
                  <c:v>A110  Shoot with gun</c:v>
                </c:pt>
                <c:pt idx="3">
                  <c:v>A56  Give object</c:v>
                </c:pt>
                <c:pt idx="4">
                  <c:v>A117  Whisper in ear</c:v>
                </c:pt>
                <c:pt idx="5">
                  <c:v>A54  Point finger</c:v>
                </c:pt>
                <c:pt idx="6">
                  <c:v>A109  Grab stuff</c:v>
                </c:pt>
                <c:pt idx="7">
                  <c:v>A50  Punch / slap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65.28</c:v>
                </c:pt>
                <c:pt idx="1">
                  <c:v>67.19</c:v>
                </c:pt>
                <c:pt idx="2">
                  <c:v>75.83</c:v>
                </c:pt>
                <c:pt idx="3">
                  <c:v>89.37</c:v>
                </c:pt>
                <c:pt idx="4">
                  <c:v>90.32</c:v>
                </c:pt>
                <c:pt idx="5">
                  <c:v>91.18</c:v>
                </c:pt>
                <c:pt idx="6">
                  <c:v>91.54</c:v>
                </c:pt>
                <c:pt idx="7">
                  <c:v>91.61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000">
                  <a:solidFill>
                    <a:srgbClr val="2A2E45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9DDEA"/>
            </a:solidFill>
          </a:ln>
        </c:spPr>
        <c:txPr>
          <a:bodyPr/>
          <a:lstStyle/>
          <a:p>
            <a:pPr>
              <a:defRPr sz="1000">
                <a:solidFill>
                  <a:srgbClr val="2A2E45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50.0"/>
        </c:scaling>
        <c:delete val="0"/>
        <c:axPos val="b"/>
        <c:majorGridlines>
          <c:spPr>
            <a:ln>
              <a:solidFill>
                <a:srgbClr val="ECEEF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697386"/>
                </a:solidFill>
              </a:defRPr>
            </a:pPr>
          </a:p>
        </c:txPr>
        <c:crossAx val="-2068027336"/>
        <c:crosses val="autoZero"/>
        <c:majorUnit val="1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This presentation introduces our Week 3 research framing and early technical findings. Our specific direction is instance-preserving pose representation for multi-person action recognition.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Weekly overview only. Detailed explanations are reserved for the oral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Baseline structure: CTR-GCN and PoseC3D.</a:t>
            </a:r>
          </a:p>
          <a:p>
            <a:r>
              <a:t>Source: project work summary supplied by the user.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CTR-GCN counts: Train 13,072; Test 11,660.</a:t>
            </a:r>
          </a:p>
          <a:p>
            <a:r>
              <a:t>Validation indices are drawn only from the original training membership.</a:t>
            </a:r>
          </a:p>
          <a:p>
            <a:r>
              <a:t>Sources: E:/humanPose/reports/NTU120_INTERACTION26_SUBSET_REPORT.md; E:/humanPose/processed/skeletonx/ntu120_interaction26/ntu120csubinteraction26_train_val_split_summary.json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original feeder supports train and test selection. The new protocol adds train and validation membership through indices, so the project needs an adapted feeder and corresponding YAML configuration.</a:t>
            </a:r>
          </a:p>
          <a:p>
            <a:r>
              <a:t>Source: E:/humanPose/docs/CTRGCN_NPZ_FEEDER_ADAPTATION_PLAN.md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 verified member names were available in the supplied project materials, so the allocation uses Member 1 through Member 4 as requested.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Status supplied by the user: unified metrics, Experiment 3 swap transformation and consistency measurement, and Experiment 4 grouping and mean-recall comparison are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project guide records three RTX 3090 GPUs and the dedicated workspace /mnt/data/6008/.</a:t>
            </a:r>
          </a:p>
          <a:p>
            <a:r>
              <a:t>Source: E:/humanPose/docs/NTU_SERVER_CTRGCN_GUIDE.md</a:t>
            </a:r>
          </a:p>
          <a:p>
            <a:r>
              <a:t>No credentials, IP address, password, or private key appear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eekly_five_minute_research_updat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wrap="square"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wrap="square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wrap="square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27915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194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635" cy="6858000"/>
          </a:xfrm>
          <a:prstGeom prst="rect">
            <a:avLst/>
          </a:prstGeom>
          <a:gradFill>
            <a:gsLst>
              <a:gs pos="0">
                <a:srgbClr val="DA1744">
                  <a:alpha val="75000"/>
                  <a:lumMod val="85000"/>
                </a:srgbClr>
              </a:gs>
              <a:gs pos="10000">
                <a:schemeClr val="bg1">
                  <a:alpha val="0"/>
                </a:schemeClr>
              </a:gs>
              <a:gs pos="75000">
                <a:srgbClr val="84A1C8">
                  <a:alpha val="75000"/>
                </a:srgbClr>
              </a:gs>
              <a:gs pos="50000">
                <a:schemeClr val="bg1">
                  <a:alpha val="0"/>
                </a:schemeClr>
              </a:gs>
              <a:gs pos="100000">
                <a:srgbClr val="084391"/>
              </a:gs>
            </a:gsLst>
            <a:lin ang="108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13232" y="557784"/>
            <a:ext cx="64008" cy="43891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96112" y="577088"/>
            <a:ext cx="5074920" cy="2152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72262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EE6008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841248"/>
            <a:ext cx="301752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WEEKLY 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74519"/>
            <a:ext cx="6172200" cy="12984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Human Pose Analytics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800" b="1" i="0" u="none" strike="noStrike" kern="1200" cap="none" spc="0" normalizeH="0" baseline="0" noProof="0">
                <a:ln>
                  <a:noFill/>
                </a:ln>
                <a:solidFill>
                  <a:srgbClr val="191D2C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Using Artificial Intelligence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19272"/>
            <a:ext cx="585216" cy="50292"/>
          </a:xfrm>
          <a:prstGeom prst="rect">
            <a:avLst/>
          </a:prstGeom>
          <a:solidFill>
            <a:srgbClr val="DA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520" y="3529584"/>
            <a:ext cx="5715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Instance-Preserving Pose Representation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27448"/>
            <a:ext cx="1170432" cy="448056"/>
          </a:xfrm>
          <a:prstGeom prst="rect">
            <a:avLst/>
          </a:prstGeom>
          <a:solidFill>
            <a:srgbClr val="172262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520" y="4866837"/>
            <a:ext cx="1170432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 6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901952" y="4727448"/>
            <a:ext cx="2423160" cy="448056"/>
          </a:xfrm>
          <a:prstGeom prst="rect">
            <a:avLst/>
          </a:prstGeom>
          <a:solidFill>
            <a:srgbClr val="ECEEF3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01952" y="4843844"/>
            <a:ext cx="2423160" cy="2152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5F6575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Group 14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71032"/>
            <a:ext cx="3474720" cy="184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Week ending · 2026-09-29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17" name="Imag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3075" y="570230"/>
            <a:ext cx="1311910" cy="4724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B9618F7B-1A75-4255-9004-50C450FA1F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FDA6693-6CAB-41DE-AB53-C4A850406D36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01D79B4-BD33-47F8-8DDD-554C84AD10BF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Weekly Progress – Baseline Reproduction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5967EF-29BA-4552-96DE-4D9B806A5837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AEC07E-BC3B-4233-AD05-B712B021D75E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A4C092-3704-46B3-AC6E-F497EE0FE5F6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F0177BF-C00B-41DD-A059-4513C330276B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3776" y="134416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THIS WEEK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3776" y="1600200"/>
            <a:ext cx="10698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25" b="1">
                <a:solidFill>
                  <a:srgbClr val="1B1D63"/>
                </a:solidFill>
                <a:latin typeface="Arial"/>
              </a:rPr>
              <a:t>Two baselines reproduced on NTU RGB+D 120 Interaction-26 (CSub)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22960" y="23317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E9EDF8"/>
          </a:solidFill>
          <a:ln w="15875">
            <a:solidFill>
              <a:srgbClr val="1B1D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143000" y="2651760"/>
            <a:ext cx="658368" cy="658368"/>
          </a:xfrm>
          <a:prstGeom prst="ellipse">
            <a:avLst/>
          </a:prstGeom>
          <a:solidFill>
            <a:srgbClr val="1B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011680" y="26334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1B1D63"/>
                </a:solidFill>
                <a:latin typeface="Arial"/>
              </a:rPr>
              <a:t>CTR-GCN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011680" y="3099815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Arial"/>
              </a:rPr>
              <a:t>Graph-based  ·  joint + bone two-stream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365760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E6F6F4"/>
          </a:solidFill>
          <a:ln w="12700">
            <a:solidFill>
              <a:srgbClr val="38AFA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38AFA2"/>
                </a:solidFill>
                <a:latin typeface="Arial"/>
              </a:rPr>
              <a:t>✓  Reproduced  ·  3 seeds × 2 streams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43000" y="4270248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1D63"/>
                </a:solidFill>
                <a:latin typeface="Arial"/>
              </a:rPr>
              <a:t>91.20 ± 0.17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498347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Arial"/>
              </a:rPr>
              <a:t>Fused test Top-1 (%), mean ± std over 3 seeds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143000" y="5486400"/>
            <a:ext cx="4389120" cy="0"/>
          </a:xfrm>
          <a:prstGeom prst="line">
            <a:avLst/>
          </a:prstGeom>
          <a:ln w="12700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143000" y="56235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1346"/>
                </a:solidFill>
                <a:latin typeface="Arial"/>
              </a:rPr>
              <a:t>Details  →  pages 02 – 04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55080" y="2331720"/>
            <a:ext cx="5029200" cy="3840480"/>
          </a:xfrm>
          <a:prstGeom prst="roundRect">
            <a:avLst>
              <a:gd name="adj" fmla="val 5000"/>
            </a:avLst>
          </a:prstGeom>
          <a:solidFill>
            <a:srgbClr val="FBE8EF"/>
          </a:solidFill>
          <a:ln w="15875">
            <a:solidFill>
              <a:srgbClr val="E313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675120" y="2651760"/>
            <a:ext cx="658368" cy="658368"/>
          </a:xfrm>
          <a:prstGeom prst="ellipse">
            <a:avLst/>
          </a:prstGeom>
          <a:solidFill>
            <a:srgbClr val="E3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43800" y="2633472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E31346"/>
                </a:solidFill>
                <a:latin typeface="Arial"/>
              </a:rPr>
              <a:t>[Baseline 2]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43800" y="3099815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697386"/>
                </a:solidFill>
                <a:latin typeface="Arial"/>
              </a:rPr>
              <a:t>[Method  ·  key setting]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675120" y="3657600"/>
            <a:ext cx="4389120" cy="402336"/>
          </a:xfrm>
          <a:prstGeom prst="roundRect">
            <a:avLst>
              <a:gd name="adj" fmla="val 50000"/>
            </a:avLst>
          </a:prstGeom>
          <a:solidFill>
            <a:srgbClr val="FFF2D7"/>
          </a:solidFill>
          <a:ln w="12700">
            <a:solidFill>
              <a:srgbClr val="D990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  <a:r>
              <a:rPr sz="1200" b="1">
                <a:solidFill>
                  <a:srgbClr val="D99014"/>
                </a:solidFill>
                <a:latin typeface="Arial"/>
              </a:rPr>
              <a:t>[Status]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675120" y="4270248"/>
            <a:ext cx="43891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E31346"/>
                </a:solidFill>
                <a:latin typeface="Arial"/>
              </a:rPr>
              <a:t>[Result]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675120" y="4983479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97386"/>
                </a:solidFill>
                <a:latin typeface="Arial"/>
              </a:rPr>
              <a:t>[Metric and protocol]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675120" y="5486400"/>
            <a:ext cx="4389120" cy="0"/>
          </a:xfrm>
          <a:prstGeom prst="line">
            <a:avLst/>
          </a:prstGeom>
          <a:ln w="12700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675120" y="5623560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E31346"/>
                </a:solidFill>
                <a:latin typeface="Arial"/>
              </a:rPr>
              <a:t>Details  →  pages 05 – 07</a:t>
            </a:r>
          </a:p>
        </p:txBody>
      </p:sp>
    </p:spTree>
    <p:extLst>
      <p:ext uri="{BB962C8B-B14F-4D97-AF65-F5344CB8AC3E}">
        <p14:creationId xmlns:p14="http://schemas.microsoft.com/office/powerpoint/2010/main" val="457987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EE0A00FD-0185-4D57-96A2-DB73421DF1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07C8FF-380C-4802-9B40-DC37141C1A39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934ED4-F1AA-41BD-BFFE-B0D71BDBB0FA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· Setup &amp; Headline Result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322F13-77DC-450B-8850-B28A27AA7DF1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68FEAB-0D83-495E-BF07-0F7C60FDE14A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C26984E-B7D7-45F7-BA7A-CA4C6BAED6F1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3CB60E-E4F9-489C-8F1E-B2440B858C2D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3776" y="1325880"/>
            <a:ext cx="52578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15087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SETUP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1901952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1D63"/>
                </a:solidFill>
                <a:latin typeface="Arial"/>
              </a:rPr>
              <a:t>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1901952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45"/>
                </a:solidFill>
                <a:latin typeface="Arial"/>
              </a:rPr>
              <a:t>NTU-120 Interaction-26, CSub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97386"/>
                </a:solidFill>
                <a:latin typeface="Arial"/>
              </a:rPr>
              <a:t>11,764 train · 1,308 val · 11,660 test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49808" y="2615184"/>
            <a:ext cx="4736592" cy="0"/>
          </a:xfrm>
          <a:prstGeom prst="line">
            <a:avLst/>
          </a:prstGeom>
          <a:ln w="9525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9808" y="2752344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1D63"/>
                </a:solidFill>
                <a:latin typeface="Arial"/>
              </a:rPr>
              <a:t>Streams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2752344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45"/>
                </a:solidFill>
                <a:latin typeface="Arial"/>
              </a:rPr>
              <a:t>Joint and bone, trained separately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97386"/>
                </a:solidFill>
                <a:latin typeface="Arial"/>
              </a:rPr>
              <a:t>Fused by 1 : 1 score sum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49808" y="3465576"/>
            <a:ext cx="4736592" cy="0"/>
          </a:xfrm>
          <a:prstGeom prst="line">
            <a:avLst/>
          </a:prstGeom>
          <a:ln w="9525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9808" y="3602736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1D63"/>
                </a:solidFill>
                <a:latin typeface="Arial"/>
              </a:rPr>
              <a:t>Recipe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20240" y="3602736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45"/>
                </a:solidFill>
                <a:latin typeface="Arial"/>
              </a:rPr>
              <a:t>Official CTR-GCN config, unchanged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97386"/>
                </a:solidFill>
                <a:latin typeface="Arial"/>
              </a:rPr>
              <a:t>65 epochs · lr 0.1 · steps at 35 / 55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49808" y="4315968"/>
            <a:ext cx="4736592" cy="0"/>
          </a:xfrm>
          <a:prstGeom prst="line">
            <a:avLst/>
          </a:prstGeom>
          <a:ln w="9525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49808" y="4453128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1D63"/>
                </a:solidFill>
                <a:latin typeface="Arial"/>
              </a:rPr>
              <a:t>Runs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920240" y="4453128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45"/>
                </a:solidFill>
                <a:latin typeface="Arial"/>
              </a:rPr>
              <a:t>3 seeds × 2 streams = 6 full trainings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97386"/>
                </a:solidFill>
                <a:latin typeface="Arial"/>
              </a:rPr>
              <a:t>≈ 1 h 55 min each on 2 × RTX 3090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49808" y="5166360"/>
            <a:ext cx="4736592" cy="0"/>
          </a:xfrm>
          <a:prstGeom prst="line">
            <a:avLst/>
          </a:prstGeom>
          <a:ln w="9525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49808" y="530352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1B1D63"/>
                </a:solidFill>
                <a:latin typeface="Arial"/>
              </a:rPr>
              <a:t>Protocol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920240" y="530352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2A2E45"/>
                </a:solidFill>
                <a:latin typeface="Arial"/>
              </a:rPr>
              <a:t>Checkpoint chosen on validation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697386"/>
                </a:solidFill>
                <a:latin typeface="Arial"/>
              </a:rPr>
              <a:t>Test set evaluated once per 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989320" y="1325880"/>
            <a:ext cx="5669280" cy="1188720"/>
          </a:xfrm>
          <a:prstGeom prst="roundRect">
            <a:avLst>
              <a:gd name="adj" fmla="val 10000"/>
            </a:avLst>
          </a:prstGeom>
          <a:solidFill>
            <a:srgbClr val="1B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263640" y="1481328"/>
            <a:ext cx="3017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rial"/>
              </a:rPr>
              <a:t>91.20 ± 0.17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35440" y="1536192"/>
            <a:ext cx="2331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Fused test Top-1 (%)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C9CDE8"/>
                </a:solidFill>
                <a:latin typeface="Arial"/>
              </a:rPr>
              <a:t>3 seeds · range 0.30 pp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C9CDE8"/>
                </a:solidFill>
                <a:latin typeface="Arial"/>
              </a:rPr>
              <a:t>Top-5  98.84 ± 0.03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89320" y="2697480"/>
            <a:ext cx="5669280" cy="3611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36208" y="2852928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TEST TOP-1 PER RUN (%)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2852928"/>
            <a:ext cx="2743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50" b="0">
                <a:solidFill>
                  <a:srgbClr val="697386"/>
                </a:solidFill>
                <a:latin typeface="Arial"/>
              </a:rPr>
              <a:t>●  one seed     ━  mean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720840" y="5314277"/>
            <a:ext cx="4709160" cy="0"/>
          </a:xfrm>
          <a:prstGeom prst="line">
            <a:avLst/>
          </a:prstGeom>
          <a:ln w="7620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6217920" y="5222837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Arial"/>
              </a:rPr>
              <a:t>88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720840" y="4787152"/>
            <a:ext cx="4709160" cy="0"/>
          </a:xfrm>
          <a:prstGeom prst="line">
            <a:avLst/>
          </a:prstGeom>
          <a:ln w="7620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217920" y="4695712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Arial"/>
              </a:rPr>
              <a:t>89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6720840" y="4260028"/>
            <a:ext cx="4709160" cy="0"/>
          </a:xfrm>
          <a:prstGeom prst="line">
            <a:avLst/>
          </a:prstGeom>
          <a:ln w="7620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6217920" y="4168588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Arial"/>
              </a:rPr>
              <a:t>90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720840" y="3732903"/>
            <a:ext cx="4709160" cy="0"/>
          </a:xfrm>
          <a:prstGeom prst="line">
            <a:avLst/>
          </a:prstGeom>
          <a:ln w="7620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217920" y="3641463"/>
            <a:ext cx="411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97386"/>
                </a:solidFill>
                <a:latin typeface="Arial"/>
              </a:rPr>
              <a:t>91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589520" y="5055986"/>
            <a:ext cx="0" cy="205579"/>
          </a:xfrm>
          <a:prstGeom prst="line">
            <a:avLst/>
          </a:prstGeom>
          <a:ln w="19050">
            <a:solidFill>
              <a:srgbClr val="1B1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Oval 58"/>
          <p:cNvSpPr/>
          <p:nvPr/>
        </p:nvSpPr>
        <p:spPr>
          <a:xfrm>
            <a:off x="7402068" y="4996550"/>
            <a:ext cx="118872" cy="118872"/>
          </a:xfrm>
          <a:prstGeom prst="ellipse">
            <a:avLst/>
          </a:prstGeom>
          <a:solidFill>
            <a:srgbClr val="1B1D6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7530084" y="5117789"/>
            <a:ext cx="118872" cy="118872"/>
          </a:xfrm>
          <a:prstGeom prst="ellipse">
            <a:avLst/>
          </a:prstGeom>
          <a:solidFill>
            <a:srgbClr val="1B1D6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7658100" y="5202129"/>
            <a:ext cx="118872" cy="118872"/>
          </a:xfrm>
          <a:prstGeom prst="ellipse">
            <a:avLst/>
          </a:prstGeom>
          <a:solidFill>
            <a:srgbClr val="1B1D63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2" name="Connector 61"/>
          <p:cNvCxnSpPr/>
          <p:nvPr/>
        </p:nvCxnSpPr>
        <p:spPr>
          <a:xfrm>
            <a:off x="7296912" y="5166682"/>
            <a:ext cx="585216" cy="0"/>
          </a:xfrm>
          <a:prstGeom prst="line">
            <a:avLst/>
          </a:prstGeom>
          <a:ln w="31750">
            <a:solidFill>
              <a:srgbClr val="1B1D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/>
          <p:cNvSpPr txBox="1"/>
          <p:nvPr/>
        </p:nvSpPr>
        <p:spPr>
          <a:xfrm>
            <a:off x="6858000" y="56692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1B1D63"/>
                </a:solidFill>
                <a:latin typeface="Arial"/>
              </a:rPr>
              <a:t>Joint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0" y="58978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97386"/>
                </a:solidFill>
                <a:latin typeface="Arial"/>
              </a:rPr>
              <a:t>88.28 ± 0.20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098280" y="4771339"/>
            <a:ext cx="0" cy="368987"/>
          </a:xfrm>
          <a:prstGeom prst="line">
            <a:avLst/>
          </a:prstGeom>
          <a:ln w="19050">
            <a:solidFill>
              <a:srgbClr val="38A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8910828" y="5080890"/>
            <a:ext cx="118872" cy="118872"/>
          </a:xfrm>
          <a:prstGeom prst="ellipse">
            <a:avLst/>
          </a:prstGeom>
          <a:solidFill>
            <a:srgbClr val="38AFA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9038844" y="4711903"/>
            <a:ext cx="118872" cy="118872"/>
          </a:xfrm>
          <a:prstGeom prst="ellipse">
            <a:avLst/>
          </a:prstGeom>
          <a:solidFill>
            <a:srgbClr val="38AFA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9166860" y="5065076"/>
            <a:ext cx="118872" cy="118872"/>
          </a:xfrm>
          <a:prstGeom prst="ellipse">
            <a:avLst/>
          </a:prstGeom>
          <a:solidFill>
            <a:srgbClr val="38AFA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8805672" y="5013816"/>
            <a:ext cx="585216" cy="0"/>
          </a:xfrm>
          <a:prstGeom prst="line">
            <a:avLst/>
          </a:prstGeom>
          <a:ln w="31750">
            <a:solidFill>
              <a:srgbClr val="38AFA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8366759" y="56692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38AFA2"/>
                </a:solidFill>
                <a:latin typeface="Arial"/>
              </a:rPr>
              <a:t>Bone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366759" y="58978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97386"/>
                </a:solidFill>
                <a:latin typeface="Arial"/>
              </a:rPr>
              <a:t>88.57 ± 0.40</a:t>
            </a:r>
          </a:p>
        </p:txBody>
      </p:sp>
      <p:cxnSp>
        <p:nvCxnSpPr>
          <p:cNvPr id="72" name="Connector 71"/>
          <p:cNvCxnSpPr/>
          <p:nvPr/>
        </p:nvCxnSpPr>
        <p:spPr>
          <a:xfrm>
            <a:off x="10607040" y="3522053"/>
            <a:ext cx="0" cy="158138"/>
          </a:xfrm>
          <a:prstGeom prst="line">
            <a:avLst/>
          </a:prstGeom>
          <a:ln w="19050">
            <a:solidFill>
              <a:srgbClr val="E31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10419588" y="3615483"/>
            <a:ext cx="118872" cy="118872"/>
          </a:xfrm>
          <a:prstGeom prst="ellipse">
            <a:avLst/>
          </a:prstGeom>
          <a:solidFill>
            <a:srgbClr val="E313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10547604" y="3462617"/>
            <a:ext cx="118872" cy="118872"/>
          </a:xfrm>
          <a:prstGeom prst="ellipse">
            <a:avLst/>
          </a:prstGeom>
          <a:solidFill>
            <a:srgbClr val="E313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10675620" y="3620755"/>
            <a:ext cx="118872" cy="118872"/>
          </a:xfrm>
          <a:prstGeom prst="ellipse">
            <a:avLst/>
          </a:prstGeom>
          <a:solidFill>
            <a:srgbClr val="E31346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6" name="Connector 75"/>
          <p:cNvCxnSpPr/>
          <p:nvPr/>
        </p:nvCxnSpPr>
        <p:spPr>
          <a:xfrm>
            <a:off x="10314432" y="3627478"/>
            <a:ext cx="585216" cy="0"/>
          </a:xfrm>
          <a:prstGeom prst="line">
            <a:avLst/>
          </a:prstGeom>
          <a:ln w="31750">
            <a:solidFill>
              <a:srgbClr val="E313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9875519" y="56692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>
                <a:solidFill>
                  <a:srgbClr val="E31346"/>
                </a:solidFill>
                <a:latin typeface="Arial"/>
              </a:rPr>
              <a:t>Fusion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875519" y="5897880"/>
            <a:ext cx="14630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697386"/>
                </a:solidFill>
                <a:latin typeface="Arial"/>
              </a:rPr>
              <a:t>91.20 ± 0.17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464040" y="4207315"/>
            <a:ext cx="2103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E31346"/>
                </a:solidFill>
                <a:latin typeface="Arial"/>
              </a:rPr>
              <a:t>+2.4 – 2.7 pp</a:t>
            </a:r>
          </a:p>
          <a:p>
            <a:pPr algn="ctr"/>
            <a:r>
              <a:rPr sz="900" b="0">
                <a:solidFill>
                  <a:srgbClr val="697386"/>
                </a:solidFill>
                <a:latin typeface="Arial"/>
              </a:rPr>
              <a:t>over the better stream</a:t>
            </a:r>
          </a:p>
        </p:txBody>
      </p:sp>
    </p:spTree>
    <p:extLst>
      <p:ext uri="{BB962C8B-B14F-4D97-AF65-F5344CB8AC3E}">
        <p14:creationId xmlns:p14="http://schemas.microsoft.com/office/powerpoint/2010/main" val="800174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>
            <a:extLst>
              <a:ext uri="{FF2B5EF4-FFF2-40B4-BE49-F238E27FC236}">
                <a16:creationId xmlns:a16="http://schemas.microsoft.com/office/drawing/2014/main" id="{758A804E-C21A-4EAE-BDD5-C309CC4B0DF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1B6F4B-CD54-45FB-9A4A-1749283F0EAC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5E94EF-04A6-498F-8CCA-E38AF363E411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· What Three Seeds Tell Us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093C43B-C7F3-47D3-97A7-241BFC433774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5E1744C-BBD3-44BB-8871-6ED5D3349871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3F662AF-1465-4C06-A3CD-2CB68E970645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3404F7F-6A08-49EC-A492-6C839B459FA6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93776" y="1325880"/>
            <a:ext cx="3611880" cy="3794760"/>
          </a:xfrm>
          <a:prstGeom prst="roundRect">
            <a:avLst>
              <a:gd name="adj" fmla="val 4000"/>
            </a:avLst>
          </a:prstGeom>
          <a:solidFill>
            <a:srgbClr val="E9E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68096" y="1554480"/>
            <a:ext cx="457200" cy="457200"/>
          </a:xfrm>
          <a:prstGeom prst="ellipse">
            <a:avLst/>
          </a:prstGeom>
          <a:solidFill>
            <a:srgbClr val="1B1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62456" y="16184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D63"/>
                </a:solidFill>
                <a:latin typeface="Arial"/>
              </a:rPr>
              <a:t>Joint ≈ bone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096" y="224028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B1D63"/>
                </a:solidFill>
                <a:latin typeface="Arial"/>
              </a:rPr>
              <a:t>88.28 vs 88.57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8096" y="3017520"/>
            <a:ext cx="3108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E45"/>
                </a:solidFill>
                <a:latin typeface="Arial"/>
              </a:rPr>
              <a:t>The ranking flips across seeds: joint wins once, bone twice.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2A2E45"/>
                </a:solidFill>
                <a:latin typeface="Arial"/>
              </a:rPr>
              <a:t>Bone's 0.29 pp edge comes from seed 2 alone — without it, 88.29 vs 88.34.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2A2E45"/>
                </a:solidFill>
                <a:latin typeface="Arial"/>
              </a:rPr>
              <a:t>Our earlier single-run claim that joint beats bone does not hold.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97680" y="1325880"/>
            <a:ext cx="3611880" cy="3794760"/>
          </a:xfrm>
          <a:prstGeom prst="roundRect">
            <a:avLst>
              <a:gd name="adj" fmla="val 4000"/>
            </a:avLst>
          </a:prstGeom>
          <a:solidFill>
            <a:srgbClr val="E6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72000" y="1554480"/>
            <a:ext cx="457200" cy="457200"/>
          </a:xfrm>
          <a:prstGeom prst="ellipse">
            <a:avLst/>
          </a:prstGeom>
          <a:solidFill>
            <a:srgbClr val="38AF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16184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D63"/>
                </a:solidFill>
                <a:latin typeface="Arial"/>
              </a:rPr>
              <a:t>Fusion is the gain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224028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38AFA2"/>
                </a:solidFill>
                <a:latin typeface="Arial"/>
              </a:rPr>
              <a:t>+2.4 – 2.7 pp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0" y="3017520"/>
            <a:ext cx="3108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E45"/>
                </a:solidFill>
                <a:latin typeface="Arial"/>
              </a:rPr>
              <a:t>Over the better single stream, in every seed — and the most stable: std 0.17 vs 0.20 / 0.40.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2A2E45"/>
                </a:solidFill>
                <a:latin typeface="Arial"/>
              </a:rPr>
              <a:t>Per class, the gain tracks how often the two streams disagree (r = 0.62), not which one is more accurate (r = −0.10).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01583" y="1325880"/>
            <a:ext cx="3611880" cy="3794760"/>
          </a:xfrm>
          <a:prstGeom prst="roundRect">
            <a:avLst>
              <a:gd name="adj" fmla="val 4000"/>
            </a:avLst>
          </a:prstGeom>
          <a:solidFill>
            <a:srgbClr val="FBE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8375904" y="1554480"/>
            <a:ext cx="457200" cy="457200"/>
          </a:xfrm>
          <a:prstGeom prst="ellipse">
            <a:avLst/>
          </a:prstGeom>
          <a:solidFill>
            <a:srgbClr val="E3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70263" y="1618488"/>
            <a:ext cx="2651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1B1D63"/>
                </a:solidFill>
                <a:latin typeface="Arial"/>
              </a:rPr>
              <a:t>Noise floor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75904" y="2240280"/>
            <a:ext cx="310896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E31346"/>
                </a:solidFill>
                <a:latin typeface="Arial"/>
              </a:rPr>
              <a:t>0.30 pp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75904" y="3017520"/>
            <a:ext cx="310896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2A2E45"/>
                </a:solidFill>
                <a:latin typeface="Arial"/>
              </a:rPr>
              <a:t>The fused range across seeds. A change smaller than this cannot be told apart from seed noise.</a:t>
            </a:r>
          </a:p>
          <a:p>
            <a:pPr algn="l">
              <a:spcBef>
                <a:spcPts val="800"/>
              </a:spcBef>
            </a:pPr>
            <a:r>
              <a:rPr sz="1250" b="0">
                <a:solidFill>
                  <a:srgbClr val="2A2E45"/>
                </a:solidFill>
                <a:latin typeface="Arial"/>
              </a:rPr>
              <a:t>Compare means over seeds, not single runs. Per class the floor is far higher: 2σ = 0.42 – 3.97 pp.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93776" y="5349240"/>
            <a:ext cx="11219688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532120"/>
            <a:ext cx="10972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LIMITS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828800" y="5504688"/>
            <a:ext cx="96926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Augmentation randomness is identical across seeds (worker_init_fn in the original CTR-GCN), so the measured variance is a lower bound.</a:t>
            </a:r>
          </a:p>
          <a:p>
            <a:pPr algn="l">
              <a:spcBef>
                <a:spcPts val="300"/>
              </a:spcBef>
            </a:pPr>
            <a:r>
              <a:rPr sz="1050" b="0">
                <a:solidFill>
                  <a:srgbClr val="2A2E45"/>
                </a:solidFill>
                <a:latin typeface="Arial"/>
              </a:rPr>
              <a:t>Validation accuracy runs 5 – 6 pp above test; it is used only to rank runs and pick checkpoints.</a:t>
            </a:r>
          </a:p>
        </p:txBody>
      </p:sp>
    </p:spTree>
    <p:extLst>
      <p:ext uri="{BB962C8B-B14F-4D97-AF65-F5344CB8AC3E}">
        <p14:creationId xmlns:p14="http://schemas.microsoft.com/office/powerpoint/2010/main" val="39120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C05E4D62-3E18-4C7E-843A-6196073B0D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4679C4D-4E52-49FE-BE07-08AFD968827E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3E434F-9879-4246-BA4D-CA4BBEFF50C1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CTR-GCN · Per-class Accuracy &amp; Confusions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D0B2389-1C45-4C29-A4D0-BE373D64E357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FFA7E9-5529-4FF6-B059-5CD3A3D41966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151920C-A0DE-4A07-90F1-8BA5DC481CD8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08F173-8C7A-4B8F-B266-B51A232B0136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93776" y="1325880"/>
            <a:ext cx="553212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15087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LOWEST 8 CLASSES · FUSED, 3-SEED MEAN (%)</a:t>
            </a:r>
          </a:p>
        </p:txBody>
      </p:sp>
      <p:graphicFrame>
        <p:nvGraphicFramePr>
          <p:cNvPr id="37" name="Chart 36"/>
          <p:cNvGraphicFramePr>
            <a:graphicFrameLocks noGrp="1"/>
          </p:cNvGraphicFramePr>
          <p:nvPr/>
        </p:nvGraphicFramePr>
        <p:xfrm>
          <a:off x="640080" y="1783080"/>
          <a:ext cx="5257800" cy="384048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749808" y="568756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2A2E45"/>
                </a:solidFill>
                <a:latin typeface="Arial"/>
              </a:rPr>
              <a:t>The three lowest are all attacks with a hand-held object.</a:t>
            </a:r>
          </a:p>
          <a:p>
            <a:pPr algn="l">
              <a:spcBef>
                <a:spcPts val="200"/>
              </a:spcBef>
            </a:pPr>
            <a:r>
              <a:rPr sz="1000" b="0">
                <a:solidFill>
                  <a:srgbClr val="697386"/>
                </a:solidFill>
                <a:latin typeface="Arial"/>
              </a:rPr>
              <a:t>Other 18 classes: 91.96 – 99.88 %.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1325880"/>
            <a:ext cx="5486400" cy="498348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9DD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73952" y="150876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MOST FREQUENT CONFUSIONS · % OF TRUE CLASS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73952" y="1901952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1D63"/>
                </a:solidFill>
                <a:latin typeface="Arial"/>
              </a:rPr>
              <a:t>Hit with object → Wield knife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281160" y="1938528"/>
            <a:ext cx="1618899" cy="201168"/>
          </a:xfrm>
          <a:prstGeom prst="rect">
            <a:avLst/>
          </a:prstGeom>
          <a:solidFill>
            <a:srgbClr val="E3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45779" y="1911095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9.57%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22860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1D63"/>
                </a:solidFill>
                <a:latin typeface="Arial"/>
              </a:rPr>
              <a:t>Hit with object → Punch / slap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281160" y="2322576"/>
            <a:ext cx="1598599" cy="201168"/>
          </a:xfrm>
          <a:prstGeom prst="rect">
            <a:avLst/>
          </a:prstGeom>
          <a:solidFill>
            <a:srgbClr val="A9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25479" y="2295144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9.45%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3952" y="2670048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1D63"/>
                </a:solidFill>
                <a:latin typeface="Arial"/>
              </a:rPr>
              <a:t>Wield knife → Hit with object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281160" y="2706624"/>
            <a:ext cx="1380378" cy="201168"/>
          </a:xfrm>
          <a:prstGeom prst="rect">
            <a:avLst/>
          </a:prstGeom>
          <a:solidFill>
            <a:srgbClr val="E3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07258" y="2679191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8.16%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73952" y="3054096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1D63"/>
                </a:solidFill>
                <a:latin typeface="Arial"/>
              </a:rPr>
              <a:t>Shoot with gun → Point finger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281160" y="3090672"/>
            <a:ext cx="1255196" cy="201168"/>
          </a:xfrm>
          <a:prstGeom prst="rect">
            <a:avLst/>
          </a:prstGeom>
          <a:solidFill>
            <a:srgbClr val="A9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82076" y="3063239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7.42%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73952" y="3438144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1D63"/>
                </a:solidFill>
                <a:latin typeface="Arial"/>
              </a:rPr>
              <a:t>Shoot with gun → Take a photo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3474720"/>
            <a:ext cx="1128323" cy="201168"/>
          </a:xfrm>
          <a:prstGeom prst="rect">
            <a:avLst/>
          </a:prstGeom>
          <a:solidFill>
            <a:srgbClr val="A9B0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55203" y="3447287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6.67%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73952" y="3822191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B1D63"/>
                </a:solidFill>
                <a:latin typeface="Arial"/>
              </a:rPr>
              <a:t>Give object → Exchange things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81160" y="3858768"/>
            <a:ext cx="857661" cy="201168"/>
          </a:xfrm>
          <a:prstGeom prst="rect">
            <a:avLst/>
          </a:prstGeom>
          <a:solidFill>
            <a:srgbClr val="E313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84541" y="3831335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5.07%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73952" y="420624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Red = mutual pair: Hit ↔ Knife, Knife ↔ Gun, Give ↔ Exchange.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697386"/>
                </a:solidFill>
                <a:latin typeface="Arial"/>
              </a:rPr>
              <a:t>The same structure appears in all three seeds.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473952" y="4727448"/>
            <a:ext cx="5001768" cy="0"/>
          </a:xfrm>
          <a:prstGeom prst="line">
            <a:avLst/>
          </a:prstGeom>
          <a:ln w="9525">
            <a:solidFill>
              <a:srgbClr val="D9DD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473952" y="4846320"/>
            <a:ext cx="54864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75" b="1">
                <a:solidFill>
                  <a:srgbClr val="E31346"/>
                </a:solidFill>
                <a:latin typeface="Arial"/>
              </a:rPr>
              <a:t>EFFECT OF FUSION PER CLASS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73952" y="5120640"/>
            <a:ext cx="5029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2A2E45"/>
                </a:solidFill>
                <a:latin typeface="Arial"/>
              </a:rPr>
              <a:t>5 classes improve beyond their own 2σ threshold (+3.5 to +4.2 pp): knock over, grab stuff, point finger, shoot with gun, pat on back.</a:t>
            </a:r>
          </a:p>
          <a:p>
            <a:pPr algn="l">
              <a:spcBef>
                <a:spcPts val="500"/>
              </a:spcBef>
            </a:pPr>
            <a:r>
              <a:rPr sz="1050" b="0">
                <a:solidFill>
                  <a:srgbClr val="2A2E45"/>
                </a:solidFill>
                <a:latin typeface="Arial"/>
              </a:rPr>
              <a:t>No class gets significantly worse — the three drops reported in V1 are within noise.</a:t>
            </a:r>
          </a:p>
        </p:txBody>
      </p:sp>
    </p:spTree>
    <p:extLst>
      <p:ext uri="{BB962C8B-B14F-4D97-AF65-F5344CB8AC3E}">
        <p14:creationId xmlns:p14="http://schemas.microsoft.com/office/powerpoint/2010/main" val="361593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6BB1CA63-EFD3-4628-9A84-84551637E42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6AD29FD-D464-47F6-94FB-7B75EB09EA9F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EEA9B34-29BA-43E2-B49D-A8BA83440552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[Title]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447F31-B14E-484E-9850-A332D7673A03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3D53BA1-E5C0-4E2F-AD20-0C4135A66240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7C98D1D-2C39-469A-BA8C-DA1FA705D02E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5A4859E-E720-4411-96E1-210341B9AC60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0290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矩形 33">
            <a:extLst>
              <a:ext uri="{FF2B5EF4-FFF2-40B4-BE49-F238E27FC236}">
                <a16:creationId xmlns:a16="http://schemas.microsoft.com/office/drawing/2014/main" id="{5F062BDB-FC66-40D9-9B97-96D6435D31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12981A-7C75-4AD8-B7B8-8CDD377364C7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A6E50B9-8B09-4352-B3C8-1B0CB71E3113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[Title]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2A703C-D748-40FA-99E1-E3CCE9F7C837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9910E6-85F9-4607-8940-A3E33DE508CE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BAAF21EF-3147-49A9-BE59-9137907BC22D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96BAA8-C69F-4203-A39A-943F776984BF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67578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3E77A9A-D174-4343-985A-392536AC17F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DB11D5F-E0F1-4E4C-A636-C624A0B54C6E}"/>
              </a:ext>
            </a:extLst>
          </p:cNvPr>
          <p:cNvSpPr>
            <a:spLocks noGrp="1"/>
          </p:cNvSpPr>
          <p:nvPr/>
        </p:nvSpPr>
        <p:spPr>
          <a:xfrm>
            <a:off x="152400" y="6562725"/>
            <a:ext cx="12039600" cy="295275"/>
          </a:xfrm>
          <a:prstGeom prst="rect">
            <a:avLst/>
          </a:prstGeom>
          <a:solidFill>
            <a:srgbClr val="1B1D63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EE66390-F014-4CF2-B96F-0DEF0ECD21BE}"/>
              </a:ext>
            </a:extLst>
          </p:cNvPr>
          <p:cNvSpPr>
            <a:spLocks noGrp="1"/>
          </p:cNvSpPr>
          <p:nvPr/>
        </p:nvSpPr>
        <p:spPr>
          <a:xfrm>
            <a:off x="495300" y="238125"/>
            <a:ext cx="8620125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9020"/>
          </a:bodyPr>
          <a:lstStyle/>
          <a:p>
            <a:pPr algn="l">
              <a:defRPr sz="2550" b="1">
                <a:solidFill>
                  <a:srgbClr val="1B1D6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B1D63"/>
                </a:solidFill>
                <a:latin typeface="Arial"/>
                <a:ea typeface="Arial"/>
                <a:cs typeface="Arial"/>
              </a:rPr>
              <a:t>[Title]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E21DB7-5FED-46A5-9EF2-7193733D4756}"/>
              </a:ext>
            </a:extLst>
          </p:cNvPr>
          <p:cNvSpPr>
            <a:spLocks noGrp="1"/>
          </p:cNvSpPr>
          <p:nvPr/>
        </p:nvSpPr>
        <p:spPr>
          <a:xfrm>
            <a:off x="495300" y="723900"/>
            <a:ext cx="72390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 fontScale="93397" lnSpcReduction="10000"/>
          </a:bodyPr>
          <a:lstStyle/>
          <a:p>
            <a:pPr algn="l">
              <a:defRPr sz="975" b="1">
                <a:solidFill>
                  <a:srgbClr val="E3134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E31346"/>
                </a:solidFill>
                <a:latin typeface="Arial"/>
                <a:ea typeface="Arial"/>
                <a:cs typeface="Arial"/>
              </a:rPr>
              <a:t>EE6008 · HUMAN POSE GROUP PROJECT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76F26F3-535D-4B00-8070-7461FB3CF2A5}"/>
              </a:ext>
            </a:extLst>
          </p:cNvPr>
          <p:cNvSpPr>
            <a:spLocks noGrp="1"/>
          </p:cNvSpPr>
          <p:nvPr/>
        </p:nvSpPr>
        <p:spPr>
          <a:xfrm>
            <a:off x="495300" y="1009650"/>
            <a:ext cx="1562100" cy="47625"/>
          </a:xfrm>
          <a:prstGeom prst="rect">
            <a:avLst/>
          </a:prstGeom>
          <a:solidFill>
            <a:srgbClr val="E31346"/>
          </a:soli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696450" y="191381"/>
            <a:ext cx="2038350" cy="7316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1E0DD41-6CC5-41DB-8C02-DA1A200A413D}"/>
              </a:ext>
            </a:extLst>
          </p:cNvPr>
          <p:cNvSpPr>
            <a:spLocks noGrp="1"/>
          </p:cNvSpPr>
          <p:nvPr/>
        </p:nvSpPr>
        <p:spPr>
          <a:xfrm>
            <a:off x="495300" y="6591300"/>
            <a:ext cx="2857500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l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EE6008 · WEEKLY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DCA2659-244A-4F8E-B0DC-28B0C3E10A2D}"/>
              </a:ext>
            </a:extLst>
          </p:cNvPr>
          <p:cNvSpPr>
            <a:spLocks noGrp="1"/>
          </p:cNvSpPr>
          <p:nvPr/>
        </p:nvSpPr>
        <p:spPr>
          <a:xfrm>
            <a:off x="11049000" y="6591300"/>
            <a:ext cx="619125" cy="2190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rmAutofit/>
          </a:bodyPr>
          <a:lstStyle/>
          <a:p>
            <a:pPr algn="r">
              <a:defRPr sz="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5155950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NTU Weekly Report">
      <a:dk1>
        <a:srgbClr val="000000"/>
      </a:dk1>
      <a:lt1>
        <a:srgbClr val="FFFFFF"/>
      </a:lt1>
      <a:dk2>
        <a:srgbClr val="1B1D63"/>
      </a:dk2>
      <a:lt2>
        <a:srgbClr val="D9DDEA"/>
      </a:lt2>
      <a:accent1>
        <a:srgbClr val="E31346"/>
      </a:accent1>
      <a:accent2>
        <a:srgbClr val="1B1D63"/>
      </a:accent2>
      <a:accent3>
        <a:srgbClr val="38AFA2"/>
      </a:accent3>
      <a:accent4>
        <a:srgbClr val="D99014"/>
      </a:accent4>
      <a:accent5>
        <a:srgbClr val="6750A4"/>
      </a:accent5>
      <a:accent6>
        <a:srgbClr val="3478C7"/>
      </a:accent6>
      <a:hlink>
        <a:srgbClr val="E31346"/>
      </a:hlink>
      <a:folHlink>
        <a:srgbClr val="8F2A5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TU Weekly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weekly_five_minute_research_update">
  <a:themeElements>
    <a:clrScheme name="weekly_five_minute_research_upda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weekly_five_minute_research_updat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eekly_five_minute_research_upd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tGPT">
  <a:themeElements>
    <a:clrScheme name="NTU Weekly Report">
      <a:dk1>
        <a:srgbClr val="000000"/>
      </a:dk1>
      <a:lt1>
        <a:srgbClr val="FFFFFF"/>
      </a:lt1>
      <a:dk2>
        <a:srgbClr val="1B1D63"/>
      </a:dk2>
      <a:lt2>
        <a:srgbClr val="D9DDEA"/>
      </a:lt2>
      <a:accent1>
        <a:srgbClr val="E31346"/>
      </a:accent1>
      <a:accent2>
        <a:srgbClr val="1B1D63"/>
      </a:accent2>
      <a:accent3>
        <a:srgbClr val="38AFA2"/>
      </a:accent3>
      <a:accent4>
        <a:srgbClr val="D99014"/>
      </a:accent4>
      <a:accent5>
        <a:srgbClr val="6750A4"/>
      </a:accent5>
      <a:accent6>
        <a:srgbClr val="3478C7"/>
      </a:accent6>
      <a:hlink>
        <a:srgbClr val="E31346"/>
      </a:hlink>
      <a:folHlink>
        <a:srgbClr val="8F2A52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NTU Weekly Repor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809</Words>
  <Application>Microsoft Office PowerPoint</Application>
  <DocSecurity>0</DocSecurity>
  <PresentationFormat>宽屏</PresentationFormat>
  <Paragraphs>177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3" baseType="lpstr">
      <vt:lpstr>Arial</vt:lpstr>
      <vt:lpstr>Calibri</vt:lpstr>
      <vt:lpstr>ChatGPT</vt:lpstr>
      <vt:lpstr>1_weekly_five_minute_research_update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t1323</cp:lastModifiedBy>
  <cp:revision>1</cp:revision>
  <dcterms:created xsi:type="dcterms:W3CDTF">2026-09-15T18:02:28Z</dcterms:created>
  <dcterms:modified xsi:type="dcterms:W3CDTF">2026-09-15T19:08:00Z</dcterms:modified>
</cp:coreProperties>
</file>