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6" r:id="rId7"/>
    <p:sldId id="267" r:id="rId8"/>
    <p:sldId id="268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Relationship Id="rId3" Type="http://schemas.openxmlformats.org/officeDocument/2006/relationships/image" Target="../media/image2.jpeg"/><Relationship Id="rId2" Type="http://schemas.openxmlformats.org/officeDocument/2006/relationships/image" Target="../media/image3.jpe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52450" y="1200150"/>
            <a:ext cx="114300" cy="39052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7" name="Image 7"/>
          <p:cNvPicPr>
            <a:picLocks noChangeAspect="1"/>
          </p:cNvPicPr>
          <p:nvPr/>
        </p:nvPicPr>
        <p:blipFill>
          <a:blip r:embed="rId2">
            <a:alphaModFix amt="56000"/>
          </a:blip>
          <a:stretch>
            <a:fillRect/>
          </a:stretch>
        </p:blipFill>
        <p:spPr>
          <a:xfrm>
            <a:off x="3762375" y="1200150"/>
            <a:ext cx="8382000" cy="390525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3714750" y="1200150"/>
            <a:ext cx="1714500" cy="3905250"/>
          </a:xfrm>
          <a:custGeom>
            <a:avLst/>
            <a:gdLst/>
            <a:ahLst/>
            <a:cxnLst/>
            <a:rect l="l" t="t" r="r" b="b"/>
            <a:pathLst>
              <a:path w="1714500" h="3905250">
                <a:moveTo>
                  <a:pt x="0" y="0"/>
                </a:moveTo>
                <a:lnTo>
                  <a:pt x="1714500" y="0"/>
                </a:lnTo>
                <a:lnTo>
                  <a:pt x="1047750" y="3905250"/>
                </a:lnTo>
                <a:lnTo>
                  <a:pt x="0" y="3905250"/>
                </a:lnTo>
                <a:close/>
              </a:path>
            </a:pathLst>
          </a:cu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4476750" y="1200150"/>
            <a:ext cx="809625" cy="3905250"/>
          </a:xfrm>
          <a:custGeom>
            <a:avLst/>
            <a:gdLst/>
            <a:ahLst/>
            <a:cxnLst/>
            <a:rect l="l" t="t" r="r" b="b"/>
            <a:pathLst>
              <a:path w="809625" h="3905250">
                <a:moveTo>
                  <a:pt x="809625" y="0"/>
                </a:moveTo>
                <a:lnTo>
                  <a:pt x="0" y="3905250"/>
                </a:lnTo>
              </a:path>
            </a:pathLst>
          </a:custGeom>
          <a:noFill/>
          <a:ln w="28575">
            <a:solidFill>
              <a:srgbClr val="D71440">
                <a:alpha val="62000"/>
              </a:srgbClr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98398" y="1603058"/>
            <a:ext cx="461645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1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 Pose Analytics</a:t>
            </a:r>
            <a:endParaRPr lang="en-US" sz="31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05637" y="3166586"/>
            <a:ext cx="45087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7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research update · {{SUBTITLE}}</a:t>
            </a:r>
            <a:endParaRPr lang="en-US" sz="17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07542" y="4311968"/>
            <a:ext cx="22136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 ending · {{DATE}}</a:t>
            </a:r>
            <a:endParaRPr lang="en-US" sz="13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07542" y="4835842"/>
            <a:ext cx="221486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Presenter · {{AUTHOR}}</a:t>
            </a:r>
            <a:endParaRPr lang="en-US" sz="13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TAKEAWAY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PROJECT STATUS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CURRENT MILESTONE · EVIDENCE · BLOCKER · NEXT CHECKPOINT</a:t>
            </a:r>
            <a:endParaRPr lang="en-US" sz="1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Kick-off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Data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Baselines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IP Module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Experiments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Final Report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Snapshot &amp; Milestone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  <a:endParaRPr lang="en-US" sz="180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one result or decision the supervisor should remember.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{{STATUS}}</a:t>
            </a:r>
            <a:endParaRPr lang="en-US" sz="18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 TRACK · AT RISK · BLOCKED</a:t>
            </a:r>
            <a:endParaRPr lang="en-US" sz="98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{{MILESTONE}}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completed: … | Current blocker: … | Next checkpoint: …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WEEK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PIPELINE / ARCHITECTURE / IMPLEMENTATION EVIDENCE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TAKEAWAY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345943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Progress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{{TECHNICAL_PROGRESS}}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Completed · In progress · Blocked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Include the concrete output, not only the activity.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{{CONTENT_AREA}}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Recommended: module diagram, interface contract,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training pipeline, code evidence, or data-flow change.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{{KEY_FINDING}}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matters: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changed in the design,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evidence, or next decision?</a:t>
            </a:r>
            <a:endParaRPr lang="en-US" sz="112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ONE-LINE RESULT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· BASELINE · CONTROL · METRIC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3922625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Experimental Evidence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2010001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{{CONTENT_AREA}}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Insert one chart, table, confusion matrix, or controlled comparison.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Label the baseline, evaluation split, metric, and uncertainty.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{{FINDINGS}}</a:t>
            </a:r>
            <a:endParaRPr lang="en-US" sz="150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 · What changed versus baseline?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 · Which class or case still fails?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· What experiment comes next?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WEEK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CANNOT SERVE AS OUR BACKBONE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TAKEAWAY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54864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Selection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2120900" cy="2952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reviewed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Mentor suggested SkeletonX as our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starting point. W</a:t>
            </a: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 went through the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paper and the released code: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sample pairing, decoupled pooling,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loss set, the feeders and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both evaluation settings.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Finding: it is a training strategy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that wraps a backbone — not a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backbone, and therefore not a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on its own.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 strategy, not a network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Its own experiments plug the same pipeline into several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backbones to show the gain transfers.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2331720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different</a:t>
            </a:r>
            <a:b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"identities"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matters: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"subject" = who performed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clip. A sample-level attribute,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separated so the prediction does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not depend on who performs it.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Ours = who is who inside a single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sequence, i.e. the role each person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plays in the interaction.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Same word, different problem. So it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is related work, not our baseline.</a:t>
            </a:r>
            <a:endParaRPr lang="en-US" sz="112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840480" y="6665595"/>
            <a:ext cx="329184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SkeletonX · IEEE TMM 2025 · arXiv:2504.11749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05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224528" y="3017520"/>
            <a:ext cx="4160520" cy="420624"/>
          </a:xfrm>
          <a:prstGeom prst="roundRect">
            <a:avLst>
              <a:gd name="adj" fmla="val 22000"/>
            </a:avLst>
          </a:prstGeom>
          <a:solidFill>
            <a:srgbClr val="FCE9EE"/>
          </a:solidFill>
          <a:ln w="1270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D71440"/>
                </a:solidFill>
                <a:latin typeface="Arial" panose="020B0604020202090204"/>
              </a:rPr>
              <a:t>SkeletonX  ·  training strategy</a:t>
            </a:r>
            <a:endParaRPr sz="120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21" name="Down Arrow 20"/>
          <p:cNvSpPr/>
          <p:nvPr/>
        </p:nvSpPr>
        <p:spPr>
          <a:xfrm>
            <a:off x="6144768" y="3529584"/>
            <a:ext cx="310896" cy="384048"/>
          </a:xfrm>
          <a:prstGeom prst="down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621024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E6478"/>
                </a:solidFill>
                <a:latin typeface="Arial" panose="020B0604020202090204"/>
              </a:rPr>
              <a:t>plugs into</a:t>
            </a:r>
            <a:endParaRPr sz="10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22452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20243A"/>
                </a:solidFill>
                <a:latin typeface="Arial" panose="020B0604020202090204"/>
              </a:rPr>
              <a:t>ST-GCN</a:t>
            </a:r>
            <a:endParaRPr sz="1200" b="1">
              <a:solidFill>
                <a:srgbClr val="20243A"/>
              </a:solidFill>
              <a:latin typeface="Arial" panose="020B060402020209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64184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181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 panose="020B0604020202090204"/>
              </a:rPr>
              <a:t>CTR-GCN</a:t>
            </a:r>
            <a:endParaRPr sz="12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059168" y="4041648"/>
            <a:ext cx="132588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20243A"/>
                </a:solidFill>
                <a:latin typeface="Arial" panose="020B0604020202090204"/>
              </a:rPr>
              <a:t>TCA-GCN</a:t>
            </a:r>
            <a:endParaRPr sz="1200" b="1">
              <a:solidFill>
                <a:srgbClr val="20243A"/>
              </a:solidFill>
              <a:latin typeface="Arial" panose="020B0604020202090204"/>
            </a:endParaRPr>
          </a:p>
        </p:txBody>
      </p:sp>
      <p:sp>
        <p:nvSpPr>
          <p:cNvPr id="26" name="Up Arrow 25"/>
          <p:cNvSpPr/>
          <p:nvPr/>
        </p:nvSpPr>
        <p:spPr>
          <a:xfrm>
            <a:off x="6144768" y="4590288"/>
            <a:ext cx="274320" cy="310896"/>
          </a:xfrm>
          <a:prstGeom prst="upArrow">
            <a:avLst/>
          </a:prstGeom>
          <a:solidFill>
            <a:srgbClr val="D71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4956048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D71440"/>
                </a:solidFill>
                <a:latin typeface="Arial" panose="020B0604020202090204"/>
              </a:rPr>
              <a:t>our backbone and baseline</a:t>
            </a:r>
            <a:endParaRPr sz="110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224528" y="5376672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The backbone is an argument to the method, so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"SkeletonX" alone does not define a runnable system.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 DEFINITION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CODEBASE · DATA · TRAINING · EVALUATION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73152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Baseline · Setup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34949" y="1639729"/>
            <a:ext cx="10058400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· joint stream only · NTU RGB+D 120 mutual subset (26 classes) · X-Sub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7040880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Repository already mapped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main.py (train / test entry)  ·  config/ (per-dataset yaml)  ·  model/ (CTR-GCN)  ·  feeders/ (data loading)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graph/ (skeleton topology)  ·  data/ (preprocessing scripts)  ·  ensemble.py (multi-stream late fusion)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469630" y="2945130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Reproduction risks</a:t>
            </a:r>
            <a:endParaRPr lang="en-US" sz="150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 · Headline numbers use four-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stream fusion; single stream is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lower. We state which we ran.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 · ensemble.py aligns streams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by row index, not sample name.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Test order must never change.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· No official mutual subset —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our filter rule goes in report.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840480" y="6665595"/>
            <a:ext cx="292608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· Chen et al., ICCV 2021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06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77240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data/</a:t>
            </a:r>
            <a:endParaRPr sz="1150" b="1">
              <a:solidFill>
                <a:srgbClr val="20243A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.skeleton → denoise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→ .npz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2368296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9464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 w="1905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feeders/</a:t>
            </a:r>
            <a:endParaRPr sz="1150" b="1">
              <a:solidFill>
                <a:srgbClr val="20243A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joint | bone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joint-mot. | bone-mot.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3" name="Right Arrow 22"/>
          <p:cNvSpPr/>
          <p:nvPr/>
        </p:nvSpPr>
        <p:spPr>
          <a:xfrm>
            <a:off x="4160520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61688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model/ + main.py</a:t>
            </a:r>
            <a:endParaRPr sz="1150" b="1">
              <a:solidFill>
                <a:srgbClr val="20243A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CTR-GCN, SGD+Nesterov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65 epochs, lr 0.1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5952743" y="4160520"/>
            <a:ext cx="182880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53912" y="3794760"/>
            <a:ext cx="157276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5E6478"/>
                </a:solidFill>
                <a:latin typeface="Arial" panose="020B0604020202090204"/>
              </a:rPr>
              <a:t>ensemble.py</a:t>
            </a:r>
            <a:endParaRPr sz="1150" b="1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weighted late fusion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  <a:p>
            <a:pPr algn="ctr"/>
            <a:r>
              <a:rPr sz="900" b="0">
                <a:solidFill>
                  <a:srgbClr val="5E6478"/>
                </a:solidFill>
                <a:latin typeface="Arial" panose="020B0604020202090204"/>
              </a:rPr>
              <a:t>0.6 / 0.6 / 0.4 / 0.4</a:t>
            </a:r>
            <a:endParaRPr sz="90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569464" y="479145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D71440"/>
                </a:solidFill>
                <a:latin typeface="Arial" panose="020B0604020202090204"/>
              </a:rPr>
              <a:t>Week 4: joint only</a:t>
            </a:r>
            <a:endParaRPr sz="100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77240" y="5175504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Four-stream fusion is how CTR-GCN reports its SOTA numbers; we defer it and state the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5E6478"/>
                </a:solidFill>
                <a:latin typeface="Arial" panose="020B0604020202090204"/>
              </a:rPr>
              <a:t>single-stream setting explicitly so our results stay internally comparable.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731520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Where the person axis disappears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657600" y="6665595"/>
            <a:ext cx="384048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CTR-GCN model/ctrgcn.py · SkeletonX model/stdecouple.py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07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88920" y="1572768"/>
            <a:ext cx="210312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GCN backbone</a:t>
            </a:r>
            <a:endParaRPr sz="1150" b="1">
              <a:solidFill>
                <a:srgbClr val="20243A"/>
              </a:solidFill>
              <a:latin typeface="Arial" panose="020B0604020202090204"/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4946903" y="1719072"/>
            <a:ext cx="201168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02936" y="1572768"/>
            <a:ext cx="2377440" cy="475488"/>
          </a:xfrm>
          <a:prstGeom prst="roundRect">
            <a:avLst>
              <a:gd name="adj" fmla="val 14000"/>
            </a:avLst>
          </a:prstGeom>
          <a:solidFill>
            <a:srgbClr val="FCE9EE"/>
          </a:solidFill>
          <a:ln w="19050">
            <a:solidFill>
              <a:srgbClr val="D71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D71440"/>
                </a:solidFill>
                <a:latin typeface="Arial" panose="020B0604020202090204"/>
              </a:rPr>
              <a:t>pool  T · V · M  →  vector</a:t>
            </a:r>
            <a:endParaRPr sz="115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7635240" y="1719072"/>
            <a:ext cx="201168" cy="182880"/>
          </a:xfrm>
          <a:prstGeom prst="rightArrow">
            <a:avLst/>
          </a:prstGeom>
          <a:solidFill>
            <a:srgbClr val="B9C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91271" y="1572768"/>
            <a:ext cx="192024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20243A"/>
                </a:solidFill>
                <a:latin typeface="Arial" panose="020B0604020202090204"/>
              </a:rPr>
              <a:t>FC classifier</a:t>
            </a:r>
            <a:endParaRPr sz="1150" b="1">
              <a:solidFill>
                <a:srgbClr val="20243A"/>
              </a:solidFill>
              <a:latin typeface="Arial" panose="020B060402020209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7240" y="1645920"/>
            <a:ext cx="187451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Both methods act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  <a:p>
            <a:pPr algn="r"/>
            <a:r>
              <a:rPr sz="1050" b="0">
                <a:solidFill>
                  <a:srgbClr val="5E6478"/>
                </a:solidFill>
                <a:latin typeface="Arial" panose="020B0604020202090204"/>
              </a:rPr>
              <a:t>at this one step</a:t>
            </a:r>
            <a:endParaRPr sz="1050" b="0">
              <a:solidFill>
                <a:srgbClr val="5E6478"/>
              </a:solidFill>
              <a:latin typeface="Arial" panose="020B0604020202090204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77240" y="2359152"/>
            <a:ext cx="3383280" cy="3566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542032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D71440"/>
                </a:solidFill>
                <a:latin typeface="Arial" panose="020B0604020202090204"/>
              </a:rPr>
              <a:t>CTR-GCN  ·  OUR BASELINE</a:t>
            </a:r>
            <a:endParaRPr sz="100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78408" y="2889504"/>
            <a:ext cx="2980944" cy="896112"/>
          </a:xfrm>
          <a:prstGeom prst="roundRect">
            <a:avLst>
              <a:gd name="adj" fmla="val 14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950" b="0">
                <a:solidFill>
                  <a:srgbClr val="20243A"/>
                </a:solidFill>
                <a:latin typeface="Courier New" panose="02070409020205090404"/>
              </a:rPr>
              <a:t>x = x.view(N, M, c_new, -1)</a:t>
            </a:r>
            <a:endParaRPr sz="950" b="0">
              <a:solidFill>
                <a:srgbClr val="20243A"/>
              </a:solidFill>
              <a:latin typeface="Courier New" panose="02070409020205090404"/>
            </a:endParaRPr>
          </a:p>
          <a:p>
            <a:pPr algn="l"/>
            <a:r>
              <a:rPr sz="950" b="1">
                <a:solidFill>
                  <a:srgbClr val="D71440"/>
                </a:solidFill>
                <a:latin typeface="Courier New" panose="02070409020205090404"/>
              </a:rPr>
              <a:t>x = x.mean(3).mean(1)</a:t>
            </a:r>
            <a:endParaRPr sz="950" b="1">
              <a:solidFill>
                <a:srgbClr val="D71440"/>
              </a:solidFill>
              <a:latin typeface="Courier New" panose="02070409020205090404"/>
            </a:endParaRPr>
          </a:p>
          <a:p>
            <a:pPr algn="l"/>
            <a:r>
              <a:rPr sz="950" b="0">
                <a:solidFill>
                  <a:srgbClr val="20243A"/>
                </a:solidFill>
                <a:latin typeface="Courier New" panose="02070409020205090404"/>
              </a:rPr>
              <a:t>return self.fc(x)</a:t>
            </a:r>
            <a:endParaRPr sz="950" b="0">
              <a:solidFill>
                <a:srgbClr val="20243A"/>
              </a:solidFill>
              <a:latin typeface="Courier New" panose="020704090202050904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78408" y="3931920"/>
            <a:ext cx="29809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E6478"/>
                </a:solidFill>
                <a:latin typeface="Arial" panose="020B0604020202090204"/>
              </a:rPr>
              <a:t>mean(3)  collapses time and joints.</a:t>
            </a:r>
            <a:endParaRPr sz="1100" b="0">
              <a:solidFill>
                <a:srgbClr val="5E6478"/>
              </a:solidFill>
              <a:latin typeface="Arial" panose="020B0604020202090204"/>
            </a:endParaRP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5E6478"/>
                </a:solidFill>
                <a:latin typeface="Arial" panose="020B0604020202090204"/>
              </a:rPr>
              <a:t>mean(1)  collapses M, the person axis.</a:t>
            </a:r>
            <a:endParaRPr sz="1100" b="0">
              <a:solidFill>
                <a:srgbClr val="5E6478"/>
              </a:solidFill>
              <a:latin typeface="Arial" panose="020B0604020202090204"/>
            </a:endParaRP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20243A"/>
                </a:solidFill>
                <a:latin typeface="Arial" panose="020B0604020202090204"/>
              </a:rPr>
              <a:t>Each person is encoded separately, then</a:t>
            </a:r>
            <a:endParaRPr sz="1100" b="0">
              <a:solidFill>
                <a:srgbClr val="20243A"/>
              </a:solidFill>
              <a:latin typeface="Arial" panose="020B0604020202090204"/>
            </a:endParaRP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20243A"/>
                </a:solidFill>
                <a:latin typeface="Arial" panose="020B0604020202090204"/>
              </a:rPr>
              <a:t>the two feature vectors are averaged.</a:t>
            </a:r>
            <a:endParaRPr sz="1100" b="0">
              <a:solidFill>
                <a:srgbClr val="20243A"/>
              </a:solidFill>
              <a:latin typeface="Arial" panose="020B0604020202090204"/>
            </a:endParaRP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20243A"/>
                </a:solidFill>
                <a:latin typeface="Arial" panose="020B0604020202090204"/>
              </a:rPr>
              <a:t>The network never compares them.</a:t>
            </a:r>
            <a:endParaRPr sz="1100" b="1">
              <a:solidFill>
                <a:srgbClr val="20243A"/>
              </a:solidFill>
              <a:latin typeface="Arial" panose="020B060402020209020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526280" y="2359152"/>
            <a:ext cx="3383280" cy="3566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542032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D71440"/>
                </a:solidFill>
                <a:latin typeface="Arial" panose="020B0604020202090204"/>
              </a:rPr>
              <a:t>SKELETONX  ·  RELATED WORK</a:t>
            </a:r>
            <a:endParaRPr sz="1000" b="1">
              <a:solidFill>
                <a:srgbClr val="D71440"/>
              </a:solidFill>
              <a:latin typeface="Arial" panose="020B060402020209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727448" y="2889504"/>
            <a:ext cx="2980944" cy="896112"/>
          </a:xfrm>
          <a:prstGeom prst="roundRect">
            <a:avLst>
              <a:gd name="adj" fmla="val 14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950" b="1">
                <a:solidFill>
                  <a:srgbClr val="D71440"/>
                </a:solidFill>
                <a:latin typeface="Courier New" panose="02070409020205090404"/>
              </a:rPr>
              <a:t>x = ST_DecoupleNet(x)</a:t>
            </a:r>
            <a:endParaRPr sz="950" b="1">
              <a:solidFill>
                <a:srgbClr val="D71440"/>
              </a:solidFill>
              <a:latin typeface="Courier New" panose="02070409020205090404"/>
            </a:endParaRPr>
          </a:p>
          <a:p>
            <a:pPr algn="l"/>
            <a:r>
              <a:rPr sz="950" b="0">
                <a:solidFill>
                  <a:srgbClr val="20243A"/>
                </a:solidFill>
                <a:latin typeface="Courier New" panose="02070409020205090404"/>
              </a:rPr>
              <a:t>  mean over T -&gt; F_s  "subject"</a:t>
            </a:r>
            <a:endParaRPr sz="950" b="0">
              <a:solidFill>
                <a:srgbClr val="20243A"/>
              </a:solidFill>
              <a:latin typeface="Courier New" panose="02070409020205090404"/>
            </a:endParaRPr>
          </a:p>
          <a:p>
            <a:pPr algn="l"/>
            <a:r>
              <a:rPr sz="950" b="0">
                <a:solidFill>
                  <a:srgbClr val="20243A"/>
                </a:solidFill>
                <a:latin typeface="Courier New" panose="02070409020205090404"/>
              </a:rPr>
              <a:t>  mean over V -&gt; F_t  "action"</a:t>
            </a:r>
            <a:endParaRPr sz="950" b="0">
              <a:solidFill>
                <a:srgbClr val="20243A"/>
              </a:solidFill>
              <a:latin typeface="Courier New" panose="020704090202050904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27448" y="3931920"/>
            <a:ext cx="298094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5E6478"/>
                </a:solidFill>
                <a:latin typeface="Arial" panose="020B0604020202090204"/>
              </a:rPr>
              <a:t>The same step, replaced by a learnable</a:t>
            </a:r>
            <a:endParaRPr sz="1100" b="0">
              <a:solidFill>
                <a:srgbClr val="5E6478"/>
              </a:solidFill>
              <a:latin typeface="Arial" panose="020B0604020202090204"/>
            </a:endParaRP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5E6478"/>
                </a:solidFill>
                <a:latin typeface="Arial" panose="020B0604020202090204"/>
              </a:rPr>
              <a:t>pooling that splits the feature in two.</a:t>
            </a:r>
            <a:endParaRPr sz="1100" b="0">
              <a:solidFill>
                <a:srgbClr val="5E6478"/>
              </a:solidFill>
              <a:latin typeface="Arial" panose="020B0604020202090204"/>
            </a:endParaRP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20243A"/>
                </a:solidFill>
                <a:latin typeface="Arial" panose="020B0604020202090204"/>
              </a:rPr>
              <a:t>It separates who from what — but "who"</a:t>
            </a:r>
            <a:endParaRPr sz="1100" b="0">
              <a:solidFill>
                <a:srgbClr val="20243A"/>
              </a:solidFill>
              <a:latin typeface="Arial" panose="020B0604020202090204"/>
            </a:endParaRP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20243A"/>
                </a:solidFill>
                <a:latin typeface="Arial" panose="020B0604020202090204"/>
              </a:rPr>
              <a:t>means which performer recorded the clip.</a:t>
            </a:r>
            <a:endParaRPr sz="1100" b="0">
              <a:solidFill>
                <a:srgbClr val="20243A"/>
              </a:solidFill>
              <a:latin typeface="Arial" panose="020B0604020202090204"/>
            </a:endParaRP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20243A"/>
                </a:solidFill>
                <a:latin typeface="Arial" panose="020B0604020202090204"/>
              </a:rPr>
              <a:t>Still one label per sample.</a:t>
            </a:r>
            <a:endParaRPr sz="1100" b="1">
              <a:solidFill>
                <a:srgbClr val="20243A"/>
              </a:solidFill>
              <a:latin typeface="Arial" panose="020B0604020202090204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183879" y="2359152"/>
            <a:ext cx="3383280" cy="3566160"/>
          </a:xfrm>
          <a:prstGeom prst="roundRect">
            <a:avLst>
              <a:gd name="adj" fmla="val 14000"/>
            </a:avLst>
          </a:prstGeom>
          <a:solidFill>
            <a:srgbClr val="181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2542032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 panose="020B0604020202090204"/>
              </a:rPr>
              <a:t>OUR QUESTION</a:t>
            </a:r>
            <a:endParaRPr sz="10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85048" y="2926080"/>
            <a:ext cx="298094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 panose="020B0604020202090204"/>
              </a:rPr>
              <a:t>M is where instance identity lives.</a:t>
            </a:r>
            <a:endParaRPr sz="1250" b="1">
              <a:solidFill>
                <a:srgbClr val="FFFFFF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FFFFFF"/>
                </a:solidFill>
                <a:latin typeface="Arial" panose="020B0604020202090204"/>
              </a:rPr>
              <a:t>Averaging over M is a symmetric</a:t>
            </a:r>
            <a:endParaRPr sz="1100" b="0">
              <a:solidFill>
                <a:srgbClr val="FFFFFF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FFFFFF"/>
                </a:solidFill>
                <a:latin typeface="Arial" panose="020B0604020202090204"/>
              </a:rPr>
              <a:t>operation: swap the two people and</a:t>
            </a:r>
            <a:endParaRPr sz="1100" b="0">
              <a:solidFill>
                <a:srgbClr val="FFFFFF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FFFFFF"/>
                </a:solidFill>
                <a:latin typeface="Arial" panose="020B0604020202090204"/>
              </a:rPr>
              <a:t>the pooled vector is unchanged.</a:t>
            </a:r>
            <a:endParaRPr sz="1100" b="0">
              <a:solidFill>
                <a:srgbClr val="FFFFFF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FFB3C4"/>
                </a:solidFill>
                <a:latin typeface="Arial" panose="020B0604020202090204"/>
              </a:rPr>
              <a:t>So "A punches B" and "B punches A"</a:t>
            </a:r>
            <a:endParaRPr sz="1100" b="1">
              <a:solidFill>
                <a:srgbClr val="FFB3C4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FFB3C4"/>
                </a:solidFill>
                <a:latin typeface="Arial" panose="020B0604020202090204"/>
              </a:rPr>
              <a:t>cannot be told apart at this point,</a:t>
            </a:r>
            <a:endParaRPr sz="1100" b="1">
              <a:solidFill>
                <a:srgbClr val="FFB3C4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FFB3C4"/>
                </a:solidFill>
                <a:latin typeface="Arial" panose="020B0604020202090204"/>
              </a:rPr>
              <a:t>by construction.</a:t>
            </a:r>
            <a:endParaRPr sz="1100" b="1">
              <a:solidFill>
                <a:srgbClr val="FFB3C4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8C8C8"/>
                </a:solidFill>
                <a:latin typeface="Arial" panose="020B0604020202090204"/>
              </a:rPr>
              <a:t>Next: measure how much identity even</a:t>
            </a:r>
            <a:endParaRPr sz="1100" b="0">
              <a:solidFill>
                <a:srgbClr val="C8C8C8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8C8C8"/>
                </a:solidFill>
                <a:latin typeface="Arial" panose="020B0604020202090204"/>
              </a:rPr>
              <a:t>survives preprocessing (ID switches),</a:t>
            </a:r>
            <a:endParaRPr sz="1100" b="0">
              <a:solidFill>
                <a:srgbClr val="C8C8C8"/>
              </a:solidFill>
              <a:latin typeface="Arial" panose="020B0604020202090204"/>
            </a:endParaRP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8C8C8"/>
                </a:solidFill>
                <a:latin typeface="Arial" panose="020B0604020202090204"/>
              </a:rPr>
              <a:t>then decide what to do at this step.</a:t>
            </a:r>
            <a:endParaRPr sz="1100" b="0">
              <a:solidFill>
                <a:srgbClr val="C8C8C8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94766" y="1639252"/>
            <a:ext cx="11319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 / BLOCKER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09217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IMPACT ON SCOPE, EVIDENCE, OR TIMELINE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2496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MITIGATION / OWNER / CHECK DATE</a:t>
            </a:r>
            <a:endParaRPr lang="en-US" sz="1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21512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DECISION OR SUPPORT NEEDED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296912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Risks &amp; Decisions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92099" y="2077879"/>
            <a:ext cx="3269742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{{RISKS}}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Describe the failure mode, trigger, and evidence.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326124" y="2077879"/>
            <a:ext cx="384314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{{IMPACT}}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Quantify delay, compute cost, metric risk, or lost scope.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099" y="4363879"/>
            <a:ext cx="245630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{{MITIGATION}}</a:t>
            </a:r>
            <a:endParaRPr lang="en-US" sz="1580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 | Check date: … | Fallback: …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26124" y="4363879"/>
            <a:ext cx="3423095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{{DECISION_NEEDED}}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choice, approver, and latest useful date.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1 · BUILD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2 · VALIDATE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3 · DOCUMENT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 · DUE DATE · SUCCESS CHECK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Next-Week Commitments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{{NEXT_ACTION_1}}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code, dataset, or runnable module.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{{NEXT_ACTION_2}}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metric table, control, or ablation result.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{{NEXT_ACTION_3}}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updated figure, notes, or report section.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{{OWNER_AND_DEADLINE}}</a:t>
            </a:r>
            <a:endParaRPr lang="en-US" sz="15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Due: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Success check: observable output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agreed metric threshold.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Open Canvas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IMAGE DESCRIPTION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Single-Image Story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2"/>
          <a:srcRect l="4974" r="4973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{{IMAGE_DESCRIPTION}}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does the image show?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is it relevant this week?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should the audience notice?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TIP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one annotated result, system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overview, qualitative example,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implementation photograph.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2–4 IMAGES</a:t>
            </a:r>
            <a:endParaRPr lang="en-US" sz="980" b="1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Multi-Image Story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2"/>
          <a:srcRect t="19517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3"/>
          <a:srcRect t="14228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4"/>
          <a:srcRect t="2500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5"/>
          <a:srcRect t="28986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{{CAPTION_1}}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{{CAPTION_2}}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{{CAPTION_3}}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{{CAPTION_4}}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</p:sp>
      <p:pic>
        <p:nvPicPr>
          <p:cNvPr id="9" name="Imag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120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Thank You</a:t>
            </a:r>
            <a:endParaRPr lang="en-US" sz="4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6149</Words>
  <Application>WPS 演示</Application>
  <PresentationFormat>On-screen Show (16:9)</PresentationFormat>
  <Paragraphs>334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7" baseType="lpstr">
      <vt:lpstr>Arial</vt:lpstr>
      <vt:lpstr>宋体</vt:lpstr>
      <vt:lpstr>Wingdings</vt:lpstr>
      <vt:lpstr>Arial</vt:lpstr>
      <vt:lpstr>Courier New</vt:lpstr>
      <vt:lpstr>微软雅黑</vt:lpstr>
      <vt:lpstr>方正雅意黑 GB18030L2</vt:lpstr>
      <vt:lpstr>宋体</vt:lpstr>
      <vt:lpstr>Arial Unicode MS</vt:lpstr>
      <vt:lpstr>Calibri</vt:lpstr>
      <vt:lpstr>Helvetica Neue</vt:lpstr>
      <vt:lpstr>汉仪书宋二KW</vt:lpstr>
      <vt:lpstr>Courier New</vt:lpstr>
      <vt:lpstr>weekly_five_minute_research_update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crystal</cp:lastModifiedBy>
  <cp:revision>3</cp:revision>
  <dcterms:created xsi:type="dcterms:W3CDTF">2026-09-07T03:43:48Z</dcterms:created>
  <dcterms:modified xsi:type="dcterms:W3CDTF">2026-09-07T03:43:48Z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4550AFB6D8548345DB2B9E6A74E4738F_42</vt:lpwstr>
  </property>
  <property fmtid="{D5CDD505-2E9C-101B-9397-08002B2CF9AE}" pid="3" name="KSOProductBuildVer">
    <vt:lpwstr>2052-12.1.26046.26046</vt:lpwstr>
  </property>
</Properties>
</file>