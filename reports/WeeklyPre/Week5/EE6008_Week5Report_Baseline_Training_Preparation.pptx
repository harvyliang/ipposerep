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2"/>
  </p:notes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2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Weekly overview only. Detailed explanations are reserved for the oral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structure: CTR-GCN and PoseC3D.</a:t>
            </a:r>
          </a:p>
          <a:p>
            <a:r>
              <a:t>Source: project work summary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CTR-GCN counts: Train 13,072; Test 11,660.</a:t>
            </a:r>
          </a:p>
          <a:p>
            <a:r>
              <a:t>Validation indices are drawn only from the original training membership.</a:t>
            </a:r>
          </a:p>
          <a:p>
            <a:r>
              <a:t>Sources: E:/humanPose/reports/NTU120_INTERACTION26_SUBSET_REPORT.md; E:/humanPose/processed/skeletonx/ntu120_interaction26/ntu120csubinteraction26_train_val_split_summary.json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 feeder supports train and test selection. The new protocol adds train and validation membership through indices, so the project needs an adapted feeder and corresponding YAML configuration.</a:t>
            </a:r>
          </a:p>
          <a:p>
            <a:r>
              <a:t>Source: E:/humanPose/docs/CTRGCN_NPZ_FEEDER_ADAPTATION_PLAN.md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verified member names were available in the supplied project materials, so the allocation uses Member 1 through Member 4 as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Status supplied by the user: unified metrics, Experiment 3 swap transformation and consistency measurement, and Experiment 4 grouping and mean-recall comparison are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guide records three RTX 3090 GPUs and the dedicated workspace /mnt/data/6008/.</a:t>
            </a:r>
          </a:p>
          <a:p>
            <a:r>
              <a:t>Source: E:/humanPose/docs/NTU_SERVER_CTRGCN_GUIDE.md</a:t>
            </a:r>
          </a:p>
          <a:p>
            <a:r>
              <a:t>No credentials, IP address, password, or private key appear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Target: complete baseline implementation before Recess Week while experiments and final report drafting continue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7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9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7226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EE6008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WEEKLY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Human Pose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Using Artificial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Instance-Preserving Pose Representation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866837"/>
            <a:ext cx="117043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F657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Group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ending · 2026-09-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9618F7B-1A75-4255-9004-50C450FA1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DA6693-6CAB-41DE-AB53-C4A850406D36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1D79B4-BD33-47F8-8DDD-554C84AD10BF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Weekly Progress – Baseline &amp; Training Preparation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5967EF-29BA-4552-96DE-4D9B806A583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EC07E-BC3B-4233-AD05-B712B021D75E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4C092-3704-46B3-AC6E-F497EE0FE5F6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0177BF-C00B-41DD-A059-4513C330276B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AA6EAA-E3ED-4016-9627-DFA603161455}"/>
              </a:ext>
            </a:extLst>
          </p:cNvPr>
          <p:cNvSpPr>
            <a:spLocks noGrp="1"/>
          </p:cNvSpPr>
          <p:nvPr/>
        </p:nvSpPr>
        <p:spPr>
          <a:xfrm>
            <a:off x="495300" y="1343025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THIS WEEK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BFE4F-E4BB-412B-A35D-18423B54C59C}"/>
              </a:ext>
            </a:extLst>
          </p:cNvPr>
          <p:cNvSpPr>
            <a:spLocks noGrp="1"/>
          </p:cNvSpPr>
          <p:nvPr/>
        </p:nvSpPr>
        <p:spPr>
          <a:xfrm>
            <a:off x="495300" y="16002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Four workstreams moved from baseline selection to deployment preparation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54FE2E-3795-402B-B0AE-CB6B55F5FFFE}"/>
              </a:ext>
            </a:extLst>
          </p:cNvPr>
          <p:cNvSpPr>
            <a:spLocks noGrp="1"/>
          </p:cNvSpPr>
          <p:nvPr/>
        </p:nvSpPr>
        <p:spPr>
          <a:xfrm>
            <a:off x="1390650" y="2409825"/>
            <a:ext cx="647700" cy="64770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3B8AA8-045F-4B07-A388-D921C1983DE0}"/>
              </a:ext>
            </a:extLst>
          </p:cNvPr>
          <p:cNvSpPr>
            <a:spLocks noGrp="1"/>
          </p:cNvSpPr>
          <p:nvPr/>
        </p:nvSpPr>
        <p:spPr>
          <a:xfrm>
            <a:off x="1390650" y="2409825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7DFF766-0BE2-484B-864A-140B69253846}"/>
              </a:ext>
            </a:extLst>
          </p:cNvPr>
          <p:cNvSpPr>
            <a:spLocks noGrp="1"/>
          </p:cNvSpPr>
          <p:nvPr/>
        </p:nvSpPr>
        <p:spPr>
          <a:xfrm>
            <a:off x="571500" y="3257550"/>
            <a:ext cx="2286000" cy="1219200"/>
          </a:xfrm>
          <a:prstGeom prst="roundRect">
            <a:avLst>
              <a:gd name="adj" fmla="val 9375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Baseline</a:t>
            </a:r>
          </a:p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Finalized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579D0E60-2FFC-4B8E-90C3-8E7F5B49CB3C}"/>
              </a:ext>
            </a:extLst>
          </p:cNvPr>
          <p:cNvSpPr>
            <a:spLocks noGrp="1"/>
          </p:cNvSpPr>
          <p:nvPr/>
        </p:nvSpPr>
        <p:spPr>
          <a:xfrm>
            <a:off x="2943225" y="3676650"/>
            <a:ext cx="342900" cy="323850"/>
          </a:xfrm>
          <a:prstGeom prst="right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CE1685D-8C54-491B-A16C-403AF8C24709}"/>
              </a:ext>
            </a:extLst>
          </p:cNvPr>
          <p:cNvSpPr>
            <a:spLocks noGrp="1"/>
          </p:cNvSpPr>
          <p:nvPr/>
        </p:nvSpPr>
        <p:spPr>
          <a:xfrm>
            <a:off x="4191000" y="2409825"/>
            <a:ext cx="647700" cy="647700"/>
          </a:xfrm>
          <a:prstGeom prst="ellipse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E10D22-8FE8-4E05-8F32-E10C4D90C4E3}"/>
              </a:ext>
            </a:extLst>
          </p:cNvPr>
          <p:cNvSpPr>
            <a:spLocks noGrp="1"/>
          </p:cNvSpPr>
          <p:nvPr/>
        </p:nvSpPr>
        <p:spPr>
          <a:xfrm>
            <a:off x="4191000" y="2409825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5E2A778-B754-4423-91F5-2FB3371E0DEA}"/>
              </a:ext>
            </a:extLst>
          </p:cNvPr>
          <p:cNvSpPr>
            <a:spLocks noGrp="1"/>
          </p:cNvSpPr>
          <p:nvPr/>
        </p:nvSpPr>
        <p:spPr>
          <a:xfrm>
            <a:off x="3371850" y="3257550"/>
            <a:ext cx="2286000" cy="1219200"/>
          </a:xfrm>
          <a:prstGeom prst="roundRect">
            <a:avLst>
              <a:gd name="adj" fmla="val 937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Data</a:t>
            </a:r>
          </a:p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ready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053751B6-8C0F-4518-920F-2B957372ED5D}"/>
              </a:ext>
            </a:extLst>
          </p:cNvPr>
          <p:cNvSpPr>
            <a:spLocks noGrp="1"/>
          </p:cNvSpPr>
          <p:nvPr/>
        </p:nvSpPr>
        <p:spPr>
          <a:xfrm>
            <a:off x="5743575" y="3676650"/>
            <a:ext cx="342900" cy="323850"/>
          </a:xfrm>
          <a:prstGeom prst="right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5684210-D24C-4D51-ACE2-FE735A73378B}"/>
              </a:ext>
            </a:extLst>
          </p:cNvPr>
          <p:cNvSpPr>
            <a:spLocks noGrp="1"/>
          </p:cNvSpPr>
          <p:nvPr/>
        </p:nvSpPr>
        <p:spPr>
          <a:xfrm>
            <a:off x="6991350" y="2409825"/>
            <a:ext cx="647700" cy="647700"/>
          </a:xfrm>
          <a:prstGeom prst="ellipse">
            <a:avLst/>
          </a:prstGeom>
          <a:solidFill>
            <a:srgbClr val="38AFA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87B4C9-B979-40BF-93E5-E3DE7DF917F2}"/>
              </a:ext>
            </a:extLst>
          </p:cNvPr>
          <p:cNvSpPr>
            <a:spLocks noGrp="1"/>
          </p:cNvSpPr>
          <p:nvPr/>
        </p:nvSpPr>
        <p:spPr>
          <a:xfrm>
            <a:off x="6991350" y="2409825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E6EEB4D-26FD-4F08-9B24-263FB44B48D4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2286000" cy="1219200"/>
          </a:xfrm>
          <a:prstGeom prst="roundRect">
            <a:avLst>
              <a:gd name="adj" fmla="val 9375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Training Setup</a:t>
            </a:r>
          </a:p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Adaptation defined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881B504-54F6-4E40-B90D-108A21536370}"/>
              </a:ext>
            </a:extLst>
          </p:cNvPr>
          <p:cNvSpPr>
            <a:spLocks noGrp="1"/>
          </p:cNvSpPr>
          <p:nvPr/>
        </p:nvSpPr>
        <p:spPr>
          <a:xfrm>
            <a:off x="8543925" y="3676650"/>
            <a:ext cx="342900" cy="323850"/>
          </a:xfrm>
          <a:prstGeom prst="right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39AC8B1-5553-4B90-ADD0-B90CCCD456F3}"/>
              </a:ext>
            </a:extLst>
          </p:cNvPr>
          <p:cNvSpPr>
            <a:spLocks noGrp="1"/>
          </p:cNvSpPr>
          <p:nvPr/>
        </p:nvSpPr>
        <p:spPr>
          <a:xfrm>
            <a:off x="9791700" y="2409825"/>
            <a:ext cx="647700" cy="647700"/>
          </a:xfrm>
          <a:prstGeom prst="ellipse">
            <a:avLst/>
          </a:prstGeom>
          <a:solidFill>
            <a:srgbClr val="D9901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EB8AFE-DBD4-4817-89BF-4E6F31DA02B8}"/>
              </a:ext>
            </a:extLst>
          </p:cNvPr>
          <p:cNvSpPr>
            <a:spLocks noGrp="1"/>
          </p:cNvSpPr>
          <p:nvPr/>
        </p:nvSpPr>
        <p:spPr>
          <a:xfrm>
            <a:off x="9791700" y="2409825"/>
            <a:ext cx="6477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0D7288A-3DA5-43AE-9D4A-C782C9E93B0D}"/>
              </a:ext>
            </a:extLst>
          </p:cNvPr>
          <p:cNvSpPr>
            <a:spLocks noGrp="1"/>
          </p:cNvSpPr>
          <p:nvPr/>
        </p:nvSpPr>
        <p:spPr>
          <a:xfrm>
            <a:off x="8972550" y="3257550"/>
            <a:ext cx="2286000" cy="1219200"/>
          </a:xfrm>
          <a:prstGeom prst="roundRect">
            <a:avLst>
              <a:gd name="adj" fmla="val 9375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Server</a:t>
            </a:r>
          </a:p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Deployment started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7B49D4-2AEC-4444-828F-970CFF28E135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5826EC-4F83-42E6-BE30-AB7386EF178C}"/>
              </a:ext>
            </a:extLst>
          </p:cNvPr>
          <p:cNvSpPr>
            <a:spLocks noGrp="1"/>
          </p:cNvSpPr>
          <p:nvPr/>
        </p:nvSpPr>
        <p:spPr>
          <a:xfrm>
            <a:off x="3371850" y="489585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B6E1A2-BD3C-40E2-AB76-6353EB5CE6E9}"/>
              </a:ext>
            </a:extLst>
          </p:cNvPr>
          <p:cNvSpPr>
            <a:spLocks noGrp="1"/>
          </p:cNvSpPr>
          <p:nvPr/>
        </p:nvSpPr>
        <p:spPr>
          <a:xfrm>
            <a:off x="6172200" y="489585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D90A85-172E-4D22-8B19-E59E25AB59F4}"/>
              </a:ext>
            </a:extLst>
          </p:cNvPr>
          <p:cNvSpPr>
            <a:spLocks noGrp="1"/>
          </p:cNvSpPr>
          <p:nvPr/>
        </p:nvSpPr>
        <p:spPr>
          <a:xfrm>
            <a:off x="8972550" y="489585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45798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E0A00FD-0185-4D57-96A2-DB73421DF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07C8FF-380C-4802-9B40-DC37141C1A39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34ED4-F1AA-41BD-BFFE-B0D71BDBB0FA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Final Baseline Structure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322F13-77DC-450B-8850-B28A27AA7DF1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68FEAB-0D83-495E-BF07-0F7C60FDE14A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C26984E-B7D7-45F7-BA7A-CA4C6BAED6F1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CB60E-E4F9-489C-8F1E-B2440B858C2D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5C81169-3EEE-4489-8C97-C14CBCF7E046}"/>
              </a:ext>
            </a:extLst>
          </p:cNvPr>
          <p:cNvSpPr>
            <a:spLocks noGrp="1"/>
          </p:cNvSpPr>
          <p:nvPr/>
        </p:nvSpPr>
        <p:spPr>
          <a:xfrm>
            <a:off x="3476625" y="1323975"/>
            <a:ext cx="5238750" cy="552450"/>
          </a:xfrm>
          <a:prstGeom prst="roundRect">
            <a:avLst>
              <a:gd name="adj" fmla="val 2069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Skeleton-based Action Recognition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31434A61-9DD0-4940-8108-ADF83E228F42}"/>
              </a:ext>
            </a:extLst>
          </p:cNvPr>
          <p:cNvSpPr>
            <a:spLocks noGrp="1"/>
          </p:cNvSpPr>
          <p:nvPr/>
        </p:nvSpPr>
        <p:spPr>
          <a:xfrm>
            <a:off x="5848350" y="1952625"/>
            <a:ext cx="495300" cy="3619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A355B1-CDDA-4B61-A4D5-FF2065653806}"/>
              </a:ext>
            </a:extLst>
          </p:cNvPr>
          <p:cNvSpPr>
            <a:spLocks noGrp="1"/>
          </p:cNvSpPr>
          <p:nvPr/>
        </p:nvSpPr>
        <p:spPr>
          <a:xfrm>
            <a:off x="3048000" y="2333625"/>
            <a:ext cx="6096000" cy="2857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FC3FD-1A0E-4F8F-B7AE-9D28ABE1039D}"/>
              </a:ext>
            </a:extLst>
          </p:cNvPr>
          <p:cNvSpPr>
            <a:spLocks noGrp="1"/>
          </p:cNvSpPr>
          <p:nvPr/>
        </p:nvSpPr>
        <p:spPr>
          <a:xfrm>
            <a:off x="3600450" y="2333625"/>
            <a:ext cx="28575" cy="50482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2BD931-EAEB-4EE2-B6E2-9D544EC28B27}"/>
              </a:ext>
            </a:extLst>
          </p:cNvPr>
          <p:cNvSpPr>
            <a:spLocks noGrp="1"/>
          </p:cNvSpPr>
          <p:nvPr/>
        </p:nvSpPr>
        <p:spPr>
          <a:xfrm>
            <a:off x="8562975" y="2333625"/>
            <a:ext cx="28575" cy="50482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70BF389-36AF-4835-A662-6146A94632A7}"/>
              </a:ext>
            </a:extLst>
          </p:cNvPr>
          <p:cNvSpPr>
            <a:spLocks noGrp="1"/>
          </p:cNvSpPr>
          <p:nvPr/>
        </p:nvSpPr>
        <p:spPr>
          <a:xfrm>
            <a:off x="1581150" y="2847975"/>
            <a:ext cx="4095750" cy="857250"/>
          </a:xfrm>
          <a:prstGeom prst="roundRect">
            <a:avLst>
              <a:gd name="adj" fmla="val 13333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3F183D-3B45-4E98-B480-D30D4227472A}"/>
              </a:ext>
            </a:extLst>
          </p:cNvPr>
          <p:cNvSpPr>
            <a:spLocks noGrp="1"/>
          </p:cNvSpPr>
          <p:nvPr/>
        </p:nvSpPr>
        <p:spPr>
          <a:xfrm>
            <a:off x="1581150" y="37909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Graph-based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DF0034-C43D-4DA2-B05B-EF8ED84376CD}"/>
              </a:ext>
            </a:extLst>
          </p:cNvPr>
          <p:cNvSpPr>
            <a:spLocks noGrp="1"/>
          </p:cNvSpPr>
          <p:nvPr/>
        </p:nvSpPr>
        <p:spPr>
          <a:xfrm>
            <a:off x="1381125" y="4267200"/>
            <a:ext cx="44958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Graph   ·   Joint &amp; Bone   ·   Two-stream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40D391B-26D6-46F6-803D-E099153A6555}"/>
              </a:ext>
            </a:extLst>
          </p:cNvPr>
          <p:cNvSpPr>
            <a:spLocks noGrp="1"/>
          </p:cNvSpPr>
          <p:nvPr/>
        </p:nvSpPr>
        <p:spPr>
          <a:xfrm>
            <a:off x="6515100" y="2847975"/>
            <a:ext cx="4095750" cy="857250"/>
          </a:xfrm>
          <a:prstGeom prst="roundRect">
            <a:avLst>
              <a:gd name="adj" fmla="val 13333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PoseC3D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BA4EF0-C1DB-4359-829B-8976875DF280}"/>
              </a:ext>
            </a:extLst>
          </p:cNvPr>
          <p:cNvSpPr>
            <a:spLocks noGrp="1"/>
          </p:cNvSpPr>
          <p:nvPr/>
        </p:nvSpPr>
        <p:spPr>
          <a:xfrm>
            <a:off x="6515100" y="37909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Heatmap-based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4CA253-B59E-43A4-9930-F6EEB1E05B80}"/>
              </a:ext>
            </a:extLst>
          </p:cNvPr>
          <p:cNvSpPr>
            <a:spLocks noGrp="1"/>
          </p:cNvSpPr>
          <p:nvPr/>
        </p:nvSpPr>
        <p:spPr>
          <a:xfrm>
            <a:off x="6515100" y="4267200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Pose Heatmap   ·   3D CNN</a:t>
            </a: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76F4154F-ADF6-4BA9-84BD-E10160F56544}"/>
              </a:ext>
            </a:extLst>
          </p:cNvPr>
          <p:cNvSpPr>
            <a:spLocks noGrp="1"/>
          </p:cNvSpPr>
          <p:nvPr/>
        </p:nvSpPr>
        <p:spPr>
          <a:xfrm>
            <a:off x="5848350" y="4857750"/>
            <a:ext cx="495300" cy="361950"/>
          </a:xfrm>
          <a:prstGeom prst="downArrow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BC677FC-6F3C-49F9-A3B2-C6EAE1FFBE94}"/>
              </a:ext>
            </a:extLst>
          </p:cNvPr>
          <p:cNvSpPr>
            <a:spLocks noGrp="1"/>
          </p:cNvSpPr>
          <p:nvPr/>
        </p:nvSpPr>
        <p:spPr>
          <a:xfrm>
            <a:off x="4191000" y="5314950"/>
            <a:ext cx="3810000" cy="590550"/>
          </a:xfrm>
          <a:prstGeom prst="roundRect">
            <a:avLst>
              <a:gd name="adj" fmla="val 19355"/>
            </a:avLst>
          </a:prstGeom>
          <a:solidFill>
            <a:srgbClr val="1B1D63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 Prediction</a:t>
            </a:r>
          </a:p>
        </p:txBody>
      </p:sp>
    </p:spTree>
    <p:extLst>
      <p:ext uri="{BB962C8B-B14F-4D97-AF65-F5344CB8AC3E}">
        <p14:creationId xmlns:p14="http://schemas.microsoft.com/office/powerpoint/2010/main" val="80017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58A804E-C21A-4EAE-BDD5-C309CC4B0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1B6F4B-CD54-45FB-9A4A-1749283F0EAC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5E94EF-04A6-498F-8CCA-E38AF363E411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Dataset Preparation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93C43B-C7F3-47D3-97A7-241BFC433774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E1744C-BBD3-44BB-8871-6ED5D3349871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3F662AF-1465-4C06-A3CD-2CB68E970645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04F7F-6A08-49EC-A492-6C839B459FA6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66B6DC-409D-4736-B989-38E910C5D83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19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2457D0-E344-46DE-A9DE-3404AAC8F9B2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NTU RGB+D 120 – Interaction26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317E9E-B39A-4CFD-A07B-714610BCD2FC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3143250" cy="342900"/>
          </a:xfrm>
          <a:prstGeom prst="roundRect">
            <a:avLst>
              <a:gd name="adj" fmla="val 38889"/>
            </a:avLst>
          </a:prstGeom>
          <a:solidFill>
            <a:srgbClr val="E6F4EF"/>
          </a:solidFill>
          <a:ln w="14288">
            <a:solidFill>
              <a:srgbClr val="2A8C6D"/>
            </a:solidFill>
            <a:prstDash val="solid"/>
          </a:ln>
        </p:spPr>
        <p:txBody>
          <a:bodyPr anchor="ctr">
            <a:normAutofit fontScale="94787"/>
          </a:bodyPr>
          <a:lstStyle/>
          <a:p>
            <a:pPr algn="ctr">
              <a:defRPr sz="1200" b="1">
                <a:solidFill>
                  <a:srgbClr val="2A8C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8C6D"/>
                </a:solidFill>
                <a:latin typeface="Arial"/>
                <a:ea typeface="Arial"/>
                <a:cs typeface="Arial"/>
              </a:rPr>
              <a:t>✓  Preprocessing Completed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7C57E2C-70CE-46FE-B9C6-42C4F2C4E5A6}"/>
              </a:ext>
            </a:extLst>
          </p:cNvPr>
          <p:cNvSpPr>
            <a:spLocks noGrp="1"/>
          </p:cNvSpPr>
          <p:nvPr/>
        </p:nvSpPr>
        <p:spPr>
          <a:xfrm>
            <a:off x="3933825" y="2057400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E9EDF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13,072 TRAIN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4FE0F19-8CF4-439C-B2C0-1791D653D21D}"/>
              </a:ext>
            </a:extLst>
          </p:cNvPr>
          <p:cNvSpPr>
            <a:spLocks noGrp="1"/>
          </p:cNvSpPr>
          <p:nvPr/>
        </p:nvSpPr>
        <p:spPr>
          <a:xfrm>
            <a:off x="5429250" y="2057400"/>
            <a:ext cx="1428750" cy="342900"/>
          </a:xfrm>
          <a:prstGeom prst="roundRect">
            <a:avLst>
              <a:gd name="adj" fmla="val 22222"/>
            </a:avLst>
          </a:prstGeom>
          <a:solidFill>
            <a:srgbClr val="E9EDF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11,660 TEST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1CDFFF2-6FB0-4650-ACB0-A2273F6465F4}"/>
              </a:ext>
            </a:extLst>
          </p:cNvPr>
          <p:cNvSpPr>
            <a:spLocks noGrp="1"/>
          </p:cNvSpPr>
          <p:nvPr/>
        </p:nvSpPr>
        <p:spPr>
          <a:xfrm>
            <a:off x="819150" y="2695575"/>
            <a:ext cx="5238750" cy="381000"/>
          </a:xfrm>
          <a:prstGeom prst="roundRect">
            <a:avLst>
              <a:gd name="adj" fmla="val 30000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Raw Skeleton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6894860B-AE77-4545-A4B4-8B5449A95819}"/>
              </a:ext>
            </a:extLst>
          </p:cNvPr>
          <p:cNvSpPr>
            <a:spLocks noGrp="1"/>
          </p:cNvSpPr>
          <p:nvPr/>
        </p:nvSpPr>
        <p:spPr>
          <a:xfrm>
            <a:off x="3276600" y="3095625"/>
            <a:ext cx="323850" cy="1714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3689699-07C3-4397-BB1F-8AB3FE65A332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5238750" cy="381000"/>
          </a:xfrm>
          <a:prstGeom prst="roundRect">
            <a:avLst>
              <a:gd name="adj" fmla="val 30000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Official CSub Split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280237B1-9741-4D58-A132-0FECBAFFCC5B}"/>
              </a:ext>
            </a:extLst>
          </p:cNvPr>
          <p:cNvSpPr>
            <a:spLocks noGrp="1"/>
          </p:cNvSpPr>
          <p:nvPr/>
        </p:nvSpPr>
        <p:spPr>
          <a:xfrm>
            <a:off x="3276600" y="3686175"/>
            <a:ext cx="323850" cy="1714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99DAD7-4C03-4927-9868-7D30DD8B181A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5238750" cy="381000"/>
          </a:xfrm>
          <a:prstGeom prst="roundRect">
            <a:avLst>
              <a:gd name="adj" fmla="val 30000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Interaction26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0F35FEA9-7F03-4890-AB2D-4837CCAB1D1E}"/>
              </a:ext>
            </a:extLst>
          </p:cNvPr>
          <p:cNvSpPr>
            <a:spLocks noGrp="1"/>
          </p:cNvSpPr>
          <p:nvPr/>
        </p:nvSpPr>
        <p:spPr>
          <a:xfrm>
            <a:off x="3276600" y="4276725"/>
            <a:ext cx="323850" cy="1714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01CAF2F-8505-4806-B977-302740CA7666}"/>
              </a:ext>
            </a:extLst>
          </p:cNvPr>
          <p:cNvSpPr>
            <a:spLocks noGrp="1"/>
          </p:cNvSpPr>
          <p:nvPr/>
        </p:nvSpPr>
        <p:spPr>
          <a:xfrm>
            <a:off x="819150" y="4467225"/>
            <a:ext cx="5238750" cy="381000"/>
          </a:xfrm>
          <a:prstGeom prst="roundRect">
            <a:avLst>
              <a:gd name="adj" fmla="val 30000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 / Validation / Test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76E5A82C-CDAC-4285-98A4-9DE6D4A054CE}"/>
              </a:ext>
            </a:extLst>
          </p:cNvPr>
          <p:cNvSpPr>
            <a:spLocks noGrp="1"/>
          </p:cNvSpPr>
          <p:nvPr/>
        </p:nvSpPr>
        <p:spPr>
          <a:xfrm>
            <a:off x="3276600" y="4867275"/>
            <a:ext cx="323850" cy="1714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13493C-0BA8-4FA1-A52A-133BBFC7DCDA}"/>
              </a:ext>
            </a:extLst>
          </p:cNvPr>
          <p:cNvSpPr>
            <a:spLocks noGrp="1"/>
          </p:cNvSpPr>
          <p:nvPr/>
        </p:nvSpPr>
        <p:spPr>
          <a:xfrm>
            <a:off x="819150" y="5057775"/>
            <a:ext cx="5238750" cy="381000"/>
          </a:xfrm>
          <a:prstGeom prst="roundRect">
            <a:avLst>
              <a:gd name="adj" fmla="val 30000"/>
            </a:avLst>
          </a:prstGeom>
          <a:solidFill>
            <a:srgbClr val="E6F4EF"/>
          </a:solidFill>
          <a:ln w="14288">
            <a:solidFill>
              <a:srgbClr val="2A8C6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A8C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8C6D"/>
                </a:solidFill>
                <a:latin typeface="Arial"/>
                <a:ea typeface="Arial"/>
                <a:cs typeface="Arial"/>
              </a:rPr>
              <a:t>Ready for CTR-GCN Training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02EFCF-18AD-4319-8A81-7B06C3D83D97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Validation comes from the original training split. The official test set remains unchanged.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BB6763-6ABD-4A72-BC0A-889FB2E003A0}"/>
              </a:ext>
            </a:extLst>
          </p:cNvPr>
          <p:cNvSpPr>
            <a:spLocks noGrp="1"/>
          </p:cNvSpPr>
          <p:nvPr/>
        </p:nvSpPr>
        <p:spPr>
          <a:xfrm>
            <a:off x="7124700" y="1333500"/>
            <a:ext cx="19050" cy="47625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0C738B-061D-482D-ACAD-4C8CEE4AF465}"/>
              </a:ext>
            </a:extLst>
          </p:cNvPr>
          <p:cNvSpPr>
            <a:spLocks noGrp="1"/>
          </p:cNvSpPr>
          <p:nvPr/>
        </p:nvSpPr>
        <p:spPr>
          <a:xfrm>
            <a:off x="7524750" y="13049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19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PoseC3D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FD94D12-F348-4314-977A-388748FF964E}"/>
              </a:ext>
            </a:extLst>
          </p:cNvPr>
          <p:cNvSpPr>
            <a:spLocks noGrp="1"/>
          </p:cNvSpPr>
          <p:nvPr/>
        </p:nvSpPr>
        <p:spPr>
          <a:xfrm>
            <a:off x="7524750" y="2057400"/>
            <a:ext cx="3333750" cy="342900"/>
          </a:xfrm>
          <a:prstGeom prst="roundRect">
            <a:avLst>
              <a:gd name="adj" fmla="val 38889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 fontScale="94787"/>
          </a:bodyPr>
          <a:lstStyle/>
          <a:p>
            <a:pPr algn="ctr">
              <a:defRPr sz="1200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●  Preprocessing In Progress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A40F532-4915-4EA0-AC71-6226D3E7D7E8}"/>
              </a:ext>
            </a:extLst>
          </p:cNvPr>
          <p:cNvSpPr>
            <a:spLocks noGrp="1"/>
          </p:cNvSpPr>
          <p:nvPr/>
        </p:nvSpPr>
        <p:spPr>
          <a:xfrm>
            <a:off x="7667625" y="2990850"/>
            <a:ext cx="3429000" cy="552450"/>
          </a:xfrm>
          <a:prstGeom prst="roundRect">
            <a:avLst>
              <a:gd name="adj" fmla="val 2069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Skeleton Data</a:t>
            </a: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EC6709CC-67CD-4DE6-BC32-32617BFD574C}"/>
              </a:ext>
            </a:extLst>
          </p:cNvPr>
          <p:cNvSpPr>
            <a:spLocks noGrp="1"/>
          </p:cNvSpPr>
          <p:nvPr/>
        </p:nvSpPr>
        <p:spPr>
          <a:xfrm>
            <a:off x="9220200" y="3590925"/>
            <a:ext cx="323850" cy="2476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83A2642-3043-4644-AD16-5AB0F0A7C7F1}"/>
              </a:ext>
            </a:extLst>
          </p:cNvPr>
          <p:cNvSpPr>
            <a:spLocks noGrp="1"/>
          </p:cNvSpPr>
          <p:nvPr/>
        </p:nvSpPr>
        <p:spPr>
          <a:xfrm>
            <a:off x="7667625" y="3886200"/>
            <a:ext cx="3429000" cy="552450"/>
          </a:xfrm>
          <a:prstGeom prst="roundRect">
            <a:avLst>
              <a:gd name="adj" fmla="val 20690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Pose / Heatmap Preparation</a:t>
            </a: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17758E97-923B-497B-8040-0AE5FA29E82E}"/>
              </a:ext>
            </a:extLst>
          </p:cNvPr>
          <p:cNvSpPr>
            <a:spLocks noGrp="1"/>
          </p:cNvSpPr>
          <p:nvPr/>
        </p:nvSpPr>
        <p:spPr>
          <a:xfrm>
            <a:off x="9220200" y="4486275"/>
            <a:ext cx="323850" cy="2476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04601CF-DBFC-4315-AC74-217F3400896C}"/>
              </a:ext>
            </a:extLst>
          </p:cNvPr>
          <p:cNvSpPr>
            <a:spLocks noGrp="1"/>
          </p:cNvSpPr>
          <p:nvPr/>
        </p:nvSpPr>
        <p:spPr>
          <a:xfrm>
            <a:off x="7667625" y="4781550"/>
            <a:ext cx="3429000" cy="552450"/>
          </a:xfrm>
          <a:prstGeom prst="roundRect">
            <a:avLst>
              <a:gd name="adj" fmla="val 2069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PoseC3D Input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85D581-C1FE-4C48-A3B5-6E7189BDA9D9}"/>
              </a:ext>
            </a:extLst>
          </p:cNvPr>
          <p:cNvSpPr>
            <a:spLocks noGrp="1"/>
          </p:cNvSpPr>
          <p:nvPr/>
        </p:nvSpPr>
        <p:spPr>
          <a:xfrm>
            <a:off x="7667625" y="57531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22"/>
          </a:bodyPr>
          <a:lstStyle/>
          <a:p>
            <a:pPr algn="ctr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Initial pose and heatmap preparation is underway</a:t>
            </a:r>
          </a:p>
        </p:txBody>
      </p:sp>
    </p:spTree>
    <p:extLst>
      <p:ext uri="{BB962C8B-B14F-4D97-AF65-F5344CB8AC3E}">
        <p14:creationId xmlns:p14="http://schemas.microsoft.com/office/powerpoint/2010/main" val="39120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05E4D62-3E18-4C7E-843A-6196073B0D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679C4D-4E52-49FE-BE07-08AFD968827E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3E434F-9879-4246-BA4D-CA4BBEFF50C1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Training Adaptation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0B2389-1C45-4C29-A4D0-BE373D64E35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FFA7E9-5529-4FF6-B059-5CD3A3D41966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51920C-A0DE-4A07-90F1-8BA5DC481CD8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08F173-8C7A-4B8F-B266-B51A232B0136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EBC610-5951-4EE5-96DF-305E808C444A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ORIGINAL PIPELINE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07A845-AD7D-4FC5-9A3E-B0E80DC004A0}"/>
              </a:ext>
            </a:extLst>
          </p:cNvPr>
          <p:cNvSpPr>
            <a:spLocks noGrp="1"/>
          </p:cNvSpPr>
          <p:nvPr/>
        </p:nvSpPr>
        <p:spPr>
          <a:xfrm>
            <a:off x="7029450" y="1381125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REQUIRED ADAPTATION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FBF124-13A6-404E-889C-374726F771CD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0BAFAD7A-6713-4521-89F6-5C7C28881D0C}"/>
              </a:ext>
            </a:extLst>
          </p:cNvPr>
          <p:cNvSpPr>
            <a:spLocks noGrp="1"/>
          </p:cNvSpPr>
          <p:nvPr/>
        </p:nvSpPr>
        <p:spPr>
          <a:xfrm>
            <a:off x="2609850" y="2714625"/>
            <a:ext cx="323850" cy="266700"/>
          </a:xfrm>
          <a:prstGeom prst="downArrow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563B5BB-3B50-49A5-A420-D129245C6A42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Original Feeder</a:t>
            </a: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42FDEEC6-4B1E-46D0-B954-342400E474E1}"/>
              </a:ext>
            </a:extLst>
          </p:cNvPr>
          <p:cNvSpPr>
            <a:spLocks noGrp="1"/>
          </p:cNvSpPr>
          <p:nvPr/>
        </p:nvSpPr>
        <p:spPr>
          <a:xfrm>
            <a:off x="2609850" y="3743325"/>
            <a:ext cx="323850" cy="266700"/>
          </a:xfrm>
          <a:prstGeom prst="downArrow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0B8840C-AADC-4BDC-A974-B387CF6DB582}"/>
              </a:ext>
            </a:extLst>
          </p:cNvPr>
          <p:cNvSpPr>
            <a:spLocks noGrp="1"/>
          </p:cNvSpPr>
          <p:nvPr/>
        </p:nvSpPr>
        <p:spPr>
          <a:xfrm>
            <a:off x="914400" y="4114800"/>
            <a:ext cx="3714750" cy="590550"/>
          </a:xfrm>
          <a:prstGeom prst="roundRect">
            <a:avLst>
              <a:gd name="adj" fmla="val 1935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 / Test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B4C9D5-D336-404A-B61F-73E915AE75E0}"/>
              </a:ext>
            </a:extLst>
          </p:cNvPr>
          <p:cNvSpPr>
            <a:spLocks noGrp="1"/>
          </p:cNvSpPr>
          <p:nvPr/>
        </p:nvSpPr>
        <p:spPr>
          <a:xfrm>
            <a:off x="5429250" y="2971800"/>
            <a:ext cx="857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7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2D2EF1-F06A-4312-BB81-B1ECE600256C}"/>
              </a:ext>
            </a:extLst>
          </p:cNvPr>
          <p:cNvSpPr>
            <a:spLocks noGrp="1"/>
          </p:cNvSpPr>
          <p:nvPr/>
        </p:nvSpPr>
        <p:spPr>
          <a:xfrm>
            <a:off x="5295900" y="3686175"/>
            <a:ext cx="1123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 algn="ctr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6296E82-12B3-492F-9B9A-B93CDFC52C83}"/>
              </a:ext>
            </a:extLst>
          </p:cNvPr>
          <p:cNvSpPr>
            <a:spLocks noGrp="1"/>
          </p:cNvSpPr>
          <p:nvPr/>
        </p:nvSpPr>
        <p:spPr>
          <a:xfrm>
            <a:off x="7248525" y="1809750"/>
            <a:ext cx="3657600" cy="514350"/>
          </a:xfrm>
          <a:prstGeom prst="roundRect">
            <a:avLst>
              <a:gd name="adj" fmla="val 22222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Interaction26 Dataset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FBB744-4162-4743-B8EB-0034566A7E16}"/>
              </a:ext>
            </a:extLst>
          </p:cNvPr>
          <p:cNvSpPr>
            <a:spLocks noGrp="1"/>
          </p:cNvSpPr>
          <p:nvPr/>
        </p:nvSpPr>
        <p:spPr>
          <a:xfrm>
            <a:off x="8648700" y="2295525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115" lnSpcReduction="10000"/>
          </a:bodyPr>
          <a:lstStyle/>
          <a:p>
            <a:pPr algn="ctr">
              <a:defRPr sz="19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EDADA9-A6AA-4A1F-829F-9B5BFEC2F90A}"/>
              </a:ext>
            </a:extLst>
          </p:cNvPr>
          <p:cNvSpPr>
            <a:spLocks noGrp="1"/>
          </p:cNvSpPr>
          <p:nvPr/>
        </p:nvSpPr>
        <p:spPr>
          <a:xfrm>
            <a:off x="7248525" y="2600325"/>
            <a:ext cx="3657600" cy="514350"/>
          </a:xfrm>
          <a:prstGeom prst="roundRect">
            <a:avLst>
              <a:gd name="adj" fmla="val 22222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 / Validation Split Index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9A372E02-F755-43E0-BF8E-20E29D7658D4}"/>
              </a:ext>
            </a:extLst>
          </p:cNvPr>
          <p:cNvSpPr>
            <a:spLocks noGrp="1"/>
          </p:cNvSpPr>
          <p:nvPr/>
        </p:nvSpPr>
        <p:spPr>
          <a:xfrm>
            <a:off x="8915400" y="317182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668B3CF-7374-49CC-8284-763ACADD8BFB}"/>
              </a:ext>
            </a:extLst>
          </p:cNvPr>
          <p:cNvSpPr>
            <a:spLocks noGrp="1"/>
          </p:cNvSpPr>
          <p:nvPr/>
        </p:nvSpPr>
        <p:spPr>
          <a:xfrm>
            <a:off x="7248525" y="3457575"/>
            <a:ext cx="3657600" cy="552450"/>
          </a:xfrm>
          <a:prstGeom prst="roundRect">
            <a:avLst>
              <a:gd name="adj" fmla="val 20690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Adapted Feeder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D19C7F36-16FE-487D-B152-5DB5466A2703}"/>
              </a:ext>
            </a:extLst>
          </p:cNvPr>
          <p:cNvSpPr>
            <a:spLocks noGrp="1"/>
          </p:cNvSpPr>
          <p:nvPr/>
        </p:nvSpPr>
        <p:spPr>
          <a:xfrm>
            <a:off x="8915400" y="406717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6589E5C-A02B-4ED2-AA72-8882799EDC1E}"/>
              </a:ext>
            </a:extLst>
          </p:cNvPr>
          <p:cNvSpPr>
            <a:spLocks noGrp="1"/>
          </p:cNvSpPr>
          <p:nvPr/>
        </p:nvSpPr>
        <p:spPr>
          <a:xfrm>
            <a:off x="7248525" y="4352925"/>
            <a:ext cx="3657600" cy="552450"/>
          </a:xfrm>
          <a:prstGeom prst="roundRect">
            <a:avLst>
              <a:gd name="adj" fmla="val 20690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 / Validation / Test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1398A667-D7BF-49DF-B3A7-92155696EA49}"/>
              </a:ext>
            </a:extLst>
          </p:cNvPr>
          <p:cNvSpPr>
            <a:spLocks noGrp="1"/>
          </p:cNvSpPr>
          <p:nvPr/>
        </p:nvSpPr>
        <p:spPr>
          <a:xfrm>
            <a:off x="8915400" y="4962525"/>
            <a:ext cx="323850" cy="228600"/>
          </a:xfrm>
          <a:prstGeom prst="downArrow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4A77B31-4AC6-484B-A7D1-8AD3F09479A1}"/>
              </a:ext>
            </a:extLst>
          </p:cNvPr>
          <p:cNvSpPr>
            <a:spLocks noGrp="1"/>
          </p:cNvSpPr>
          <p:nvPr/>
        </p:nvSpPr>
        <p:spPr>
          <a:xfrm>
            <a:off x="7248525" y="5248275"/>
            <a:ext cx="3657600" cy="552450"/>
          </a:xfrm>
          <a:prstGeom prst="roundRect">
            <a:avLst>
              <a:gd name="adj" fmla="val 20690"/>
            </a:avLst>
          </a:prstGeom>
          <a:solidFill>
            <a:srgbClr val="1B1D63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CTR-GCN Training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4384FCF-8721-490B-B66B-6B8F7D3ABE9D}"/>
              </a:ext>
            </a:extLst>
          </p:cNvPr>
          <p:cNvSpPr>
            <a:spLocks noGrp="1"/>
          </p:cNvSpPr>
          <p:nvPr/>
        </p:nvSpPr>
        <p:spPr>
          <a:xfrm>
            <a:off x="752475" y="5553075"/>
            <a:ext cx="5772150" cy="552450"/>
          </a:xfrm>
          <a:prstGeom prst="roundRect">
            <a:avLst>
              <a:gd name="adj" fmla="val 17241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 fontScale="93295"/>
          </a:bodyPr>
          <a:lstStyle/>
          <a:p>
            <a:pPr algn="ctr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New feeder logic and YAML configuration are required for the new Train/Validation setup.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92A313F-2DF2-4E6E-B81B-FC2161DB62B4}"/>
              </a:ext>
            </a:extLst>
          </p:cNvPr>
          <p:cNvSpPr>
            <a:spLocks noGrp="1"/>
          </p:cNvSpPr>
          <p:nvPr/>
        </p:nvSpPr>
        <p:spPr>
          <a:xfrm>
            <a:off x="6553200" y="6019800"/>
            <a:ext cx="47625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Split Index   ·   26 Classes   ·   Two-stream   ·   Training Config</a:t>
            </a:r>
          </a:p>
        </p:txBody>
      </p:sp>
    </p:spTree>
    <p:extLst>
      <p:ext uri="{BB962C8B-B14F-4D97-AF65-F5344CB8AC3E}">
        <p14:creationId xmlns:p14="http://schemas.microsoft.com/office/powerpoint/2010/main" val="36159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6BB1CA63-EFD3-4628-9A84-84551637E4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AD29FD-D464-47F6-94FB-7B75EB09EA9F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A9B34-29BA-43E2-B49D-A8BA83440552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Baseline Task Allocation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447F31-B14E-484E-9850-A332D7673A03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D53BA1-E5C0-4E2F-AD20-0C4135A66240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C98D1D-2C39-469A-BA8C-DA1FA705D02E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A4859E-E720-4411-96E1-210341B9AC60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4864A57-AA34-434F-BAFE-3D4B0DE794E9}"/>
              </a:ext>
            </a:extLst>
          </p:cNvPr>
          <p:cNvSpPr>
            <a:spLocks noGrp="1"/>
          </p:cNvSpPr>
          <p:nvPr/>
        </p:nvSpPr>
        <p:spPr>
          <a:xfrm>
            <a:off x="4762500" y="1304925"/>
            <a:ext cx="2667000" cy="457200"/>
          </a:xfrm>
          <a:prstGeom prst="roundRect">
            <a:avLst>
              <a:gd name="adj" fmla="val 25000"/>
            </a:avLst>
          </a:prstGeom>
          <a:solidFill>
            <a:srgbClr val="1B1D63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BASELINES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DCFACCA5-8CD7-420F-8E89-47FFD2BBF50F}"/>
              </a:ext>
            </a:extLst>
          </p:cNvPr>
          <p:cNvSpPr>
            <a:spLocks noGrp="1"/>
          </p:cNvSpPr>
          <p:nvPr/>
        </p:nvSpPr>
        <p:spPr>
          <a:xfrm>
            <a:off x="5934075" y="1828800"/>
            <a:ext cx="323850" cy="238125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281120-5E24-4610-8F17-2355A2E882E6}"/>
              </a:ext>
            </a:extLst>
          </p:cNvPr>
          <p:cNvSpPr>
            <a:spLocks noGrp="1"/>
          </p:cNvSpPr>
          <p:nvPr/>
        </p:nvSpPr>
        <p:spPr>
          <a:xfrm>
            <a:off x="2943225" y="2105025"/>
            <a:ext cx="6305550" cy="2857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F53D42-62F6-45CD-9386-8C27276B8776}"/>
              </a:ext>
            </a:extLst>
          </p:cNvPr>
          <p:cNvSpPr>
            <a:spLocks noGrp="1"/>
          </p:cNvSpPr>
          <p:nvPr/>
        </p:nvSpPr>
        <p:spPr>
          <a:xfrm>
            <a:off x="2943225" y="2105025"/>
            <a:ext cx="28575" cy="32385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45A682-05CC-4118-9E5B-D76E8DC5EB59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8575" cy="32385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86A4D7C-0613-4247-B827-6B475C400C98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4095750" cy="514350"/>
          </a:xfrm>
          <a:prstGeom prst="roundRect">
            <a:avLst>
              <a:gd name="adj" fmla="val 22222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32E8EF8-221D-4817-8428-8033D21AD9B8}"/>
              </a:ext>
            </a:extLst>
          </p:cNvPr>
          <p:cNvSpPr>
            <a:spLocks noGrp="1"/>
          </p:cNvSpPr>
          <p:nvPr/>
        </p:nvSpPr>
        <p:spPr>
          <a:xfrm>
            <a:off x="6743700" y="2428875"/>
            <a:ext cx="4095750" cy="514350"/>
          </a:xfrm>
          <a:prstGeom prst="roundRect">
            <a:avLst>
              <a:gd name="adj" fmla="val 22222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PoseC3D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DA17EE3-252F-43A7-BE88-4C6FA51A99FB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2286000" cy="971550"/>
          </a:xfrm>
          <a:prstGeom prst="roundRect">
            <a:avLst>
              <a:gd name="adj" fmla="val 1176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Original Weight Test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1F21F2-A363-499A-B3A1-F464E8C51A5D}"/>
              </a:ext>
            </a:extLst>
          </p:cNvPr>
          <p:cNvSpPr>
            <a:spLocks noGrp="1"/>
          </p:cNvSpPr>
          <p:nvPr/>
        </p:nvSpPr>
        <p:spPr>
          <a:xfrm>
            <a:off x="809625" y="43910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Baseline verification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2FCADB7-3D81-4A50-9EE6-611ECF2A50CF}"/>
              </a:ext>
            </a:extLst>
          </p:cNvPr>
          <p:cNvSpPr>
            <a:spLocks noGrp="1"/>
          </p:cNvSpPr>
          <p:nvPr/>
        </p:nvSpPr>
        <p:spPr>
          <a:xfrm>
            <a:off x="1152525" y="4905375"/>
            <a:ext cx="1600200" cy="361950"/>
          </a:xfrm>
          <a:prstGeom prst="roundRect">
            <a:avLst>
              <a:gd name="adj" fmla="val 42105"/>
            </a:avLst>
          </a:prstGeom>
          <a:solidFill>
            <a:srgbClr val="1B1D63"/>
          </a:solidFill>
          <a:ln w="0">
            <a:noFill/>
          </a:ln>
        </p:spPr>
        <p:txBody>
          <a:bodyPr anchor="ctr">
            <a:normAutofit fontScale="93272"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 1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9DFD84D-09B5-478B-B707-95DEAA4427F2}"/>
              </a:ext>
            </a:extLst>
          </p:cNvPr>
          <p:cNvSpPr>
            <a:spLocks noGrp="1"/>
          </p:cNvSpPr>
          <p:nvPr/>
        </p:nvSpPr>
        <p:spPr>
          <a:xfrm>
            <a:off x="3476625" y="3333750"/>
            <a:ext cx="2286000" cy="971550"/>
          </a:xfrm>
          <a:prstGeom prst="roundRect">
            <a:avLst>
              <a:gd name="adj" fmla="val 11765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Two-stream Training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FA1517-346A-4893-9CB2-EF5A28B72C42}"/>
              </a:ext>
            </a:extLst>
          </p:cNvPr>
          <p:cNvSpPr>
            <a:spLocks noGrp="1"/>
          </p:cNvSpPr>
          <p:nvPr/>
        </p:nvSpPr>
        <p:spPr>
          <a:xfrm>
            <a:off x="3476625" y="43910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Interaction26 retraining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A5DB454-6682-4989-B458-CF885844DC07}"/>
              </a:ext>
            </a:extLst>
          </p:cNvPr>
          <p:cNvSpPr>
            <a:spLocks noGrp="1"/>
          </p:cNvSpPr>
          <p:nvPr/>
        </p:nvSpPr>
        <p:spPr>
          <a:xfrm>
            <a:off x="3819525" y="4905375"/>
            <a:ext cx="1600200" cy="361950"/>
          </a:xfrm>
          <a:prstGeom prst="roundRect">
            <a:avLst>
              <a:gd name="adj" fmla="val 42105"/>
            </a:avLst>
          </a:prstGeom>
          <a:solidFill>
            <a:srgbClr val="1B1D63"/>
          </a:solidFill>
          <a:ln w="0">
            <a:noFill/>
          </a:ln>
        </p:spPr>
        <p:txBody>
          <a:bodyPr anchor="ctr">
            <a:normAutofit fontScale="93272"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 2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46E06B-E1C9-48A6-89FF-1745DB3C6E10}"/>
              </a:ext>
            </a:extLst>
          </p:cNvPr>
          <p:cNvSpPr>
            <a:spLocks noGrp="1"/>
          </p:cNvSpPr>
          <p:nvPr/>
        </p:nvSpPr>
        <p:spPr>
          <a:xfrm>
            <a:off x="6143625" y="3333750"/>
            <a:ext cx="2286000" cy="971550"/>
          </a:xfrm>
          <a:prstGeom prst="roundRect">
            <a:avLst>
              <a:gd name="adj" fmla="val 11765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PoseC3D Original Weight Test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ABDE1B-AEAD-4180-8CE3-1D185CE9CEA7}"/>
              </a:ext>
            </a:extLst>
          </p:cNvPr>
          <p:cNvSpPr>
            <a:spLocks noGrp="1"/>
          </p:cNvSpPr>
          <p:nvPr/>
        </p:nvSpPr>
        <p:spPr>
          <a:xfrm>
            <a:off x="6143625" y="43910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Baseline verification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3BFA91E-1787-4974-A976-231B8D745B84}"/>
              </a:ext>
            </a:extLst>
          </p:cNvPr>
          <p:cNvSpPr>
            <a:spLocks noGrp="1"/>
          </p:cNvSpPr>
          <p:nvPr/>
        </p:nvSpPr>
        <p:spPr>
          <a:xfrm>
            <a:off x="6486525" y="4905375"/>
            <a:ext cx="1600200" cy="361950"/>
          </a:xfrm>
          <a:prstGeom prst="roundRect">
            <a:avLst>
              <a:gd name="adj" fmla="val 42105"/>
            </a:avLst>
          </a:prstGeom>
          <a:solidFill>
            <a:srgbClr val="E31346"/>
          </a:solidFill>
          <a:ln w="0">
            <a:noFill/>
          </a:ln>
        </p:spPr>
        <p:txBody>
          <a:bodyPr anchor="ctr">
            <a:normAutofit fontScale="93272"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 3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00F516B-EF25-49A6-BD00-7CC12A42D1F1}"/>
              </a:ext>
            </a:extLst>
          </p:cNvPr>
          <p:cNvSpPr>
            <a:spLocks noGrp="1"/>
          </p:cNvSpPr>
          <p:nvPr/>
        </p:nvSpPr>
        <p:spPr>
          <a:xfrm>
            <a:off x="8810625" y="3333750"/>
            <a:ext cx="2286000" cy="971550"/>
          </a:xfrm>
          <a:prstGeom prst="roundRect">
            <a:avLst>
              <a:gd name="adj" fmla="val 11765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PoseC3D Subset Training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F694E7-E491-4E1F-BB6F-0B9DD1479B09}"/>
              </a:ext>
            </a:extLst>
          </p:cNvPr>
          <p:cNvSpPr>
            <a:spLocks noGrp="1"/>
          </p:cNvSpPr>
          <p:nvPr/>
        </p:nvSpPr>
        <p:spPr>
          <a:xfrm>
            <a:off x="8810625" y="4391025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Interaction26 retraining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12FC929-85CA-4961-AAFD-143CF95AF3C2}"/>
              </a:ext>
            </a:extLst>
          </p:cNvPr>
          <p:cNvSpPr>
            <a:spLocks noGrp="1"/>
          </p:cNvSpPr>
          <p:nvPr/>
        </p:nvSpPr>
        <p:spPr>
          <a:xfrm>
            <a:off x="9153525" y="4905375"/>
            <a:ext cx="1600200" cy="361950"/>
          </a:xfrm>
          <a:prstGeom prst="roundRect">
            <a:avLst>
              <a:gd name="adj" fmla="val 42105"/>
            </a:avLst>
          </a:prstGeom>
          <a:solidFill>
            <a:srgbClr val="E31346"/>
          </a:solidFill>
          <a:ln w="0">
            <a:noFill/>
          </a:ln>
        </p:spPr>
        <p:txBody>
          <a:bodyPr anchor="ctr">
            <a:normAutofit fontScale="93272"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Member 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876BA8-140B-41A9-A3A2-FE1EBC4DFDE2}"/>
              </a:ext>
            </a:extLst>
          </p:cNvPr>
          <p:cNvSpPr>
            <a:spLocks noGrp="1"/>
          </p:cNvSpPr>
          <p:nvPr/>
        </p:nvSpPr>
        <p:spPr>
          <a:xfrm>
            <a:off x="3705225" y="5819775"/>
            <a:ext cx="47815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Four independent baseline deliverables</a:t>
            </a:r>
          </a:p>
        </p:txBody>
      </p:sp>
    </p:spTree>
    <p:extLst>
      <p:ext uri="{BB962C8B-B14F-4D97-AF65-F5344CB8AC3E}">
        <p14:creationId xmlns:p14="http://schemas.microsoft.com/office/powerpoint/2010/main" val="119029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F062BDB-FC66-40D9-9B97-96D6435D3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12981A-7C75-4AD8-B7B8-8CDD377364C7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6E50B9-8B09-4352-B3C8-1B0CB71E3113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Experiment &amp; Evaluation Development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2A703C-D748-40FA-99E1-E3CCE9F7C83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9910E6-85F9-4607-8940-A3E33DE508CE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AAF21EF-3147-49A9-BE59-9137907BC22D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96BAA8-C69F-4203-A39A-943F776984BF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BBBA938-747D-46FF-BCAF-F2BAFDCA09FA}"/>
              </a:ext>
            </a:extLst>
          </p:cNvPr>
          <p:cNvSpPr>
            <a:spLocks noGrp="1"/>
          </p:cNvSpPr>
          <p:nvPr/>
        </p:nvSpPr>
        <p:spPr>
          <a:xfrm>
            <a:off x="533400" y="1343025"/>
            <a:ext cx="3295650" cy="609600"/>
          </a:xfrm>
          <a:prstGeom prst="roundRect">
            <a:avLst>
              <a:gd name="adj" fmla="val 18750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Unified Evaluation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203C426-2CD8-4ABF-8D63-5C9945912CB6}"/>
              </a:ext>
            </a:extLst>
          </p:cNvPr>
          <p:cNvSpPr>
            <a:spLocks noGrp="1"/>
          </p:cNvSpPr>
          <p:nvPr/>
        </p:nvSpPr>
        <p:spPr>
          <a:xfrm>
            <a:off x="4162425" y="1343025"/>
            <a:ext cx="3295650" cy="609600"/>
          </a:xfrm>
          <a:prstGeom prst="roundRect">
            <a:avLst>
              <a:gd name="adj" fmla="val 1875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Experiment 3</a:t>
            </a:r>
          </a:p>
          <a:p>
            <a:pPr algn="ctr">
              <a:defRPr sz="12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Identity / Person-slot Swap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515BBB3-A1BE-45DD-8CC6-08C21A11F6B9}"/>
              </a:ext>
            </a:extLst>
          </p:cNvPr>
          <p:cNvSpPr>
            <a:spLocks noGrp="1"/>
          </p:cNvSpPr>
          <p:nvPr/>
        </p:nvSpPr>
        <p:spPr>
          <a:xfrm>
            <a:off x="7791450" y="1343025"/>
            <a:ext cx="3295650" cy="609600"/>
          </a:xfrm>
          <a:prstGeom prst="roundRect">
            <a:avLst>
              <a:gd name="adj" fmla="val 18750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Experiment 4</a:t>
            </a:r>
          </a:p>
          <a:p>
            <a:pPr algn="ctr">
              <a:defRPr sz="1275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Asymmetric Interaction Analysis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AD1465-4294-4D00-B671-C49BFA4060E4}"/>
              </a:ext>
            </a:extLst>
          </p:cNvPr>
          <p:cNvSpPr>
            <a:spLocks noGrp="1"/>
          </p:cNvSpPr>
          <p:nvPr/>
        </p:nvSpPr>
        <p:spPr>
          <a:xfrm>
            <a:off x="533400" y="2143125"/>
            <a:ext cx="32956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+ PoseC3D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2B33822-8577-4C7C-A7F9-28A4753D2472}"/>
              </a:ext>
            </a:extLst>
          </p:cNvPr>
          <p:cNvSpPr>
            <a:spLocks noGrp="1"/>
          </p:cNvSpPr>
          <p:nvPr/>
        </p:nvSpPr>
        <p:spPr>
          <a:xfrm>
            <a:off x="923925" y="2781300"/>
            <a:ext cx="2514600" cy="361950"/>
          </a:xfrm>
          <a:prstGeom prst="roundRect">
            <a:avLst>
              <a:gd name="adj" fmla="val 23684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Top-1 Accuracy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541C18-C534-4F18-8E79-550E144D0486}"/>
              </a:ext>
            </a:extLst>
          </p:cNvPr>
          <p:cNvSpPr>
            <a:spLocks noGrp="1"/>
          </p:cNvSpPr>
          <p:nvPr/>
        </p:nvSpPr>
        <p:spPr>
          <a:xfrm>
            <a:off x="923925" y="3305175"/>
            <a:ext cx="2514600" cy="361950"/>
          </a:xfrm>
          <a:prstGeom prst="roundRect">
            <a:avLst>
              <a:gd name="adj" fmla="val 23684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EDC51C9-A80F-489A-BCD4-C12F64174C0B}"/>
              </a:ext>
            </a:extLst>
          </p:cNvPr>
          <p:cNvSpPr>
            <a:spLocks noGrp="1"/>
          </p:cNvSpPr>
          <p:nvPr/>
        </p:nvSpPr>
        <p:spPr>
          <a:xfrm>
            <a:off x="923925" y="3829050"/>
            <a:ext cx="2514600" cy="361950"/>
          </a:xfrm>
          <a:prstGeom prst="roundRect">
            <a:avLst>
              <a:gd name="adj" fmla="val 23684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Per-class Recall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9DAA3B3-B6C1-4FB4-9527-3D7177B74DBC}"/>
              </a:ext>
            </a:extLst>
          </p:cNvPr>
          <p:cNvSpPr>
            <a:spLocks noGrp="1"/>
          </p:cNvSpPr>
          <p:nvPr/>
        </p:nvSpPr>
        <p:spPr>
          <a:xfrm>
            <a:off x="923925" y="4352925"/>
            <a:ext cx="2514600" cy="361950"/>
          </a:xfrm>
          <a:prstGeom prst="roundRect">
            <a:avLst>
              <a:gd name="adj" fmla="val 23684"/>
            </a:avLst>
          </a:prstGeom>
          <a:solidFill>
            <a:srgbClr val="F6F7FB"/>
          </a:solidFill>
          <a:ln w="14288">
            <a:solidFill>
              <a:srgbClr val="D9DDE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Confusion Matrix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86353E-65B7-4F70-BA0A-06F8AF7052E4}"/>
              </a:ext>
            </a:extLst>
          </p:cNvPr>
          <p:cNvSpPr>
            <a:spLocks noGrp="1"/>
          </p:cNvSpPr>
          <p:nvPr/>
        </p:nvSpPr>
        <p:spPr>
          <a:xfrm>
            <a:off x="4162425" y="2200275"/>
            <a:ext cx="32956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Person A        Person B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1062267D-04A4-4CE7-BB89-6AE6179B1EF8}"/>
              </a:ext>
            </a:extLst>
          </p:cNvPr>
          <p:cNvSpPr>
            <a:spLocks noGrp="1"/>
          </p:cNvSpPr>
          <p:nvPr/>
        </p:nvSpPr>
        <p:spPr>
          <a:xfrm>
            <a:off x="5648325" y="2638425"/>
            <a:ext cx="323850" cy="2476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5EC0EF-1117-41A3-B611-E70FEA3D6F4E}"/>
              </a:ext>
            </a:extLst>
          </p:cNvPr>
          <p:cNvSpPr>
            <a:spLocks noGrp="1"/>
          </p:cNvSpPr>
          <p:nvPr/>
        </p:nvSpPr>
        <p:spPr>
          <a:xfrm>
            <a:off x="5124450" y="2971800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E31346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SWAP</a:t>
            </a: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39718D76-95D8-40F1-B0FD-427922EDB666}"/>
              </a:ext>
            </a:extLst>
          </p:cNvPr>
          <p:cNvSpPr>
            <a:spLocks noGrp="1"/>
          </p:cNvSpPr>
          <p:nvPr/>
        </p:nvSpPr>
        <p:spPr>
          <a:xfrm>
            <a:off x="5648325" y="3505200"/>
            <a:ext cx="323850" cy="24765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E00CE2-36C6-4ADA-A7EA-F541B0121B33}"/>
              </a:ext>
            </a:extLst>
          </p:cNvPr>
          <p:cNvSpPr>
            <a:spLocks noGrp="1"/>
          </p:cNvSpPr>
          <p:nvPr/>
        </p:nvSpPr>
        <p:spPr>
          <a:xfrm>
            <a:off x="4162425" y="3838575"/>
            <a:ext cx="32956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Person B        Person A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3EE853-E261-454B-A78D-023096F933F8}"/>
              </a:ext>
            </a:extLst>
          </p:cNvPr>
          <p:cNvSpPr>
            <a:spLocks noGrp="1"/>
          </p:cNvSpPr>
          <p:nvPr/>
        </p:nvSpPr>
        <p:spPr>
          <a:xfrm>
            <a:off x="4543425" y="4448175"/>
            <a:ext cx="2533650" cy="552450"/>
          </a:xfrm>
          <a:prstGeom prst="roundRect">
            <a:avLst>
              <a:gd name="adj" fmla="val 2069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Prediction Consistency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4A70C0-D328-46C5-9072-4815649B1A52}"/>
              </a:ext>
            </a:extLst>
          </p:cNvPr>
          <p:cNvSpPr>
            <a:spLocks noGrp="1"/>
          </p:cNvSpPr>
          <p:nvPr/>
        </p:nvSpPr>
        <p:spPr>
          <a:xfrm>
            <a:off x="4133850" y="5238750"/>
            <a:ext cx="335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Sequence Swap   ·   Temporal Disruption   ·   TV Distance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90A1DF-FF2D-4380-A5D5-0537E60E2D93}"/>
              </a:ext>
            </a:extLst>
          </p:cNvPr>
          <p:cNvSpPr>
            <a:spLocks noGrp="1"/>
          </p:cNvSpPr>
          <p:nvPr/>
        </p:nvSpPr>
        <p:spPr>
          <a:xfrm>
            <a:off x="7981950" y="2200275"/>
            <a:ext cx="2914650" cy="495300"/>
          </a:xfrm>
          <a:prstGeom prst="roundRect">
            <a:avLst>
              <a:gd name="adj" fmla="val 23077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26 Interaction Classes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4408FCFA-3A80-45E3-B2AC-0E79E2FE750A}"/>
              </a:ext>
            </a:extLst>
          </p:cNvPr>
          <p:cNvSpPr>
            <a:spLocks noGrp="1"/>
          </p:cNvSpPr>
          <p:nvPr/>
        </p:nvSpPr>
        <p:spPr>
          <a:xfrm>
            <a:off x="9277350" y="2771775"/>
            <a:ext cx="323850" cy="238125"/>
          </a:xfrm>
          <a:prstGeom prst="downArrow">
            <a:avLst/>
          </a:prstGeom>
          <a:solidFill>
            <a:srgbClr val="38AFA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D3BAD0-4132-4488-A684-90B6A509EB73}"/>
              </a:ext>
            </a:extLst>
          </p:cNvPr>
          <p:cNvSpPr>
            <a:spLocks noGrp="1"/>
          </p:cNvSpPr>
          <p:nvPr/>
        </p:nvSpPr>
        <p:spPr>
          <a:xfrm>
            <a:off x="8572500" y="3048000"/>
            <a:ext cx="1733550" cy="2857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8EDB97-BFA0-4B31-B96F-1CE61DE2AF07}"/>
              </a:ext>
            </a:extLst>
          </p:cNvPr>
          <p:cNvSpPr>
            <a:spLocks noGrp="1"/>
          </p:cNvSpPr>
          <p:nvPr/>
        </p:nvSpPr>
        <p:spPr>
          <a:xfrm>
            <a:off x="8572500" y="3048000"/>
            <a:ext cx="28575" cy="32385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727B37-F18F-49DD-957D-6177ED044B0F}"/>
              </a:ext>
            </a:extLst>
          </p:cNvPr>
          <p:cNvSpPr>
            <a:spLocks noGrp="1"/>
          </p:cNvSpPr>
          <p:nvPr/>
        </p:nvSpPr>
        <p:spPr>
          <a:xfrm>
            <a:off x="10296525" y="3048000"/>
            <a:ext cx="28575" cy="32385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9A575E8-4ED3-4B2D-86D0-A4293B177B05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1381125" cy="552450"/>
          </a:xfrm>
          <a:prstGeom prst="roundRect">
            <a:avLst>
              <a:gd name="adj" fmla="val 20690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Symmetric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10FC855-D380-4330-9D52-8CDF8C939911}"/>
              </a:ext>
            </a:extLst>
          </p:cNvPr>
          <p:cNvSpPr>
            <a:spLocks noGrp="1"/>
          </p:cNvSpPr>
          <p:nvPr/>
        </p:nvSpPr>
        <p:spPr>
          <a:xfrm>
            <a:off x="9601200" y="3371850"/>
            <a:ext cx="1381125" cy="552450"/>
          </a:xfrm>
          <a:prstGeom prst="roundRect">
            <a:avLst>
              <a:gd name="adj" fmla="val 20690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Asymmetric</a:t>
            </a: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4426A3FC-E8EF-4042-AF54-B8B07278042B}"/>
              </a:ext>
            </a:extLst>
          </p:cNvPr>
          <p:cNvSpPr>
            <a:spLocks noGrp="1"/>
          </p:cNvSpPr>
          <p:nvPr/>
        </p:nvSpPr>
        <p:spPr>
          <a:xfrm>
            <a:off x="9277350" y="4105275"/>
            <a:ext cx="323850" cy="247650"/>
          </a:xfrm>
          <a:prstGeom prst="downArrow">
            <a:avLst/>
          </a:prstGeom>
          <a:solidFill>
            <a:srgbClr val="38AFA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61BF1D4-D6A8-4994-AA58-CFFC4DAAD854}"/>
              </a:ext>
            </a:extLst>
          </p:cNvPr>
          <p:cNvSpPr>
            <a:spLocks noGrp="1"/>
          </p:cNvSpPr>
          <p:nvPr/>
        </p:nvSpPr>
        <p:spPr>
          <a:xfrm>
            <a:off x="8124825" y="4514850"/>
            <a:ext cx="2628900" cy="552450"/>
          </a:xfrm>
          <a:prstGeom prst="roundRect">
            <a:avLst>
              <a:gd name="adj" fmla="val 20690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Mean Recall Comparison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6AD6AD-7116-4AF1-922D-FD2670AD8DCA}"/>
              </a:ext>
            </a:extLst>
          </p:cNvPr>
          <p:cNvSpPr>
            <a:spLocks noGrp="1"/>
          </p:cNvSpPr>
          <p:nvPr/>
        </p:nvSpPr>
        <p:spPr>
          <a:xfrm>
            <a:off x="2095500" y="5953125"/>
            <a:ext cx="800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Experiments 1 &amp; 2 are integrated into the cross-model evaluation pipeline</a:t>
            </a:r>
          </a:p>
        </p:txBody>
      </p:sp>
    </p:spTree>
    <p:extLst>
      <p:ext uri="{BB962C8B-B14F-4D97-AF65-F5344CB8AC3E}">
        <p14:creationId xmlns:p14="http://schemas.microsoft.com/office/powerpoint/2010/main" val="46757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3E77A9A-D174-4343-985A-392536AC17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B11D5F-E0F1-4E4C-A636-C624A0B54C6E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E66390-F014-4CF2-B96F-0DEF0ECD21BE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Training Platform &amp; Deployment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E21DB7-5FED-46A5-9EF2-7193733D4756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F26F3-535D-4B00-8070-7461FB3CF2A5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E0DD41-6CC5-41DB-8C02-DA1A200A413D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CA2659-244A-4F8E-B0DC-28B0C3E10A2D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665672-1A4C-47B8-A4B8-90B58C42E751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39052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FINAL TRAINING PLATFORM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6AE2B-8D74-4461-B78D-AE2D2605755D}"/>
              </a:ext>
            </a:extLst>
          </p:cNvPr>
          <p:cNvSpPr>
            <a:spLocks noGrp="1"/>
          </p:cNvSpPr>
          <p:nvPr/>
        </p:nvSpPr>
        <p:spPr>
          <a:xfrm>
            <a:off x="628650" y="16097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School Laboratory GPU Server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6C3522-166D-4C82-9376-E2DAFC8A0574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Provided by our mentor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2D3F744-C4D7-4830-A554-BAEBAF1BCFC6}"/>
              </a:ext>
            </a:extLst>
          </p:cNvPr>
          <p:cNvSpPr>
            <a:spLocks noGrp="1"/>
          </p:cNvSpPr>
          <p:nvPr/>
        </p:nvSpPr>
        <p:spPr>
          <a:xfrm>
            <a:off x="885825" y="2781300"/>
            <a:ext cx="1257300" cy="1257300"/>
          </a:xfrm>
          <a:prstGeom prst="ellipse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167FEE-52A6-4D7D-8FC6-9ED053D7AC66}"/>
              </a:ext>
            </a:extLst>
          </p:cNvPr>
          <p:cNvSpPr>
            <a:spLocks noGrp="1"/>
          </p:cNvSpPr>
          <p:nvPr/>
        </p:nvSpPr>
        <p:spPr>
          <a:xfrm>
            <a:off x="885825" y="2781300"/>
            <a:ext cx="125730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DABA19-92A2-447A-AE68-80E988D6E70B}"/>
              </a:ext>
            </a:extLst>
          </p:cNvPr>
          <p:cNvSpPr>
            <a:spLocks noGrp="1"/>
          </p:cNvSpPr>
          <p:nvPr/>
        </p:nvSpPr>
        <p:spPr>
          <a:xfrm>
            <a:off x="2505075" y="2838450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3 × NVIDIA RTX 3090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C7C2E9-88DA-4A74-9AA2-6D59CE593985}"/>
              </a:ext>
            </a:extLst>
          </p:cNvPr>
          <p:cNvSpPr>
            <a:spLocks noGrp="1"/>
          </p:cNvSpPr>
          <p:nvPr/>
        </p:nvSpPr>
        <p:spPr>
          <a:xfrm>
            <a:off x="2505075" y="34575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Project GPU allocation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35BD6C-9189-4241-828D-48BB5FCBD681}"/>
              </a:ext>
            </a:extLst>
          </p:cNvPr>
          <p:cNvSpPr>
            <a:spLocks noGrp="1"/>
          </p:cNvSpPr>
          <p:nvPr/>
        </p:nvSpPr>
        <p:spPr>
          <a:xfrm>
            <a:off x="2505075" y="3962400"/>
            <a:ext cx="3905250" cy="495300"/>
          </a:xfrm>
          <a:prstGeom prst="roundRect">
            <a:avLst>
              <a:gd name="adj" fmla="val 19231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/mnt/data/6008/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09A6A8-F791-4D78-AEB8-7A039AF40E8C}"/>
              </a:ext>
            </a:extLst>
          </p:cNvPr>
          <p:cNvSpPr>
            <a:spLocks noGrp="1"/>
          </p:cNvSpPr>
          <p:nvPr/>
        </p:nvSpPr>
        <p:spPr>
          <a:xfrm>
            <a:off x="2505075" y="4524375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Dedicated group account and project workspace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AFC9136-01FA-439E-8F7D-8F19A2FDA60F}"/>
              </a:ext>
            </a:extLst>
          </p:cNvPr>
          <p:cNvSpPr>
            <a:spLocks noGrp="1"/>
          </p:cNvSpPr>
          <p:nvPr/>
        </p:nvSpPr>
        <p:spPr>
          <a:xfrm>
            <a:off x="7467600" y="1362075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School Lab Server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24D204F9-40D9-401C-80A5-9E3EFC8E08ED}"/>
              </a:ext>
            </a:extLst>
          </p:cNvPr>
          <p:cNvSpPr>
            <a:spLocks noGrp="1"/>
          </p:cNvSpPr>
          <p:nvPr/>
        </p:nvSpPr>
        <p:spPr>
          <a:xfrm>
            <a:off x="9163050" y="191452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0ACB549-2867-472B-A890-8A83BADBC49F}"/>
              </a:ext>
            </a:extLst>
          </p:cNvPr>
          <p:cNvSpPr>
            <a:spLocks noGrp="1"/>
          </p:cNvSpPr>
          <p:nvPr/>
        </p:nvSpPr>
        <p:spPr>
          <a:xfrm>
            <a:off x="7467600" y="2200275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3 × RTX 3090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5131C715-BD33-4BEA-B779-49F0CAA434B8}"/>
              </a:ext>
            </a:extLst>
          </p:cNvPr>
          <p:cNvSpPr>
            <a:spLocks noGrp="1"/>
          </p:cNvSpPr>
          <p:nvPr/>
        </p:nvSpPr>
        <p:spPr>
          <a:xfrm>
            <a:off x="9163050" y="275272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7CE5484-90DD-4C58-92F9-70D7B042F737}"/>
              </a:ext>
            </a:extLst>
          </p:cNvPr>
          <p:cNvSpPr>
            <a:spLocks noGrp="1"/>
          </p:cNvSpPr>
          <p:nvPr/>
        </p:nvSpPr>
        <p:spPr>
          <a:xfrm>
            <a:off x="7467600" y="3038475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Dedicated Group Account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51510CFB-129A-4802-90F3-883AC1ACB925}"/>
              </a:ext>
            </a:extLst>
          </p:cNvPr>
          <p:cNvSpPr>
            <a:spLocks noGrp="1"/>
          </p:cNvSpPr>
          <p:nvPr/>
        </p:nvSpPr>
        <p:spPr>
          <a:xfrm>
            <a:off x="9163050" y="359092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BE109-F241-403D-AD79-4587AE7357C7}"/>
              </a:ext>
            </a:extLst>
          </p:cNvPr>
          <p:cNvSpPr>
            <a:spLocks noGrp="1"/>
          </p:cNvSpPr>
          <p:nvPr/>
        </p:nvSpPr>
        <p:spPr>
          <a:xfrm>
            <a:off x="7467600" y="3876675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Dedicated Project Folder</a:t>
            </a: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4D1C4668-13F3-47B1-AA14-855031B50F6E}"/>
              </a:ext>
            </a:extLst>
          </p:cNvPr>
          <p:cNvSpPr>
            <a:spLocks noGrp="1"/>
          </p:cNvSpPr>
          <p:nvPr/>
        </p:nvSpPr>
        <p:spPr>
          <a:xfrm>
            <a:off x="9163050" y="4429125"/>
            <a:ext cx="323850" cy="2286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D699EBB-D831-4033-B353-910339C2752B}"/>
              </a:ext>
            </a:extLst>
          </p:cNvPr>
          <p:cNvSpPr>
            <a:spLocks noGrp="1"/>
          </p:cNvSpPr>
          <p:nvPr/>
        </p:nvSpPr>
        <p:spPr>
          <a:xfrm>
            <a:off x="7467600" y="4714875"/>
            <a:ext cx="3714750" cy="495300"/>
          </a:xfrm>
          <a:prstGeom prst="roundRect">
            <a:avLst>
              <a:gd name="adj" fmla="val 23077"/>
            </a:avLst>
          </a:prstGeom>
          <a:solidFill>
            <a:srgbClr val="1B1D63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Training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4DA606-80E5-4918-8D33-AB0C1451B221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2952750" cy="342900"/>
          </a:xfrm>
          <a:prstGeom prst="roundRect">
            <a:avLst>
              <a:gd name="adj" fmla="val 38889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 fontScale="94787"/>
          </a:bodyPr>
          <a:lstStyle/>
          <a:p>
            <a:pPr algn="ctr">
              <a:defRPr sz="1200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●  Dataset Upload — In Progress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D527859-F442-4A3B-830C-B6A5E84A3200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2952750" cy="342900"/>
          </a:xfrm>
          <a:prstGeom prst="roundRect">
            <a:avLst>
              <a:gd name="adj" fmla="val 38889"/>
            </a:avLst>
          </a:prstGeom>
          <a:solidFill>
            <a:srgbClr val="FFF2D7"/>
          </a:solidFill>
          <a:ln w="14288">
            <a:solidFill>
              <a:srgbClr val="D99014"/>
            </a:solidFill>
            <a:prstDash val="solid"/>
          </a:ln>
        </p:spPr>
        <p:txBody>
          <a:bodyPr anchor="ctr">
            <a:normAutofit fontScale="94787"/>
          </a:bodyPr>
          <a:lstStyle/>
          <a:p>
            <a:pPr algn="ctr">
              <a:defRPr sz="1200" b="1">
                <a:solidFill>
                  <a:srgbClr val="D990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014"/>
                </a:solidFill>
                <a:latin typeface="Arial"/>
                <a:ea typeface="Arial"/>
                <a:cs typeface="Arial"/>
              </a:rPr>
              <a:t>●  Code Deployment — In Progress</a:t>
            </a:r>
          </a:p>
        </p:txBody>
      </p:sp>
    </p:spTree>
    <p:extLst>
      <p:ext uri="{BB962C8B-B14F-4D97-AF65-F5344CB8AC3E}">
        <p14:creationId xmlns:p14="http://schemas.microsoft.com/office/powerpoint/2010/main" val="205155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53B5FBE-0150-4587-8F89-1F2E8655CC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F78521-6451-4514-88A6-0444D9FDFCAB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5C63C8-6205-476B-9764-2C903D7BFF14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5DF03A-48EF-4B94-B9E5-0E2636FCADE1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FC6FAC-5F42-4C83-B257-AC6DB0058B16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7D3FC8A-B443-49D4-97A9-9B37C5ED49EE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D0BCFB-98D2-4ACB-AB98-E6ECD5AD68D3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BF7DEB-1931-477D-93B1-5FDED3BF5840}"/>
              </a:ext>
            </a:extLst>
          </p:cNvPr>
          <p:cNvSpPr>
            <a:spLocks noGrp="1"/>
          </p:cNvSpPr>
          <p:nvPr/>
        </p:nvSpPr>
        <p:spPr>
          <a:xfrm>
            <a:off x="514350" y="13620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BEFORE RECESS WEEK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679D18-0058-47BB-A072-B2A1F25BA9DC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2571750" cy="533400"/>
          </a:xfrm>
          <a:prstGeom prst="roundRect">
            <a:avLst>
              <a:gd name="adj" fmla="val 21429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4 Members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BE7AF8B5-4DD6-4834-9789-FB76F7C52F94}"/>
              </a:ext>
            </a:extLst>
          </p:cNvPr>
          <p:cNvSpPr>
            <a:spLocks noGrp="1"/>
          </p:cNvSpPr>
          <p:nvPr/>
        </p:nvSpPr>
        <p:spPr>
          <a:xfrm>
            <a:off x="2000250" y="2581275"/>
            <a:ext cx="323850" cy="2667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E66531-3E11-432D-ACFD-13E5632A09ED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2990850" cy="723900"/>
          </a:xfrm>
          <a:prstGeom prst="roundRect">
            <a:avLst>
              <a:gd name="adj" fmla="val 15789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Complete Assigned Baseline Tasks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C028E447-EFA6-4C2B-A4F2-D272AC986FA1}"/>
              </a:ext>
            </a:extLst>
          </p:cNvPr>
          <p:cNvSpPr>
            <a:spLocks noGrp="1"/>
          </p:cNvSpPr>
          <p:nvPr/>
        </p:nvSpPr>
        <p:spPr>
          <a:xfrm>
            <a:off x="2000250" y="3724275"/>
            <a:ext cx="323850" cy="266700"/>
          </a:xfrm>
          <a:prstGeom prst="down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B93AF28-D422-4336-9674-08D42AA8FA5D}"/>
              </a:ext>
            </a:extLst>
          </p:cNvPr>
          <p:cNvSpPr>
            <a:spLocks noGrp="1"/>
          </p:cNvSpPr>
          <p:nvPr/>
        </p:nvSpPr>
        <p:spPr>
          <a:xfrm>
            <a:off x="666750" y="4067175"/>
            <a:ext cx="2990850" cy="838200"/>
          </a:xfrm>
          <a:prstGeom prst="roundRect">
            <a:avLst>
              <a:gd name="adj" fmla="val 13636"/>
            </a:avLst>
          </a:prstGeom>
          <a:solidFill>
            <a:srgbClr val="1B1D63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Implementation</a:t>
            </a:r>
          </a:p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&amp; Initial Results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B4F648-1633-486C-8FC7-62C09DE1FC85}"/>
              </a:ext>
            </a:extLst>
          </p:cNvPr>
          <p:cNvSpPr>
            <a:spLocks noGrp="1"/>
          </p:cNvSpPr>
          <p:nvPr/>
        </p:nvSpPr>
        <p:spPr>
          <a:xfrm>
            <a:off x="5362575" y="136207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PARALLEL WORK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B74B89-EE66-454D-8325-6155DE68BBA2}"/>
              </a:ext>
            </a:extLst>
          </p:cNvPr>
          <p:cNvSpPr>
            <a:spLocks noGrp="1"/>
          </p:cNvSpPr>
          <p:nvPr/>
        </p:nvSpPr>
        <p:spPr>
          <a:xfrm>
            <a:off x="5133975" y="2305050"/>
            <a:ext cx="3095625" cy="628650"/>
          </a:xfrm>
          <a:prstGeom prst="roundRect">
            <a:avLst>
              <a:gd name="adj" fmla="val 18182"/>
            </a:avLst>
          </a:prstGeom>
          <a:solidFill>
            <a:srgbClr val="E9EDF8"/>
          </a:solidFill>
          <a:ln w="14288">
            <a:solidFill>
              <a:srgbClr val="1B1D63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Baseline Implementation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6E69EB-F72F-45F5-9EF5-C5B783C7B5CE}"/>
              </a:ext>
            </a:extLst>
          </p:cNvPr>
          <p:cNvSpPr>
            <a:spLocks noGrp="1"/>
          </p:cNvSpPr>
          <p:nvPr/>
        </p:nvSpPr>
        <p:spPr>
          <a:xfrm>
            <a:off x="8229600" y="2609850"/>
            <a:ext cx="904875" cy="28575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3439A2-C1B9-4B8C-B035-0AA8C7001824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8575" cy="14478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515FC35-90C7-460F-A013-CFBAE18E6E7D}"/>
              </a:ext>
            </a:extLst>
          </p:cNvPr>
          <p:cNvSpPr>
            <a:spLocks noGrp="1"/>
          </p:cNvSpPr>
          <p:nvPr/>
        </p:nvSpPr>
        <p:spPr>
          <a:xfrm>
            <a:off x="9134475" y="2543175"/>
            <a:ext cx="438150" cy="190500"/>
          </a:xfrm>
          <a:prstGeom prst="right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18285A73-9804-4DE7-818A-096EBC62AC20}"/>
              </a:ext>
            </a:extLst>
          </p:cNvPr>
          <p:cNvSpPr>
            <a:spLocks noGrp="1"/>
          </p:cNvSpPr>
          <p:nvPr/>
        </p:nvSpPr>
        <p:spPr>
          <a:xfrm>
            <a:off x="9134475" y="3962400"/>
            <a:ext cx="438150" cy="190500"/>
          </a:xfrm>
          <a:prstGeom prst="rightArrow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9118E5E-FB10-4D80-BB8C-63C4EB6CEF59}"/>
              </a:ext>
            </a:extLst>
          </p:cNvPr>
          <p:cNvSpPr>
            <a:spLocks noGrp="1"/>
          </p:cNvSpPr>
          <p:nvPr/>
        </p:nvSpPr>
        <p:spPr>
          <a:xfrm>
            <a:off x="9572625" y="2209800"/>
            <a:ext cx="1952625" cy="628650"/>
          </a:xfrm>
          <a:prstGeom prst="roundRect">
            <a:avLst>
              <a:gd name="adj" fmla="val 18182"/>
            </a:avLst>
          </a:prstGeom>
          <a:solidFill>
            <a:srgbClr val="FBE8EF"/>
          </a:solidFill>
          <a:ln w="14288">
            <a:solidFill>
              <a:srgbClr val="E3134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357209D-668B-4B0A-ACF0-7698D3E54CEA}"/>
              </a:ext>
            </a:extLst>
          </p:cNvPr>
          <p:cNvSpPr>
            <a:spLocks noGrp="1"/>
          </p:cNvSpPr>
          <p:nvPr/>
        </p:nvSpPr>
        <p:spPr>
          <a:xfrm>
            <a:off x="9572625" y="3667125"/>
            <a:ext cx="1952625" cy="781050"/>
          </a:xfrm>
          <a:prstGeom prst="roundRect">
            <a:avLst>
              <a:gd name="adj" fmla="val 14634"/>
            </a:avLst>
          </a:prstGeom>
          <a:solidFill>
            <a:srgbClr val="E6F6F4"/>
          </a:solidFill>
          <a:ln w="14288">
            <a:solidFill>
              <a:srgbClr val="38AFA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38AF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AFA2"/>
                </a:solidFill>
                <a:latin typeface="Arial"/>
                <a:ea typeface="Arial"/>
                <a:cs typeface="Arial"/>
              </a:rPr>
              <a:t>Final Report Writing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087C2F-289A-41E9-8691-350C31C3073A}"/>
              </a:ext>
            </a:extLst>
          </p:cNvPr>
          <p:cNvSpPr>
            <a:spLocks noGrp="1"/>
          </p:cNvSpPr>
          <p:nvPr/>
        </p:nvSpPr>
        <p:spPr>
          <a:xfrm>
            <a:off x="4524375" y="5019675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1. Complete the four assigned baseline tasks before Recess Week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44E7C3-E18D-4757-AF56-29A639FECEB3}"/>
              </a:ext>
            </a:extLst>
          </p:cNvPr>
          <p:cNvSpPr>
            <a:spLocks noGrp="1"/>
          </p:cNvSpPr>
          <p:nvPr/>
        </p:nvSpPr>
        <p:spPr>
          <a:xfrm>
            <a:off x="4524375" y="5486400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2. Start drafting the Final Report in parallel with baseline implementation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CF30DE-AA7B-4873-9EB0-2435A110D34A}"/>
              </a:ext>
            </a:extLst>
          </p:cNvPr>
          <p:cNvSpPr>
            <a:spLocks noGrp="1"/>
          </p:cNvSpPr>
          <p:nvPr/>
        </p:nvSpPr>
        <p:spPr>
          <a:xfrm>
            <a:off x="1238250" y="6057900"/>
            <a:ext cx="971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Target: Baseline implementation completed before Recess Week</a:t>
            </a:r>
          </a:p>
        </p:txBody>
      </p:sp>
    </p:spTree>
    <p:extLst>
      <p:ext uri="{BB962C8B-B14F-4D97-AF65-F5344CB8AC3E}">
        <p14:creationId xmlns:p14="http://schemas.microsoft.com/office/powerpoint/2010/main" val="9859831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TU Weekly Report">
      <a:dk1>
        <a:srgbClr val="000000"/>
      </a:dk1>
      <a:lt1>
        <a:srgbClr val="FFFFFF"/>
      </a:lt1>
      <a:dk2>
        <a:srgbClr val="1B1D63"/>
      </a:dk2>
      <a:lt2>
        <a:srgbClr val="D9DDEA"/>
      </a:lt2>
      <a:accent1>
        <a:srgbClr val="E31346"/>
      </a:accent1>
      <a:accent2>
        <a:srgbClr val="1B1D63"/>
      </a:accent2>
      <a:accent3>
        <a:srgbClr val="38AFA2"/>
      </a:accent3>
      <a:accent4>
        <a:srgbClr val="D99014"/>
      </a:accent4>
      <a:accent5>
        <a:srgbClr val="6750A4"/>
      </a:accent5>
      <a:accent6>
        <a:srgbClr val="3478C7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Weekly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NTU Weekly Report">
      <a:dk1>
        <a:srgbClr val="000000"/>
      </a:dk1>
      <a:lt1>
        <a:srgbClr val="FFFFFF"/>
      </a:lt1>
      <a:dk2>
        <a:srgbClr val="1B1D63"/>
      </a:dk2>
      <a:lt2>
        <a:srgbClr val="D9DDEA"/>
      </a:lt2>
      <a:accent1>
        <a:srgbClr val="E31346"/>
      </a:accent1>
      <a:accent2>
        <a:srgbClr val="1B1D63"/>
      </a:accent2>
      <a:accent3>
        <a:srgbClr val="38AFA2"/>
      </a:accent3>
      <a:accent4>
        <a:srgbClr val="D99014"/>
      </a:accent4>
      <a:accent5>
        <a:srgbClr val="6750A4"/>
      </a:accent5>
      <a:accent6>
        <a:srgbClr val="3478C7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Weekly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DocSecurity>0</DocSecurity>
  <PresentationFormat>宽屏</PresentationFormat>
  <Paragraphs>177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ChatGPT</vt:lpstr>
      <vt:lpstr>1_weekly_five_minute_research_update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t1323</cp:lastModifiedBy>
  <cp:revision>1</cp:revision>
  <dcterms:created xsi:type="dcterms:W3CDTF">2026-09-15T18:02:28Z</dcterms:created>
  <dcterms:modified xsi:type="dcterms:W3CDTF">2026-09-15T19:08:00Z</dcterms:modified>
</cp:coreProperties>
</file>