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weekly_five_minute_research_updat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weekly_five_minute_research_updat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5535780334a04c2.png"/>
  <Relationship Id="rId3" Type="http://schemas.openxmlformats.org/officeDocument/2006/relationships/image" Target="../media/image_6e4d9cce5715142a.jp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5535780334a04c2.png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5535780334a04c2.png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5535780334a04c2.png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5535780334a04c2.png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5535780334a04c2.png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5535780334a04c2.png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5535780334a04c2.png"/>
  <Relationship Id="rId3" Type="http://schemas.openxmlformats.org/officeDocument/2006/relationships/image" Target="../media/image_1721e780def30519.jpg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5535780334a04c2.png"/>
  <Relationship Id="rId3" Type="http://schemas.openxmlformats.org/officeDocument/2006/relationships/image" Target="../media/image_1721e780def30519.jpg"/>
  <Relationship Id="rId4" Type="http://schemas.openxmlformats.org/officeDocument/2006/relationships/image" Target="../media/image_6e4d9cce5715142a.jpg"/>
  <Relationship Id="rId5" Type="http://schemas.openxmlformats.org/officeDocument/2006/relationships/image" Target="../media/image_ea3730ccacb7b84e.jpg"/>
  <Relationship Id="rId6" Type="http://schemas.openxmlformats.org/officeDocument/2006/relationships/image" Target="../media/image_595dac7b24db2551.png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5535780334a04c2.png"/>
  <Relationship Id="rId3" Type="http://schemas.openxmlformats.org/officeDocument/2006/relationships/image" Target="../media/image_1721e780def30519.jpg"/>
  <Relationship Id="rId4" Type="http://schemas.openxmlformats.org/officeDocument/2006/relationships/image" Target="../media/image_45535780334a04c2.png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52450" y="1200150"/>
            <a:ext cx="114300" cy="390525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7" name="Image 7"/>
          <p:cNvPicPr>
            <a:picLocks noChangeAspect="1"/>
          </p:cNvPicPr>
          <p:nvPr/>
        </p:nvPicPr>
        <p:blipFill>
          <a:blip r:embed="rId3">
            <a:alphaModFix amt="56000"/>
          </a:blip>
          <a:stretch>
            <a:fillRect/>
          </a:stretch>
        </p:blipFill>
        <p:spPr>
          <a:xfrm>
            <a:off x="3762375" y="1200150"/>
            <a:ext cx="8382000" cy="3905250"/>
          </a:xfrm>
          <a:prstGeom prst="rect">
            <a:avLst/>
          </a:prstGeom>
        </p:spPr>
      </p:pic>
      <p:sp>
        <p:nvSpPr>
          <p:cNvPr id="8" name="Freeform 8"/>
          <p:cNvSpPr/>
          <p:nvPr/>
        </p:nvSpPr>
        <p:spPr>
          <a:xfrm>
            <a:off x="3714750" y="1200150"/>
            <a:ext cx="1714500" cy="3905250"/>
          </a:xfrm>
          <a:custGeom>
            <a:avLst/>
            <a:gdLst/>
            <a:ahLst/>
            <a:cxnLst/>
            <a:rect l="l" t="t" r="r" b="b"/>
            <a:pathLst>
              <a:path w="1714500" h="3905250">
                <a:moveTo>
                  <a:pt x="0" y="0"/>
                </a:moveTo>
                <a:lnTo>
                  <a:pt x="1714500" y="0"/>
                </a:lnTo>
                <a:lnTo>
                  <a:pt x="1047750" y="3905250"/>
                </a:lnTo>
                <a:lnTo>
                  <a:pt x="0" y="3905250"/>
                </a:lnTo>
                <a:close/>
              </a:path>
            </a:pathLst>
          </a:cu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4476750" y="1200150"/>
            <a:ext cx="809625" cy="3905250"/>
          </a:xfrm>
          <a:custGeom>
            <a:avLst/>
            <a:gdLst/>
            <a:ahLst/>
            <a:cxnLst/>
            <a:rect l="l" t="t" r="r" b="b"/>
            <a:pathLst>
              <a:path w="809625" h="3905250">
                <a:moveTo>
                  <a:pt x="809625" y="0"/>
                </a:moveTo>
                <a:lnTo>
                  <a:pt x="0" y="3905250"/>
                </a:lnTo>
              </a:path>
            </a:pathLst>
          </a:custGeom>
          <a:noFill/>
          <a:ln w="28575">
            <a:solidFill>
              <a:srgbClr val="D71440">
                <a:alpha val="62000"/>
              </a:srgbClr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898398" y="1603058"/>
            <a:ext cx="4616457" cy="6160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15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Human Pose Analytics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05637" y="3166586"/>
            <a:ext cx="4508738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72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Weekly research update · {{SUBTITLE}}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07542" y="4311968"/>
            <a:ext cx="221361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Week ending · {{DATE}}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07542" y="4835842"/>
            <a:ext cx="221486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Presenter · {{AUTHOR}}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7524750" cy="1381125"/>
          </a:xfrm>
          <a:prstGeom prst="roundRect">
            <a:avLst>
              <a:gd name="adj" fmla="val 8276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8305800" y="1428750"/>
            <a:ext cx="3314700" cy="1381125"/>
          </a:xfrm>
          <a:prstGeom prst="roundRect">
            <a:avLst>
              <a:gd name="adj" fmla="val 8276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14350" y="3105150"/>
            <a:ext cx="11106150" cy="28956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E6E6E6"/>
            </a:solidFill>
          </a:ln>
        </p:spPr>
      </p:sp>
      <p:sp>
        <p:nvSpPr>
          <p:cNvPr id="10" name="Line 10"/>
          <p:cNvSpPr/>
          <p:nvPr/>
        </p:nvSpPr>
        <p:spPr>
          <a:xfrm>
            <a:off x="1181100" y="5143500"/>
            <a:ext cx="9772650" cy="9525"/>
          </a:xfrm>
          <a:custGeom>
            <a:avLst/>
            <a:gdLst/>
            <a:ahLst/>
            <a:cxnLst/>
            <a:rect l="l" t="t" r="r" b="b"/>
            <a:pathLst>
              <a:path w="9772650" h="9525">
                <a:moveTo>
                  <a:pt x="0" y="0"/>
                </a:moveTo>
                <a:lnTo>
                  <a:pt x="9772650" y="0"/>
                </a:lnTo>
              </a:path>
            </a:pathLst>
          </a:custGeom>
          <a:noFill/>
          <a:ln w="38100">
            <a:solidFill>
              <a:srgbClr val="C8C8C8"/>
            </a:solidFill>
          </a:ln>
        </p:spPr>
      </p:sp>
      <p:sp>
        <p:nvSpPr>
          <p:cNvPr id="11" name="Ellipse 11"/>
          <p:cNvSpPr/>
          <p:nvPr/>
        </p:nvSpPr>
        <p:spPr>
          <a:xfrm>
            <a:off x="1076325" y="5038725"/>
            <a:ext cx="209550" cy="20955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2" name="Ellipse 12"/>
          <p:cNvSpPr/>
          <p:nvPr/>
        </p:nvSpPr>
        <p:spPr>
          <a:xfrm>
            <a:off x="3028950" y="5038725"/>
            <a:ext cx="209550" cy="20955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3" name="Ellipse 13"/>
          <p:cNvSpPr/>
          <p:nvPr/>
        </p:nvSpPr>
        <p:spPr>
          <a:xfrm>
            <a:off x="4953000" y="5010150"/>
            <a:ext cx="266700" cy="2667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4" name="Ellipse 14"/>
          <p:cNvSpPr/>
          <p:nvPr/>
        </p:nvSpPr>
        <p:spPr>
          <a:xfrm>
            <a:off x="6934200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5" name="Ellipse 15"/>
          <p:cNvSpPr/>
          <p:nvPr/>
        </p:nvSpPr>
        <p:spPr>
          <a:xfrm>
            <a:off x="8886825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6" name="Ellipse 16"/>
          <p:cNvSpPr/>
          <p:nvPr/>
        </p:nvSpPr>
        <p:spPr>
          <a:xfrm>
            <a:off x="10848975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776097" y="1590199"/>
            <a:ext cx="123937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WEEKLY TAKEAWAY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398351" y="1590199"/>
            <a:ext cx="112959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8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PROJECT STATUS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94766" y="3296602"/>
            <a:ext cx="45349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CURRENT MILESTONE · EVIDENCE · BLOCKER · NEXT CHECKPOINT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22902" y="5408295"/>
            <a:ext cx="51639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Kick-off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93803" y="5408295"/>
            <a:ext cx="27984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796752" y="5408295"/>
            <a:ext cx="57919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Baselines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762007" y="5408295"/>
            <a:ext cx="55393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IP Module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621493" y="5408295"/>
            <a:ext cx="74021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Experiments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590953" y="5408295"/>
            <a:ext cx="7255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Final Report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01396" y="543878"/>
            <a:ext cx="5018619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Weekly Snapshot &amp; Milestone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71906" y="1939290"/>
            <a:ext cx="4298823" cy="6187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80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{{KEY_MESSAGE}}</a:t>
            </a:r>
          </a:p>
          <a:p>
            <a:pPr algn="l">
              <a:lnSpc>
                <a:spcPts val="2100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State the one result or decision the supervisor should remember.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079294" y="1893094"/>
            <a:ext cx="1767713" cy="6238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lnSpc>
                <a:spcPts val="2025"/>
              </a:lnSpc>
            </a:pPr>
            <a:r>
              <a:rPr lang="en-US" sz="188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{{STATUS}}</a:t>
            </a:r>
          </a:p>
          <a:p>
            <a:pPr algn="ctr">
              <a:lnSpc>
                <a:spcPts val="2025"/>
              </a:lnSpc>
            </a:pPr>
            <a:r>
              <a:rPr lang="en-US" sz="98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ON TRACK · AT RISK · BLOCKED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92099" y="3792379"/>
            <a:ext cx="4404106" cy="5937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58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{{MILESTONE}}</a:t>
            </a:r>
          </a:p>
          <a:p>
            <a:pPr algn="l">
              <a:lnSpc>
                <a:spcPts val="2250"/>
              </a:lnSpc>
            </a:pP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Evidence completed: … | Current blocker: … | Next checkpoint: …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{{SOURCE}}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3143250" cy="4648200"/>
          </a:xfrm>
          <a:prstGeom prst="roundRect">
            <a:avLst>
              <a:gd name="adj" fmla="val 3636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3905250" y="1428750"/>
            <a:ext cx="4762500" cy="4648200"/>
          </a:xfrm>
          <a:prstGeom prst="roundRect">
            <a:avLst>
              <a:gd name="adj" fmla="val 2459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915400" y="1428750"/>
            <a:ext cx="2705100" cy="4648200"/>
          </a:xfrm>
          <a:prstGeom prst="roundRect">
            <a:avLst>
              <a:gd name="adj" fmla="val 4225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915400" y="1428750"/>
            <a:ext cx="27051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57047" y="1675924"/>
            <a:ext cx="69050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THIS WEEK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166997" y="1675924"/>
            <a:ext cx="363975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PIPELINE / ARCHITECTURE / IMPLEMENTATION EVIDENCE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158097" y="1704499"/>
            <a:ext cx="141501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TECHNICAL TAKEAWAY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3345943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Technical Progress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3999" y="2154079"/>
            <a:ext cx="3356420" cy="8509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{{TECHNICAL_PROGRESS}}</a:t>
            </a:r>
          </a:p>
          <a:p>
            <a:pPr algn="l">
              <a:lnSpc>
                <a:spcPts val="187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Completed · In progress · Blocked</a:t>
            </a:r>
            <a:br/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Include the concrete output, not only the activity.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64711" y="2170271"/>
            <a:ext cx="3568256" cy="7740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4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{{CONTENT_AREA}}</a:t>
            </a:r>
          </a:p>
          <a:p>
            <a:pPr algn="l">
              <a:lnSpc>
                <a:spcPts val="1650"/>
              </a:lnSpc>
              <a:spcBef>
                <a:spcPts val="600"/>
              </a:spcBef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Recommended: module diagram, interface contract,</a:t>
            </a:r>
            <a:br/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training pipeline, code evidence, or data-flow change.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155049" y="2173129"/>
            <a:ext cx="1943354" cy="10700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{{KEY_FINDING}}</a:t>
            </a: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05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Why it matters:</a:t>
            </a:r>
          </a:p>
          <a:p>
            <a:pPr algn="l">
              <a:lnSpc>
                <a:spcPts val="1650"/>
              </a:lnSpc>
              <a:spcBef>
                <a:spcPts val="150"/>
              </a:spcBef>
            </a:pPr>
            <a: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changed in the design,</a:t>
            </a:r>
            <a:br/>
            <a: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evidence, or next decision?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{{SOURCE}}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11106150" cy="704850"/>
          </a:xfrm>
          <a:prstGeom prst="roundRect">
            <a:avLst>
              <a:gd name="adj" fmla="val 13514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514350" y="2238375"/>
            <a:ext cx="7467600" cy="3838575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229600" y="2238375"/>
            <a:ext cx="3390900" cy="3838575"/>
          </a:xfrm>
          <a:prstGeom prst="roundRect">
            <a:avLst>
              <a:gd name="adj" fmla="val 3371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229600" y="2238375"/>
            <a:ext cx="3390900" cy="45720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38188" y="1407795"/>
            <a:ext cx="107813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ONE-LINE RESULT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2466499"/>
            <a:ext cx="2827431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EVIDENCE · BASELINE · CONTROL · METRIC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71916" y="2429828"/>
            <a:ext cx="92806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KEY FINDINGS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3922625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Experimental Evidence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34949" y="1639729"/>
            <a:ext cx="2010001" cy="308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8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{{KEY_MESSAGE}}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4761" y="2894171"/>
            <a:ext cx="4555046" cy="7835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{{CONTENT_AREA}}</a:t>
            </a:r>
          </a:p>
          <a:p>
            <a:pPr algn="l">
              <a:lnSpc>
                <a:spcPts val="172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Insert one chart, table, confusion matrix, or controlled comparison.</a:t>
            </a:r>
            <a:br/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Label the baseline, evaluation split, metric, and uncertainty.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69630" y="3076575"/>
            <a:ext cx="2376424" cy="1112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950"/>
              </a:lnSpc>
            </a:pPr>
            <a:r>
              <a:rPr lang="en-US" sz="150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{{FINDINGS}}</a:t>
            </a:r>
          </a:p>
          <a:p>
            <a:pPr algn="l">
              <a:lnSpc>
                <a:spcPts val="1950"/>
              </a:lnSpc>
              <a:spcBef>
                <a:spcPts val="600"/>
              </a:spcBef>
            </a:pP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1 · What changed versus baseline?</a:t>
            </a:r>
            <a:br/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2 · Which class or case still fails?</a:t>
            </a:r>
            <a:br/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3 · What experiment comes next?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{{SOURCE}}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5286375" cy="2057400"/>
          </a:xfrm>
          <a:prstGeom prst="roundRect">
            <a:avLst>
              <a:gd name="adj" fmla="val 5556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6048375" y="1428750"/>
            <a:ext cx="5572125" cy="20574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D7144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14350" y="3714750"/>
            <a:ext cx="5286375" cy="2362200"/>
          </a:xfrm>
          <a:prstGeom prst="roundRect">
            <a:avLst>
              <a:gd name="adj" fmla="val 4839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6048375" y="3714750"/>
            <a:ext cx="5572125" cy="2362200"/>
          </a:xfrm>
          <a:prstGeom prst="roundRect">
            <a:avLst>
              <a:gd name="adj" fmla="val 4839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514350" y="1428750"/>
            <a:ext cx="95250" cy="20574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6048375" y="3714750"/>
            <a:ext cx="95250" cy="23622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94766" y="1639252"/>
            <a:ext cx="113192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RISK / BLOCKER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28791" y="1639252"/>
            <a:ext cx="309217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IMPACT ON SCOPE, EVIDENCE, OR TIMELINE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94766" y="3925252"/>
            <a:ext cx="249625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MITIGATION / OWNER / CHECK DATE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328791" y="3925252"/>
            <a:ext cx="215125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DECISION OR SUPPORT NEEDED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01396" y="543878"/>
            <a:ext cx="2969122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Risks &amp; Decisions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92099" y="2077879"/>
            <a:ext cx="3269742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{{RISKS}}</a:t>
            </a: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Describe the failure mode, trigger, and evidence.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326124" y="2077879"/>
            <a:ext cx="3843147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{{IMPACT}}</a:t>
            </a: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Quantify delay, compute cost, metric risk, or lost scope.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92099" y="4363879"/>
            <a:ext cx="2456307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{{MITIGATION}}</a:t>
            </a: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Owner: … | Check date: … | Fallback: …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326124" y="4363879"/>
            <a:ext cx="3423095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{{DECISION_NEEDED}}</a:t>
            </a: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State the choice, approver, and latest useful date.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Line 7"/>
          <p:cNvSpPr/>
          <p:nvPr/>
        </p:nvSpPr>
        <p:spPr>
          <a:xfrm>
            <a:off x="1009650" y="2238375"/>
            <a:ext cx="9525" cy="3076575"/>
          </a:xfrm>
          <a:custGeom>
            <a:avLst/>
            <a:gdLst/>
            <a:ahLst/>
            <a:cxnLst/>
            <a:rect l="l" t="t" r="r" b="b"/>
            <a:pathLst>
              <a:path w="9525" h="3076575">
                <a:moveTo>
                  <a:pt x="0" y="0"/>
                </a:moveTo>
                <a:lnTo>
                  <a:pt x="0" y="3076575"/>
                </a:lnTo>
              </a:path>
            </a:pathLst>
          </a:custGeom>
          <a:noFill/>
          <a:ln w="47625">
            <a:solidFill>
              <a:srgbClr val="C8C8C8"/>
            </a:solidFill>
          </a:ln>
        </p:spPr>
      </p:sp>
      <p:sp>
        <p:nvSpPr>
          <p:cNvPr id="8" name="Ellipse 8"/>
          <p:cNvSpPr/>
          <p:nvPr/>
        </p:nvSpPr>
        <p:spPr>
          <a:xfrm>
            <a:off x="819150" y="2047875"/>
            <a:ext cx="381000" cy="3810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819150" y="3590925"/>
            <a:ext cx="381000" cy="38100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819150" y="5124450"/>
            <a:ext cx="381000" cy="3810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1466850" y="1619250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1466850" y="3162300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3" name="Rectangle 13"/>
          <p:cNvSpPr/>
          <p:nvPr/>
        </p:nvSpPr>
        <p:spPr>
          <a:xfrm>
            <a:off x="1466850" y="4695825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8420100" y="1619250"/>
            <a:ext cx="3200400" cy="4314825"/>
          </a:xfrm>
          <a:prstGeom prst="roundRect">
            <a:avLst>
              <a:gd name="adj" fmla="val 3571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950315" y="2159318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50315" y="3702368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50315" y="5235892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747647" y="1809274"/>
            <a:ext cx="151746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DELIVERABLE 1 · BUILD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747647" y="3352324"/>
            <a:ext cx="175896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DELIVERABLE 2 · VALIDATE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747647" y="4885849"/>
            <a:ext cx="185410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DELIVERABLE 3 · DOCUMENT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700516" y="1896428"/>
            <a:ext cx="259819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OWNER · DUE DATE · SUCCESS CHECK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01396" y="543878"/>
            <a:ext cx="4335356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Next-Week Commitments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744599" y="2173129"/>
            <a:ext cx="2916365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{{NEXT_ACTION_1}}</a:t>
            </a: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Output: code, dataset, or runnable module.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744599" y="3716179"/>
            <a:ext cx="3336417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{{NEXT_ACTION_2}}</a:t>
            </a: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Output: metric table, control, or ablation result.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744599" y="5249704"/>
            <a:ext cx="3369755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{{NEXT_ACTION_3}}</a:t>
            </a: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Output: updated figure, notes, or report section.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697849" y="2382679"/>
            <a:ext cx="2474087" cy="14415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5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{{OWNER_AND_DEADLINE}}</a:t>
            </a:r>
          </a:p>
          <a:p>
            <a:pPr algn="l">
              <a:lnSpc>
                <a:spcPts val="2025"/>
              </a:lnSpc>
              <a:spcBef>
                <a:spcPts val="825"/>
              </a:spcBef>
            </a:pPr>
            <a:r>
              <a:rPr lang="en-US" sz="105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Owner: …</a:t>
            </a:r>
            <a:br/>
            <a:r>
              <a:rPr lang="en-US" sz="105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Due: …</a:t>
            </a:r>
            <a:br/>
            <a:r>
              <a:rPr lang="en-US" sz="105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Success check: observable output</a:t>
            </a:r>
            <a:br/>
            <a:r>
              <a:rPr lang="en-US" sz="105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or agreed metric threshold.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11106150" cy="4772025"/>
          </a:xfrm>
          <a:prstGeom prst="roundRect">
            <a:avLst>
              <a:gd name="adj" fmla="val 1996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501396" y="543878"/>
            <a:ext cx="2213061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Open Canvas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{{SOURCE}}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7810500" cy="4772025"/>
          </a:xfrm>
          <a:prstGeom prst="roundRect">
            <a:avLst>
              <a:gd name="adj" fmla="val 1996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8572500" y="1304925"/>
            <a:ext cx="3048000" cy="4772025"/>
          </a:xfrm>
          <a:prstGeom prst="roundRect">
            <a:avLst>
              <a:gd name="adj" fmla="val 3125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8572500" y="1304925"/>
            <a:ext cx="30480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8815197" y="1647349"/>
            <a:ext cx="1290599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IMAGE DESCRIPTION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01396" y="543878"/>
            <a:ext cx="3340770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Single-Image Story</a:t>
            </a:r>
          </a:p>
        </p:txBody>
      </p:sp>
      <p:pic>
        <p:nvPicPr>
          <p:cNvPr id="12" name="Image 12"/>
          <p:cNvPicPr>
            <a:picLocks noChangeAspect="1"/>
          </p:cNvPicPr>
          <p:nvPr/>
        </p:nvPicPr>
        <p:blipFill>
          <a:blip r:embed="rId3"/>
          <a:srcRect l="4974" t="0" r="4973" b="0"/>
          <a:stretch>
            <a:fillRect/>
          </a:stretch>
        </p:blipFill>
        <p:spPr>
          <a:xfrm>
            <a:off x="552450" y="1343025"/>
            <a:ext cx="7734300" cy="4695825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8812149" y="2173129"/>
            <a:ext cx="2298954" cy="2146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{{IMAGE_DESCRIPTION}}</a:t>
            </a: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What does the image show?</a:t>
            </a:r>
          </a:p>
          <a:p>
            <a:pPr algn="l">
              <a:lnSpc>
                <a:spcPts val="1650"/>
              </a:lnSpc>
              <a:spcBef>
                <a:spcPts val="375"/>
              </a:spcBef>
            </a:pP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Why is it relevant this week?</a:t>
            </a:r>
          </a:p>
          <a:p>
            <a:pPr algn="l">
              <a:lnSpc>
                <a:spcPts val="1650"/>
              </a:lnSpc>
              <a:spcBef>
                <a:spcPts val="375"/>
              </a:spcBef>
            </a:pP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What should the audience notice?</a:t>
            </a:r>
          </a:p>
          <a:p>
            <a:pPr algn="l">
              <a:lnSpc>
                <a:spcPts val="1650"/>
              </a:lnSpc>
              <a:spcBef>
                <a:spcPts val="1050"/>
              </a:spcBef>
            </a:pPr>
            <a:r>
              <a:rPr lang="en-US" sz="105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TIP</a:t>
            </a:r>
          </a:p>
          <a:p>
            <a:pPr algn="l">
              <a:lnSpc>
                <a:spcPts val="1650"/>
              </a:lnSpc>
              <a:spcBef>
                <a:spcPts val="225"/>
              </a:spcBef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Use one annotated result, system</a:t>
            </a:r>
            <a:br/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overview, qualitative example,</a:t>
            </a:r>
            <a:br/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or implementation photograph.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{{SOURCE}}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8416388" y="713899"/>
            <a:ext cx="105641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80" b="1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USE 2–4 IMAGES</a:t>
            </a:r>
          </a:p>
        </p:txBody>
      </p:sp>
      <p:sp>
        <p:nvSpPr>
          <p:cNvPr id="8" name="Rectangle 8"/>
          <p:cNvSpPr/>
          <p:nvPr/>
        </p:nvSpPr>
        <p:spPr>
          <a:xfrm>
            <a:off x="514350" y="130492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14350" y="315277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6229350" y="130492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6229350" y="315277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514350" y="368617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3" name="Rectangle 13"/>
          <p:cNvSpPr/>
          <p:nvPr/>
        </p:nvSpPr>
        <p:spPr>
          <a:xfrm>
            <a:off x="514350" y="553402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6229350" y="368617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6229350" y="553402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501396" y="543878"/>
            <a:ext cx="3215507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Multi-Image Story</a:t>
            </a:r>
          </a:p>
        </p:txBody>
      </p:sp>
      <p:pic>
        <p:nvPicPr>
          <p:cNvPr id="17" name="Image 17"/>
          <p:cNvPicPr>
            <a:picLocks noChangeAspect="1"/>
          </p:cNvPicPr>
          <p:nvPr/>
        </p:nvPicPr>
        <p:blipFill>
          <a:blip r:embed="rId3"/>
          <a:srcRect l="0" t="19517" r="0" b="19517"/>
          <a:stretch>
            <a:fillRect/>
          </a:stretch>
        </p:blipFill>
        <p:spPr>
          <a:xfrm>
            <a:off x="552450" y="1343025"/>
            <a:ext cx="5314950" cy="1771650"/>
          </a:xfrm>
          <a:prstGeom prst="rect">
            <a:avLst/>
          </a:prstGeom>
        </p:spPr>
      </p:pic>
      <p:pic>
        <p:nvPicPr>
          <p:cNvPr id="18" name="Image 18"/>
          <p:cNvPicPr>
            <a:picLocks noChangeAspect="1"/>
          </p:cNvPicPr>
          <p:nvPr/>
        </p:nvPicPr>
        <p:blipFill>
          <a:blip r:embed="rId4"/>
          <a:srcRect l="0" t="14228" r="0" b="14227"/>
          <a:stretch>
            <a:fillRect/>
          </a:stretch>
        </p:blipFill>
        <p:spPr>
          <a:xfrm>
            <a:off x="6267450" y="1343025"/>
            <a:ext cx="5314950" cy="1771650"/>
          </a:xfrm>
          <a:prstGeom prst="rect">
            <a:avLst/>
          </a:prstGeom>
        </p:spPr>
      </p:pic>
      <p:pic>
        <p:nvPicPr>
          <p:cNvPr id="19" name="Image 19"/>
          <p:cNvPicPr>
            <a:picLocks noChangeAspect="1"/>
          </p:cNvPicPr>
          <p:nvPr/>
        </p:nvPicPr>
        <p:blipFill>
          <a:blip r:embed="rId5"/>
          <a:srcRect l="0" t="25000" r="0" b="25000"/>
          <a:stretch>
            <a:fillRect/>
          </a:stretch>
        </p:blipFill>
        <p:spPr>
          <a:xfrm>
            <a:off x="552450" y="3724275"/>
            <a:ext cx="5314950" cy="1771650"/>
          </a:xfrm>
          <a:prstGeom prst="rect">
            <a:avLst/>
          </a:prstGeom>
        </p:spPr>
      </p:pic>
      <p:pic>
        <p:nvPicPr>
          <p:cNvPr id="20" name="Image 20"/>
          <p:cNvPicPr>
            <a:picLocks noChangeAspect="1"/>
          </p:cNvPicPr>
          <p:nvPr/>
        </p:nvPicPr>
        <p:blipFill>
          <a:blip r:embed="rId6"/>
          <a:srcRect l="0" t="28986" r="0" b="28987"/>
          <a:stretch>
            <a:fillRect/>
          </a:stretch>
        </p:blipFill>
        <p:spPr>
          <a:xfrm>
            <a:off x="6267450" y="3724275"/>
            <a:ext cx="5314950" cy="177165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680085" y="326945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{{CAPTION_1}}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395085" y="326945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{{CAPTION_2}}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80085" y="565070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{{CAPTION_3}}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395085" y="565070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{{CAPTION_4}}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{{SOURCE}}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pic>
        <p:nvPicPr>
          <p:cNvPr id="6" name="Imag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" y="0"/>
            <a:ext cx="12020550" cy="6572250"/>
          </a:xfrm>
          <a:prstGeom prst="rect">
            <a:avLst/>
          </a:prstGeom>
        </p:spPr>
      </p:pic>
      <p:sp>
        <p:nvSpPr>
          <p:cNvPr id="7" name="Rectangle 7"/>
          <p:cNvSpPr/>
          <p:nvPr/>
        </p:nvSpPr>
        <p:spPr>
          <a:xfrm>
            <a:off x="171450" y="0"/>
            <a:ext cx="12020550" cy="657225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9620250" y="171450"/>
            <a:ext cx="2266950" cy="838200"/>
          </a:xfrm>
          <a:prstGeom prst="roundRect">
            <a:avLst>
              <a:gd name="adj" fmla="val 6818"/>
            </a:avLst>
          </a:prstGeom>
          <a:solidFill>
            <a:srgbClr val="FFFFFF">
              <a:alpha val="94000"/>
            </a:srgbClr>
          </a:solidFill>
          <a:ln>
            <a:noFill/>
          </a:ln>
        </p:spPr>
      </p:sp>
      <p:pic>
        <p:nvPicPr>
          <p:cNvPr id="9" name="Imag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8435" y="247650"/>
            <a:ext cx="1910579" cy="6858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4822500" y="2404110"/>
            <a:ext cx="271845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11" name="Rectangle 11"/>
          <p:cNvSpPr/>
          <p:nvPr/>
        </p:nvSpPr>
        <p:spPr>
          <a:xfrm>
            <a:off x="5419725" y="3524250"/>
            <a:ext cx="1524000" cy="5715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4798329" y="2858452"/>
            <a:ext cx="2766791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405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ekly_five_minute_research_update">
  <a:themeElements>
    <a:clrScheme name="weekly_five_minute_research_updat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weekly_five_minute_research_updat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eekly_five_minute_research_upda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2026-08-30T08:07:48Z</dcterms:created>
  <dcterms:modified xsi:type="dcterms:W3CDTF">2026-08-30T08:07:48Z</dcterms:modified>
  <cp:category/>
  <cp:contentStatus/>
</cp:coreProperties>
</file>