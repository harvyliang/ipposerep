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Lst>
  <p:notesMasterIdLst>
    <p:notesMasterId r:id="rId14"/>
  </p:notesMasterIdLst>
  <p:sldIdLst>
    <p:sldId id="266" r:id="rId3"/>
    <p:sldId id="256" r:id="rId4"/>
    <p:sldId id="257" r:id="rId5"/>
    <p:sldId id="258" r:id="rId6"/>
    <p:sldId id="259" r:id="rId7"/>
    <p:sldId id="260" r:id="rId8"/>
    <p:sldId id="261" r:id="rId9"/>
    <p:sldId id="262" r:id="rId10"/>
    <p:sldId id="263" r:id="rId11"/>
    <p:sldId id="264" r:id="rId12"/>
    <p:sldId id="265" r:id="rId1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5" d="100"/>
          <a:sy n="85" d="100"/>
        </p:scale>
        <p:origin x="11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中文讲稿提示：</a:t>
            </a:r>
          </a:p>
          <a:p>
            <a:r>
              <a:t>本部分汇报数据预处理的规则、端到端流程、产物、验证结果，以及多人轨迹审计。重点说明所有模型输入已经生成并通过一致性检查。</a:t>
            </a:r>
          </a:p>
          <a:p>
            <a:endParaRPr/>
          </a:p>
          <a:p>
            <a:r>
              <a:t>数据来源：</a:t>
            </a:r>
          </a:p>
          <a:p>
            <a:r>
              <a:t>- E:/humanPose/reports/preprocessing/skeletonx/skeletonx_preprocessing_report.md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baselines are complete. This week, we move from asking how well the models perform to asking how they handle the two people in an interaction. The person-track diagnostics reveal different responses to whole-clip slot exchange and to track breaks inside a sequence. We use those failures to return to the actual model code, locate how person information is preserved and aggregated, and define separate improvement experiments for CTR-GCN and SkateFormer. The proposed changes are hypotheses, not completed model results.</a:t>
            </a:r>
          </a:p>
          <a:p>
            <a:endParaRPr/>
          </a:p>
          <a:p>
            <a:r>
              <a:t>Sources: E:/humanPose/CTR-GCN_Person_Track_Continuity_Experimental_Report.pdf pp. 2–5; E:/humanPose/SkateFormer_Person_Track_Continuity_Experimental_Report.pdf pp. 2–5; CTRGCN_Baseline_V1_Report.md sections 2–4; SkateFormer_Baseline_Experimental_Results_Report.pdf pp. 1–2.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diagram keeps the same two skeletons at each frame. On the left, A always occupies Person-0 and B always occupies Person-1. On the right, the assignments exchange partway through the sequence. The skeleton pair, label and frame order stay the same, but each slot now contains a broken track. We ask whether the network needs only the poses or also a consistent assignment through time. These are artificial interventions: track breaks can also create position, trajectory and velocity discontinuities. They do not demonstrate recognition of a human identity.</a:t>
            </a:r>
          </a:p>
          <a:p>
            <a:endParaRPr/>
          </a:p>
          <a:p>
            <a:r>
              <a:t>Sources: E:/humanPose/CTR-GCN_Person_Track_Continuity_Experimental_Report.pdf p. 3; E:/humanPose/SkateFormer_Person_Track_Continuity_Experimental_Report.pdf p. 3. Diagrams are conceptual examples, not measured NTU trajectories.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ran four inference-only diagnostics on fixed checkpoints. Global swap exchanges the two slots for the whole clip and creates no internal break. Temporal swap exchanges a suffix after three breakpoints; it establishes within-sequence sensitivity but confounds position and swapped duration. Localized swap fixes a sixteen-frame window with two internal boundaries at early, middle and late positions. Sliding localized swap moves that same window across eleven positions, so we can test the temporal response more densely. Positions refer to the sampled sixty-four-frame model input, not absolute original-video time. No diagnostic retraining or checkpoint search was performed.</a:t>
            </a:r>
          </a:p>
          <a:p>
            <a:endParaRPr/>
          </a:p>
          <a:p>
            <a:r>
              <a:t>Sources: E:/humanPose/CTR-GCN_Person_Track_Continuity_Experimental_Report.pdf pp. 4–5, 7–10; E:/humanPose/SkateFormer_Person_Track_Continuity_Experimental_Report.pdf pp. 4–5, 7–10.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contrast is between two kinds of robustness. CTR-GCN Joint loses 8.76 percentage points under a whole-clip swap, while SkateFormer Fusion loses only 0.15 points. Under the late localized sixteen-frame swap, however, Fusion loses 25.75 points for CTR-GCN and 22.06 for SkateFormer. These numbers use the specific stream and condition shown; they are not a ranking of the architectures. Both pipelines show generally higher sensitivity in the middle-to-late sampled region. Sliding responses are not strictly monotonic and fall at the last sampled window. Global permutation robustness therefore does not imply temporal person-track robustness.</a:t>
            </a:r>
          </a:p>
          <a:p>
            <a:endParaRPr/>
          </a:p>
          <a:p>
            <a:r>
              <a:t>Sources: E:/humanPose/CTR-GCN_Person_Track_Continuity_Experimental_Report.pdf pp. 6, 8, 10; E:/humanPose/SkateFormer_Person_Track_Continuity_Experimental_Report.pdf pp. 6, 8, 10. ΔTop-1 values taken directly from reports, not recomputed from rounded accuracy. One trained checkpoint per stream for the diagnostic line.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purpose of these diagnostic experiments was not simply to measure another accuracy number. The observed failure modes gave us a concrete reason to return to the model architecture and ask where person-specific information is preserved, mixed, or discarded. First, different global-swap responses make us examine slot symmetry, input normalization and training augmentation. Second, both models degrade when a slot changes person inside the sequence: having two input slots does not itself establish a representation of two persistent persons. Third, the temporal response makes us examine how evidence is mixed and pooled over time. These are research questions, not causal findings.</a:t>
            </a:r>
          </a:p>
          <a:p>
            <a:endParaRPr/>
          </a:p>
          <a:p>
            <a:r>
              <a:t>Sources: E:/humanPose/CTR-GCN_Person_Track_Continuity_Experimental_Report.pdf pp. 2, 10–13; E:/humanPose/SkateFormer_Person_Track_Continuity_Experimental_Report.pdf pp. 2, 10–13.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input has a separate person axis. Before the backbone, the code flattens person, joint and channel for data_bn. That normalization has separate parameters and running statistics for the input channels, including person slots. The code then folds person into the batch dimension, so the same graph and temporal backbone processes each person separately. After the backbone, the output is reshaped to batch, person, channel and time-times-joint. mean(3) averages time and joints; mean(1) then explicitly averages the two person features. Classification receives one vector. This locates aggregation but does not prove it causes the diagnostic failure.</a:t>
            </a:r>
          </a:p>
          <a:p>
            <a:endParaRPr/>
          </a:p>
          <a:p>
            <a:r>
              <a:t>Sources: E:/humanPose/baselines/CTR-GCN/model/ctrgcn.py: Model.__init__ / Model.forward, lines 273–337; CTRGCN_Baseline_V1_Report.md sections 2–4. Shapes shown generically; T′ is the downsampled temporal length.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final mean is mathematically symmetric: averaging A and B gives the same result as averaging B and A. Yet the trained Joint pipeline is sensitive to exchanging the input slots. This suggests examining the representation and processing before final pooling. A concrete code-level candidate is data_bn, which normalizes slot-indexed channels and is not constrained to share parameters or statistics across slots. We have not isolated it experimentally. Separately, the person-independent backbone and final mean do not provide an explicit pair-relation block. A relation representation is therefore a candidate improvement after the simpler symmetry ablation, rather than a demonstrated fix.</a:t>
            </a:r>
          </a:p>
          <a:p>
            <a:endParaRPr/>
          </a:p>
          <a:p>
            <a:r>
              <a:t>Sources: E:/humanPose/baselines/CTR-GCN/model/ctrgcn.py: Model.__init__ / Model.forward, lines 273–337; E:/humanPose/CTR-GCN_Person_Track_Continuity_Experimental_Report.pdf pp. 6, 12–13. data_bn is an untested candidate mechanism; whole-pipeline order sensitivity does not identify a unique cause.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SkateFormer does not keep an explicit person axis through the backbone. The feeder selects and reorders twenty-four joints per person, and forward merges two persons with joints into forty-eight indexed positions. The stem and joint-person embedding operate on that axis. The blocks retain the forty-eight-position axis while mixing information through graph convolution and partitioned attention; stage downsampling changes time, not the person-joint length. With the active default average pool, forward_head averages time and all forty-eight positions together, then classifies. There is no separate mean(M). Global robustness must be interpreted alongside the verified whole-clip swap augmentation; it is not proof of architectural invariance.</a:t>
            </a:r>
          </a:p>
          <a:p>
            <a:endParaRPr/>
          </a:p>
          <a:p>
            <a:r>
              <a:t>Sources: E:/humanPose/baselines/SkateFormer/model/SkateFormer.py: SkateFormerBlock.forward, SkateFormer.forward, forward_head (G-conv lines 159, 193–199; partition attention 208–212; downsampling 225–244; embedding/forward 362–366, 428–446; pool 419–426); feeders/feeder_ntu_trainvaltest.py lines 27–36, 84–87, 140–141; config/train/ntu120_csub_inter_trainvaltest/SkateFormer_j.yaml and SkateFormer_b.yaml; E:/humanPose/SkateFormer_Person_Track_Continuity_Experimental_Report.pdf pp. 4, 6, 8. index_t=True; global_pool defaults to avg. A/B grouping is indexed slot membership, not identity tracking.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CTR-GCN, the first low-cost experiment targets the clear global-swap failure: compare swap augmentation and a prediction-consistency loss while retaining the normal classification objective. A later ablation can preserve the two person features for symmetric relational fusion. For SkateFormer, further global invariance is a lower priority. Instead, before the final global mean, retain the two indexed twenty-four-node groups at each time step and build paired features. A candidate descriptor concatenates their sum and absolute difference. It is unchanged by exchanging the pair and preserves a difference term that a simple mean discards. The features are already mixed by the backbone; this readout does not itself guarantee persistent identity or track repair.</a:t>
            </a:r>
          </a:p>
          <a:p>
            <a:endParaRPr/>
          </a:p>
          <a:p>
            <a:r>
              <a:t>Sources: E:/humanPose/CTR-GCN_Person_Track_Continuity_Experimental_Report.pdf pp. 12–13; E:/humanPose/SkateFormer_Person_Track_Continuity_Experimental_Report.pdf pp. 12–13; E:/humanPose/baselines/CTR-GCN/model/ctrgcn.py: Model.__init__ / Model.forward, lines 273–337; E:/humanPose/baselines/SkateFormer/model/SkateFormer.py: SkateFormerBlock.forward, SkateFormer.forward, forward_head. All modules and losses on this slide are proposed, not implemented or evaluated. Descriptor r(t)=[h_A(t)+h_B(t), |h_A(t)−h_B(t)|], followed by a small projection and temporal aggregation.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next experiments follow two different routes. CTR-GCN starts with baseline, swap augmentation only, consistency only, and the combination; a person-relation module comes later. SkateFormer compares its current readout with retaining two time-indexed groups, a symmetric relation descriptor, and the combined readout. Keep the existing swap augmentation and fixed stream fusion unchanged. Select settings and checkpoints only on validation, including validation diagnostics, freeze them, and then evaluate Test. A useful change should preserve clean recognition while reducing the relevant sensitivity, with parameter and compute overhead reported. Because the current interventions are artificial and based on one checkpoint line, repeat promising results with more seeds.</a:t>
            </a:r>
          </a:p>
          <a:p>
            <a:endParaRPr/>
          </a:p>
          <a:p>
            <a:r>
              <a:t>Sources: E:/humanPose/CTR-GCN_Person_Track_Continuity_Experimental_Report.pdf p. 13; E:/humanPose/SkateFormer_Person_Track_Continuity_Experimental_Report.pdf p. 13. Proposed controlled experiments only. Train/Val/Test membership must remain unchanged; Test diagnostics cannot select a model, hyperparameter, checkpoint or fusion weight.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weekly_five_minute_research_update — 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815672B-C16A-4D1A-A0D1-71480B13A86D}"/>
              </a:ext>
            </a:extLst>
          </p:cNvPr>
          <p:cNvSpPr>
            <a:spLocks noGrp="1"/>
          </p:cNvSpPr>
          <p:nvPr>
            <p:ph type="dt" idx="10"/>
          </p:nvPr>
        </p:nvSpPr>
        <p:spPr/>
        <p:txBody>
          <a:bodyPr/>
          <a:lstStyle/>
          <a:p>
            <a:endParaRPr/>
          </a:p>
        </p:txBody>
      </p:sp>
      <p:sp>
        <p:nvSpPr>
          <p:cNvPr id="3" name="Footer Placeholder 2">
            <a:extLst>
              <a:ext uri="{FF2B5EF4-FFF2-40B4-BE49-F238E27FC236}">
                <a16:creationId xmlns:a16="http://schemas.microsoft.com/office/drawing/2014/main" id="{969FA45C-BCC6-430C-99C9-06B97BFC1205}"/>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0088A4F6-91E9-4EF8-AE5A-0E984D537F58}"/>
              </a:ext>
            </a:extLst>
          </p:cNvPr>
          <p:cNvSpPr>
            <a:spLocks noGrp="1"/>
          </p:cNvSpPr>
          <p:nvPr>
            <p:ph type="sldNum" idx="12"/>
          </p:nvPr>
        </p:nvSpPr>
        <p:spPr/>
        <p:txBody>
          <a:bodyPr/>
          <a:lstStyle/>
          <a:p>
            <a:endParaRPr/>
          </a:p>
        </p:txBody>
      </p:sp>
    </p:spTree>
    <p:extLst>
      <p:ext uri="{BB962C8B-B14F-4D97-AF65-F5344CB8AC3E}">
        <p14:creationId xmlns:p14="http://schemas.microsoft.com/office/powerpoint/2010/main" val="38976816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weekly_five_minute_research_update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wrap="square"/>
          <a:lstStyle/>
          <a:p>
            <a:fld id="{5BCAD085-E8A6-8845-BD4E-CB4CCA059FC4}" type="datetimeFigureOut">
              <a:rPr lang="en-US" smtClean="0"/>
              <a:t>10/6/2026</a:t>
            </a:fld>
            <a:endParaRPr lang="en-US"/>
          </a:p>
        </p:txBody>
      </p:sp>
      <p:sp>
        <p:nvSpPr>
          <p:cNvPr id="3" name="Footer Placeholder 2"/>
          <p:cNvSpPr>
            <a:spLocks noGrp="1"/>
          </p:cNvSpPr>
          <p:nvPr>
            <p:ph type="ftr" sz="quarter" idx="11"/>
          </p:nvPr>
        </p:nvSpPr>
        <p:spPr/>
        <p:txBody>
          <a:bodyPr wrap="square"/>
          <a:lstStyle/>
          <a:p>
            <a:endParaRPr lang="en-US"/>
          </a:p>
        </p:txBody>
      </p:sp>
      <p:sp>
        <p:nvSpPr>
          <p:cNvPr id="4" name="Slide Number Placeholder 3"/>
          <p:cNvSpPr>
            <a:spLocks noGrp="1"/>
          </p:cNvSpPr>
          <p:nvPr>
            <p:ph type="sldNum" sz="quarter" idx="12"/>
          </p:nvPr>
        </p:nvSpPr>
        <p:spPr/>
        <p:txBody>
          <a:bodyPr wrap="square"/>
          <a:lstStyle/>
          <a:p>
            <a:fld id="{C1FF6DA9-008F-8B48-92A6-B652298478BF}" type="slidenum">
              <a:rPr lang="en-US" smtClean="0"/>
              <a:t>‹#›</a:t>
            </a:fld>
            <a:endParaRPr lang="en-US"/>
          </a:p>
        </p:txBody>
      </p:sp>
    </p:spTree>
    <p:extLst>
      <p:ext uri="{BB962C8B-B14F-4D97-AF65-F5344CB8AC3E}">
        <p14:creationId xmlns:p14="http://schemas.microsoft.com/office/powerpoint/2010/main" val="289627915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2" r:id="rId2"/>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379194154"/>
      </p:ext>
    </p:extLst>
  </p:cSld>
  <p:clrMap bg1="lt1" tx1="dk1" bg2="lt2" tx2="dk2" accent1="accent1" accent2="accent2" accent3="accent3" accent4="accent4" accent5="accent5" accent6="accent6" hlink="hlink" folHlink="folHlink"/>
  <p:sldLayoutIdLst>
    <p:sldLayoutId id="2147483651" r:id="rId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CF03D875-3503-448C-BEBE-3441B63D875F}"/>
              </a:ext>
            </a:extLst>
          </p:cNvPr>
          <p:cNvSpPr>
            <a:spLocks noGrp="1"/>
          </p:cNvSpPr>
          <p:nvPr/>
        </p:nvSpPr>
        <p:spPr>
          <a:xfrm>
            <a:off x="0" y="0"/>
            <a:ext cx="171450" cy="6858000"/>
          </a:xfrm>
          <a:prstGeom prst="rect">
            <a:avLst/>
          </a:prstGeom>
          <a:solidFill>
            <a:srgbClr val="D71440"/>
          </a:solidFill>
          <a:ln>
            <a:noFill/>
          </a:ln>
        </p:spPr>
        <p:txBody>
          <a:bodyPr/>
          <a:lstStyle/>
          <a:p>
            <a:endParaRPr lang="zh-CN" altLang="en-US"/>
          </a:p>
        </p:txBody>
      </p:sp>
      <p:pic>
        <p:nvPicPr>
          <p:cNvPr id="17" name="Image 3"/>
          <p:cNvPicPr>
            <a:picLocks noChangeAspect="1"/>
          </p:cNvPicPr>
          <p:nvPr/>
        </p:nvPicPr>
        <p:blipFill>
          <a:blip r:embed="rId3"/>
          <a:stretch>
            <a:fillRect/>
          </a:stretch>
        </p:blipFill>
        <p:spPr>
          <a:xfrm>
            <a:off x="9810750" y="228600"/>
            <a:ext cx="1905000" cy="685800"/>
          </a:xfrm>
          <a:prstGeom prst="rect">
            <a:avLst/>
          </a:prstGeom>
        </p:spPr>
      </p:pic>
      <p:sp>
        <p:nvSpPr>
          <p:cNvPr id="4" name="Rectangle 4">
            <a:extLst>
              <a:ext uri="{FF2B5EF4-FFF2-40B4-BE49-F238E27FC236}">
                <a16:creationId xmlns:a16="http://schemas.microsoft.com/office/drawing/2014/main" id="{C06C0569-4319-417B-8AD2-39815FE98857}"/>
              </a:ext>
            </a:extLst>
          </p:cNvPr>
          <p:cNvSpPr>
            <a:spLocks noGrp="1"/>
          </p:cNvSpPr>
          <p:nvPr/>
        </p:nvSpPr>
        <p:spPr>
          <a:xfrm>
            <a:off x="171450" y="6572250"/>
            <a:ext cx="12020550" cy="285750"/>
          </a:xfrm>
          <a:prstGeom prst="rect">
            <a:avLst/>
          </a:prstGeom>
          <a:solidFill>
            <a:srgbClr val="181C62"/>
          </a:solidFill>
          <a:ln>
            <a:noFill/>
          </a:ln>
        </p:spPr>
        <p:txBody>
          <a:bodyPr/>
          <a:lstStyle/>
          <a:p>
            <a:endParaRPr lang="zh-CN" altLang="en-US"/>
          </a:p>
        </p:txBody>
      </p:sp>
      <p:sp>
        <p:nvSpPr>
          <p:cNvPr id="5" name="TextBox 5">
            <a:extLst>
              <a:ext uri="{FF2B5EF4-FFF2-40B4-BE49-F238E27FC236}">
                <a16:creationId xmlns:a16="http://schemas.microsoft.com/office/drawing/2014/main" id="{74061644-E7AF-4122-9287-6170EF60B736}"/>
              </a:ext>
            </a:extLst>
          </p:cNvPr>
          <p:cNvSpPr>
            <a:spLocks noGrp="1"/>
          </p:cNvSpPr>
          <p:nvPr/>
        </p:nvSpPr>
        <p:spPr>
          <a:xfrm>
            <a:off x="471297" y="6667024"/>
            <a:ext cx="2114774" cy="190690"/>
          </a:xfrm>
          <a:prstGeom prst="rect">
            <a:avLst/>
          </a:prstGeom>
          <a:noFill/>
          <a:ln>
            <a:noFill/>
          </a:ln>
        </p:spPr>
        <p:txBody>
          <a:bodyPr wrap="none" lIns="0" tIns="0" rIns="0" bIns="0" anchor="t">
            <a:spAutoFit/>
          </a:bodyPr>
          <a:lstStyle/>
          <a:p>
            <a:pPr algn="l">
              <a:buNone/>
            </a:pPr>
            <a:r>
              <a:rPr sz="980">
                <a:solidFill>
                  <a:srgbClr val="FFFFFF"/>
                </a:solidFill>
                <a:latin typeface="Arial"/>
                <a:ea typeface="Arial"/>
                <a:cs typeface="Arial"/>
              </a:rPr>
              <a:t>EE6008 · HUMAN POSE ANALYTICS</a:t>
            </a:r>
          </a:p>
        </p:txBody>
      </p:sp>
      <p:sp>
        <p:nvSpPr>
          <p:cNvPr id="6" name="Rectangle 6">
            <a:extLst>
              <a:ext uri="{FF2B5EF4-FFF2-40B4-BE49-F238E27FC236}">
                <a16:creationId xmlns:a16="http://schemas.microsoft.com/office/drawing/2014/main" id="{D1F0F809-98FD-48E7-94F6-930FFC315C75}"/>
              </a:ext>
            </a:extLst>
          </p:cNvPr>
          <p:cNvSpPr>
            <a:spLocks noGrp="1"/>
          </p:cNvSpPr>
          <p:nvPr/>
        </p:nvSpPr>
        <p:spPr>
          <a:xfrm>
            <a:off x="552450" y="1200150"/>
            <a:ext cx="114300" cy="3905250"/>
          </a:xfrm>
          <a:prstGeom prst="rect">
            <a:avLst/>
          </a:prstGeom>
          <a:solidFill>
            <a:srgbClr val="D71440"/>
          </a:solidFill>
          <a:ln>
            <a:noFill/>
          </a:ln>
        </p:spPr>
        <p:txBody>
          <a:bodyPr/>
          <a:lstStyle/>
          <a:p>
            <a:endParaRPr lang="zh-CN" altLang="en-US"/>
          </a:p>
        </p:txBody>
      </p:sp>
      <p:pic>
        <p:nvPicPr>
          <p:cNvPr id="21" name="Image 7"/>
          <p:cNvPicPr>
            <a:picLocks noChangeAspect="1"/>
          </p:cNvPicPr>
          <p:nvPr/>
        </p:nvPicPr>
        <p:blipFill>
          <a:blip r:embed="rId4">
            <a:alphaModFix amt="56000"/>
          </a:blip>
          <a:stretch>
            <a:fillRect/>
          </a:stretch>
        </p:blipFill>
        <p:spPr>
          <a:xfrm>
            <a:off x="3762375" y="1200150"/>
            <a:ext cx="8382000" cy="3905250"/>
          </a:xfrm>
          <a:prstGeom prst="rect">
            <a:avLst/>
          </a:prstGeom>
        </p:spPr>
      </p:pic>
      <p:sp>
        <p:nvSpPr>
          <p:cNvPr id="8" name="Freeform 8">
            <a:extLst>
              <a:ext uri="{FF2B5EF4-FFF2-40B4-BE49-F238E27FC236}">
                <a16:creationId xmlns:a16="http://schemas.microsoft.com/office/drawing/2014/main" id="{78DF0C90-371C-4262-8ADA-C99216CF53B0}"/>
              </a:ext>
            </a:extLst>
          </p:cNvPr>
          <p:cNvSpPr>
            <a:spLocks noGrp="1"/>
          </p:cNvSpPr>
          <p:nvPr/>
        </p:nvSpPr>
        <p:spPr>
          <a:xfrm>
            <a:off x="3714750" y="1200150"/>
            <a:ext cx="1714500" cy="3905250"/>
          </a:xfrm>
          <a:custGeom>
            <a:avLst/>
            <a:gdLst/>
            <a:ahLst/>
            <a:cxnLst/>
            <a:rect l="l" t="t" r="r" b="b"/>
            <a:pathLst>
              <a:path w="1714500" h="3905250">
                <a:moveTo>
                  <a:pt x="0" y="0"/>
                </a:moveTo>
                <a:lnTo>
                  <a:pt x="1714500" y="0"/>
                </a:lnTo>
                <a:lnTo>
                  <a:pt x="1047750" y="3905250"/>
                </a:lnTo>
                <a:lnTo>
                  <a:pt x="0" y="3905250"/>
                </a:lnTo>
                <a:close/>
              </a:path>
            </a:pathLst>
          </a:custGeom>
          <a:solidFill>
            <a:srgbClr val="FFFFFF">
              <a:alpha val="82000"/>
            </a:srgbClr>
          </a:solidFill>
          <a:ln>
            <a:noFill/>
          </a:ln>
        </p:spPr>
        <p:txBody>
          <a:bodyPr/>
          <a:lstStyle/>
          <a:p>
            <a:endParaRPr lang="zh-CN" altLang="en-US"/>
          </a:p>
        </p:txBody>
      </p:sp>
      <p:sp>
        <p:nvSpPr>
          <p:cNvPr id="9" name="Freeform 9">
            <a:extLst>
              <a:ext uri="{FF2B5EF4-FFF2-40B4-BE49-F238E27FC236}">
                <a16:creationId xmlns:a16="http://schemas.microsoft.com/office/drawing/2014/main" id="{4C05EDC9-CE61-46E7-94AB-5E3CE9BFB8AE}"/>
              </a:ext>
            </a:extLst>
          </p:cNvPr>
          <p:cNvSpPr>
            <a:spLocks noGrp="1"/>
          </p:cNvSpPr>
          <p:nvPr/>
        </p:nvSpPr>
        <p:spPr>
          <a:xfrm>
            <a:off x="4476750" y="1200150"/>
            <a:ext cx="809625" cy="3905250"/>
          </a:xfrm>
          <a:custGeom>
            <a:avLst/>
            <a:gdLst/>
            <a:ahLst/>
            <a:cxnLst/>
            <a:rect l="l" t="t" r="r" b="b"/>
            <a:pathLst>
              <a:path w="809625" h="3905250">
                <a:moveTo>
                  <a:pt x="809625" y="0"/>
                </a:moveTo>
                <a:lnTo>
                  <a:pt x="0" y="3905250"/>
                </a:lnTo>
              </a:path>
            </a:pathLst>
          </a:custGeom>
          <a:noFill/>
          <a:ln w="28575">
            <a:solidFill>
              <a:srgbClr val="D71440">
                <a:alpha val="62000"/>
              </a:srgbClr>
            </a:solidFill>
          </a:ln>
        </p:spPr>
        <p:txBody>
          <a:bodyPr/>
          <a:lstStyle/>
          <a:p>
            <a:endParaRPr lang="zh-CN" altLang="en-US"/>
          </a:p>
        </p:txBody>
      </p:sp>
      <p:sp>
        <p:nvSpPr>
          <p:cNvPr id="10" name="TextBox 10">
            <a:extLst>
              <a:ext uri="{FF2B5EF4-FFF2-40B4-BE49-F238E27FC236}">
                <a16:creationId xmlns:a16="http://schemas.microsoft.com/office/drawing/2014/main" id="{23ECB098-C7DA-4144-88A2-542445249DCB}"/>
              </a:ext>
            </a:extLst>
          </p:cNvPr>
          <p:cNvSpPr>
            <a:spLocks noGrp="1"/>
          </p:cNvSpPr>
          <p:nvPr/>
        </p:nvSpPr>
        <p:spPr>
          <a:xfrm>
            <a:off x="898398" y="1603058"/>
            <a:ext cx="4616457" cy="616077"/>
          </a:xfrm>
          <a:prstGeom prst="rect">
            <a:avLst/>
          </a:prstGeom>
          <a:noFill/>
          <a:ln>
            <a:noFill/>
          </a:ln>
        </p:spPr>
        <p:txBody>
          <a:bodyPr lIns="0" tIns="0" rIns="0" bIns="0" anchor="ctr">
            <a:normAutofit fontScale="82271" lnSpcReduction="10000"/>
          </a:bodyPr>
          <a:lstStyle/>
          <a:p>
            <a:pPr algn="l">
              <a:buNone/>
              <a:defRPr sz="3750" b="1">
                <a:solidFill>
                  <a:srgbClr val="1F1B68"/>
                </a:solidFill>
                <a:latin typeface="Arial"/>
                <a:ea typeface="Arial"/>
                <a:cs typeface="Arial"/>
              </a:defRPr>
            </a:pPr>
            <a:r>
              <a:rPr sz="3750" b="1">
                <a:solidFill>
                  <a:srgbClr val="1F1B68"/>
                </a:solidFill>
                <a:latin typeface="Arial"/>
                <a:ea typeface="Arial"/>
                <a:cs typeface="Arial"/>
              </a:rPr>
              <a:t>Human Pose Analytics</a:t>
            </a:r>
            <a:endParaRPr sz="3150" b="1">
              <a:solidFill>
                <a:srgbClr val="181C62"/>
              </a:solidFill>
              <a:latin typeface="Arial"/>
              <a:ea typeface="Arial"/>
              <a:cs typeface="Arial"/>
            </a:endParaRPr>
          </a:p>
        </p:txBody>
      </p:sp>
      <p:sp>
        <p:nvSpPr>
          <p:cNvPr id="11" name="TextBox 11">
            <a:extLst>
              <a:ext uri="{FF2B5EF4-FFF2-40B4-BE49-F238E27FC236}">
                <a16:creationId xmlns:a16="http://schemas.microsoft.com/office/drawing/2014/main" id="{038445F5-A4EA-44C8-AC8F-6D06EF1641FC}"/>
              </a:ext>
            </a:extLst>
          </p:cNvPr>
          <p:cNvSpPr>
            <a:spLocks noGrp="1"/>
          </p:cNvSpPr>
          <p:nvPr/>
        </p:nvSpPr>
        <p:spPr>
          <a:xfrm>
            <a:off x="905637" y="3166586"/>
            <a:ext cx="4508738" cy="337376"/>
          </a:xfrm>
          <a:prstGeom prst="rect">
            <a:avLst/>
          </a:prstGeom>
          <a:noFill/>
          <a:ln>
            <a:noFill/>
          </a:ln>
        </p:spPr>
        <p:txBody>
          <a:bodyPr lIns="0" tIns="0" rIns="0" bIns="0" anchor="ctr">
            <a:normAutofit fontScale="92906"/>
          </a:bodyPr>
          <a:lstStyle/>
          <a:p>
            <a:pPr algn="l">
              <a:buNone/>
              <a:defRPr sz="1875" b="0">
                <a:solidFill>
                  <a:srgbClr val="5D6473"/>
                </a:solidFill>
                <a:latin typeface="Arial"/>
                <a:ea typeface="Arial"/>
                <a:cs typeface="Arial"/>
              </a:defRPr>
            </a:pPr>
            <a:r>
              <a:rPr sz="1875" b="0" dirty="0">
                <a:solidFill>
                  <a:srgbClr val="5D6473"/>
                </a:solidFill>
                <a:latin typeface="Arial"/>
                <a:ea typeface="Arial"/>
                <a:cs typeface="Arial"/>
              </a:rPr>
              <a:t>Weekly research update · </a:t>
            </a:r>
            <a:r>
              <a:rPr lang="en-US" sz="1875" b="0" dirty="0">
                <a:solidFill>
                  <a:srgbClr val="5D6473"/>
                </a:solidFill>
                <a:latin typeface="Arial"/>
                <a:ea typeface="Arial"/>
                <a:cs typeface="Arial"/>
              </a:rPr>
              <a:t>E</a:t>
            </a:r>
            <a:r>
              <a:rPr lang="en-US" altLang="zh-CN" sz="1875" b="0" dirty="0">
                <a:solidFill>
                  <a:srgbClr val="5D6473"/>
                </a:solidFill>
                <a:latin typeface="Arial"/>
                <a:ea typeface="Arial"/>
                <a:cs typeface="Arial"/>
              </a:rPr>
              <a:t>xperiment</a:t>
            </a:r>
            <a:endParaRPr sz="1720" dirty="0">
              <a:solidFill>
                <a:srgbClr val="20243A"/>
              </a:solidFill>
              <a:latin typeface="Arial"/>
              <a:ea typeface="Arial"/>
              <a:cs typeface="Arial"/>
            </a:endParaRPr>
          </a:p>
        </p:txBody>
      </p:sp>
      <p:sp>
        <p:nvSpPr>
          <p:cNvPr id="12" name="TextBox 12">
            <a:extLst>
              <a:ext uri="{FF2B5EF4-FFF2-40B4-BE49-F238E27FC236}">
                <a16:creationId xmlns:a16="http://schemas.microsoft.com/office/drawing/2014/main" id="{480AD190-7127-4074-8BDB-6371EC722FE6}"/>
              </a:ext>
            </a:extLst>
          </p:cNvPr>
          <p:cNvSpPr>
            <a:spLocks noGrp="1"/>
          </p:cNvSpPr>
          <p:nvPr/>
        </p:nvSpPr>
        <p:spPr>
          <a:xfrm>
            <a:off x="907542" y="4311968"/>
            <a:ext cx="2213617" cy="264033"/>
          </a:xfrm>
          <a:prstGeom prst="rect">
            <a:avLst/>
          </a:prstGeom>
          <a:noFill/>
          <a:ln>
            <a:noFill/>
          </a:ln>
        </p:spPr>
        <p:txBody>
          <a:bodyPr lIns="0" tIns="0" rIns="0" bIns="0" anchor="ctr">
            <a:normAutofit/>
          </a:bodyPr>
          <a:lstStyle/>
          <a:p>
            <a:pPr algn="l">
              <a:buNone/>
              <a:defRPr sz="1350" b="0">
                <a:solidFill>
                  <a:srgbClr val="E3185A"/>
                </a:solidFill>
                <a:latin typeface="Arial"/>
                <a:ea typeface="Arial"/>
                <a:cs typeface="Arial"/>
              </a:defRPr>
            </a:pPr>
            <a:r>
              <a:rPr sz="1350" b="0" dirty="0">
                <a:solidFill>
                  <a:srgbClr val="E3185A"/>
                </a:solidFill>
                <a:latin typeface="Arial"/>
                <a:ea typeface="Arial"/>
                <a:cs typeface="Arial"/>
              </a:rPr>
              <a:t>Reporting period · Week </a:t>
            </a:r>
            <a:r>
              <a:rPr lang="en-US" sz="1350" b="0" dirty="0">
                <a:solidFill>
                  <a:srgbClr val="E3185A"/>
                </a:solidFill>
                <a:latin typeface="Arial"/>
                <a:ea typeface="Arial"/>
                <a:cs typeface="Arial"/>
              </a:rPr>
              <a:t>8</a:t>
            </a:r>
            <a:endParaRPr sz="1350" b="1" dirty="0">
              <a:solidFill>
                <a:srgbClr val="D71440"/>
              </a:solidFill>
              <a:latin typeface="Arial"/>
              <a:ea typeface="Arial"/>
              <a:cs typeface="Arial"/>
            </a:endParaRPr>
          </a:p>
        </p:txBody>
      </p:sp>
    </p:spTree>
    <p:extLst>
      <p:ext uri="{BB962C8B-B14F-4D97-AF65-F5344CB8AC3E}">
        <p14:creationId xmlns:p14="http://schemas.microsoft.com/office/powerpoint/2010/main" val="6097132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E4A5E742-FFF0-5923-B2B4-C6433543B90F}"/>
              </a:ext>
            </a:extLst>
          </p:cNvPr>
          <p:cNvSpPr>
            <a:spLocks noGrp="1"/>
          </p:cNvSpPr>
          <p:nvPr/>
        </p:nvSpPr>
        <p:spPr>
          <a:xfrm>
            <a:off x="0" y="0"/>
            <a:ext cx="152400" cy="6858000"/>
          </a:xfrm>
          <a:prstGeom prst="rect">
            <a:avLst/>
          </a:prstGeom>
          <a:solidFill>
            <a:srgbClr val="E31346"/>
          </a:solidFill>
          <a:ln w="0">
            <a:noFill/>
          </a:ln>
        </p:spPr>
        <p:txBody>
          <a:bodyPr/>
          <a:lstStyle/>
          <a:p>
            <a:endParaRPr lang="zh-CN" altLang="en-US"/>
          </a:p>
        </p:txBody>
      </p:sp>
      <p:sp>
        <p:nvSpPr>
          <p:cNvPr id="2" name="矩形 1">
            <a:extLst>
              <a:ext uri="{FF2B5EF4-FFF2-40B4-BE49-F238E27FC236}">
                <a16:creationId xmlns:a16="http://schemas.microsoft.com/office/drawing/2014/main" id="{26B11A55-A357-54AF-B0B5-795B6EF67C6E}"/>
              </a:ext>
            </a:extLst>
          </p:cNvPr>
          <p:cNvSpPr>
            <a:spLocks noGrp="1"/>
          </p:cNvSpPr>
          <p:nvPr/>
        </p:nvSpPr>
        <p:spPr>
          <a:xfrm>
            <a:off x="152400" y="6562725"/>
            <a:ext cx="12039600" cy="295275"/>
          </a:xfrm>
          <a:prstGeom prst="rect">
            <a:avLst/>
          </a:prstGeom>
          <a:solidFill>
            <a:srgbClr val="1B1D63"/>
          </a:solidFill>
          <a:ln w="0">
            <a:noFill/>
          </a:ln>
        </p:spPr>
        <p:txBody>
          <a:bodyPr/>
          <a:lstStyle/>
          <a:p>
            <a:endParaRPr lang="zh-CN" altLang="en-US"/>
          </a:p>
        </p:txBody>
      </p:sp>
      <p:sp>
        <p:nvSpPr>
          <p:cNvPr id="5" name="矩形 4">
            <a:extLst>
              <a:ext uri="{FF2B5EF4-FFF2-40B4-BE49-F238E27FC236}">
                <a16:creationId xmlns:a16="http://schemas.microsoft.com/office/drawing/2014/main" id="{74A80453-C120-501C-8158-1D6135E1C58D}"/>
              </a:ext>
            </a:extLst>
          </p:cNvPr>
          <p:cNvSpPr>
            <a:spLocks noGrp="1"/>
          </p:cNvSpPr>
          <p:nvPr/>
        </p:nvSpPr>
        <p:spPr>
          <a:xfrm>
            <a:off x="495300" y="1009650"/>
            <a:ext cx="1562100" cy="47625"/>
          </a:xfrm>
          <a:prstGeom prst="rect">
            <a:avLst/>
          </a:prstGeom>
          <a:solidFill>
            <a:srgbClr val="E31346"/>
          </a:solidFill>
          <a:ln w="0">
            <a:noFill/>
          </a:ln>
        </p:spPr>
        <p:txBody>
          <a:bodyPr/>
          <a:lstStyle/>
          <a:p>
            <a:endParaRPr lang="zh-CN" altLang="en-US"/>
          </a:p>
        </p:txBody>
      </p:sp>
      <p:sp>
        <p:nvSpPr>
          <p:cNvPr id="7" name="矩形 6">
            <a:extLst>
              <a:ext uri="{FF2B5EF4-FFF2-40B4-BE49-F238E27FC236}">
                <a16:creationId xmlns:a16="http://schemas.microsoft.com/office/drawing/2014/main" id="{2579AC63-3F53-5E7B-8564-7EE370E3240D}"/>
              </a:ext>
            </a:extLst>
          </p:cNvPr>
          <p:cNvSpPr>
            <a:spLocks noGrp="1"/>
          </p:cNvSpPr>
          <p:nvPr/>
        </p:nvSpPr>
        <p:spPr>
          <a:xfrm>
            <a:off x="495300" y="6591300"/>
            <a:ext cx="2857500" cy="219075"/>
          </a:xfrm>
          <a:prstGeom prst="rect">
            <a:avLst/>
          </a:prstGeom>
          <a:noFill/>
          <a:ln w="0">
            <a:noFill/>
          </a:ln>
        </p:spPr>
        <p:txBody>
          <a:bodyPr anchor="ctr">
            <a:normAutofit/>
          </a:bodyPr>
          <a:lstStyle/>
          <a:p>
            <a:pPr algn="l">
              <a:defRPr sz="750" b="1">
                <a:solidFill>
                  <a:srgbClr val="FFFFFF"/>
                </a:solidFill>
                <a:latin typeface="Arial"/>
                <a:ea typeface="Arial"/>
                <a:cs typeface="Arial"/>
              </a:defRPr>
            </a:pPr>
            <a:r>
              <a:rPr sz="750" b="1">
                <a:solidFill>
                  <a:srgbClr val="FFFFFF"/>
                </a:solidFill>
                <a:latin typeface="Arial"/>
                <a:ea typeface="Arial"/>
                <a:cs typeface="Arial"/>
              </a:rPr>
              <a:t>EE6008 · WEEKLY REPORT</a:t>
            </a:r>
          </a:p>
        </p:txBody>
      </p:sp>
      <p:sp>
        <p:nvSpPr>
          <p:cNvPr id="8" name="矩形 7">
            <a:extLst>
              <a:ext uri="{FF2B5EF4-FFF2-40B4-BE49-F238E27FC236}">
                <a16:creationId xmlns:a16="http://schemas.microsoft.com/office/drawing/2014/main" id="{FFF52B08-AF99-50F5-8416-B8F1A0A85FCB}"/>
              </a:ext>
            </a:extLst>
          </p:cNvPr>
          <p:cNvSpPr>
            <a:spLocks noGrp="1"/>
          </p:cNvSpPr>
          <p:nvPr/>
        </p:nvSpPr>
        <p:spPr>
          <a:xfrm>
            <a:off x="11049000" y="6591300"/>
            <a:ext cx="619125" cy="219075"/>
          </a:xfrm>
          <a:prstGeom prst="rect">
            <a:avLst/>
          </a:prstGeom>
          <a:noFill/>
          <a:ln w="0">
            <a:noFill/>
          </a:ln>
        </p:spPr>
        <p:txBody>
          <a:bodyPr anchor="ctr">
            <a:normAutofit/>
          </a:bodyPr>
          <a:lstStyle/>
          <a:p>
            <a:pPr algn="r">
              <a:defRPr sz="750" b="1">
                <a:solidFill>
                  <a:srgbClr val="FFFFFF"/>
                </a:solidFill>
                <a:latin typeface="Arial"/>
                <a:ea typeface="Arial"/>
                <a:cs typeface="Arial"/>
              </a:defRPr>
            </a:pPr>
            <a:r>
              <a:rPr sz="750" b="1">
                <a:solidFill>
                  <a:srgbClr val="FFFFFF"/>
                </a:solidFill>
                <a:latin typeface="Arial"/>
                <a:ea typeface="Arial"/>
                <a:cs typeface="Arial"/>
              </a:rPr>
              <a:t>01</a:t>
            </a:r>
          </a:p>
        </p:txBody>
      </p:sp>
      <p:sp>
        <p:nvSpPr>
          <p:cNvPr id="100" name="person-diagram-1">
            <a:extLst>
              <a:ext uri="{FF2B5EF4-FFF2-40B4-BE49-F238E27FC236}">
                <a16:creationId xmlns:a16="http://schemas.microsoft.com/office/drawing/2014/main" id="{8B37910A-AF8D-42B0-911C-6F46237A07C0}"/>
              </a:ext>
            </a:extLst>
          </p:cNvPr>
          <p:cNvSpPr>
            <a:spLocks noGrp="1"/>
          </p:cNvSpPr>
          <p:nvPr/>
        </p:nvSpPr>
        <p:spPr>
          <a:xfrm>
            <a:off x="590550" y="238125"/>
            <a:ext cx="8524875" cy="476250"/>
          </a:xfrm>
          <a:prstGeom prst="rect">
            <a:avLst/>
          </a:prstGeom>
          <a:noFill/>
          <a:ln w="0">
            <a:noFill/>
          </a:ln>
        </p:spPr>
        <p:txBody>
          <a:bodyPr lIns="0" tIns="0" rIns="0" bIns="0" anchor="ctr">
            <a:noAutofit/>
          </a:bodyPr>
          <a:lstStyle>
            <a:defPPr algn="l">
              <a:defRPr sz="2524" b="1">
                <a:solidFill>
                  <a:srgbClr val="1B1D63"/>
                </a:solidFill>
                <a:latin typeface="Arial"/>
                <a:ea typeface="Arial"/>
                <a:cs typeface="Arial"/>
              </a:defRPr>
            </a:defPPr>
          </a:lstStyle>
          <a:p>
            <a:pPr algn="l">
              <a:defRPr sz="2524" b="1">
                <a:solidFill>
                  <a:srgbClr val="1B1D63"/>
                </a:solidFill>
                <a:latin typeface="Arial"/>
                <a:ea typeface="Arial"/>
                <a:cs typeface="Arial"/>
              </a:defRPr>
            </a:pPr>
            <a:r>
              <a:rPr sz="2524" b="1">
                <a:solidFill>
                  <a:srgbClr val="1B1D63"/>
                </a:solidFill>
                <a:latin typeface="Arial"/>
                <a:ea typeface="Arial"/>
                <a:cs typeface="Arial"/>
              </a:rPr>
              <a:t>Understanding Person Information</a:t>
            </a:r>
          </a:p>
        </p:txBody>
      </p:sp>
      <p:pic>
        <p:nvPicPr>
          <p:cNvPr id="101" name="图片 100">
            <a:extLst>
              <a:ext uri="{FF2B5EF4-FFF2-40B4-BE49-F238E27FC236}">
                <a16:creationId xmlns:a16="http://schemas.microsoft.com/office/drawing/2014/main" id="{1A6A7A9C-8CE2-4401-A8A7-EA05EB4419CB}"/>
              </a:ext>
            </a:extLst>
          </p:cNvPr>
          <p:cNvPicPr>
            <a:picLocks noChangeAspect="1"/>
          </p:cNvPicPr>
          <p:nvPr/>
        </p:nvPicPr>
        <p:blipFill>
          <a:blip r:embed="rId3"/>
          <a:stretch/>
        </p:blipFill>
        <p:spPr>
          <a:xfrm>
            <a:off x="9696450" y="191381"/>
            <a:ext cx="2038350" cy="731663"/>
          </a:xfrm>
          <a:prstGeom prst="rect">
            <a:avLst/>
          </a:prstGeom>
        </p:spPr>
      </p:pic>
      <p:sp>
        <p:nvSpPr>
          <p:cNvPr id="103" name="person-diagram-3">
            <a:extLst>
              <a:ext uri="{FF2B5EF4-FFF2-40B4-BE49-F238E27FC236}">
                <a16:creationId xmlns:a16="http://schemas.microsoft.com/office/drawing/2014/main" id="{EE697157-A895-4BC6-815E-4D28F044404A}"/>
              </a:ext>
            </a:extLst>
          </p:cNvPr>
          <p:cNvSpPr>
            <a:spLocks noGrp="1"/>
          </p:cNvSpPr>
          <p:nvPr/>
        </p:nvSpPr>
        <p:spPr>
          <a:xfrm>
            <a:off x="495300" y="1838325"/>
            <a:ext cx="11220450" cy="581025"/>
          </a:xfrm>
          <a:prstGeom prst="rect">
            <a:avLst/>
          </a:prstGeom>
          <a:noFill/>
          <a:ln w="0">
            <a:noFill/>
          </a:ln>
        </p:spPr>
        <p:txBody>
          <a:bodyPr lIns="0" tIns="0" rIns="0" bIns="0" anchor="ctr">
            <a:noAutofit/>
          </a:bodyPr>
          <a:lstStyle>
            <a:defPPr algn="l">
              <a:defRPr sz="2700" b="1">
                <a:solidFill>
                  <a:srgbClr val="1B1D63"/>
                </a:solidFill>
                <a:latin typeface="Arial"/>
                <a:ea typeface="Arial"/>
                <a:cs typeface="Arial"/>
              </a:defRPr>
            </a:defPPr>
          </a:lstStyle>
          <a:p>
            <a:pPr algn="l">
              <a:defRPr sz="2700" b="1">
                <a:solidFill>
                  <a:srgbClr val="1B1D63"/>
                </a:solidFill>
                <a:latin typeface="Arial"/>
                <a:ea typeface="Arial"/>
                <a:cs typeface="Arial"/>
              </a:defRPr>
            </a:pPr>
            <a:r>
              <a:rPr sz="2700" b="1">
                <a:solidFill>
                  <a:srgbClr val="1B1D63"/>
                </a:solidFill>
                <a:latin typeface="Arial"/>
                <a:ea typeface="Arial"/>
                <a:cs typeface="Arial"/>
              </a:rPr>
              <a:t>How do models handle two interacting persons?</a:t>
            </a:r>
          </a:p>
        </p:txBody>
      </p:sp>
      <p:sp>
        <p:nvSpPr>
          <p:cNvPr id="104" name="person-diagram-4">
            <a:extLst>
              <a:ext uri="{FF2B5EF4-FFF2-40B4-BE49-F238E27FC236}">
                <a16:creationId xmlns:a16="http://schemas.microsoft.com/office/drawing/2014/main" id="{27B92BBC-61D8-4928-9BBB-B1075F98AA36}"/>
              </a:ext>
            </a:extLst>
          </p:cNvPr>
          <p:cNvSpPr>
            <a:spLocks noGrp="1"/>
          </p:cNvSpPr>
          <p:nvPr/>
        </p:nvSpPr>
        <p:spPr>
          <a:xfrm>
            <a:off x="495300" y="2914650"/>
            <a:ext cx="2590800" cy="1685925"/>
          </a:xfrm>
          <a:prstGeom prst="roundRect">
            <a:avLst>
              <a:gd name="adj" fmla="val 9040"/>
            </a:avLst>
          </a:prstGeom>
          <a:solidFill>
            <a:srgbClr val="E9EDF8"/>
          </a:solidFill>
          <a:ln w="0">
            <a:noFill/>
          </a:ln>
        </p:spPr>
        <p:txBody>
          <a:bodyPr/>
          <a:lstStyle/>
          <a:p>
            <a:endParaRPr lang="zh-CN" altLang="en-US"/>
          </a:p>
        </p:txBody>
      </p:sp>
      <p:sp>
        <p:nvSpPr>
          <p:cNvPr id="105" name="person-diagram-5">
            <a:extLst>
              <a:ext uri="{FF2B5EF4-FFF2-40B4-BE49-F238E27FC236}">
                <a16:creationId xmlns:a16="http://schemas.microsoft.com/office/drawing/2014/main" id="{47A5800A-7793-425E-8128-A239F2F65015}"/>
              </a:ext>
            </a:extLst>
          </p:cNvPr>
          <p:cNvSpPr>
            <a:spLocks noGrp="1"/>
          </p:cNvSpPr>
          <p:nvPr/>
        </p:nvSpPr>
        <p:spPr>
          <a:xfrm>
            <a:off x="714375" y="3095625"/>
            <a:ext cx="2000250" cy="333375"/>
          </a:xfrm>
          <a:prstGeom prst="rect">
            <a:avLst/>
          </a:prstGeom>
          <a:noFill/>
          <a:ln w="0">
            <a:noFill/>
          </a:ln>
        </p:spPr>
        <p:txBody>
          <a:bodyPr lIns="0" tIns="0" rIns="0" bIns="0" anchor="ctr">
            <a:noAutofit/>
          </a:bodyPr>
          <a:lstStyle>
            <a:defPPr algn="l">
              <a:defRPr sz="1875" b="1">
                <a:solidFill>
                  <a:srgbClr val="1B1D63"/>
                </a:solidFill>
                <a:latin typeface="Arial"/>
                <a:ea typeface="Arial"/>
                <a:cs typeface="Arial"/>
              </a:defRPr>
            </a:defPPr>
          </a:lstStyle>
          <a:p>
            <a:pPr algn="l">
              <a:defRPr sz="1875" b="1">
                <a:solidFill>
                  <a:srgbClr val="1B1D63"/>
                </a:solidFill>
                <a:latin typeface="Arial"/>
                <a:ea typeface="Arial"/>
                <a:cs typeface="Arial"/>
              </a:defRPr>
            </a:pPr>
            <a:r>
              <a:rPr sz="1875" b="1">
                <a:solidFill>
                  <a:srgbClr val="1B1D63"/>
                </a:solidFill>
                <a:latin typeface="Arial"/>
                <a:ea typeface="Arial"/>
                <a:cs typeface="Arial"/>
              </a:rPr>
              <a:t>01</a:t>
            </a:r>
          </a:p>
        </p:txBody>
      </p:sp>
      <p:sp>
        <p:nvSpPr>
          <p:cNvPr id="106" name="person-diagram-6">
            <a:extLst>
              <a:ext uri="{FF2B5EF4-FFF2-40B4-BE49-F238E27FC236}">
                <a16:creationId xmlns:a16="http://schemas.microsoft.com/office/drawing/2014/main" id="{73B6CA8C-86A8-4462-B9E4-CD846815F680}"/>
              </a:ext>
            </a:extLst>
          </p:cNvPr>
          <p:cNvSpPr>
            <a:spLocks noGrp="1"/>
          </p:cNvSpPr>
          <p:nvPr/>
        </p:nvSpPr>
        <p:spPr>
          <a:xfrm>
            <a:off x="714375" y="3571875"/>
            <a:ext cx="2152650" cy="685800"/>
          </a:xfrm>
          <a:prstGeom prst="rect">
            <a:avLst/>
          </a:prstGeom>
          <a:noFill/>
          <a:ln w="0">
            <a:noFill/>
          </a:ln>
        </p:spPr>
        <p:txBody>
          <a:bodyPr lIns="0" tIns="0" rIns="0" bIns="0" anchor="ctr">
            <a:noAutofit/>
          </a:bodyPr>
          <a:lstStyle>
            <a:defPPr algn="l">
              <a:defRPr sz="1875" b="1">
                <a:solidFill>
                  <a:srgbClr val="1B1D63"/>
                </a:solidFill>
                <a:latin typeface="Arial"/>
                <a:ea typeface="Arial"/>
                <a:cs typeface="Arial"/>
              </a:defRPr>
            </a:defPPr>
          </a:lstStyle>
          <a:p>
            <a:pPr algn="l">
              <a:defRPr sz="1875" b="1">
                <a:solidFill>
                  <a:srgbClr val="1B1D63"/>
                </a:solidFill>
                <a:latin typeface="Arial"/>
                <a:ea typeface="Arial"/>
                <a:cs typeface="Arial"/>
              </a:defRPr>
            </a:pPr>
            <a:r>
              <a:rPr sz="1875" b="1">
                <a:solidFill>
                  <a:srgbClr val="1B1D63"/>
                </a:solidFill>
                <a:latin typeface="Arial"/>
                <a:ea typeface="Arial"/>
                <a:cs typeface="Arial"/>
              </a:rPr>
              <a:t>Person-track</a:t>
            </a:r>
          </a:p>
          <a:p>
            <a:pPr algn="l">
              <a:defRPr sz="1875" b="1">
                <a:solidFill>
                  <a:srgbClr val="1B1D63"/>
                </a:solidFill>
                <a:latin typeface="Arial"/>
                <a:ea typeface="Arial"/>
                <a:cs typeface="Arial"/>
              </a:defRPr>
            </a:pPr>
            <a:r>
              <a:rPr sz="1875" b="1">
                <a:solidFill>
                  <a:srgbClr val="1B1D63"/>
                </a:solidFill>
                <a:latin typeface="Arial"/>
                <a:ea typeface="Arial"/>
                <a:cs typeface="Arial"/>
              </a:rPr>
              <a:t>diagnostic</a:t>
            </a:r>
          </a:p>
        </p:txBody>
      </p:sp>
      <p:sp>
        <p:nvSpPr>
          <p:cNvPr id="107" name="person-diagram-7">
            <a:extLst>
              <a:ext uri="{FF2B5EF4-FFF2-40B4-BE49-F238E27FC236}">
                <a16:creationId xmlns:a16="http://schemas.microsoft.com/office/drawing/2014/main" id="{2C6B0440-4527-4FD9-8EB0-D7CB18CCF1F5}"/>
              </a:ext>
            </a:extLst>
          </p:cNvPr>
          <p:cNvSpPr>
            <a:spLocks noGrp="1"/>
          </p:cNvSpPr>
          <p:nvPr/>
        </p:nvSpPr>
        <p:spPr>
          <a:xfrm>
            <a:off x="3152775" y="3638550"/>
            <a:ext cx="180975" cy="171450"/>
          </a:xfrm>
          <a:prstGeom prst="rightArrow">
            <a:avLst/>
          </a:prstGeom>
          <a:solidFill>
            <a:srgbClr val="697386"/>
          </a:solidFill>
          <a:ln w="0">
            <a:noFill/>
          </a:ln>
        </p:spPr>
        <p:txBody>
          <a:bodyPr/>
          <a:lstStyle/>
          <a:p>
            <a:endParaRPr lang="zh-CN" altLang="en-US"/>
          </a:p>
        </p:txBody>
      </p:sp>
      <p:sp>
        <p:nvSpPr>
          <p:cNvPr id="108" name="person-diagram-8">
            <a:extLst>
              <a:ext uri="{FF2B5EF4-FFF2-40B4-BE49-F238E27FC236}">
                <a16:creationId xmlns:a16="http://schemas.microsoft.com/office/drawing/2014/main" id="{114D583F-B631-4CB8-BD55-45CD3481A2FF}"/>
              </a:ext>
            </a:extLst>
          </p:cNvPr>
          <p:cNvSpPr>
            <a:spLocks noGrp="1"/>
          </p:cNvSpPr>
          <p:nvPr/>
        </p:nvSpPr>
        <p:spPr>
          <a:xfrm>
            <a:off x="3371850" y="2914650"/>
            <a:ext cx="2590800" cy="1685925"/>
          </a:xfrm>
          <a:prstGeom prst="roundRect">
            <a:avLst>
              <a:gd name="adj" fmla="val 9040"/>
            </a:avLst>
          </a:prstGeom>
          <a:solidFill>
            <a:srgbClr val="E9EDF8"/>
          </a:solidFill>
          <a:ln w="0">
            <a:noFill/>
          </a:ln>
        </p:spPr>
        <p:txBody>
          <a:bodyPr/>
          <a:lstStyle/>
          <a:p>
            <a:endParaRPr lang="zh-CN" altLang="en-US"/>
          </a:p>
        </p:txBody>
      </p:sp>
      <p:sp>
        <p:nvSpPr>
          <p:cNvPr id="109" name="person-diagram-9">
            <a:extLst>
              <a:ext uri="{FF2B5EF4-FFF2-40B4-BE49-F238E27FC236}">
                <a16:creationId xmlns:a16="http://schemas.microsoft.com/office/drawing/2014/main" id="{6FA1E6BC-D75C-4CA2-9C70-0023CD3832B4}"/>
              </a:ext>
            </a:extLst>
          </p:cNvPr>
          <p:cNvSpPr>
            <a:spLocks noGrp="1"/>
          </p:cNvSpPr>
          <p:nvPr/>
        </p:nvSpPr>
        <p:spPr>
          <a:xfrm>
            <a:off x="3590925" y="3095625"/>
            <a:ext cx="2000250" cy="333375"/>
          </a:xfrm>
          <a:prstGeom prst="rect">
            <a:avLst/>
          </a:prstGeom>
          <a:noFill/>
          <a:ln w="0">
            <a:noFill/>
          </a:ln>
        </p:spPr>
        <p:txBody>
          <a:bodyPr lIns="0" tIns="0" rIns="0" bIns="0" anchor="ctr">
            <a:noAutofit/>
          </a:bodyPr>
          <a:lstStyle>
            <a:defPPr algn="l">
              <a:defRPr sz="1875" b="1">
                <a:solidFill>
                  <a:srgbClr val="1B1D63"/>
                </a:solidFill>
                <a:latin typeface="Arial"/>
                <a:ea typeface="Arial"/>
                <a:cs typeface="Arial"/>
              </a:defRPr>
            </a:defPPr>
          </a:lstStyle>
          <a:p>
            <a:pPr algn="l">
              <a:defRPr sz="1875" b="1">
                <a:solidFill>
                  <a:srgbClr val="1B1D63"/>
                </a:solidFill>
                <a:latin typeface="Arial"/>
                <a:ea typeface="Arial"/>
                <a:cs typeface="Arial"/>
              </a:defRPr>
            </a:pPr>
            <a:r>
              <a:rPr sz="1875" b="1">
                <a:solidFill>
                  <a:srgbClr val="1B1D63"/>
                </a:solidFill>
                <a:latin typeface="Arial"/>
                <a:ea typeface="Arial"/>
                <a:cs typeface="Arial"/>
              </a:rPr>
              <a:t>02</a:t>
            </a:r>
          </a:p>
        </p:txBody>
      </p:sp>
      <p:sp>
        <p:nvSpPr>
          <p:cNvPr id="110" name="person-diagram-10">
            <a:extLst>
              <a:ext uri="{FF2B5EF4-FFF2-40B4-BE49-F238E27FC236}">
                <a16:creationId xmlns:a16="http://schemas.microsoft.com/office/drawing/2014/main" id="{0B8B3498-9762-4F3A-A72A-C057975FBA07}"/>
              </a:ext>
            </a:extLst>
          </p:cNvPr>
          <p:cNvSpPr>
            <a:spLocks noGrp="1"/>
          </p:cNvSpPr>
          <p:nvPr/>
        </p:nvSpPr>
        <p:spPr>
          <a:xfrm>
            <a:off x="3590925" y="3571875"/>
            <a:ext cx="2152650" cy="685800"/>
          </a:xfrm>
          <a:prstGeom prst="rect">
            <a:avLst/>
          </a:prstGeom>
          <a:noFill/>
          <a:ln w="0">
            <a:noFill/>
          </a:ln>
        </p:spPr>
        <p:txBody>
          <a:bodyPr lIns="0" tIns="0" rIns="0" bIns="0" anchor="ctr">
            <a:noAutofit/>
          </a:bodyPr>
          <a:lstStyle>
            <a:defPPr algn="l">
              <a:defRPr sz="1875" b="1">
                <a:solidFill>
                  <a:srgbClr val="1B1D63"/>
                </a:solidFill>
                <a:latin typeface="Arial"/>
                <a:ea typeface="Arial"/>
                <a:cs typeface="Arial"/>
              </a:defRPr>
            </a:defPPr>
          </a:lstStyle>
          <a:p>
            <a:pPr algn="l">
              <a:defRPr sz="1875" b="1">
                <a:solidFill>
                  <a:srgbClr val="1B1D63"/>
                </a:solidFill>
                <a:latin typeface="Arial"/>
                <a:ea typeface="Arial"/>
                <a:cs typeface="Arial"/>
              </a:defRPr>
            </a:pPr>
            <a:r>
              <a:rPr sz="1875" b="1">
                <a:solidFill>
                  <a:srgbClr val="1B1D63"/>
                </a:solidFill>
                <a:latin typeface="Arial"/>
                <a:ea typeface="Arial"/>
                <a:cs typeface="Arial"/>
              </a:rPr>
              <a:t>Observed</a:t>
            </a:r>
          </a:p>
          <a:p>
            <a:pPr algn="l">
              <a:defRPr sz="1875" b="1">
                <a:solidFill>
                  <a:srgbClr val="1B1D63"/>
                </a:solidFill>
                <a:latin typeface="Arial"/>
                <a:ea typeface="Arial"/>
                <a:cs typeface="Arial"/>
              </a:defRPr>
            </a:pPr>
            <a:r>
              <a:rPr sz="1875" b="1">
                <a:solidFill>
                  <a:srgbClr val="1B1D63"/>
                </a:solidFill>
                <a:latin typeface="Arial"/>
                <a:ea typeface="Arial"/>
                <a:cs typeface="Arial"/>
              </a:rPr>
              <a:t>failure modes</a:t>
            </a:r>
          </a:p>
        </p:txBody>
      </p:sp>
      <p:sp>
        <p:nvSpPr>
          <p:cNvPr id="111" name="person-diagram-11">
            <a:extLst>
              <a:ext uri="{FF2B5EF4-FFF2-40B4-BE49-F238E27FC236}">
                <a16:creationId xmlns:a16="http://schemas.microsoft.com/office/drawing/2014/main" id="{DA326D52-51A7-40CA-9951-0D7312431C90}"/>
              </a:ext>
            </a:extLst>
          </p:cNvPr>
          <p:cNvSpPr>
            <a:spLocks noGrp="1"/>
          </p:cNvSpPr>
          <p:nvPr/>
        </p:nvSpPr>
        <p:spPr>
          <a:xfrm>
            <a:off x="6029325" y="3638550"/>
            <a:ext cx="180975" cy="171450"/>
          </a:xfrm>
          <a:prstGeom prst="rightArrow">
            <a:avLst/>
          </a:prstGeom>
          <a:solidFill>
            <a:srgbClr val="697386"/>
          </a:solidFill>
          <a:ln w="0">
            <a:noFill/>
          </a:ln>
        </p:spPr>
        <p:txBody>
          <a:bodyPr/>
          <a:lstStyle/>
          <a:p>
            <a:endParaRPr lang="zh-CN" altLang="en-US"/>
          </a:p>
        </p:txBody>
      </p:sp>
      <p:sp>
        <p:nvSpPr>
          <p:cNvPr id="112" name="person-diagram-12">
            <a:extLst>
              <a:ext uri="{FF2B5EF4-FFF2-40B4-BE49-F238E27FC236}">
                <a16:creationId xmlns:a16="http://schemas.microsoft.com/office/drawing/2014/main" id="{99C8D8BB-E135-4777-AA2C-4F8F65C0A373}"/>
              </a:ext>
            </a:extLst>
          </p:cNvPr>
          <p:cNvSpPr>
            <a:spLocks noGrp="1"/>
          </p:cNvSpPr>
          <p:nvPr/>
        </p:nvSpPr>
        <p:spPr>
          <a:xfrm>
            <a:off x="6248400" y="2914650"/>
            <a:ext cx="2590800" cy="1685925"/>
          </a:xfrm>
          <a:prstGeom prst="roundRect">
            <a:avLst>
              <a:gd name="adj" fmla="val 9040"/>
            </a:avLst>
          </a:prstGeom>
          <a:solidFill>
            <a:srgbClr val="E9EDF8"/>
          </a:solidFill>
          <a:ln w="0">
            <a:noFill/>
          </a:ln>
        </p:spPr>
        <p:txBody>
          <a:bodyPr/>
          <a:lstStyle/>
          <a:p>
            <a:endParaRPr lang="zh-CN" altLang="en-US"/>
          </a:p>
        </p:txBody>
      </p:sp>
      <p:sp>
        <p:nvSpPr>
          <p:cNvPr id="113" name="person-diagram-13">
            <a:extLst>
              <a:ext uri="{FF2B5EF4-FFF2-40B4-BE49-F238E27FC236}">
                <a16:creationId xmlns:a16="http://schemas.microsoft.com/office/drawing/2014/main" id="{1173E936-EDEC-4A72-BF22-541D6F4ED56E}"/>
              </a:ext>
            </a:extLst>
          </p:cNvPr>
          <p:cNvSpPr>
            <a:spLocks noGrp="1"/>
          </p:cNvSpPr>
          <p:nvPr/>
        </p:nvSpPr>
        <p:spPr>
          <a:xfrm>
            <a:off x="6467475" y="3095625"/>
            <a:ext cx="2000250" cy="333375"/>
          </a:xfrm>
          <a:prstGeom prst="rect">
            <a:avLst/>
          </a:prstGeom>
          <a:noFill/>
          <a:ln w="0">
            <a:noFill/>
          </a:ln>
        </p:spPr>
        <p:txBody>
          <a:bodyPr lIns="0" tIns="0" rIns="0" bIns="0" anchor="ctr">
            <a:noAutofit/>
          </a:bodyPr>
          <a:lstStyle>
            <a:defPPr algn="l">
              <a:defRPr sz="1875" b="1">
                <a:solidFill>
                  <a:srgbClr val="1B1D63"/>
                </a:solidFill>
                <a:latin typeface="Arial"/>
                <a:ea typeface="Arial"/>
                <a:cs typeface="Arial"/>
              </a:defRPr>
            </a:defPPr>
          </a:lstStyle>
          <a:p>
            <a:pPr algn="l">
              <a:defRPr sz="1875" b="1">
                <a:solidFill>
                  <a:srgbClr val="1B1D63"/>
                </a:solidFill>
                <a:latin typeface="Arial"/>
                <a:ea typeface="Arial"/>
                <a:cs typeface="Arial"/>
              </a:defRPr>
            </a:pPr>
            <a:r>
              <a:rPr sz="1875" b="1">
                <a:solidFill>
                  <a:srgbClr val="1B1D63"/>
                </a:solidFill>
                <a:latin typeface="Arial"/>
                <a:ea typeface="Arial"/>
                <a:cs typeface="Arial"/>
              </a:rPr>
              <a:t>03</a:t>
            </a:r>
          </a:p>
        </p:txBody>
      </p:sp>
      <p:sp>
        <p:nvSpPr>
          <p:cNvPr id="114" name="person-diagram-14">
            <a:extLst>
              <a:ext uri="{FF2B5EF4-FFF2-40B4-BE49-F238E27FC236}">
                <a16:creationId xmlns:a16="http://schemas.microsoft.com/office/drawing/2014/main" id="{442154DF-F420-4108-A416-EACAD573626B}"/>
              </a:ext>
            </a:extLst>
          </p:cNvPr>
          <p:cNvSpPr>
            <a:spLocks noGrp="1"/>
          </p:cNvSpPr>
          <p:nvPr/>
        </p:nvSpPr>
        <p:spPr>
          <a:xfrm>
            <a:off x="6467475" y="3571875"/>
            <a:ext cx="2152650" cy="685800"/>
          </a:xfrm>
          <a:prstGeom prst="rect">
            <a:avLst/>
          </a:prstGeom>
          <a:noFill/>
          <a:ln w="0">
            <a:noFill/>
          </a:ln>
        </p:spPr>
        <p:txBody>
          <a:bodyPr lIns="0" tIns="0" rIns="0" bIns="0" anchor="ctr">
            <a:noAutofit/>
          </a:bodyPr>
          <a:lstStyle>
            <a:defPPr algn="l">
              <a:defRPr sz="1875" b="1">
                <a:solidFill>
                  <a:srgbClr val="1B1D63"/>
                </a:solidFill>
                <a:latin typeface="Arial"/>
                <a:ea typeface="Arial"/>
                <a:cs typeface="Arial"/>
              </a:defRPr>
            </a:defPPr>
          </a:lstStyle>
          <a:p>
            <a:pPr algn="l">
              <a:defRPr sz="1875" b="1">
                <a:solidFill>
                  <a:srgbClr val="1B1D63"/>
                </a:solidFill>
                <a:latin typeface="Arial"/>
                <a:ea typeface="Arial"/>
                <a:cs typeface="Arial"/>
              </a:defRPr>
            </a:pPr>
            <a:r>
              <a:rPr sz="1875" b="1">
                <a:solidFill>
                  <a:srgbClr val="1B1D63"/>
                </a:solidFill>
                <a:latin typeface="Arial"/>
                <a:ea typeface="Arial"/>
                <a:cs typeface="Arial"/>
              </a:rPr>
              <a:t>Architecture</a:t>
            </a:r>
          </a:p>
          <a:p>
            <a:pPr algn="l">
              <a:defRPr sz="1875" b="1">
                <a:solidFill>
                  <a:srgbClr val="1B1D63"/>
                </a:solidFill>
                <a:latin typeface="Arial"/>
                <a:ea typeface="Arial"/>
                <a:cs typeface="Arial"/>
              </a:defRPr>
            </a:pPr>
            <a:r>
              <a:rPr sz="1875" b="1">
                <a:solidFill>
                  <a:srgbClr val="1B1D63"/>
                </a:solidFill>
                <a:latin typeface="Arial"/>
                <a:ea typeface="Arial"/>
                <a:cs typeface="Arial"/>
              </a:rPr>
              <a:t>analysis</a:t>
            </a:r>
          </a:p>
        </p:txBody>
      </p:sp>
      <p:sp>
        <p:nvSpPr>
          <p:cNvPr id="115" name="person-diagram-15">
            <a:extLst>
              <a:ext uri="{FF2B5EF4-FFF2-40B4-BE49-F238E27FC236}">
                <a16:creationId xmlns:a16="http://schemas.microsoft.com/office/drawing/2014/main" id="{F75F8052-F9EC-495B-A501-02B9960CCE90}"/>
              </a:ext>
            </a:extLst>
          </p:cNvPr>
          <p:cNvSpPr>
            <a:spLocks noGrp="1"/>
          </p:cNvSpPr>
          <p:nvPr/>
        </p:nvSpPr>
        <p:spPr>
          <a:xfrm>
            <a:off x="8905875" y="3638550"/>
            <a:ext cx="180975" cy="171450"/>
          </a:xfrm>
          <a:prstGeom prst="rightArrow">
            <a:avLst/>
          </a:prstGeom>
          <a:solidFill>
            <a:srgbClr val="697386"/>
          </a:solidFill>
          <a:ln w="0">
            <a:noFill/>
          </a:ln>
        </p:spPr>
        <p:txBody>
          <a:bodyPr/>
          <a:lstStyle/>
          <a:p>
            <a:endParaRPr lang="zh-CN" altLang="en-US"/>
          </a:p>
        </p:txBody>
      </p:sp>
      <p:sp>
        <p:nvSpPr>
          <p:cNvPr id="116" name="person-diagram-16">
            <a:extLst>
              <a:ext uri="{FF2B5EF4-FFF2-40B4-BE49-F238E27FC236}">
                <a16:creationId xmlns:a16="http://schemas.microsoft.com/office/drawing/2014/main" id="{9B4BB06E-BD1D-4941-97F5-BA25A3539B4F}"/>
              </a:ext>
            </a:extLst>
          </p:cNvPr>
          <p:cNvSpPr>
            <a:spLocks noGrp="1"/>
          </p:cNvSpPr>
          <p:nvPr/>
        </p:nvSpPr>
        <p:spPr>
          <a:xfrm>
            <a:off x="9124950" y="2914650"/>
            <a:ext cx="2590800" cy="1685925"/>
          </a:xfrm>
          <a:prstGeom prst="roundRect">
            <a:avLst>
              <a:gd name="adj" fmla="val 9040"/>
            </a:avLst>
          </a:prstGeom>
          <a:solidFill>
            <a:srgbClr val="FBE8EF"/>
          </a:solidFill>
          <a:ln w="0">
            <a:noFill/>
          </a:ln>
        </p:spPr>
        <p:txBody>
          <a:bodyPr/>
          <a:lstStyle/>
          <a:p>
            <a:endParaRPr lang="zh-CN" altLang="en-US"/>
          </a:p>
        </p:txBody>
      </p:sp>
      <p:sp>
        <p:nvSpPr>
          <p:cNvPr id="117" name="person-diagram-17">
            <a:extLst>
              <a:ext uri="{FF2B5EF4-FFF2-40B4-BE49-F238E27FC236}">
                <a16:creationId xmlns:a16="http://schemas.microsoft.com/office/drawing/2014/main" id="{AD74CA6D-A84F-47BB-9AFB-B29F7936CEA3}"/>
              </a:ext>
            </a:extLst>
          </p:cNvPr>
          <p:cNvSpPr>
            <a:spLocks noGrp="1"/>
          </p:cNvSpPr>
          <p:nvPr/>
        </p:nvSpPr>
        <p:spPr>
          <a:xfrm>
            <a:off x="9344025" y="3095625"/>
            <a:ext cx="2000250" cy="333375"/>
          </a:xfrm>
          <a:prstGeom prst="rect">
            <a:avLst/>
          </a:prstGeom>
          <a:noFill/>
          <a:ln w="0">
            <a:noFill/>
          </a:ln>
        </p:spPr>
        <p:txBody>
          <a:bodyPr lIns="0" tIns="0" rIns="0" bIns="0" anchor="ctr">
            <a:noAutofit/>
          </a:bodyPr>
          <a:lstStyle>
            <a:defPPr algn="l">
              <a:defRPr sz="1875" b="1">
                <a:solidFill>
                  <a:srgbClr val="E31346"/>
                </a:solidFill>
                <a:latin typeface="Arial"/>
                <a:ea typeface="Arial"/>
                <a:cs typeface="Arial"/>
              </a:defRPr>
            </a:defPPr>
          </a:lstStyle>
          <a:p>
            <a:pPr algn="l">
              <a:defRPr sz="1875" b="1">
                <a:solidFill>
                  <a:srgbClr val="E31346"/>
                </a:solidFill>
                <a:latin typeface="Arial"/>
                <a:ea typeface="Arial"/>
                <a:cs typeface="Arial"/>
              </a:defRPr>
            </a:pPr>
            <a:r>
              <a:rPr sz="1875" b="1">
                <a:solidFill>
                  <a:srgbClr val="E31346"/>
                </a:solidFill>
                <a:latin typeface="Arial"/>
                <a:ea typeface="Arial"/>
                <a:cs typeface="Arial"/>
              </a:rPr>
              <a:t>04</a:t>
            </a:r>
          </a:p>
        </p:txBody>
      </p:sp>
      <p:sp>
        <p:nvSpPr>
          <p:cNvPr id="118" name="person-diagram-18">
            <a:extLst>
              <a:ext uri="{FF2B5EF4-FFF2-40B4-BE49-F238E27FC236}">
                <a16:creationId xmlns:a16="http://schemas.microsoft.com/office/drawing/2014/main" id="{D9F2386C-1E84-46EF-BE3E-D624DBEBD8A6}"/>
              </a:ext>
            </a:extLst>
          </p:cNvPr>
          <p:cNvSpPr>
            <a:spLocks noGrp="1"/>
          </p:cNvSpPr>
          <p:nvPr/>
        </p:nvSpPr>
        <p:spPr>
          <a:xfrm>
            <a:off x="9344025" y="3571875"/>
            <a:ext cx="2152650" cy="685800"/>
          </a:xfrm>
          <a:prstGeom prst="rect">
            <a:avLst/>
          </a:prstGeom>
          <a:noFill/>
          <a:ln w="0">
            <a:noFill/>
          </a:ln>
        </p:spPr>
        <p:txBody>
          <a:bodyPr lIns="0" tIns="0" rIns="0" bIns="0" anchor="ctr">
            <a:noAutofit/>
          </a:bodyPr>
          <a:lstStyle>
            <a:defPPr algn="l">
              <a:defRPr sz="1875" b="1">
                <a:solidFill>
                  <a:srgbClr val="1B1D63"/>
                </a:solidFill>
                <a:latin typeface="Arial"/>
                <a:ea typeface="Arial"/>
                <a:cs typeface="Arial"/>
              </a:defRPr>
            </a:defPPr>
          </a:lstStyle>
          <a:p>
            <a:pPr algn="l">
              <a:defRPr sz="1875" b="1">
                <a:solidFill>
                  <a:srgbClr val="1B1D63"/>
                </a:solidFill>
                <a:latin typeface="Arial"/>
                <a:ea typeface="Arial"/>
                <a:cs typeface="Arial"/>
              </a:defRPr>
            </a:pPr>
            <a:r>
              <a:rPr sz="1875" b="1">
                <a:solidFill>
                  <a:srgbClr val="1B1D63"/>
                </a:solidFill>
                <a:latin typeface="Arial"/>
                <a:ea typeface="Arial"/>
                <a:cs typeface="Arial"/>
              </a:rPr>
              <a:t>Model-specific</a:t>
            </a:r>
          </a:p>
          <a:p>
            <a:pPr algn="l">
              <a:defRPr sz="1875" b="1">
                <a:solidFill>
                  <a:srgbClr val="1B1D63"/>
                </a:solidFill>
                <a:latin typeface="Arial"/>
                <a:ea typeface="Arial"/>
                <a:cs typeface="Arial"/>
              </a:defRPr>
            </a:pPr>
            <a:r>
              <a:rPr sz="1875" b="1">
                <a:solidFill>
                  <a:srgbClr val="1B1D63"/>
                </a:solidFill>
                <a:latin typeface="Arial"/>
                <a:ea typeface="Arial"/>
                <a:cs typeface="Arial"/>
              </a:rPr>
              <a:t>improvements</a:t>
            </a:r>
          </a:p>
        </p:txBody>
      </p:sp>
      <p:sp>
        <p:nvSpPr>
          <p:cNvPr id="119" name="person-diagram-19">
            <a:extLst>
              <a:ext uri="{FF2B5EF4-FFF2-40B4-BE49-F238E27FC236}">
                <a16:creationId xmlns:a16="http://schemas.microsoft.com/office/drawing/2014/main" id="{8FE9127A-DF96-41A0-8034-41CB0644DCF4}"/>
              </a:ext>
            </a:extLst>
          </p:cNvPr>
          <p:cNvSpPr>
            <a:spLocks noGrp="1"/>
          </p:cNvSpPr>
          <p:nvPr/>
        </p:nvSpPr>
        <p:spPr>
          <a:xfrm>
            <a:off x="495300" y="5067300"/>
            <a:ext cx="3905250" cy="276225"/>
          </a:xfrm>
          <a:prstGeom prst="rect">
            <a:avLst/>
          </a:prstGeom>
          <a:noFill/>
          <a:ln w="0">
            <a:noFill/>
          </a:ln>
        </p:spPr>
        <p:txBody>
          <a:bodyPr lIns="0" tIns="0" rIns="0" bIns="0" anchor="ctr">
            <a:noAutofit/>
          </a:bodyPr>
          <a:lstStyle>
            <a:defPPr algn="l">
              <a:defRPr sz="1575" b="0">
                <a:solidFill>
                  <a:srgbClr val="697386"/>
                </a:solidFill>
                <a:latin typeface="Arial"/>
                <a:ea typeface="Arial"/>
                <a:cs typeface="Arial"/>
              </a:defRPr>
            </a:defPPr>
          </a:lstStyle>
          <a:p>
            <a:pPr algn="l">
              <a:defRPr sz="1575" b="0">
                <a:solidFill>
                  <a:srgbClr val="697386"/>
                </a:solidFill>
                <a:latin typeface="Arial"/>
                <a:ea typeface="Arial"/>
                <a:cs typeface="Arial"/>
              </a:defRPr>
            </a:pPr>
            <a:r>
              <a:rPr sz="1575" b="0">
                <a:solidFill>
                  <a:srgbClr val="697386"/>
                </a:solidFill>
                <a:latin typeface="Arial"/>
                <a:ea typeface="Arial"/>
                <a:cs typeface="Arial"/>
              </a:rPr>
              <a:t>Baselines completed</a:t>
            </a:r>
          </a:p>
        </p:txBody>
      </p:sp>
      <p:sp>
        <p:nvSpPr>
          <p:cNvPr id="121" name="person-diagram-21">
            <a:extLst>
              <a:ext uri="{FF2B5EF4-FFF2-40B4-BE49-F238E27FC236}">
                <a16:creationId xmlns:a16="http://schemas.microsoft.com/office/drawing/2014/main" id="{54C67A8E-0F07-411A-8C5A-6135EA776E2D}"/>
              </a:ext>
            </a:extLst>
          </p:cNvPr>
          <p:cNvSpPr>
            <a:spLocks noGrp="1"/>
          </p:cNvSpPr>
          <p:nvPr/>
        </p:nvSpPr>
        <p:spPr>
          <a:xfrm>
            <a:off x="495300" y="5810250"/>
            <a:ext cx="11220450" cy="495300"/>
          </a:xfrm>
          <a:prstGeom prst="roundRect">
            <a:avLst>
              <a:gd name="adj" fmla="val 30769"/>
            </a:avLst>
          </a:prstGeom>
          <a:solidFill>
            <a:srgbClr val="1B1D63"/>
          </a:solidFill>
          <a:ln w="11430">
            <a:solidFill>
              <a:srgbClr val="1B1D63"/>
            </a:solidFill>
          </a:ln>
        </p:spPr>
        <p:txBody>
          <a:bodyPr/>
          <a:lstStyle/>
          <a:p>
            <a:endParaRPr lang="zh-CN" altLang="en-US"/>
          </a:p>
        </p:txBody>
      </p:sp>
      <p:sp>
        <p:nvSpPr>
          <p:cNvPr id="122" name="person-diagram-22">
            <a:extLst>
              <a:ext uri="{FF2B5EF4-FFF2-40B4-BE49-F238E27FC236}">
                <a16:creationId xmlns:a16="http://schemas.microsoft.com/office/drawing/2014/main" id="{EA3FA997-7B9C-44AE-905A-2E3C3CE6B522}"/>
              </a:ext>
            </a:extLst>
          </p:cNvPr>
          <p:cNvSpPr>
            <a:spLocks noGrp="1"/>
          </p:cNvSpPr>
          <p:nvPr/>
        </p:nvSpPr>
        <p:spPr>
          <a:xfrm>
            <a:off x="723900" y="5857875"/>
            <a:ext cx="10763250" cy="400050"/>
          </a:xfrm>
          <a:prstGeom prst="rect">
            <a:avLst/>
          </a:prstGeom>
          <a:noFill/>
          <a:ln w="0">
            <a:noFill/>
          </a:ln>
        </p:spPr>
        <p:txBody>
          <a:bodyPr lIns="0" tIns="0" rIns="0" bIns="0" anchor="ctr">
            <a:noAutofit/>
          </a:bodyPr>
          <a:lstStyle>
            <a:defPPr algn="ctr">
              <a:defRPr sz="1875" b="1">
                <a:solidFill>
                  <a:srgbClr val="FFFFFF"/>
                </a:solidFill>
                <a:latin typeface="Arial"/>
                <a:ea typeface="Arial"/>
                <a:cs typeface="Arial"/>
              </a:defRPr>
            </a:defPPr>
          </a:lstStyle>
          <a:p>
            <a:pPr algn="ctr">
              <a:defRPr sz="1875" b="1">
                <a:solidFill>
                  <a:srgbClr val="FFFFFF"/>
                </a:solidFill>
                <a:latin typeface="Arial"/>
                <a:ea typeface="Arial"/>
                <a:cs typeface="Arial"/>
              </a:defRPr>
            </a:pPr>
            <a:r>
              <a:rPr sz="1875" b="1">
                <a:solidFill>
                  <a:srgbClr val="FFFFFF"/>
                </a:solidFill>
                <a:latin typeface="Arial"/>
                <a:ea typeface="Arial"/>
                <a:cs typeface="Arial"/>
              </a:rPr>
              <a:t>From two skeletons as input to two persistent interacting persons</a:t>
            </a:r>
          </a:p>
        </p:txBody>
      </p:sp>
    </p:spTree>
    <p:extLst>
      <p:ext uri="{BB962C8B-B14F-4D97-AF65-F5344CB8AC3E}">
        <p14:creationId xmlns:p14="http://schemas.microsoft.com/office/powerpoint/2010/main" val="4579871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CFE75CC0-A407-56E4-A054-936F9619FA42}"/>
              </a:ext>
            </a:extLst>
          </p:cNvPr>
          <p:cNvSpPr>
            <a:spLocks noGrp="1"/>
          </p:cNvSpPr>
          <p:nvPr/>
        </p:nvSpPr>
        <p:spPr>
          <a:xfrm>
            <a:off x="0" y="0"/>
            <a:ext cx="152400" cy="6858000"/>
          </a:xfrm>
          <a:prstGeom prst="rect">
            <a:avLst/>
          </a:prstGeom>
          <a:solidFill>
            <a:srgbClr val="E31346"/>
          </a:solidFill>
          <a:ln w="0">
            <a:noFill/>
          </a:ln>
        </p:spPr>
        <p:txBody>
          <a:bodyPr/>
          <a:lstStyle/>
          <a:p>
            <a:endParaRPr lang="zh-CN" altLang="en-US"/>
          </a:p>
        </p:txBody>
      </p:sp>
      <p:sp>
        <p:nvSpPr>
          <p:cNvPr id="2" name="矩形 1">
            <a:extLst>
              <a:ext uri="{FF2B5EF4-FFF2-40B4-BE49-F238E27FC236}">
                <a16:creationId xmlns:a16="http://schemas.microsoft.com/office/drawing/2014/main" id="{3D7E2776-7533-50CA-9177-6D4734193740}"/>
              </a:ext>
            </a:extLst>
          </p:cNvPr>
          <p:cNvSpPr>
            <a:spLocks noGrp="1"/>
          </p:cNvSpPr>
          <p:nvPr/>
        </p:nvSpPr>
        <p:spPr>
          <a:xfrm>
            <a:off x="152400" y="6562725"/>
            <a:ext cx="12039600" cy="295275"/>
          </a:xfrm>
          <a:prstGeom prst="rect">
            <a:avLst/>
          </a:prstGeom>
          <a:solidFill>
            <a:srgbClr val="1B1D63"/>
          </a:solidFill>
          <a:ln w="0">
            <a:noFill/>
          </a:ln>
        </p:spPr>
        <p:txBody>
          <a:bodyPr/>
          <a:lstStyle/>
          <a:p>
            <a:endParaRPr lang="zh-CN" altLang="en-US"/>
          </a:p>
        </p:txBody>
      </p:sp>
      <p:sp>
        <p:nvSpPr>
          <p:cNvPr id="4" name="矩形 3">
            <a:extLst>
              <a:ext uri="{FF2B5EF4-FFF2-40B4-BE49-F238E27FC236}">
                <a16:creationId xmlns:a16="http://schemas.microsoft.com/office/drawing/2014/main" id="{2EFEE68A-F481-5EFB-B087-526495D39324}"/>
              </a:ext>
            </a:extLst>
          </p:cNvPr>
          <p:cNvSpPr>
            <a:spLocks noGrp="1"/>
          </p:cNvSpPr>
          <p:nvPr/>
        </p:nvSpPr>
        <p:spPr>
          <a:xfrm>
            <a:off x="495300" y="723900"/>
            <a:ext cx="7239000" cy="219075"/>
          </a:xfrm>
          <a:prstGeom prst="rect">
            <a:avLst/>
          </a:prstGeom>
          <a:noFill/>
          <a:ln w="0">
            <a:noFill/>
          </a:ln>
        </p:spPr>
        <p:txBody>
          <a:bodyPr anchor="ctr">
            <a:normAutofit fontScale="93397" lnSpcReduction="10000"/>
          </a:bodyPr>
          <a:lstStyle/>
          <a:p>
            <a:pPr algn="l">
              <a:defRPr sz="975" b="1">
                <a:solidFill>
                  <a:srgbClr val="E31346"/>
                </a:solidFill>
                <a:latin typeface="Arial"/>
                <a:ea typeface="Arial"/>
                <a:cs typeface="Arial"/>
              </a:defRPr>
            </a:pPr>
            <a:r>
              <a:rPr sz="975" b="1">
                <a:solidFill>
                  <a:srgbClr val="E31346"/>
                </a:solidFill>
                <a:latin typeface="Arial"/>
                <a:ea typeface="Arial"/>
                <a:cs typeface="Arial"/>
              </a:rPr>
              <a:t>EE6008 · HUMAN POSE GROUP PROJECT</a:t>
            </a:r>
          </a:p>
        </p:txBody>
      </p:sp>
      <p:sp>
        <p:nvSpPr>
          <p:cNvPr id="5" name="矩形 4">
            <a:extLst>
              <a:ext uri="{FF2B5EF4-FFF2-40B4-BE49-F238E27FC236}">
                <a16:creationId xmlns:a16="http://schemas.microsoft.com/office/drawing/2014/main" id="{2487E71F-F611-50E9-8712-E01266D9CB7C}"/>
              </a:ext>
            </a:extLst>
          </p:cNvPr>
          <p:cNvSpPr>
            <a:spLocks noGrp="1"/>
          </p:cNvSpPr>
          <p:nvPr/>
        </p:nvSpPr>
        <p:spPr>
          <a:xfrm>
            <a:off x="495300" y="1009650"/>
            <a:ext cx="1562100" cy="47625"/>
          </a:xfrm>
          <a:prstGeom prst="rect">
            <a:avLst/>
          </a:prstGeom>
          <a:solidFill>
            <a:srgbClr val="E31346"/>
          </a:solidFill>
          <a:ln w="0">
            <a:noFill/>
          </a:ln>
        </p:spPr>
        <p:txBody>
          <a:bodyPr/>
          <a:lstStyle/>
          <a:p>
            <a:endParaRPr lang="zh-CN" altLang="en-US"/>
          </a:p>
        </p:txBody>
      </p:sp>
      <p:sp>
        <p:nvSpPr>
          <p:cNvPr id="7" name="矩形 6">
            <a:extLst>
              <a:ext uri="{FF2B5EF4-FFF2-40B4-BE49-F238E27FC236}">
                <a16:creationId xmlns:a16="http://schemas.microsoft.com/office/drawing/2014/main" id="{84642A43-F995-5C2A-AE7F-14909312B257}"/>
              </a:ext>
            </a:extLst>
          </p:cNvPr>
          <p:cNvSpPr>
            <a:spLocks noGrp="1"/>
          </p:cNvSpPr>
          <p:nvPr/>
        </p:nvSpPr>
        <p:spPr>
          <a:xfrm>
            <a:off x="495300" y="6591300"/>
            <a:ext cx="2857500" cy="219075"/>
          </a:xfrm>
          <a:prstGeom prst="rect">
            <a:avLst/>
          </a:prstGeom>
          <a:noFill/>
          <a:ln w="0">
            <a:noFill/>
          </a:ln>
        </p:spPr>
        <p:txBody>
          <a:bodyPr anchor="ctr">
            <a:normAutofit/>
          </a:bodyPr>
          <a:lstStyle/>
          <a:p>
            <a:pPr algn="l">
              <a:defRPr sz="750" b="1">
                <a:solidFill>
                  <a:srgbClr val="FFFFFF"/>
                </a:solidFill>
                <a:latin typeface="Arial"/>
                <a:ea typeface="Arial"/>
                <a:cs typeface="Arial"/>
              </a:defRPr>
            </a:pPr>
            <a:r>
              <a:rPr sz="750" b="1">
                <a:solidFill>
                  <a:srgbClr val="FFFFFF"/>
                </a:solidFill>
                <a:latin typeface="Arial"/>
                <a:ea typeface="Arial"/>
                <a:cs typeface="Arial"/>
              </a:rPr>
              <a:t>EE6008 · WEEKLY REPORT</a:t>
            </a:r>
          </a:p>
        </p:txBody>
      </p:sp>
      <p:sp>
        <p:nvSpPr>
          <p:cNvPr id="8" name="矩形 7">
            <a:extLst>
              <a:ext uri="{FF2B5EF4-FFF2-40B4-BE49-F238E27FC236}">
                <a16:creationId xmlns:a16="http://schemas.microsoft.com/office/drawing/2014/main" id="{EC14B1B3-8DC9-5F96-A330-85E5AA1AC306}"/>
              </a:ext>
            </a:extLst>
          </p:cNvPr>
          <p:cNvSpPr>
            <a:spLocks noGrp="1"/>
          </p:cNvSpPr>
          <p:nvPr/>
        </p:nvSpPr>
        <p:spPr>
          <a:xfrm>
            <a:off x="11049000" y="6591300"/>
            <a:ext cx="619125" cy="219075"/>
          </a:xfrm>
          <a:prstGeom prst="rect">
            <a:avLst/>
          </a:prstGeom>
          <a:noFill/>
          <a:ln w="0">
            <a:noFill/>
          </a:ln>
        </p:spPr>
        <p:txBody>
          <a:bodyPr anchor="ctr">
            <a:normAutofit/>
          </a:bodyPr>
          <a:lstStyle/>
          <a:p>
            <a:pPr algn="r">
              <a:defRPr sz="750" b="1">
                <a:solidFill>
                  <a:srgbClr val="FFFFFF"/>
                </a:solidFill>
                <a:latin typeface="Arial"/>
                <a:ea typeface="Arial"/>
                <a:cs typeface="Arial"/>
              </a:defRPr>
            </a:pPr>
            <a:r>
              <a:rPr sz="750" b="1">
                <a:solidFill>
                  <a:srgbClr val="FFFFFF"/>
                </a:solidFill>
                <a:latin typeface="Arial"/>
                <a:ea typeface="Arial"/>
                <a:cs typeface="Arial"/>
              </a:rPr>
              <a:t>02</a:t>
            </a:r>
          </a:p>
        </p:txBody>
      </p:sp>
      <p:sp>
        <p:nvSpPr>
          <p:cNvPr id="100" name="person-diagram-23">
            <a:extLst>
              <a:ext uri="{FF2B5EF4-FFF2-40B4-BE49-F238E27FC236}">
                <a16:creationId xmlns:a16="http://schemas.microsoft.com/office/drawing/2014/main" id="{394871C7-347F-4F36-AD2F-82374FF8C747}"/>
              </a:ext>
            </a:extLst>
          </p:cNvPr>
          <p:cNvSpPr>
            <a:spLocks noGrp="1"/>
          </p:cNvSpPr>
          <p:nvPr/>
        </p:nvSpPr>
        <p:spPr>
          <a:xfrm>
            <a:off x="590550" y="238125"/>
            <a:ext cx="8524875" cy="476250"/>
          </a:xfrm>
          <a:prstGeom prst="rect">
            <a:avLst/>
          </a:prstGeom>
          <a:noFill/>
          <a:ln w="0">
            <a:noFill/>
          </a:ln>
        </p:spPr>
        <p:txBody>
          <a:bodyPr lIns="0" tIns="0" rIns="0" bIns="0" anchor="ctr">
            <a:noAutofit/>
          </a:bodyPr>
          <a:lstStyle>
            <a:defPPr algn="l">
              <a:defRPr sz="2524" b="1">
                <a:solidFill>
                  <a:srgbClr val="1B1D63"/>
                </a:solidFill>
                <a:latin typeface="Arial"/>
                <a:ea typeface="Arial"/>
                <a:cs typeface="Arial"/>
              </a:defRPr>
            </a:defPPr>
          </a:lstStyle>
          <a:p>
            <a:pPr algn="l">
              <a:defRPr sz="2524" b="1">
                <a:solidFill>
                  <a:srgbClr val="1B1D63"/>
                </a:solidFill>
                <a:latin typeface="Arial"/>
                <a:ea typeface="Arial"/>
                <a:cs typeface="Arial"/>
              </a:defRPr>
            </a:pPr>
            <a:r>
              <a:rPr sz="2524" b="1">
                <a:solidFill>
                  <a:srgbClr val="1B1D63"/>
                </a:solidFill>
                <a:latin typeface="Arial"/>
                <a:ea typeface="Arial"/>
                <a:cs typeface="Arial"/>
              </a:rPr>
              <a:t>Why Person-Track Experiments?</a:t>
            </a:r>
          </a:p>
        </p:txBody>
      </p:sp>
      <p:pic>
        <p:nvPicPr>
          <p:cNvPr id="101" name="图片 100">
            <a:extLst>
              <a:ext uri="{FF2B5EF4-FFF2-40B4-BE49-F238E27FC236}">
                <a16:creationId xmlns:a16="http://schemas.microsoft.com/office/drawing/2014/main" id="{576491FD-44D4-420F-9462-0CB982B1A378}"/>
              </a:ext>
            </a:extLst>
          </p:cNvPr>
          <p:cNvPicPr>
            <a:picLocks noChangeAspect="1"/>
          </p:cNvPicPr>
          <p:nvPr/>
        </p:nvPicPr>
        <p:blipFill>
          <a:blip r:embed="rId3"/>
          <a:stretch/>
        </p:blipFill>
        <p:spPr>
          <a:xfrm>
            <a:off x="9696450" y="191381"/>
            <a:ext cx="2038350" cy="731663"/>
          </a:xfrm>
          <a:prstGeom prst="rect">
            <a:avLst/>
          </a:prstGeom>
        </p:spPr>
      </p:pic>
      <p:sp>
        <p:nvSpPr>
          <p:cNvPr id="102" name="person-diagram-24">
            <a:extLst>
              <a:ext uri="{FF2B5EF4-FFF2-40B4-BE49-F238E27FC236}">
                <a16:creationId xmlns:a16="http://schemas.microsoft.com/office/drawing/2014/main" id="{D3A4601A-BE57-4FB8-A958-50D1DFBC3174}"/>
              </a:ext>
            </a:extLst>
          </p:cNvPr>
          <p:cNvSpPr>
            <a:spLocks noGrp="1"/>
          </p:cNvSpPr>
          <p:nvPr/>
        </p:nvSpPr>
        <p:spPr>
          <a:xfrm>
            <a:off x="495300" y="1381125"/>
            <a:ext cx="5457825" cy="3800475"/>
          </a:xfrm>
          <a:prstGeom prst="roundRect">
            <a:avLst>
              <a:gd name="adj" fmla="val 4010"/>
            </a:avLst>
          </a:prstGeom>
          <a:solidFill>
            <a:srgbClr val="FFFFFF"/>
          </a:solidFill>
          <a:ln w="11430">
            <a:solidFill>
              <a:srgbClr val="D9DDEA"/>
            </a:solidFill>
          </a:ln>
        </p:spPr>
        <p:txBody>
          <a:bodyPr/>
          <a:lstStyle/>
          <a:p>
            <a:endParaRPr lang="zh-CN" altLang="en-US"/>
          </a:p>
        </p:txBody>
      </p:sp>
      <p:sp>
        <p:nvSpPr>
          <p:cNvPr id="103" name="person-diagram-25">
            <a:extLst>
              <a:ext uri="{FF2B5EF4-FFF2-40B4-BE49-F238E27FC236}">
                <a16:creationId xmlns:a16="http://schemas.microsoft.com/office/drawing/2014/main" id="{87300777-71CC-4D2F-B271-B729310D6E86}"/>
              </a:ext>
            </a:extLst>
          </p:cNvPr>
          <p:cNvSpPr>
            <a:spLocks noGrp="1"/>
          </p:cNvSpPr>
          <p:nvPr/>
        </p:nvSpPr>
        <p:spPr>
          <a:xfrm>
            <a:off x="733425" y="1543050"/>
            <a:ext cx="4953000" cy="333375"/>
          </a:xfrm>
          <a:prstGeom prst="rect">
            <a:avLst/>
          </a:prstGeom>
          <a:noFill/>
          <a:ln w="0">
            <a:noFill/>
          </a:ln>
        </p:spPr>
        <p:txBody>
          <a:bodyPr lIns="0" tIns="0" rIns="0" bIns="0" anchor="ctr">
            <a:noAutofit/>
          </a:bodyPr>
          <a:lstStyle>
            <a:defPPr algn="l">
              <a:defRPr sz="1950" b="1">
                <a:solidFill>
                  <a:srgbClr val="1B1D63"/>
                </a:solidFill>
                <a:latin typeface="Arial"/>
                <a:ea typeface="Arial"/>
                <a:cs typeface="Arial"/>
              </a:defRPr>
            </a:defPPr>
          </a:lstStyle>
          <a:p>
            <a:pPr algn="l">
              <a:defRPr sz="1950" b="1">
                <a:solidFill>
                  <a:srgbClr val="1B1D63"/>
                </a:solidFill>
                <a:latin typeface="Arial"/>
                <a:ea typeface="Arial"/>
                <a:cs typeface="Arial"/>
              </a:defRPr>
            </a:pPr>
            <a:r>
              <a:rPr sz="1950" b="1">
                <a:solidFill>
                  <a:srgbClr val="1B1D63"/>
                </a:solidFill>
                <a:latin typeface="Arial"/>
                <a:ea typeface="Arial"/>
                <a:cs typeface="Arial"/>
              </a:rPr>
              <a:t>Normal person track</a:t>
            </a:r>
          </a:p>
        </p:txBody>
      </p:sp>
      <p:sp>
        <p:nvSpPr>
          <p:cNvPr id="104" name="person-diagram-26">
            <a:extLst>
              <a:ext uri="{FF2B5EF4-FFF2-40B4-BE49-F238E27FC236}">
                <a16:creationId xmlns:a16="http://schemas.microsoft.com/office/drawing/2014/main" id="{F9BA7DA6-0C6D-4125-9AB0-3A6ECA7D9782}"/>
              </a:ext>
            </a:extLst>
          </p:cNvPr>
          <p:cNvSpPr>
            <a:spLocks noGrp="1"/>
          </p:cNvSpPr>
          <p:nvPr/>
        </p:nvSpPr>
        <p:spPr>
          <a:xfrm>
            <a:off x="733425" y="2305050"/>
            <a:ext cx="1143000" cy="247650"/>
          </a:xfrm>
          <a:prstGeom prst="rect">
            <a:avLst/>
          </a:prstGeom>
          <a:noFill/>
          <a:ln w="0">
            <a:noFill/>
          </a:ln>
        </p:spPr>
        <p:txBody>
          <a:bodyPr lIns="0" tIns="0" rIns="0" bIns="0" anchor="ctr">
            <a:noAutofit/>
          </a:bodyPr>
          <a:lstStyle>
            <a:defPPr algn="l">
              <a:defRPr sz="1350" b="0">
                <a:solidFill>
                  <a:srgbClr val="697386"/>
                </a:solidFill>
                <a:latin typeface="Arial"/>
                <a:ea typeface="Arial"/>
                <a:cs typeface="Arial"/>
              </a:defRPr>
            </a:defPPr>
          </a:lstStyle>
          <a:p>
            <a:pPr algn="l">
              <a:defRPr sz="1350" b="0">
                <a:solidFill>
                  <a:srgbClr val="697386"/>
                </a:solidFill>
                <a:latin typeface="Arial"/>
                <a:ea typeface="Arial"/>
                <a:cs typeface="Arial"/>
              </a:defRPr>
            </a:pPr>
            <a:r>
              <a:rPr sz="1350" b="0">
                <a:solidFill>
                  <a:srgbClr val="697386"/>
                </a:solidFill>
                <a:latin typeface="Arial"/>
                <a:ea typeface="Arial"/>
                <a:cs typeface="Arial"/>
              </a:rPr>
              <a:t>Person-0</a:t>
            </a:r>
          </a:p>
        </p:txBody>
      </p:sp>
      <p:sp>
        <p:nvSpPr>
          <p:cNvPr id="105" name="person-diagram-27">
            <a:extLst>
              <a:ext uri="{FF2B5EF4-FFF2-40B4-BE49-F238E27FC236}">
                <a16:creationId xmlns:a16="http://schemas.microsoft.com/office/drawing/2014/main" id="{0D92B03E-7158-49EE-840C-BF344592AD23}"/>
              </a:ext>
            </a:extLst>
          </p:cNvPr>
          <p:cNvSpPr>
            <a:spLocks noGrp="1"/>
          </p:cNvSpPr>
          <p:nvPr/>
        </p:nvSpPr>
        <p:spPr>
          <a:xfrm>
            <a:off x="733425" y="3524250"/>
            <a:ext cx="1143000" cy="247650"/>
          </a:xfrm>
          <a:prstGeom prst="rect">
            <a:avLst/>
          </a:prstGeom>
          <a:noFill/>
          <a:ln w="0">
            <a:noFill/>
          </a:ln>
        </p:spPr>
        <p:txBody>
          <a:bodyPr lIns="0" tIns="0" rIns="0" bIns="0" anchor="ctr">
            <a:noAutofit/>
          </a:bodyPr>
          <a:lstStyle>
            <a:defPPr algn="l">
              <a:defRPr sz="1350" b="0">
                <a:solidFill>
                  <a:srgbClr val="697386"/>
                </a:solidFill>
                <a:latin typeface="Arial"/>
                <a:ea typeface="Arial"/>
                <a:cs typeface="Arial"/>
              </a:defRPr>
            </a:defPPr>
          </a:lstStyle>
          <a:p>
            <a:pPr algn="l">
              <a:defRPr sz="1350" b="0">
                <a:solidFill>
                  <a:srgbClr val="697386"/>
                </a:solidFill>
                <a:latin typeface="Arial"/>
                <a:ea typeface="Arial"/>
                <a:cs typeface="Arial"/>
              </a:defRPr>
            </a:pPr>
            <a:r>
              <a:rPr sz="1350" b="0">
                <a:solidFill>
                  <a:srgbClr val="697386"/>
                </a:solidFill>
                <a:latin typeface="Arial"/>
                <a:ea typeface="Arial"/>
                <a:cs typeface="Arial"/>
              </a:rPr>
              <a:t>Person-1</a:t>
            </a:r>
          </a:p>
        </p:txBody>
      </p:sp>
      <p:sp>
        <p:nvSpPr>
          <p:cNvPr id="106" name="person-diagram-28">
            <a:extLst>
              <a:ext uri="{FF2B5EF4-FFF2-40B4-BE49-F238E27FC236}">
                <a16:creationId xmlns:a16="http://schemas.microsoft.com/office/drawing/2014/main" id="{E006EB34-E8D7-422D-8C0A-C5F398CD9D57}"/>
              </a:ext>
            </a:extLst>
          </p:cNvPr>
          <p:cNvSpPr>
            <a:spLocks noGrp="1"/>
          </p:cNvSpPr>
          <p:nvPr/>
        </p:nvSpPr>
        <p:spPr>
          <a:xfrm>
            <a:off x="2038350" y="2114550"/>
            <a:ext cx="114300" cy="114300"/>
          </a:xfrm>
          <a:prstGeom prst="ellipse">
            <a:avLst/>
          </a:prstGeom>
          <a:solidFill>
            <a:srgbClr val="1B1D63"/>
          </a:solidFill>
          <a:ln w="0">
            <a:noFill/>
          </a:ln>
        </p:spPr>
        <p:txBody>
          <a:bodyPr/>
          <a:lstStyle/>
          <a:p>
            <a:endParaRPr lang="zh-CN" altLang="en-US"/>
          </a:p>
        </p:txBody>
      </p:sp>
      <p:sp>
        <p:nvSpPr>
          <p:cNvPr id="107" name="diagram-line-29">
            <a:extLst>
              <a:ext uri="{FF2B5EF4-FFF2-40B4-BE49-F238E27FC236}">
                <a16:creationId xmlns:a16="http://schemas.microsoft.com/office/drawing/2014/main" id="{C3006EC3-F1AE-4932-952E-8E983F770233}"/>
              </a:ext>
            </a:extLst>
          </p:cNvPr>
          <p:cNvSpPr>
            <a:spLocks noGrp="1"/>
          </p:cNvSpPr>
          <p:nvPr/>
        </p:nvSpPr>
        <p:spPr>
          <a:xfrm>
            <a:off x="2095500" y="2247900"/>
            <a:ext cx="953" cy="247650"/>
          </a:xfrm>
          <a:prstGeom prst="line">
            <a:avLst/>
          </a:prstGeom>
          <a:noFill/>
          <a:ln w="28575">
            <a:solidFill>
              <a:srgbClr val="1B1D63"/>
            </a:solidFill>
          </a:ln>
        </p:spPr>
        <p:txBody>
          <a:bodyPr/>
          <a:lstStyle/>
          <a:p>
            <a:endParaRPr lang="zh-CN" altLang="en-US"/>
          </a:p>
        </p:txBody>
      </p:sp>
      <p:sp>
        <p:nvSpPr>
          <p:cNvPr id="108" name="diagram-line-30">
            <a:extLst>
              <a:ext uri="{FF2B5EF4-FFF2-40B4-BE49-F238E27FC236}">
                <a16:creationId xmlns:a16="http://schemas.microsoft.com/office/drawing/2014/main" id="{30CED508-CC55-457E-A4A2-0451D7E4B287}"/>
              </a:ext>
            </a:extLst>
          </p:cNvPr>
          <p:cNvSpPr>
            <a:spLocks noGrp="1"/>
          </p:cNvSpPr>
          <p:nvPr/>
        </p:nvSpPr>
        <p:spPr>
          <a:xfrm flipH="1">
            <a:off x="1952625" y="2305050"/>
            <a:ext cx="142875" cy="104775"/>
          </a:xfrm>
          <a:prstGeom prst="line">
            <a:avLst/>
          </a:prstGeom>
          <a:noFill/>
          <a:ln w="28575">
            <a:solidFill>
              <a:srgbClr val="1B1D63"/>
            </a:solidFill>
          </a:ln>
        </p:spPr>
        <p:txBody>
          <a:bodyPr/>
          <a:lstStyle/>
          <a:p>
            <a:endParaRPr lang="zh-CN" altLang="en-US"/>
          </a:p>
        </p:txBody>
      </p:sp>
      <p:sp>
        <p:nvSpPr>
          <p:cNvPr id="109" name="diagram-line-31">
            <a:extLst>
              <a:ext uri="{FF2B5EF4-FFF2-40B4-BE49-F238E27FC236}">
                <a16:creationId xmlns:a16="http://schemas.microsoft.com/office/drawing/2014/main" id="{E1415B5E-E0A6-4EE1-8676-520B36344B01}"/>
              </a:ext>
            </a:extLst>
          </p:cNvPr>
          <p:cNvSpPr>
            <a:spLocks noGrp="1"/>
          </p:cNvSpPr>
          <p:nvPr/>
        </p:nvSpPr>
        <p:spPr>
          <a:xfrm>
            <a:off x="2095500" y="2305050"/>
            <a:ext cx="142875" cy="104775"/>
          </a:xfrm>
          <a:prstGeom prst="line">
            <a:avLst/>
          </a:prstGeom>
          <a:noFill/>
          <a:ln w="28575">
            <a:solidFill>
              <a:srgbClr val="1B1D63"/>
            </a:solidFill>
          </a:ln>
        </p:spPr>
        <p:txBody>
          <a:bodyPr/>
          <a:lstStyle/>
          <a:p>
            <a:endParaRPr lang="zh-CN" altLang="en-US"/>
          </a:p>
        </p:txBody>
      </p:sp>
      <p:sp>
        <p:nvSpPr>
          <p:cNvPr id="110" name="diagram-line-32">
            <a:extLst>
              <a:ext uri="{FF2B5EF4-FFF2-40B4-BE49-F238E27FC236}">
                <a16:creationId xmlns:a16="http://schemas.microsoft.com/office/drawing/2014/main" id="{5D3A509E-5DE4-4F8D-8FBC-52DF8E688F45}"/>
              </a:ext>
            </a:extLst>
          </p:cNvPr>
          <p:cNvSpPr>
            <a:spLocks noGrp="1"/>
          </p:cNvSpPr>
          <p:nvPr/>
        </p:nvSpPr>
        <p:spPr>
          <a:xfrm flipH="1">
            <a:off x="1981200" y="2495550"/>
            <a:ext cx="114300" cy="180975"/>
          </a:xfrm>
          <a:prstGeom prst="line">
            <a:avLst/>
          </a:prstGeom>
          <a:noFill/>
          <a:ln w="28575">
            <a:solidFill>
              <a:srgbClr val="1B1D63"/>
            </a:solidFill>
          </a:ln>
        </p:spPr>
        <p:txBody>
          <a:bodyPr/>
          <a:lstStyle/>
          <a:p>
            <a:endParaRPr lang="zh-CN" altLang="en-US"/>
          </a:p>
        </p:txBody>
      </p:sp>
      <p:sp>
        <p:nvSpPr>
          <p:cNvPr id="111" name="diagram-line-33">
            <a:extLst>
              <a:ext uri="{FF2B5EF4-FFF2-40B4-BE49-F238E27FC236}">
                <a16:creationId xmlns:a16="http://schemas.microsoft.com/office/drawing/2014/main" id="{46CC0A24-AE9F-4DF4-8DBB-FEF88BB9C5B7}"/>
              </a:ext>
            </a:extLst>
          </p:cNvPr>
          <p:cNvSpPr>
            <a:spLocks noGrp="1"/>
          </p:cNvSpPr>
          <p:nvPr/>
        </p:nvSpPr>
        <p:spPr>
          <a:xfrm>
            <a:off x="2095500" y="2495550"/>
            <a:ext cx="114300" cy="180975"/>
          </a:xfrm>
          <a:prstGeom prst="line">
            <a:avLst/>
          </a:prstGeom>
          <a:noFill/>
          <a:ln w="28575">
            <a:solidFill>
              <a:srgbClr val="1B1D63"/>
            </a:solidFill>
          </a:ln>
        </p:spPr>
        <p:txBody>
          <a:bodyPr/>
          <a:lstStyle/>
          <a:p>
            <a:endParaRPr lang="zh-CN" altLang="en-US"/>
          </a:p>
        </p:txBody>
      </p:sp>
      <p:sp>
        <p:nvSpPr>
          <p:cNvPr id="112" name="person-diagram-34">
            <a:extLst>
              <a:ext uri="{FF2B5EF4-FFF2-40B4-BE49-F238E27FC236}">
                <a16:creationId xmlns:a16="http://schemas.microsoft.com/office/drawing/2014/main" id="{C118BB87-8208-4510-8C47-8BB04961C195}"/>
              </a:ext>
            </a:extLst>
          </p:cNvPr>
          <p:cNvSpPr>
            <a:spLocks noGrp="1"/>
          </p:cNvSpPr>
          <p:nvPr/>
        </p:nvSpPr>
        <p:spPr>
          <a:xfrm>
            <a:off x="1933575" y="2733675"/>
            <a:ext cx="323850" cy="238125"/>
          </a:xfrm>
          <a:prstGeom prst="rect">
            <a:avLst/>
          </a:prstGeom>
          <a:noFill/>
          <a:ln w="0">
            <a:noFill/>
          </a:ln>
        </p:spPr>
        <p:txBody>
          <a:bodyPr lIns="0" tIns="0" rIns="0" bIns="0" anchor="ctr">
            <a:noAutofit/>
          </a:bodyPr>
          <a:lstStyle>
            <a:defPPr algn="ctr">
              <a:defRPr sz="1425" b="1">
                <a:solidFill>
                  <a:srgbClr val="1B1D63"/>
                </a:solidFill>
                <a:latin typeface="Arial"/>
                <a:ea typeface="Arial"/>
                <a:cs typeface="Arial"/>
              </a:defRPr>
            </a:defPPr>
          </a:lstStyle>
          <a:p>
            <a:pPr algn="ctr">
              <a:defRPr sz="1425" b="1">
                <a:solidFill>
                  <a:srgbClr val="1B1D63"/>
                </a:solidFill>
                <a:latin typeface="Arial"/>
                <a:ea typeface="Arial"/>
                <a:cs typeface="Arial"/>
              </a:defRPr>
            </a:pPr>
            <a:r>
              <a:rPr sz="1425" b="1">
                <a:solidFill>
                  <a:srgbClr val="1B1D63"/>
                </a:solidFill>
                <a:latin typeface="Arial"/>
                <a:ea typeface="Arial"/>
                <a:cs typeface="Arial"/>
              </a:rPr>
              <a:t>A</a:t>
            </a:r>
          </a:p>
        </p:txBody>
      </p:sp>
      <p:sp>
        <p:nvSpPr>
          <p:cNvPr id="113" name="person-diagram-35">
            <a:extLst>
              <a:ext uri="{FF2B5EF4-FFF2-40B4-BE49-F238E27FC236}">
                <a16:creationId xmlns:a16="http://schemas.microsoft.com/office/drawing/2014/main" id="{5F55F622-D7EF-443B-8A27-6B4A11B52AC4}"/>
              </a:ext>
            </a:extLst>
          </p:cNvPr>
          <p:cNvSpPr>
            <a:spLocks noGrp="1"/>
          </p:cNvSpPr>
          <p:nvPr/>
        </p:nvSpPr>
        <p:spPr>
          <a:xfrm>
            <a:off x="2038350" y="3333750"/>
            <a:ext cx="114300" cy="114300"/>
          </a:xfrm>
          <a:prstGeom prst="ellipse">
            <a:avLst/>
          </a:prstGeom>
          <a:solidFill>
            <a:srgbClr val="38AFA2"/>
          </a:solidFill>
          <a:ln w="0">
            <a:noFill/>
          </a:ln>
        </p:spPr>
        <p:txBody>
          <a:bodyPr/>
          <a:lstStyle/>
          <a:p>
            <a:endParaRPr lang="zh-CN" altLang="en-US"/>
          </a:p>
        </p:txBody>
      </p:sp>
      <p:sp>
        <p:nvSpPr>
          <p:cNvPr id="114" name="diagram-line-36">
            <a:extLst>
              <a:ext uri="{FF2B5EF4-FFF2-40B4-BE49-F238E27FC236}">
                <a16:creationId xmlns:a16="http://schemas.microsoft.com/office/drawing/2014/main" id="{6B95EB71-5FD5-432F-BC0E-9B5D1763C004}"/>
              </a:ext>
            </a:extLst>
          </p:cNvPr>
          <p:cNvSpPr>
            <a:spLocks noGrp="1"/>
          </p:cNvSpPr>
          <p:nvPr/>
        </p:nvSpPr>
        <p:spPr>
          <a:xfrm>
            <a:off x="2095500" y="3467100"/>
            <a:ext cx="953" cy="247650"/>
          </a:xfrm>
          <a:prstGeom prst="line">
            <a:avLst/>
          </a:prstGeom>
          <a:noFill/>
          <a:ln w="28575">
            <a:solidFill>
              <a:srgbClr val="38AFA2"/>
            </a:solidFill>
          </a:ln>
        </p:spPr>
        <p:txBody>
          <a:bodyPr/>
          <a:lstStyle/>
          <a:p>
            <a:endParaRPr lang="zh-CN" altLang="en-US"/>
          </a:p>
        </p:txBody>
      </p:sp>
      <p:sp>
        <p:nvSpPr>
          <p:cNvPr id="115" name="diagram-line-37">
            <a:extLst>
              <a:ext uri="{FF2B5EF4-FFF2-40B4-BE49-F238E27FC236}">
                <a16:creationId xmlns:a16="http://schemas.microsoft.com/office/drawing/2014/main" id="{3FA7ED4D-4B70-4ACA-90D7-026B50A4366A}"/>
              </a:ext>
            </a:extLst>
          </p:cNvPr>
          <p:cNvSpPr>
            <a:spLocks noGrp="1"/>
          </p:cNvSpPr>
          <p:nvPr/>
        </p:nvSpPr>
        <p:spPr>
          <a:xfrm flipH="1">
            <a:off x="1952625" y="3524250"/>
            <a:ext cx="142875" cy="104775"/>
          </a:xfrm>
          <a:prstGeom prst="line">
            <a:avLst/>
          </a:prstGeom>
          <a:noFill/>
          <a:ln w="28575">
            <a:solidFill>
              <a:srgbClr val="38AFA2"/>
            </a:solidFill>
          </a:ln>
        </p:spPr>
        <p:txBody>
          <a:bodyPr/>
          <a:lstStyle/>
          <a:p>
            <a:endParaRPr lang="zh-CN" altLang="en-US"/>
          </a:p>
        </p:txBody>
      </p:sp>
      <p:sp>
        <p:nvSpPr>
          <p:cNvPr id="116" name="diagram-line-38">
            <a:extLst>
              <a:ext uri="{FF2B5EF4-FFF2-40B4-BE49-F238E27FC236}">
                <a16:creationId xmlns:a16="http://schemas.microsoft.com/office/drawing/2014/main" id="{9A36D932-C032-4FA0-AB0F-2C8501FC239F}"/>
              </a:ext>
            </a:extLst>
          </p:cNvPr>
          <p:cNvSpPr>
            <a:spLocks noGrp="1"/>
          </p:cNvSpPr>
          <p:nvPr/>
        </p:nvSpPr>
        <p:spPr>
          <a:xfrm>
            <a:off x="2095500" y="3524250"/>
            <a:ext cx="142875" cy="104775"/>
          </a:xfrm>
          <a:prstGeom prst="line">
            <a:avLst/>
          </a:prstGeom>
          <a:noFill/>
          <a:ln w="28575">
            <a:solidFill>
              <a:srgbClr val="38AFA2"/>
            </a:solidFill>
          </a:ln>
        </p:spPr>
        <p:txBody>
          <a:bodyPr/>
          <a:lstStyle/>
          <a:p>
            <a:endParaRPr lang="zh-CN" altLang="en-US"/>
          </a:p>
        </p:txBody>
      </p:sp>
      <p:sp>
        <p:nvSpPr>
          <p:cNvPr id="117" name="diagram-line-39">
            <a:extLst>
              <a:ext uri="{FF2B5EF4-FFF2-40B4-BE49-F238E27FC236}">
                <a16:creationId xmlns:a16="http://schemas.microsoft.com/office/drawing/2014/main" id="{7D7F94DD-ECFE-4AED-AD10-2D64E13ED23B}"/>
              </a:ext>
            </a:extLst>
          </p:cNvPr>
          <p:cNvSpPr>
            <a:spLocks noGrp="1"/>
          </p:cNvSpPr>
          <p:nvPr/>
        </p:nvSpPr>
        <p:spPr>
          <a:xfrm flipH="1">
            <a:off x="1981200" y="3714750"/>
            <a:ext cx="114300" cy="180975"/>
          </a:xfrm>
          <a:prstGeom prst="line">
            <a:avLst/>
          </a:prstGeom>
          <a:noFill/>
          <a:ln w="28575">
            <a:solidFill>
              <a:srgbClr val="38AFA2"/>
            </a:solidFill>
          </a:ln>
        </p:spPr>
        <p:txBody>
          <a:bodyPr/>
          <a:lstStyle/>
          <a:p>
            <a:endParaRPr lang="zh-CN" altLang="en-US"/>
          </a:p>
        </p:txBody>
      </p:sp>
      <p:sp>
        <p:nvSpPr>
          <p:cNvPr id="118" name="diagram-line-40">
            <a:extLst>
              <a:ext uri="{FF2B5EF4-FFF2-40B4-BE49-F238E27FC236}">
                <a16:creationId xmlns:a16="http://schemas.microsoft.com/office/drawing/2014/main" id="{C7927462-B944-4C19-B6A7-66458C1762E4}"/>
              </a:ext>
            </a:extLst>
          </p:cNvPr>
          <p:cNvSpPr>
            <a:spLocks noGrp="1"/>
          </p:cNvSpPr>
          <p:nvPr/>
        </p:nvSpPr>
        <p:spPr>
          <a:xfrm>
            <a:off x="2095500" y="3714750"/>
            <a:ext cx="114300" cy="180975"/>
          </a:xfrm>
          <a:prstGeom prst="line">
            <a:avLst/>
          </a:prstGeom>
          <a:noFill/>
          <a:ln w="28575">
            <a:solidFill>
              <a:srgbClr val="38AFA2"/>
            </a:solidFill>
          </a:ln>
        </p:spPr>
        <p:txBody>
          <a:bodyPr/>
          <a:lstStyle/>
          <a:p>
            <a:endParaRPr lang="zh-CN" altLang="en-US"/>
          </a:p>
        </p:txBody>
      </p:sp>
      <p:sp>
        <p:nvSpPr>
          <p:cNvPr id="119" name="person-diagram-41">
            <a:extLst>
              <a:ext uri="{FF2B5EF4-FFF2-40B4-BE49-F238E27FC236}">
                <a16:creationId xmlns:a16="http://schemas.microsoft.com/office/drawing/2014/main" id="{3F093AEA-7CB9-46E0-B85A-7C8F1B492CEA}"/>
              </a:ext>
            </a:extLst>
          </p:cNvPr>
          <p:cNvSpPr>
            <a:spLocks noGrp="1"/>
          </p:cNvSpPr>
          <p:nvPr/>
        </p:nvSpPr>
        <p:spPr>
          <a:xfrm>
            <a:off x="1933575" y="3952875"/>
            <a:ext cx="323850" cy="238125"/>
          </a:xfrm>
          <a:prstGeom prst="rect">
            <a:avLst/>
          </a:prstGeom>
          <a:noFill/>
          <a:ln w="0">
            <a:noFill/>
          </a:ln>
        </p:spPr>
        <p:txBody>
          <a:bodyPr lIns="0" tIns="0" rIns="0" bIns="0" anchor="ctr">
            <a:noAutofit/>
          </a:bodyPr>
          <a:lstStyle>
            <a:defPPr algn="ctr">
              <a:defRPr sz="1425" b="1">
                <a:solidFill>
                  <a:srgbClr val="38AFA2"/>
                </a:solidFill>
                <a:latin typeface="Arial"/>
                <a:ea typeface="Arial"/>
                <a:cs typeface="Arial"/>
              </a:defRPr>
            </a:defPPr>
          </a:lstStyle>
          <a:p>
            <a:pPr algn="ctr">
              <a:defRPr sz="1425" b="1">
                <a:solidFill>
                  <a:srgbClr val="38AFA2"/>
                </a:solidFill>
                <a:latin typeface="Arial"/>
                <a:ea typeface="Arial"/>
                <a:cs typeface="Arial"/>
              </a:defRPr>
            </a:pPr>
            <a:r>
              <a:rPr sz="1425" b="1">
                <a:solidFill>
                  <a:srgbClr val="38AFA2"/>
                </a:solidFill>
                <a:latin typeface="Arial"/>
                <a:ea typeface="Arial"/>
                <a:cs typeface="Arial"/>
              </a:rPr>
              <a:t>B</a:t>
            </a:r>
          </a:p>
        </p:txBody>
      </p:sp>
      <p:sp>
        <p:nvSpPr>
          <p:cNvPr id="120" name="person-diagram-42">
            <a:extLst>
              <a:ext uri="{FF2B5EF4-FFF2-40B4-BE49-F238E27FC236}">
                <a16:creationId xmlns:a16="http://schemas.microsoft.com/office/drawing/2014/main" id="{E170239B-0DA2-4F56-9F10-C1840D087C4F}"/>
              </a:ext>
            </a:extLst>
          </p:cNvPr>
          <p:cNvSpPr>
            <a:spLocks noGrp="1"/>
          </p:cNvSpPr>
          <p:nvPr/>
        </p:nvSpPr>
        <p:spPr>
          <a:xfrm>
            <a:off x="2790825" y="2114550"/>
            <a:ext cx="114300" cy="114300"/>
          </a:xfrm>
          <a:prstGeom prst="ellipse">
            <a:avLst/>
          </a:prstGeom>
          <a:solidFill>
            <a:srgbClr val="1B1D63"/>
          </a:solidFill>
          <a:ln w="0">
            <a:noFill/>
          </a:ln>
        </p:spPr>
        <p:txBody>
          <a:bodyPr/>
          <a:lstStyle/>
          <a:p>
            <a:endParaRPr lang="zh-CN" altLang="en-US"/>
          </a:p>
        </p:txBody>
      </p:sp>
      <p:sp>
        <p:nvSpPr>
          <p:cNvPr id="121" name="diagram-line-43">
            <a:extLst>
              <a:ext uri="{FF2B5EF4-FFF2-40B4-BE49-F238E27FC236}">
                <a16:creationId xmlns:a16="http://schemas.microsoft.com/office/drawing/2014/main" id="{DEB15F46-6744-498E-A126-C54978F2BA63}"/>
              </a:ext>
            </a:extLst>
          </p:cNvPr>
          <p:cNvSpPr>
            <a:spLocks noGrp="1"/>
          </p:cNvSpPr>
          <p:nvPr/>
        </p:nvSpPr>
        <p:spPr>
          <a:xfrm>
            <a:off x="2847975" y="2247900"/>
            <a:ext cx="953" cy="247650"/>
          </a:xfrm>
          <a:prstGeom prst="line">
            <a:avLst/>
          </a:prstGeom>
          <a:noFill/>
          <a:ln w="28575">
            <a:solidFill>
              <a:srgbClr val="1B1D63"/>
            </a:solidFill>
          </a:ln>
        </p:spPr>
        <p:txBody>
          <a:bodyPr/>
          <a:lstStyle/>
          <a:p>
            <a:endParaRPr lang="zh-CN" altLang="en-US"/>
          </a:p>
        </p:txBody>
      </p:sp>
      <p:sp>
        <p:nvSpPr>
          <p:cNvPr id="122" name="diagram-line-44">
            <a:extLst>
              <a:ext uri="{FF2B5EF4-FFF2-40B4-BE49-F238E27FC236}">
                <a16:creationId xmlns:a16="http://schemas.microsoft.com/office/drawing/2014/main" id="{EA47CAA3-DB7C-4A25-84B0-E7F1EBAE0D8C}"/>
              </a:ext>
            </a:extLst>
          </p:cNvPr>
          <p:cNvSpPr>
            <a:spLocks noGrp="1"/>
          </p:cNvSpPr>
          <p:nvPr/>
        </p:nvSpPr>
        <p:spPr>
          <a:xfrm flipH="1">
            <a:off x="2705100" y="2305050"/>
            <a:ext cx="142875" cy="104775"/>
          </a:xfrm>
          <a:prstGeom prst="line">
            <a:avLst/>
          </a:prstGeom>
          <a:noFill/>
          <a:ln w="28575">
            <a:solidFill>
              <a:srgbClr val="1B1D63"/>
            </a:solidFill>
          </a:ln>
        </p:spPr>
        <p:txBody>
          <a:bodyPr/>
          <a:lstStyle/>
          <a:p>
            <a:endParaRPr lang="zh-CN" altLang="en-US"/>
          </a:p>
        </p:txBody>
      </p:sp>
      <p:sp>
        <p:nvSpPr>
          <p:cNvPr id="123" name="diagram-line-45">
            <a:extLst>
              <a:ext uri="{FF2B5EF4-FFF2-40B4-BE49-F238E27FC236}">
                <a16:creationId xmlns:a16="http://schemas.microsoft.com/office/drawing/2014/main" id="{5DCB237F-80AB-41F6-ADC7-82CA2B17AE8F}"/>
              </a:ext>
            </a:extLst>
          </p:cNvPr>
          <p:cNvSpPr>
            <a:spLocks noGrp="1"/>
          </p:cNvSpPr>
          <p:nvPr/>
        </p:nvSpPr>
        <p:spPr>
          <a:xfrm>
            <a:off x="2847975" y="2305050"/>
            <a:ext cx="142875" cy="104775"/>
          </a:xfrm>
          <a:prstGeom prst="line">
            <a:avLst/>
          </a:prstGeom>
          <a:noFill/>
          <a:ln w="28575">
            <a:solidFill>
              <a:srgbClr val="1B1D63"/>
            </a:solidFill>
          </a:ln>
        </p:spPr>
        <p:txBody>
          <a:bodyPr/>
          <a:lstStyle/>
          <a:p>
            <a:endParaRPr lang="zh-CN" altLang="en-US"/>
          </a:p>
        </p:txBody>
      </p:sp>
      <p:sp>
        <p:nvSpPr>
          <p:cNvPr id="124" name="diagram-line-46">
            <a:extLst>
              <a:ext uri="{FF2B5EF4-FFF2-40B4-BE49-F238E27FC236}">
                <a16:creationId xmlns:a16="http://schemas.microsoft.com/office/drawing/2014/main" id="{F4825CAB-780A-44CB-8E79-299BB9598904}"/>
              </a:ext>
            </a:extLst>
          </p:cNvPr>
          <p:cNvSpPr>
            <a:spLocks noGrp="1"/>
          </p:cNvSpPr>
          <p:nvPr/>
        </p:nvSpPr>
        <p:spPr>
          <a:xfrm flipH="1">
            <a:off x="2733675" y="2495550"/>
            <a:ext cx="114300" cy="180975"/>
          </a:xfrm>
          <a:prstGeom prst="line">
            <a:avLst/>
          </a:prstGeom>
          <a:noFill/>
          <a:ln w="28575">
            <a:solidFill>
              <a:srgbClr val="1B1D63"/>
            </a:solidFill>
          </a:ln>
        </p:spPr>
        <p:txBody>
          <a:bodyPr/>
          <a:lstStyle/>
          <a:p>
            <a:endParaRPr lang="zh-CN" altLang="en-US"/>
          </a:p>
        </p:txBody>
      </p:sp>
      <p:sp>
        <p:nvSpPr>
          <p:cNvPr id="125" name="diagram-line-47">
            <a:extLst>
              <a:ext uri="{FF2B5EF4-FFF2-40B4-BE49-F238E27FC236}">
                <a16:creationId xmlns:a16="http://schemas.microsoft.com/office/drawing/2014/main" id="{EAEF89B9-9994-4C83-8BD5-B1D9EACE4833}"/>
              </a:ext>
            </a:extLst>
          </p:cNvPr>
          <p:cNvSpPr>
            <a:spLocks noGrp="1"/>
          </p:cNvSpPr>
          <p:nvPr/>
        </p:nvSpPr>
        <p:spPr>
          <a:xfrm>
            <a:off x="2847975" y="2495550"/>
            <a:ext cx="114300" cy="180975"/>
          </a:xfrm>
          <a:prstGeom prst="line">
            <a:avLst/>
          </a:prstGeom>
          <a:noFill/>
          <a:ln w="28575">
            <a:solidFill>
              <a:srgbClr val="1B1D63"/>
            </a:solidFill>
          </a:ln>
        </p:spPr>
        <p:txBody>
          <a:bodyPr/>
          <a:lstStyle/>
          <a:p>
            <a:endParaRPr lang="zh-CN" altLang="en-US"/>
          </a:p>
        </p:txBody>
      </p:sp>
      <p:sp>
        <p:nvSpPr>
          <p:cNvPr id="126" name="person-diagram-48">
            <a:extLst>
              <a:ext uri="{FF2B5EF4-FFF2-40B4-BE49-F238E27FC236}">
                <a16:creationId xmlns:a16="http://schemas.microsoft.com/office/drawing/2014/main" id="{6D773827-EBFF-485D-B86F-26C9E9DA9116}"/>
              </a:ext>
            </a:extLst>
          </p:cNvPr>
          <p:cNvSpPr>
            <a:spLocks noGrp="1"/>
          </p:cNvSpPr>
          <p:nvPr/>
        </p:nvSpPr>
        <p:spPr>
          <a:xfrm>
            <a:off x="2686050" y="2733675"/>
            <a:ext cx="323850" cy="238125"/>
          </a:xfrm>
          <a:prstGeom prst="rect">
            <a:avLst/>
          </a:prstGeom>
          <a:noFill/>
          <a:ln w="0">
            <a:noFill/>
          </a:ln>
        </p:spPr>
        <p:txBody>
          <a:bodyPr lIns="0" tIns="0" rIns="0" bIns="0" anchor="ctr">
            <a:noAutofit/>
          </a:bodyPr>
          <a:lstStyle>
            <a:defPPr algn="ctr">
              <a:defRPr sz="1425" b="1">
                <a:solidFill>
                  <a:srgbClr val="1B1D63"/>
                </a:solidFill>
                <a:latin typeface="Arial"/>
                <a:ea typeface="Arial"/>
                <a:cs typeface="Arial"/>
              </a:defRPr>
            </a:defPPr>
          </a:lstStyle>
          <a:p>
            <a:pPr algn="ctr">
              <a:defRPr sz="1425" b="1">
                <a:solidFill>
                  <a:srgbClr val="1B1D63"/>
                </a:solidFill>
                <a:latin typeface="Arial"/>
                <a:ea typeface="Arial"/>
                <a:cs typeface="Arial"/>
              </a:defRPr>
            </a:pPr>
            <a:r>
              <a:rPr sz="1425" b="1">
                <a:solidFill>
                  <a:srgbClr val="1B1D63"/>
                </a:solidFill>
                <a:latin typeface="Arial"/>
                <a:ea typeface="Arial"/>
                <a:cs typeface="Arial"/>
              </a:rPr>
              <a:t>A</a:t>
            </a:r>
          </a:p>
        </p:txBody>
      </p:sp>
      <p:sp>
        <p:nvSpPr>
          <p:cNvPr id="127" name="person-diagram-49">
            <a:extLst>
              <a:ext uri="{FF2B5EF4-FFF2-40B4-BE49-F238E27FC236}">
                <a16:creationId xmlns:a16="http://schemas.microsoft.com/office/drawing/2014/main" id="{A9332475-8EA7-4DB3-BB9C-474446F472AD}"/>
              </a:ext>
            </a:extLst>
          </p:cNvPr>
          <p:cNvSpPr>
            <a:spLocks noGrp="1"/>
          </p:cNvSpPr>
          <p:nvPr/>
        </p:nvSpPr>
        <p:spPr>
          <a:xfrm>
            <a:off x="2790825" y="3333750"/>
            <a:ext cx="114300" cy="114300"/>
          </a:xfrm>
          <a:prstGeom prst="ellipse">
            <a:avLst/>
          </a:prstGeom>
          <a:solidFill>
            <a:srgbClr val="38AFA2"/>
          </a:solidFill>
          <a:ln w="0">
            <a:noFill/>
          </a:ln>
        </p:spPr>
        <p:txBody>
          <a:bodyPr/>
          <a:lstStyle/>
          <a:p>
            <a:endParaRPr lang="zh-CN" altLang="en-US"/>
          </a:p>
        </p:txBody>
      </p:sp>
      <p:sp>
        <p:nvSpPr>
          <p:cNvPr id="128" name="diagram-line-50">
            <a:extLst>
              <a:ext uri="{FF2B5EF4-FFF2-40B4-BE49-F238E27FC236}">
                <a16:creationId xmlns:a16="http://schemas.microsoft.com/office/drawing/2014/main" id="{77C6C998-BFFB-461C-8089-D65293A81898}"/>
              </a:ext>
            </a:extLst>
          </p:cNvPr>
          <p:cNvSpPr>
            <a:spLocks noGrp="1"/>
          </p:cNvSpPr>
          <p:nvPr/>
        </p:nvSpPr>
        <p:spPr>
          <a:xfrm>
            <a:off x="2847975" y="3467100"/>
            <a:ext cx="953" cy="247650"/>
          </a:xfrm>
          <a:prstGeom prst="line">
            <a:avLst/>
          </a:prstGeom>
          <a:noFill/>
          <a:ln w="28575">
            <a:solidFill>
              <a:srgbClr val="38AFA2"/>
            </a:solidFill>
          </a:ln>
        </p:spPr>
        <p:txBody>
          <a:bodyPr/>
          <a:lstStyle/>
          <a:p>
            <a:endParaRPr lang="zh-CN" altLang="en-US"/>
          </a:p>
        </p:txBody>
      </p:sp>
      <p:sp>
        <p:nvSpPr>
          <p:cNvPr id="129" name="diagram-line-51">
            <a:extLst>
              <a:ext uri="{FF2B5EF4-FFF2-40B4-BE49-F238E27FC236}">
                <a16:creationId xmlns:a16="http://schemas.microsoft.com/office/drawing/2014/main" id="{CECEE1CB-B8DE-4A43-9E4D-5E6C20480677}"/>
              </a:ext>
            </a:extLst>
          </p:cNvPr>
          <p:cNvSpPr>
            <a:spLocks noGrp="1"/>
          </p:cNvSpPr>
          <p:nvPr/>
        </p:nvSpPr>
        <p:spPr>
          <a:xfrm flipH="1">
            <a:off x="2705100" y="3524250"/>
            <a:ext cx="142875" cy="104775"/>
          </a:xfrm>
          <a:prstGeom prst="line">
            <a:avLst/>
          </a:prstGeom>
          <a:noFill/>
          <a:ln w="28575">
            <a:solidFill>
              <a:srgbClr val="38AFA2"/>
            </a:solidFill>
          </a:ln>
        </p:spPr>
        <p:txBody>
          <a:bodyPr/>
          <a:lstStyle/>
          <a:p>
            <a:endParaRPr lang="zh-CN" altLang="en-US"/>
          </a:p>
        </p:txBody>
      </p:sp>
      <p:sp>
        <p:nvSpPr>
          <p:cNvPr id="130" name="diagram-line-52">
            <a:extLst>
              <a:ext uri="{FF2B5EF4-FFF2-40B4-BE49-F238E27FC236}">
                <a16:creationId xmlns:a16="http://schemas.microsoft.com/office/drawing/2014/main" id="{EE8754F2-93B3-4BC2-8900-340613284216}"/>
              </a:ext>
            </a:extLst>
          </p:cNvPr>
          <p:cNvSpPr>
            <a:spLocks noGrp="1"/>
          </p:cNvSpPr>
          <p:nvPr/>
        </p:nvSpPr>
        <p:spPr>
          <a:xfrm>
            <a:off x="2847975" y="3524250"/>
            <a:ext cx="142875" cy="104775"/>
          </a:xfrm>
          <a:prstGeom prst="line">
            <a:avLst/>
          </a:prstGeom>
          <a:noFill/>
          <a:ln w="28575">
            <a:solidFill>
              <a:srgbClr val="38AFA2"/>
            </a:solidFill>
          </a:ln>
        </p:spPr>
        <p:txBody>
          <a:bodyPr/>
          <a:lstStyle/>
          <a:p>
            <a:endParaRPr lang="zh-CN" altLang="en-US"/>
          </a:p>
        </p:txBody>
      </p:sp>
      <p:sp>
        <p:nvSpPr>
          <p:cNvPr id="131" name="diagram-line-53">
            <a:extLst>
              <a:ext uri="{FF2B5EF4-FFF2-40B4-BE49-F238E27FC236}">
                <a16:creationId xmlns:a16="http://schemas.microsoft.com/office/drawing/2014/main" id="{2383B9FA-B8D1-4725-9F76-7069BE79D8EC}"/>
              </a:ext>
            </a:extLst>
          </p:cNvPr>
          <p:cNvSpPr>
            <a:spLocks noGrp="1"/>
          </p:cNvSpPr>
          <p:nvPr/>
        </p:nvSpPr>
        <p:spPr>
          <a:xfrm flipH="1">
            <a:off x="2733675" y="3714750"/>
            <a:ext cx="114300" cy="180975"/>
          </a:xfrm>
          <a:prstGeom prst="line">
            <a:avLst/>
          </a:prstGeom>
          <a:noFill/>
          <a:ln w="28575">
            <a:solidFill>
              <a:srgbClr val="38AFA2"/>
            </a:solidFill>
          </a:ln>
        </p:spPr>
        <p:txBody>
          <a:bodyPr/>
          <a:lstStyle/>
          <a:p>
            <a:endParaRPr lang="zh-CN" altLang="en-US"/>
          </a:p>
        </p:txBody>
      </p:sp>
      <p:sp>
        <p:nvSpPr>
          <p:cNvPr id="132" name="diagram-line-54">
            <a:extLst>
              <a:ext uri="{FF2B5EF4-FFF2-40B4-BE49-F238E27FC236}">
                <a16:creationId xmlns:a16="http://schemas.microsoft.com/office/drawing/2014/main" id="{F5AE9A8F-B7FF-4B4F-B84C-6CA544EB65FE}"/>
              </a:ext>
            </a:extLst>
          </p:cNvPr>
          <p:cNvSpPr>
            <a:spLocks noGrp="1"/>
          </p:cNvSpPr>
          <p:nvPr/>
        </p:nvSpPr>
        <p:spPr>
          <a:xfrm>
            <a:off x="2847975" y="3714750"/>
            <a:ext cx="114300" cy="180975"/>
          </a:xfrm>
          <a:prstGeom prst="line">
            <a:avLst/>
          </a:prstGeom>
          <a:noFill/>
          <a:ln w="28575">
            <a:solidFill>
              <a:srgbClr val="38AFA2"/>
            </a:solidFill>
          </a:ln>
        </p:spPr>
        <p:txBody>
          <a:bodyPr/>
          <a:lstStyle/>
          <a:p>
            <a:endParaRPr lang="zh-CN" altLang="en-US"/>
          </a:p>
        </p:txBody>
      </p:sp>
      <p:sp>
        <p:nvSpPr>
          <p:cNvPr id="133" name="person-diagram-55">
            <a:extLst>
              <a:ext uri="{FF2B5EF4-FFF2-40B4-BE49-F238E27FC236}">
                <a16:creationId xmlns:a16="http://schemas.microsoft.com/office/drawing/2014/main" id="{0033A10A-A1A5-4639-A020-C9CA9FC39EF8}"/>
              </a:ext>
            </a:extLst>
          </p:cNvPr>
          <p:cNvSpPr>
            <a:spLocks noGrp="1"/>
          </p:cNvSpPr>
          <p:nvPr/>
        </p:nvSpPr>
        <p:spPr>
          <a:xfrm>
            <a:off x="2686050" y="3952875"/>
            <a:ext cx="323850" cy="238125"/>
          </a:xfrm>
          <a:prstGeom prst="rect">
            <a:avLst/>
          </a:prstGeom>
          <a:noFill/>
          <a:ln w="0">
            <a:noFill/>
          </a:ln>
        </p:spPr>
        <p:txBody>
          <a:bodyPr lIns="0" tIns="0" rIns="0" bIns="0" anchor="ctr">
            <a:noAutofit/>
          </a:bodyPr>
          <a:lstStyle>
            <a:defPPr algn="ctr">
              <a:defRPr sz="1425" b="1">
                <a:solidFill>
                  <a:srgbClr val="38AFA2"/>
                </a:solidFill>
                <a:latin typeface="Arial"/>
                <a:ea typeface="Arial"/>
                <a:cs typeface="Arial"/>
              </a:defRPr>
            </a:defPPr>
          </a:lstStyle>
          <a:p>
            <a:pPr algn="ctr">
              <a:defRPr sz="1425" b="1">
                <a:solidFill>
                  <a:srgbClr val="38AFA2"/>
                </a:solidFill>
                <a:latin typeface="Arial"/>
                <a:ea typeface="Arial"/>
                <a:cs typeface="Arial"/>
              </a:defRPr>
            </a:pPr>
            <a:r>
              <a:rPr sz="1425" b="1">
                <a:solidFill>
                  <a:srgbClr val="38AFA2"/>
                </a:solidFill>
                <a:latin typeface="Arial"/>
                <a:ea typeface="Arial"/>
                <a:cs typeface="Arial"/>
              </a:rPr>
              <a:t>B</a:t>
            </a:r>
          </a:p>
        </p:txBody>
      </p:sp>
      <p:sp>
        <p:nvSpPr>
          <p:cNvPr id="134" name="person-diagram-56">
            <a:extLst>
              <a:ext uri="{FF2B5EF4-FFF2-40B4-BE49-F238E27FC236}">
                <a16:creationId xmlns:a16="http://schemas.microsoft.com/office/drawing/2014/main" id="{C67AD9F5-C770-426D-BF61-CC708CB44262}"/>
              </a:ext>
            </a:extLst>
          </p:cNvPr>
          <p:cNvSpPr>
            <a:spLocks noGrp="1"/>
          </p:cNvSpPr>
          <p:nvPr/>
        </p:nvSpPr>
        <p:spPr>
          <a:xfrm>
            <a:off x="3543300" y="2114550"/>
            <a:ext cx="114300" cy="114300"/>
          </a:xfrm>
          <a:prstGeom prst="ellipse">
            <a:avLst/>
          </a:prstGeom>
          <a:solidFill>
            <a:srgbClr val="1B1D63"/>
          </a:solidFill>
          <a:ln w="0">
            <a:noFill/>
          </a:ln>
        </p:spPr>
        <p:txBody>
          <a:bodyPr/>
          <a:lstStyle/>
          <a:p>
            <a:endParaRPr lang="zh-CN" altLang="en-US"/>
          </a:p>
        </p:txBody>
      </p:sp>
      <p:sp>
        <p:nvSpPr>
          <p:cNvPr id="135" name="diagram-line-57">
            <a:extLst>
              <a:ext uri="{FF2B5EF4-FFF2-40B4-BE49-F238E27FC236}">
                <a16:creationId xmlns:a16="http://schemas.microsoft.com/office/drawing/2014/main" id="{72E639E8-701E-495B-984D-72B2BDEB2826}"/>
              </a:ext>
            </a:extLst>
          </p:cNvPr>
          <p:cNvSpPr>
            <a:spLocks noGrp="1"/>
          </p:cNvSpPr>
          <p:nvPr/>
        </p:nvSpPr>
        <p:spPr>
          <a:xfrm>
            <a:off x="3600450" y="2247900"/>
            <a:ext cx="953" cy="247650"/>
          </a:xfrm>
          <a:prstGeom prst="line">
            <a:avLst/>
          </a:prstGeom>
          <a:noFill/>
          <a:ln w="28575">
            <a:solidFill>
              <a:srgbClr val="1B1D63"/>
            </a:solidFill>
          </a:ln>
        </p:spPr>
        <p:txBody>
          <a:bodyPr/>
          <a:lstStyle/>
          <a:p>
            <a:endParaRPr lang="zh-CN" altLang="en-US"/>
          </a:p>
        </p:txBody>
      </p:sp>
      <p:sp>
        <p:nvSpPr>
          <p:cNvPr id="136" name="diagram-line-58">
            <a:extLst>
              <a:ext uri="{FF2B5EF4-FFF2-40B4-BE49-F238E27FC236}">
                <a16:creationId xmlns:a16="http://schemas.microsoft.com/office/drawing/2014/main" id="{867C9481-167F-4212-B349-A12F7E28538F}"/>
              </a:ext>
            </a:extLst>
          </p:cNvPr>
          <p:cNvSpPr>
            <a:spLocks noGrp="1"/>
          </p:cNvSpPr>
          <p:nvPr/>
        </p:nvSpPr>
        <p:spPr>
          <a:xfrm flipH="1">
            <a:off x="3457575" y="2305050"/>
            <a:ext cx="142875" cy="104775"/>
          </a:xfrm>
          <a:prstGeom prst="line">
            <a:avLst/>
          </a:prstGeom>
          <a:noFill/>
          <a:ln w="28575">
            <a:solidFill>
              <a:srgbClr val="1B1D63"/>
            </a:solidFill>
          </a:ln>
        </p:spPr>
        <p:txBody>
          <a:bodyPr/>
          <a:lstStyle/>
          <a:p>
            <a:endParaRPr lang="zh-CN" altLang="en-US"/>
          </a:p>
        </p:txBody>
      </p:sp>
      <p:sp>
        <p:nvSpPr>
          <p:cNvPr id="137" name="diagram-line-59">
            <a:extLst>
              <a:ext uri="{FF2B5EF4-FFF2-40B4-BE49-F238E27FC236}">
                <a16:creationId xmlns:a16="http://schemas.microsoft.com/office/drawing/2014/main" id="{3BA0C6C9-7BD8-4D4D-8851-FE92D7F1D49F}"/>
              </a:ext>
            </a:extLst>
          </p:cNvPr>
          <p:cNvSpPr>
            <a:spLocks noGrp="1"/>
          </p:cNvSpPr>
          <p:nvPr/>
        </p:nvSpPr>
        <p:spPr>
          <a:xfrm>
            <a:off x="3600450" y="2305050"/>
            <a:ext cx="142875" cy="104775"/>
          </a:xfrm>
          <a:prstGeom prst="line">
            <a:avLst/>
          </a:prstGeom>
          <a:noFill/>
          <a:ln w="28575">
            <a:solidFill>
              <a:srgbClr val="1B1D63"/>
            </a:solidFill>
          </a:ln>
        </p:spPr>
        <p:txBody>
          <a:bodyPr/>
          <a:lstStyle/>
          <a:p>
            <a:endParaRPr lang="zh-CN" altLang="en-US"/>
          </a:p>
        </p:txBody>
      </p:sp>
      <p:sp>
        <p:nvSpPr>
          <p:cNvPr id="138" name="diagram-line-60">
            <a:extLst>
              <a:ext uri="{FF2B5EF4-FFF2-40B4-BE49-F238E27FC236}">
                <a16:creationId xmlns:a16="http://schemas.microsoft.com/office/drawing/2014/main" id="{B0A70195-B522-45A1-ABBD-1BB87D8EBCFE}"/>
              </a:ext>
            </a:extLst>
          </p:cNvPr>
          <p:cNvSpPr>
            <a:spLocks noGrp="1"/>
          </p:cNvSpPr>
          <p:nvPr/>
        </p:nvSpPr>
        <p:spPr>
          <a:xfrm flipH="1">
            <a:off x="3486150" y="2495550"/>
            <a:ext cx="114300" cy="180975"/>
          </a:xfrm>
          <a:prstGeom prst="line">
            <a:avLst/>
          </a:prstGeom>
          <a:noFill/>
          <a:ln w="28575">
            <a:solidFill>
              <a:srgbClr val="1B1D63"/>
            </a:solidFill>
          </a:ln>
        </p:spPr>
        <p:txBody>
          <a:bodyPr/>
          <a:lstStyle/>
          <a:p>
            <a:endParaRPr lang="zh-CN" altLang="en-US"/>
          </a:p>
        </p:txBody>
      </p:sp>
      <p:sp>
        <p:nvSpPr>
          <p:cNvPr id="139" name="diagram-line-61">
            <a:extLst>
              <a:ext uri="{FF2B5EF4-FFF2-40B4-BE49-F238E27FC236}">
                <a16:creationId xmlns:a16="http://schemas.microsoft.com/office/drawing/2014/main" id="{C0B0874E-1CE3-47F0-A5D1-0B7A29DDC969}"/>
              </a:ext>
            </a:extLst>
          </p:cNvPr>
          <p:cNvSpPr>
            <a:spLocks noGrp="1"/>
          </p:cNvSpPr>
          <p:nvPr/>
        </p:nvSpPr>
        <p:spPr>
          <a:xfrm>
            <a:off x="3600450" y="2495550"/>
            <a:ext cx="114300" cy="180975"/>
          </a:xfrm>
          <a:prstGeom prst="line">
            <a:avLst/>
          </a:prstGeom>
          <a:noFill/>
          <a:ln w="28575">
            <a:solidFill>
              <a:srgbClr val="1B1D63"/>
            </a:solidFill>
          </a:ln>
        </p:spPr>
        <p:txBody>
          <a:bodyPr/>
          <a:lstStyle/>
          <a:p>
            <a:endParaRPr lang="zh-CN" altLang="en-US"/>
          </a:p>
        </p:txBody>
      </p:sp>
      <p:sp>
        <p:nvSpPr>
          <p:cNvPr id="140" name="person-diagram-62">
            <a:extLst>
              <a:ext uri="{FF2B5EF4-FFF2-40B4-BE49-F238E27FC236}">
                <a16:creationId xmlns:a16="http://schemas.microsoft.com/office/drawing/2014/main" id="{DC4BF7EA-C079-4A3A-989D-5343CE5795C4}"/>
              </a:ext>
            </a:extLst>
          </p:cNvPr>
          <p:cNvSpPr>
            <a:spLocks noGrp="1"/>
          </p:cNvSpPr>
          <p:nvPr/>
        </p:nvSpPr>
        <p:spPr>
          <a:xfrm>
            <a:off x="3438525" y="2733675"/>
            <a:ext cx="323850" cy="238125"/>
          </a:xfrm>
          <a:prstGeom prst="rect">
            <a:avLst/>
          </a:prstGeom>
          <a:noFill/>
          <a:ln w="0">
            <a:noFill/>
          </a:ln>
        </p:spPr>
        <p:txBody>
          <a:bodyPr lIns="0" tIns="0" rIns="0" bIns="0" anchor="ctr">
            <a:noAutofit/>
          </a:bodyPr>
          <a:lstStyle>
            <a:defPPr algn="ctr">
              <a:defRPr sz="1425" b="1">
                <a:solidFill>
                  <a:srgbClr val="1B1D63"/>
                </a:solidFill>
                <a:latin typeface="Arial"/>
                <a:ea typeface="Arial"/>
                <a:cs typeface="Arial"/>
              </a:defRPr>
            </a:defPPr>
          </a:lstStyle>
          <a:p>
            <a:pPr algn="ctr">
              <a:defRPr sz="1425" b="1">
                <a:solidFill>
                  <a:srgbClr val="1B1D63"/>
                </a:solidFill>
                <a:latin typeface="Arial"/>
                <a:ea typeface="Arial"/>
                <a:cs typeface="Arial"/>
              </a:defRPr>
            </a:pPr>
            <a:r>
              <a:rPr sz="1425" b="1">
                <a:solidFill>
                  <a:srgbClr val="1B1D63"/>
                </a:solidFill>
                <a:latin typeface="Arial"/>
                <a:ea typeface="Arial"/>
                <a:cs typeface="Arial"/>
              </a:rPr>
              <a:t>A</a:t>
            </a:r>
          </a:p>
        </p:txBody>
      </p:sp>
      <p:sp>
        <p:nvSpPr>
          <p:cNvPr id="141" name="person-diagram-63">
            <a:extLst>
              <a:ext uri="{FF2B5EF4-FFF2-40B4-BE49-F238E27FC236}">
                <a16:creationId xmlns:a16="http://schemas.microsoft.com/office/drawing/2014/main" id="{6E583878-511D-4C89-83A5-DBC4043360D8}"/>
              </a:ext>
            </a:extLst>
          </p:cNvPr>
          <p:cNvSpPr>
            <a:spLocks noGrp="1"/>
          </p:cNvSpPr>
          <p:nvPr/>
        </p:nvSpPr>
        <p:spPr>
          <a:xfrm>
            <a:off x="3543300" y="3333750"/>
            <a:ext cx="114300" cy="114300"/>
          </a:xfrm>
          <a:prstGeom prst="ellipse">
            <a:avLst/>
          </a:prstGeom>
          <a:solidFill>
            <a:srgbClr val="38AFA2"/>
          </a:solidFill>
          <a:ln w="0">
            <a:noFill/>
          </a:ln>
        </p:spPr>
        <p:txBody>
          <a:bodyPr/>
          <a:lstStyle/>
          <a:p>
            <a:endParaRPr lang="zh-CN" altLang="en-US"/>
          </a:p>
        </p:txBody>
      </p:sp>
      <p:sp>
        <p:nvSpPr>
          <p:cNvPr id="142" name="diagram-line-64">
            <a:extLst>
              <a:ext uri="{FF2B5EF4-FFF2-40B4-BE49-F238E27FC236}">
                <a16:creationId xmlns:a16="http://schemas.microsoft.com/office/drawing/2014/main" id="{D7BF1AAC-9F90-4791-955E-976F7906F081}"/>
              </a:ext>
            </a:extLst>
          </p:cNvPr>
          <p:cNvSpPr>
            <a:spLocks noGrp="1"/>
          </p:cNvSpPr>
          <p:nvPr/>
        </p:nvSpPr>
        <p:spPr>
          <a:xfrm>
            <a:off x="3600450" y="3467100"/>
            <a:ext cx="953" cy="247650"/>
          </a:xfrm>
          <a:prstGeom prst="line">
            <a:avLst/>
          </a:prstGeom>
          <a:noFill/>
          <a:ln w="28575">
            <a:solidFill>
              <a:srgbClr val="38AFA2"/>
            </a:solidFill>
          </a:ln>
        </p:spPr>
        <p:txBody>
          <a:bodyPr/>
          <a:lstStyle/>
          <a:p>
            <a:endParaRPr lang="zh-CN" altLang="en-US"/>
          </a:p>
        </p:txBody>
      </p:sp>
      <p:sp>
        <p:nvSpPr>
          <p:cNvPr id="143" name="diagram-line-65">
            <a:extLst>
              <a:ext uri="{FF2B5EF4-FFF2-40B4-BE49-F238E27FC236}">
                <a16:creationId xmlns:a16="http://schemas.microsoft.com/office/drawing/2014/main" id="{3976838A-CF7F-4E95-AC2B-8F354C35E896}"/>
              </a:ext>
            </a:extLst>
          </p:cNvPr>
          <p:cNvSpPr>
            <a:spLocks noGrp="1"/>
          </p:cNvSpPr>
          <p:nvPr/>
        </p:nvSpPr>
        <p:spPr>
          <a:xfrm flipH="1">
            <a:off x="3457575" y="3524250"/>
            <a:ext cx="142875" cy="104775"/>
          </a:xfrm>
          <a:prstGeom prst="line">
            <a:avLst/>
          </a:prstGeom>
          <a:noFill/>
          <a:ln w="28575">
            <a:solidFill>
              <a:srgbClr val="38AFA2"/>
            </a:solidFill>
          </a:ln>
        </p:spPr>
        <p:txBody>
          <a:bodyPr/>
          <a:lstStyle/>
          <a:p>
            <a:endParaRPr lang="zh-CN" altLang="en-US"/>
          </a:p>
        </p:txBody>
      </p:sp>
      <p:sp>
        <p:nvSpPr>
          <p:cNvPr id="144" name="diagram-line-66">
            <a:extLst>
              <a:ext uri="{FF2B5EF4-FFF2-40B4-BE49-F238E27FC236}">
                <a16:creationId xmlns:a16="http://schemas.microsoft.com/office/drawing/2014/main" id="{8A393690-E0BC-451C-A403-5BDA1D2886E9}"/>
              </a:ext>
            </a:extLst>
          </p:cNvPr>
          <p:cNvSpPr>
            <a:spLocks noGrp="1"/>
          </p:cNvSpPr>
          <p:nvPr/>
        </p:nvSpPr>
        <p:spPr>
          <a:xfrm>
            <a:off x="3600450" y="3524250"/>
            <a:ext cx="142875" cy="104775"/>
          </a:xfrm>
          <a:prstGeom prst="line">
            <a:avLst/>
          </a:prstGeom>
          <a:noFill/>
          <a:ln w="28575">
            <a:solidFill>
              <a:srgbClr val="38AFA2"/>
            </a:solidFill>
          </a:ln>
        </p:spPr>
        <p:txBody>
          <a:bodyPr/>
          <a:lstStyle/>
          <a:p>
            <a:endParaRPr lang="zh-CN" altLang="en-US"/>
          </a:p>
        </p:txBody>
      </p:sp>
      <p:sp>
        <p:nvSpPr>
          <p:cNvPr id="145" name="diagram-line-67">
            <a:extLst>
              <a:ext uri="{FF2B5EF4-FFF2-40B4-BE49-F238E27FC236}">
                <a16:creationId xmlns:a16="http://schemas.microsoft.com/office/drawing/2014/main" id="{1F0D6426-1FEA-4081-9CC3-7F670A177705}"/>
              </a:ext>
            </a:extLst>
          </p:cNvPr>
          <p:cNvSpPr>
            <a:spLocks noGrp="1"/>
          </p:cNvSpPr>
          <p:nvPr/>
        </p:nvSpPr>
        <p:spPr>
          <a:xfrm flipH="1">
            <a:off x="3486150" y="3714750"/>
            <a:ext cx="114300" cy="180975"/>
          </a:xfrm>
          <a:prstGeom prst="line">
            <a:avLst/>
          </a:prstGeom>
          <a:noFill/>
          <a:ln w="28575">
            <a:solidFill>
              <a:srgbClr val="38AFA2"/>
            </a:solidFill>
          </a:ln>
        </p:spPr>
        <p:txBody>
          <a:bodyPr/>
          <a:lstStyle/>
          <a:p>
            <a:endParaRPr lang="zh-CN" altLang="en-US"/>
          </a:p>
        </p:txBody>
      </p:sp>
      <p:sp>
        <p:nvSpPr>
          <p:cNvPr id="146" name="diagram-line-68">
            <a:extLst>
              <a:ext uri="{FF2B5EF4-FFF2-40B4-BE49-F238E27FC236}">
                <a16:creationId xmlns:a16="http://schemas.microsoft.com/office/drawing/2014/main" id="{03FDC77F-E640-44E9-BA4F-ABF9130B2163}"/>
              </a:ext>
            </a:extLst>
          </p:cNvPr>
          <p:cNvSpPr>
            <a:spLocks noGrp="1"/>
          </p:cNvSpPr>
          <p:nvPr/>
        </p:nvSpPr>
        <p:spPr>
          <a:xfrm>
            <a:off x="3600450" y="3714750"/>
            <a:ext cx="114300" cy="180975"/>
          </a:xfrm>
          <a:prstGeom prst="line">
            <a:avLst/>
          </a:prstGeom>
          <a:noFill/>
          <a:ln w="28575">
            <a:solidFill>
              <a:srgbClr val="38AFA2"/>
            </a:solidFill>
          </a:ln>
        </p:spPr>
        <p:txBody>
          <a:bodyPr/>
          <a:lstStyle/>
          <a:p>
            <a:endParaRPr lang="zh-CN" altLang="en-US"/>
          </a:p>
        </p:txBody>
      </p:sp>
      <p:sp>
        <p:nvSpPr>
          <p:cNvPr id="147" name="person-diagram-69">
            <a:extLst>
              <a:ext uri="{FF2B5EF4-FFF2-40B4-BE49-F238E27FC236}">
                <a16:creationId xmlns:a16="http://schemas.microsoft.com/office/drawing/2014/main" id="{1B765AAA-8A41-4F32-A3B5-E0833A4F4A31}"/>
              </a:ext>
            </a:extLst>
          </p:cNvPr>
          <p:cNvSpPr>
            <a:spLocks noGrp="1"/>
          </p:cNvSpPr>
          <p:nvPr/>
        </p:nvSpPr>
        <p:spPr>
          <a:xfrm>
            <a:off x="3438525" y="3952875"/>
            <a:ext cx="323850" cy="238125"/>
          </a:xfrm>
          <a:prstGeom prst="rect">
            <a:avLst/>
          </a:prstGeom>
          <a:noFill/>
          <a:ln w="0">
            <a:noFill/>
          </a:ln>
        </p:spPr>
        <p:txBody>
          <a:bodyPr lIns="0" tIns="0" rIns="0" bIns="0" anchor="ctr">
            <a:noAutofit/>
          </a:bodyPr>
          <a:lstStyle>
            <a:defPPr algn="ctr">
              <a:defRPr sz="1425" b="1">
                <a:solidFill>
                  <a:srgbClr val="38AFA2"/>
                </a:solidFill>
                <a:latin typeface="Arial"/>
                <a:ea typeface="Arial"/>
                <a:cs typeface="Arial"/>
              </a:defRPr>
            </a:defPPr>
          </a:lstStyle>
          <a:p>
            <a:pPr algn="ctr">
              <a:defRPr sz="1425" b="1">
                <a:solidFill>
                  <a:srgbClr val="38AFA2"/>
                </a:solidFill>
                <a:latin typeface="Arial"/>
                <a:ea typeface="Arial"/>
                <a:cs typeface="Arial"/>
              </a:defRPr>
            </a:pPr>
            <a:r>
              <a:rPr sz="1425" b="1">
                <a:solidFill>
                  <a:srgbClr val="38AFA2"/>
                </a:solidFill>
                <a:latin typeface="Arial"/>
                <a:ea typeface="Arial"/>
                <a:cs typeface="Arial"/>
              </a:rPr>
              <a:t>B</a:t>
            </a:r>
          </a:p>
        </p:txBody>
      </p:sp>
      <p:sp>
        <p:nvSpPr>
          <p:cNvPr id="148" name="person-diagram-70">
            <a:extLst>
              <a:ext uri="{FF2B5EF4-FFF2-40B4-BE49-F238E27FC236}">
                <a16:creationId xmlns:a16="http://schemas.microsoft.com/office/drawing/2014/main" id="{B9E24BC7-D543-42B0-87AD-0B213773202B}"/>
              </a:ext>
            </a:extLst>
          </p:cNvPr>
          <p:cNvSpPr>
            <a:spLocks noGrp="1"/>
          </p:cNvSpPr>
          <p:nvPr/>
        </p:nvSpPr>
        <p:spPr>
          <a:xfrm>
            <a:off x="4295775" y="2114550"/>
            <a:ext cx="114300" cy="114300"/>
          </a:xfrm>
          <a:prstGeom prst="ellipse">
            <a:avLst/>
          </a:prstGeom>
          <a:solidFill>
            <a:srgbClr val="1B1D63"/>
          </a:solidFill>
          <a:ln w="0">
            <a:noFill/>
          </a:ln>
        </p:spPr>
        <p:txBody>
          <a:bodyPr/>
          <a:lstStyle/>
          <a:p>
            <a:endParaRPr lang="zh-CN" altLang="en-US"/>
          </a:p>
        </p:txBody>
      </p:sp>
      <p:sp>
        <p:nvSpPr>
          <p:cNvPr id="149" name="diagram-line-71">
            <a:extLst>
              <a:ext uri="{FF2B5EF4-FFF2-40B4-BE49-F238E27FC236}">
                <a16:creationId xmlns:a16="http://schemas.microsoft.com/office/drawing/2014/main" id="{022E4197-87B8-41C9-AAB8-3EBCAA6B5C79}"/>
              </a:ext>
            </a:extLst>
          </p:cNvPr>
          <p:cNvSpPr>
            <a:spLocks noGrp="1"/>
          </p:cNvSpPr>
          <p:nvPr/>
        </p:nvSpPr>
        <p:spPr>
          <a:xfrm>
            <a:off x="4352925" y="2247900"/>
            <a:ext cx="953" cy="247650"/>
          </a:xfrm>
          <a:prstGeom prst="line">
            <a:avLst/>
          </a:prstGeom>
          <a:noFill/>
          <a:ln w="28575">
            <a:solidFill>
              <a:srgbClr val="1B1D63"/>
            </a:solidFill>
          </a:ln>
        </p:spPr>
        <p:txBody>
          <a:bodyPr/>
          <a:lstStyle/>
          <a:p>
            <a:endParaRPr lang="zh-CN" altLang="en-US"/>
          </a:p>
        </p:txBody>
      </p:sp>
      <p:sp>
        <p:nvSpPr>
          <p:cNvPr id="150" name="diagram-line-72">
            <a:extLst>
              <a:ext uri="{FF2B5EF4-FFF2-40B4-BE49-F238E27FC236}">
                <a16:creationId xmlns:a16="http://schemas.microsoft.com/office/drawing/2014/main" id="{76F7A71E-47F7-4978-830A-678EB7AD19F9}"/>
              </a:ext>
            </a:extLst>
          </p:cNvPr>
          <p:cNvSpPr>
            <a:spLocks noGrp="1"/>
          </p:cNvSpPr>
          <p:nvPr/>
        </p:nvSpPr>
        <p:spPr>
          <a:xfrm flipH="1">
            <a:off x="4210050" y="2305050"/>
            <a:ext cx="142875" cy="104775"/>
          </a:xfrm>
          <a:prstGeom prst="line">
            <a:avLst/>
          </a:prstGeom>
          <a:noFill/>
          <a:ln w="28575">
            <a:solidFill>
              <a:srgbClr val="1B1D63"/>
            </a:solidFill>
          </a:ln>
        </p:spPr>
        <p:txBody>
          <a:bodyPr/>
          <a:lstStyle/>
          <a:p>
            <a:endParaRPr lang="zh-CN" altLang="en-US"/>
          </a:p>
        </p:txBody>
      </p:sp>
      <p:sp>
        <p:nvSpPr>
          <p:cNvPr id="151" name="diagram-line-73">
            <a:extLst>
              <a:ext uri="{FF2B5EF4-FFF2-40B4-BE49-F238E27FC236}">
                <a16:creationId xmlns:a16="http://schemas.microsoft.com/office/drawing/2014/main" id="{12ED212F-2725-4ACA-81A4-691072FA12CF}"/>
              </a:ext>
            </a:extLst>
          </p:cNvPr>
          <p:cNvSpPr>
            <a:spLocks noGrp="1"/>
          </p:cNvSpPr>
          <p:nvPr/>
        </p:nvSpPr>
        <p:spPr>
          <a:xfrm>
            <a:off x="4352925" y="2305050"/>
            <a:ext cx="142875" cy="104775"/>
          </a:xfrm>
          <a:prstGeom prst="line">
            <a:avLst/>
          </a:prstGeom>
          <a:noFill/>
          <a:ln w="28575">
            <a:solidFill>
              <a:srgbClr val="1B1D63"/>
            </a:solidFill>
          </a:ln>
        </p:spPr>
        <p:txBody>
          <a:bodyPr/>
          <a:lstStyle/>
          <a:p>
            <a:endParaRPr lang="zh-CN" altLang="en-US"/>
          </a:p>
        </p:txBody>
      </p:sp>
      <p:sp>
        <p:nvSpPr>
          <p:cNvPr id="152" name="diagram-line-74">
            <a:extLst>
              <a:ext uri="{FF2B5EF4-FFF2-40B4-BE49-F238E27FC236}">
                <a16:creationId xmlns:a16="http://schemas.microsoft.com/office/drawing/2014/main" id="{E1E20770-950E-4B2B-8149-FAB5BA8227F6}"/>
              </a:ext>
            </a:extLst>
          </p:cNvPr>
          <p:cNvSpPr>
            <a:spLocks noGrp="1"/>
          </p:cNvSpPr>
          <p:nvPr/>
        </p:nvSpPr>
        <p:spPr>
          <a:xfrm flipH="1">
            <a:off x="4238625" y="2495550"/>
            <a:ext cx="114300" cy="180975"/>
          </a:xfrm>
          <a:prstGeom prst="line">
            <a:avLst/>
          </a:prstGeom>
          <a:noFill/>
          <a:ln w="28575">
            <a:solidFill>
              <a:srgbClr val="1B1D63"/>
            </a:solidFill>
          </a:ln>
        </p:spPr>
        <p:txBody>
          <a:bodyPr/>
          <a:lstStyle/>
          <a:p>
            <a:endParaRPr lang="zh-CN" altLang="en-US"/>
          </a:p>
        </p:txBody>
      </p:sp>
      <p:sp>
        <p:nvSpPr>
          <p:cNvPr id="153" name="diagram-line-75">
            <a:extLst>
              <a:ext uri="{FF2B5EF4-FFF2-40B4-BE49-F238E27FC236}">
                <a16:creationId xmlns:a16="http://schemas.microsoft.com/office/drawing/2014/main" id="{E2ED395D-D3B7-40F5-9699-781FEF68450C}"/>
              </a:ext>
            </a:extLst>
          </p:cNvPr>
          <p:cNvSpPr>
            <a:spLocks noGrp="1"/>
          </p:cNvSpPr>
          <p:nvPr/>
        </p:nvSpPr>
        <p:spPr>
          <a:xfrm>
            <a:off x="4352925" y="2495550"/>
            <a:ext cx="114300" cy="180975"/>
          </a:xfrm>
          <a:prstGeom prst="line">
            <a:avLst/>
          </a:prstGeom>
          <a:noFill/>
          <a:ln w="28575">
            <a:solidFill>
              <a:srgbClr val="1B1D63"/>
            </a:solidFill>
          </a:ln>
        </p:spPr>
        <p:txBody>
          <a:bodyPr/>
          <a:lstStyle/>
          <a:p>
            <a:endParaRPr lang="zh-CN" altLang="en-US"/>
          </a:p>
        </p:txBody>
      </p:sp>
      <p:sp>
        <p:nvSpPr>
          <p:cNvPr id="154" name="person-diagram-76">
            <a:extLst>
              <a:ext uri="{FF2B5EF4-FFF2-40B4-BE49-F238E27FC236}">
                <a16:creationId xmlns:a16="http://schemas.microsoft.com/office/drawing/2014/main" id="{2458D57C-666F-4A7E-8424-293AE71168B2}"/>
              </a:ext>
            </a:extLst>
          </p:cNvPr>
          <p:cNvSpPr>
            <a:spLocks noGrp="1"/>
          </p:cNvSpPr>
          <p:nvPr/>
        </p:nvSpPr>
        <p:spPr>
          <a:xfrm>
            <a:off x="4191000" y="2733675"/>
            <a:ext cx="323850" cy="238125"/>
          </a:xfrm>
          <a:prstGeom prst="rect">
            <a:avLst/>
          </a:prstGeom>
          <a:noFill/>
          <a:ln w="0">
            <a:noFill/>
          </a:ln>
        </p:spPr>
        <p:txBody>
          <a:bodyPr lIns="0" tIns="0" rIns="0" bIns="0" anchor="ctr">
            <a:noAutofit/>
          </a:bodyPr>
          <a:lstStyle>
            <a:defPPr algn="ctr">
              <a:defRPr sz="1425" b="1">
                <a:solidFill>
                  <a:srgbClr val="1B1D63"/>
                </a:solidFill>
                <a:latin typeface="Arial"/>
                <a:ea typeface="Arial"/>
                <a:cs typeface="Arial"/>
              </a:defRPr>
            </a:defPPr>
          </a:lstStyle>
          <a:p>
            <a:pPr algn="ctr">
              <a:defRPr sz="1425" b="1">
                <a:solidFill>
                  <a:srgbClr val="1B1D63"/>
                </a:solidFill>
                <a:latin typeface="Arial"/>
                <a:ea typeface="Arial"/>
                <a:cs typeface="Arial"/>
              </a:defRPr>
            </a:pPr>
            <a:r>
              <a:rPr sz="1425" b="1">
                <a:solidFill>
                  <a:srgbClr val="1B1D63"/>
                </a:solidFill>
                <a:latin typeface="Arial"/>
                <a:ea typeface="Arial"/>
                <a:cs typeface="Arial"/>
              </a:rPr>
              <a:t>A</a:t>
            </a:r>
          </a:p>
        </p:txBody>
      </p:sp>
      <p:sp>
        <p:nvSpPr>
          <p:cNvPr id="155" name="person-diagram-77">
            <a:extLst>
              <a:ext uri="{FF2B5EF4-FFF2-40B4-BE49-F238E27FC236}">
                <a16:creationId xmlns:a16="http://schemas.microsoft.com/office/drawing/2014/main" id="{D534C90F-F490-4974-B1B5-81F8EB59C1EB}"/>
              </a:ext>
            </a:extLst>
          </p:cNvPr>
          <p:cNvSpPr>
            <a:spLocks noGrp="1"/>
          </p:cNvSpPr>
          <p:nvPr/>
        </p:nvSpPr>
        <p:spPr>
          <a:xfrm>
            <a:off x="4295775" y="3333750"/>
            <a:ext cx="114300" cy="114300"/>
          </a:xfrm>
          <a:prstGeom prst="ellipse">
            <a:avLst/>
          </a:prstGeom>
          <a:solidFill>
            <a:srgbClr val="38AFA2"/>
          </a:solidFill>
          <a:ln w="0">
            <a:noFill/>
          </a:ln>
        </p:spPr>
        <p:txBody>
          <a:bodyPr/>
          <a:lstStyle/>
          <a:p>
            <a:endParaRPr lang="zh-CN" altLang="en-US"/>
          </a:p>
        </p:txBody>
      </p:sp>
      <p:sp>
        <p:nvSpPr>
          <p:cNvPr id="156" name="diagram-line-78">
            <a:extLst>
              <a:ext uri="{FF2B5EF4-FFF2-40B4-BE49-F238E27FC236}">
                <a16:creationId xmlns:a16="http://schemas.microsoft.com/office/drawing/2014/main" id="{BB59BFD4-4A3C-4F01-82E2-E480D40C679B}"/>
              </a:ext>
            </a:extLst>
          </p:cNvPr>
          <p:cNvSpPr>
            <a:spLocks noGrp="1"/>
          </p:cNvSpPr>
          <p:nvPr/>
        </p:nvSpPr>
        <p:spPr>
          <a:xfrm>
            <a:off x="4352925" y="3467100"/>
            <a:ext cx="953" cy="247650"/>
          </a:xfrm>
          <a:prstGeom prst="line">
            <a:avLst/>
          </a:prstGeom>
          <a:noFill/>
          <a:ln w="28575">
            <a:solidFill>
              <a:srgbClr val="38AFA2"/>
            </a:solidFill>
          </a:ln>
        </p:spPr>
        <p:txBody>
          <a:bodyPr/>
          <a:lstStyle/>
          <a:p>
            <a:endParaRPr lang="zh-CN" altLang="en-US"/>
          </a:p>
        </p:txBody>
      </p:sp>
      <p:sp>
        <p:nvSpPr>
          <p:cNvPr id="157" name="diagram-line-79">
            <a:extLst>
              <a:ext uri="{FF2B5EF4-FFF2-40B4-BE49-F238E27FC236}">
                <a16:creationId xmlns:a16="http://schemas.microsoft.com/office/drawing/2014/main" id="{949FE41B-C39F-4E55-9CE3-DFE5B7D829C2}"/>
              </a:ext>
            </a:extLst>
          </p:cNvPr>
          <p:cNvSpPr>
            <a:spLocks noGrp="1"/>
          </p:cNvSpPr>
          <p:nvPr/>
        </p:nvSpPr>
        <p:spPr>
          <a:xfrm flipH="1">
            <a:off x="4210050" y="3524250"/>
            <a:ext cx="142875" cy="104775"/>
          </a:xfrm>
          <a:prstGeom prst="line">
            <a:avLst/>
          </a:prstGeom>
          <a:noFill/>
          <a:ln w="28575">
            <a:solidFill>
              <a:srgbClr val="38AFA2"/>
            </a:solidFill>
          </a:ln>
        </p:spPr>
        <p:txBody>
          <a:bodyPr/>
          <a:lstStyle/>
          <a:p>
            <a:endParaRPr lang="zh-CN" altLang="en-US"/>
          </a:p>
        </p:txBody>
      </p:sp>
      <p:sp>
        <p:nvSpPr>
          <p:cNvPr id="158" name="diagram-line-80">
            <a:extLst>
              <a:ext uri="{FF2B5EF4-FFF2-40B4-BE49-F238E27FC236}">
                <a16:creationId xmlns:a16="http://schemas.microsoft.com/office/drawing/2014/main" id="{D5134EFE-38C4-48E2-9AF1-DAFE6DAFEFFF}"/>
              </a:ext>
            </a:extLst>
          </p:cNvPr>
          <p:cNvSpPr>
            <a:spLocks noGrp="1"/>
          </p:cNvSpPr>
          <p:nvPr/>
        </p:nvSpPr>
        <p:spPr>
          <a:xfrm>
            <a:off x="4352925" y="3524250"/>
            <a:ext cx="142875" cy="104775"/>
          </a:xfrm>
          <a:prstGeom prst="line">
            <a:avLst/>
          </a:prstGeom>
          <a:noFill/>
          <a:ln w="28575">
            <a:solidFill>
              <a:srgbClr val="38AFA2"/>
            </a:solidFill>
          </a:ln>
        </p:spPr>
        <p:txBody>
          <a:bodyPr/>
          <a:lstStyle/>
          <a:p>
            <a:endParaRPr lang="zh-CN" altLang="en-US"/>
          </a:p>
        </p:txBody>
      </p:sp>
      <p:sp>
        <p:nvSpPr>
          <p:cNvPr id="159" name="diagram-line-81">
            <a:extLst>
              <a:ext uri="{FF2B5EF4-FFF2-40B4-BE49-F238E27FC236}">
                <a16:creationId xmlns:a16="http://schemas.microsoft.com/office/drawing/2014/main" id="{E199C2F7-EBF4-47EF-83B3-C7759E6557BA}"/>
              </a:ext>
            </a:extLst>
          </p:cNvPr>
          <p:cNvSpPr>
            <a:spLocks noGrp="1"/>
          </p:cNvSpPr>
          <p:nvPr/>
        </p:nvSpPr>
        <p:spPr>
          <a:xfrm flipH="1">
            <a:off x="4238625" y="3714750"/>
            <a:ext cx="114300" cy="180975"/>
          </a:xfrm>
          <a:prstGeom prst="line">
            <a:avLst/>
          </a:prstGeom>
          <a:noFill/>
          <a:ln w="28575">
            <a:solidFill>
              <a:srgbClr val="38AFA2"/>
            </a:solidFill>
          </a:ln>
        </p:spPr>
        <p:txBody>
          <a:bodyPr/>
          <a:lstStyle/>
          <a:p>
            <a:endParaRPr lang="zh-CN" altLang="en-US"/>
          </a:p>
        </p:txBody>
      </p:sp>
      <p:sp>
        <p:nvSpPr>
          <p:cNvPr id="160" name="diagram-line-82">
            <a:extLst>
              <a:ext uri="{FF2B5EF4-FFF2-40B4-BE49-F238E27FC236}">
                <a16:creationId xmlns:a16="http://schemas.microsoft.com/office/drawing/2014/main" id="{14C3D1A9-75D2-4821-8ABB-9288A5D4F587}"/>
              </a:ext>
            </a:extLst>
          </p:cNvPr>
          <p:cNvSpPr>
            <a:spLocks noGrp="1"/>
          </p:cNvSpPr>
          <p:nvPr/>
        </p:nvSpPr>
        <p:spPr>
          <a:xfrm>
            <a:off x="4352925" y="3714750"/>
            <a:ext cx="114300" cy="180975"/>
          </a:xfrm>
          <a:prstGeom prst="line">
            <a:avLst/>
          </a:prstGeom>
          <a:noFill/>
          <a:ln w="28575">
            <a:solidFill>
              <a:srgbClr val="38AFA2"/>
            </a:solidFill>
          </a:ln>
        </p:spPr>
        <p:txBody>
          <a:bodyPr/>
          <a:lstStyle/>
          <a:p>
            <a:endParaRPr lang="zh-CN" altLang="en-US"/>
          </a:p>
        </p:txBody>
      </p:sp>
      <p:sp>
        <p:nvSpPr>
          <p:cNvPr id="161" name="person-diagram-83">
            <a:extLst>
              <a:ext uri="{FF2B5EF4-FFF2-40B4-BE49-F238E27FC236}">
                <a16:creationId xmlns:a16="http://schemas.microsoft.com/office/drawing/2014/main" id="{1B859757-1C9F-423F-8498-1473FA57199E}"/>
              </a:ext>
            </a:extLst>
          </p:cNvPr>
          <p:cNvSpPr>
            <a:spLocks noGrp="1"/>
          </p:cNvSpPr>
          <p:nvPr/>
        </p:nvSpPr>
        <p:spPr>
          <a:xfrm>
            <a:off x="4191000" y="3952875"/>
            <a:ext cx="323850" cy="238125"/>
          </a:xfrm>
          <a:prstGeom prst="rect">
            <a:avLst/>
          </a:prstGeom>
          <a:noFill/>
          <a:ln w="0">
            <a:noFill/>
          </a:ln>
        </p:spPr>
        <p:txBody>
          <a:bodyPr lIns="0" tIns="0" rIns="0" bIns="0" anchor="ctr">
            <a:noAutofit/>
          </a:bodyPr>
          <a:lstStyle>
            <a:defPPr algn="ctr">
              <a:defRPr sz="1425" b="1">
                <a:solidFill>
                  <a:srgbClr val="38AFA2"/>
                </a:solidFill>
                <a:latin typeface="Arial"/>
                <a:ea typeface="Arial"/>
                <a:cs typeface="Arial"/>
              </a:defRPr>
            </a:defPPr>
          </a:lstStyle>
          <a:p>
            <a:pPr algn="ctr">
              <a:defRPr sz="1425" b="1">
                <a:solidFill>
                  <a:srgbClr val="38AFA2"/>
                </a:solidFill>
                <a:latin typeface="Arial"/>
                <a:ea typeface="Arial"/>
                <a:cs typeface="Arial"/>
              </a:defRPr>
            </a:pPr>
            <a:r>
              <a:rPr sz="1425" b="1">
                <a:solidFill>
                  <a:srgbClr val="38AFA2"/>
                </a:solidFill>
                <a:latin typeface="Arial"/>
                <a:ea typeface="Arial"/>
                <a:cs typeface="Arial"/>
              </a:rPr>
              <a:t>B</a:t>
            </a:r>
          </a:p>
        </p:txBody>
      </p:sp>
      <p:sp>
        <p:nvSpPr>
          <p:cNvPr id="162" name="person-diagram-84">
            <a:extLst>
              <a:ext uri="{FF2B5EF4-FFF2-40B4-BE49-F238E27FC236}">
                <a16:creationId xmlns:a16="http://schemas.microsoft.com/office/drawing/2014/main" id="{98273970-BFB8-4ABF-B81C-214C283A6976}"/>
              </a:ext>
            </a:extLst>
          </p:cNvPr>
          <p:cNvSpPr>
            <a:spLocks noGrp="1"/>
          </p:cNvSpPr>
          <p:nvPr/>
        </p:nvSpPr>
        <p:spPr>
          <a:xfrm>
            <a:off x="5048250" y="2114550"/>
            <a:ext cx="114300" cy="114300"/>
          </a:xfrm>
          <a:prstGeom prst="ellipse">
            <a:avLst/>
          </a:prstGeom>
          <a:solidFill>
            <a:srgbClr val="1B1D63"/>
          </a:solidFill>
          <a:ln w="0">
            <a:noFill/>
          </a:ln>
        </p:spPr>
        <p:txBody>
          <a:bodyPr/>
          <a:lstStyle/>
          <a:p>
            <a:endParaRPr lang="zh-CN" altLang="en-US"/>
          </a:p>
        </p:txBody>
      </p:sp>
      <p:sp>
        <p:nvSpPr>
          <p:cNvPr id="163" name="diagram-line-85">
            <a:extLst>
              <a:ext uri="{FF2B5EF4-FFF2-40B4-BE49-F238E27FC236}">
                <a16:creationId xmlns:a16="http://schemas.microsoft.com/office/drawing/2014/main" id="{260A25B0-B079-4902-91DB-C1F7D1396E30}"/>
              </a:ext>
            </a:extLst>
          </p:cNvPr>
          <p:cNvSpPr>
            <a:spLocks noGrp="1"/>
          </p:cNvSpPr>
          <p:nvPr/>
        </p:nvSpPr>
        <p:spPr>
          <a:xfrm>
            <a:off x="5105400" y="2247900"/>
            <a:ext cx="953" cy="247650"/>
          </a:xfrm>
          <a:prstGeom prst="line">
            <a:avLst/>
          </a:prstGeom>
          <a:noFill/>
          <a:ln w="28575">
            <a:solidFill>
              <a:srgbClr val="1B1D63"/>
            </a:solidFill>
          </a:ln>
        </p:spPr>
        <p:txBody>
          <a:bodyPr/>
          <a:lstStyle/>
          <a:p>
            <a:endParaRPr lang="zh-CN" altLang="en-US"/>
          </a:p>
        </p:txBody>
      </p:sp>
      <p:sp>
        <p:nvSpPr>
          <p:cNvPr id="164" name="diagram-line-86">
            <a:extLst>
              <a:ext uri="{FF2B5EF4-FFF2-40B4-BE49-F238E27FC236}">
                <a16:creationId xmlns:a16="http://schemas.microsoft.com/office/drawing/2014/main" id="{5EBB8246-4130-48AE-A8D0-29F03A5A0223}"/>
              </a:ext>
            </a:extLst>
          </p:cNvPr>
          <p:cNvSpPr>
            <a:spLocks noGrp="1"/>
          </p:cNvSpPr>
          <p:nvPr/>
        </p:nvSpPr>
        <p:spPr>
          <a:xfrm flipH="1">
            <a:off x="4962525" y="2305050"/>
            <a:ext cx="142875" cy="104775"/>
          </a:xfrm>
          <a:prstGeom prst="line">
            <a:avLst/>
          </a:prstGeom>
          <a:noFill/>
          <a:ln w="28575">
            <a:solidFill>
              <a:srgbClr val="1B1D63"/>
            </a:solidFill>
          </a:ln>
        </p:spPr>
        <p:txBody>
          <a:bodyPr/>
          <a:lstStyle/>
          <a:p>
            <a:endParaRPr lang="zh-CN" altLang="en-US"/>
          </a:p>
        </p:txBody>
      </p:sp>
      <p:sp>
        <p:nvSpPr>
          <p:cNvPr id="165" name="diagram-line-87">
            <a:extLst>
              <a:ext uri="{FF2B5EF4-FFF2-40B4-BE49-F238E27FC236}">
                <a16:creationId xmlns:a16="http://schemas.microsoft.com/office/drawing/2014/main" id="{633BE88C-05F0-4DB9-8840-D390B3119A8A}"/>
              </a:ext>
            </a:extLst>
          </p:cNvPr>
          <p:cNvSpPr>
            <a:spLocks noGrp="1"/>
          </p:cNvSpPr>
          <p:nvPr/>
        </p:nvSpPr>
        <p:spPr>
          <a:xfrm>
            <a:off x="5105400" y="2305050"/>
            <a:ext cx="142875" cy="104775"/>
          </a:xfrm>
          <a:prstGeom prst="line">
            <a:avLst/>
          </a:prstGeom>
          <a:noFill/>
          <a:ln w="28575">
            <a:solidFill>
              <a:srgbClr val="1B1D63"/>
            </a:solidFill>
          </a:ln>
        </p:spPr>
        <p:txBody>
          <a:bodyPr/>
          <a:lstStyle/>
          <a:p>
            <a:endParaRPr lang="zh-CN" altLang="en-US"/>
          </a:p>
        </p:txBody>
      </p:sp>
      <p:sp>
        <p:nvSpPr>
          <p:cNvPr id="166" name="diagram-line-88">
            <a:extLst>
              <a:ext uri="{FF2B5EF4-FFF2-40B4-BE49-F238E27FC236}">
                <a16:creationId xmlns:a16="http://schemas.microsoft.com/office/drawing/2014/main" id="{2820CAF1-ED13-4530-B41B-D043E53F7CA0}"/>
              </a:ext>
            </a:extLst>
          </p:cNvPr>
          <p:cNvSpPr>
            <a:spLocks noGrp="1"/>
          </p:cNvSpPr>
          <p:nvPr/>
        </p:nvSpPr>
        <p:spPr>
          <a:xfrm flipH="1">
            <a:off x="4991100" y="2495550"/>
            <a:ext cx="114300" cy="180975"/>
          </a:xfrm>
          <a:prstGeom prst="line">
            <a:avLst/>
          </a:prstGeom>
          <a:noFill/>
          <a:ln w="28575">
            <a:solidFill>
              <a:srgbClr val="1B1D63"/>
            </a:solidFill>
          </a:ln>
        </p:spPr>
        <p:txBody>
          <a:bodyPr/>
          <a:lstStyle/>
          <a:p>
            <a:endParaRPr lang="zh-CN" altLang="en-US"/>
          </a:p>
        </p:txBody>
      </p:sp>
      <p:sp>
        <p:nvSpPr>
          <p:cNvPr id="167" name="diagram-line-89">
            <a:extLst>
              <a:ext uri="{FF2B5EF4-FFF2-40B4-BE49-F238E27FC236}">
                <a16:creationId xmlns:a16="http://schemas.microsoft.com/office/drawing/2014/main" id="{2EEC50F6-E1FB-4733-AE08-8E094AF2DD43}"/>
              </a:ext>
            </a:extLst>
          </p:cNvPr>
          <p:cNvSpPr>
            <a:spLocks noGrp="1"/>
          </p:cNvSpPr>
          <p:nvPr/>
        </p:nvSpPr>
        <p:spPr>
          <a:xfrm>
            <a:off x="5105400" y="2495550"/>
            <a:ext cx="114300" cy="180975"/>
          </a:xfrm>
          <a:prstGeom prst="line">
            <a:avLst/>
          </a:prstGeom>
          <a:noFill/>
          <a:ln w="28575">
            <a:solidFill>
              <a:srgbClr val="1B1D63"/>
            </a:solidFill>
          </a:ln>
        </p:spPr>
        <p:txBody>
          <a:bodyPr/>
          <a:lstStyle/>
          <a:p>
            <a:endParaRPr lang="zh-CN" altLang="en-US"/>
          </a:p>
        </p:txBody>
      </p:sp>
      <p:sp>
        <p:nvSpPr>
          <p:cNvPr id="168" name="person-diagram-90">
            <a:extLst>
              <a:ext uri="{FF2B5EF4-FFF2-40B4-BE49-F238E27FC236}">
                <a16:creationId xmlns:a16="http://schemas.microsoft.com/office/drawing/2014/main" id="{D39E9ED1-D457-4ADC-A9BF-014D9486AF5E}"/>
              </a:ext>
            </a:extLst>
          </p:cNvPr>
          <p:cNvSpPr>
            <a:spLocks noGrp="1"/>
          </p:cNvSpPr>
          <p:nvPr/>
        </p:nvSpPr>
        <p:spPr>
          <a:xfrm>
            <a:off x="4943475" y="2733675"/>
            <a:ext cx="323850" cy="238125"/>
          </a:xfrm>
          <a:prstGeom prst="rect">
            <a:avLst/>
          </a:prstGeom>
          <a:noFill/>
          <a:ln w="0">
            <a:noFill/>
          </a:ln>
        </p:spPr>
        <p:txBody>
          <a:bodyPr lIns="0" tIns="0" rIns="0" bIns="0" anchor="ctr">
            <a:noAutofit/>
          </a:bodyPr>
          <a:lstStyle>
            <a:defPPr algn="ctr">
              <a:defRPr sz="1425" b="1">
                <a:solidFill>
                  <a:srgbClr val="1B1D63"/>
                </a:solidFill>
                <a:latin typeface="Arial"/>
                <a:ea typeface="Arial"/>
                <a:cs typeface="Arial"/>
              </a:defRPr>
            </a:defPPr>
          </a:lstStyle>
          <a:p>
            <a:pPr algn="ctr">
              <a:defRPr sz="1425" b="1">
                <a:solidFill>
                  <a:srgbClr val="1B1D63"/>
                </a:solidFill>
                <a:latin typeface="Arial"/>
                <a:ea typeface="Arial"/>
                <a:cs typeface="Arial"/>
              </a:defRPr>
            </a:pPr>
            <a:r>
              <a:rPr sz="1425" b="1">
                <a:solidFill>
                  <a:srgbClr val="1B1D63"/>
                </a:solidFill>
                <a:latin typeface="Arial"/>
                <a:ea typeface="Arial"/>
                <a:cs typeface="Arial"/>
              </a:rPr>
              <a:t>A</a:t>
            </a:r>
          </a:p>
        </p:txBody>
      </p:sp>
      <p:sp>
        <p:nvSpPr>
          <p:cNvPr id="169" name="person-diagram-91">
            <a:extLst>
              <a:ext uri="{FF2B5EF4-FFF2-40B4-BE49-F238E27FC236}">
                <a16:creationId xmlns:a16="http://schemas.microsoft.com/office/drawing/2014/main" id="{60F7E1E8-AAEA-499B-83BE-BC45F76C65B9}"/>
              </a:ext>
            </a:extLst>
          </p:cNvPr>
          <p:cNvSpPr>
            <a:spLocks noGrp="1"/>
          </p:cNvSpPr>
          <p:nvPr/>
        </p:nvSpPr>
        <p:spPr>
          <a:xfrm>
            <a:off x="5048250" y="3333750"/>
            <a:ext cx="114300" cy="114300"/>
          </a:xfrm>
          <a:prstGeom prst="ellipse">
            <a:avLst/>
          </a:prstGeom>
          <a:solidFill>
            <a:srgbClr val="38AFA2"/>
          </a:solidFill>
          <a:ln w="0">
            <a:noFill/>
          </a:ln>
        </p:spPr>
        <p:txBody>
          <a:bodyPr/>
          <a:lstStyle/>
          <a:p>
            <a:endParaRPr lang="zh-CN" altLang="en-US"/>
          </a:p>
        </p:txBody>
      </p:sp>
      <p:sp>
        <p:nvSpPr>
          <p:cNvPr id="170" name="diagram-line-92">
            <a:extLst>
              <a:ext uri="{FF2B5EF4-FFF2-40B4-BE49-F238E27FC236}">
                <a16:creationId xmlns:a16="http://schemas.microsoft.com/office/drawing/2014/main" id="{82C469C6-AE41-43EA-B2AB-1AD3D423D9D4}"/>
              </a:ext>
            </a:extLst>
          </p:cNvPr>
          <p:cNvSpPr>
            <a:spLocks noGrp="1"/>
          </p:cNvSpPr>
          <p:nvPr/>
        </p:nvSpPr>
        <p:spPr>
          <a:xfrm>
            <a:off x="5105400" y="3467100"/>
            <a:ext cx="953" cy="247650"/>
          </a:xfrm>
          <a:prstGeom prst="line">
            <a:avLst/>
          </a:prstGeom>
          <a:noFill/>
          <a:ln w="28575">
            <a:solidFill>
              <a:srgbClr val="38AFA2"/>
            </a:solidFill>
          </a:ln>
        </p:spPr>
        <p:txBody>
          <a:bodyPr/>
          <a:lstStyle/>
          <a:p>
            <a:endParaRPr lang="zh-CN" altLang="en-US"/>
          </a:p>
        </p:txBody>
      </p:sp>
      <p:sp>
        <p:nvSpPr>
          <p:cNvPr id="171" name="diagram-line-93">
            <a:extLst>
              <a:ext uri="{FF2B5EF4-FFF2-40B4-BE49-F238E27FC236}">
                <a16:creationId xmlns:a16="http://schemas.microsoft.com/office/drawing/2014/main" id="{6001F86C-A241-4E65-B838-86275ED2B0CF}"/>
              </a:ext>
            </a:extLst>
          </p:cNvPr>
          <p:cNvSpPr>
            <a:spLocks noGrp="1"/>
          </p:cNvSpPr>
          <p:nvPr/>
        </p:nvSpPr>
        <p:spPr>
          <a:xfrm flipH="1">
            <a:off x="4962525" y="3524250"/>
            <a:ext cx="142875" cy="104775"/>
          </a:xfrm>
          <a:prstGeom prst="line">
            <a:avLst/>
          </a:prstGeom>
          <a:noFill/>
          <a:ln w="28575">
            <a:solidFill>
              <a:srgbClr val="38AFA2"/>
            </a:solidFill>
          </a:ln>
        </p:spPr>
        <p:txBody>
          <a:bodyPr/>
          <a:lstStyle/>
          <a:p>
            <a:endParaRPr lang="zh-CN" altLang="en-US"/>
          </a:p>
        </p:txBody>
      </p:sp>
      <p:sp>
        <p:nvSpPr>
          <p:cNvPr id="172" name="diagram-line-94">
            <a:extLst>
              <a:ext uri="{FF2B5EF4-FFF2-40B4-BE49-F238E27FC236}">
                <a16:creationId xmlns:a16="http://schemas.microsoft.com/office/drawing/2014/main" id="{18D52A6E-6189-4E73-B6B8-288C29DBEA01}"/>
              </a:ext>
            </a:extLst>
          </p:cNvPr>
          <p:cNvSpPr>
            <a:spLocks noGrp="1"/>
          </p:cNvSpPr>
          <p:nvPr/>
        </p:nvSpPr>
        <p:spPr>
          <a:xfrm>
            <a:off x="5105400" y="3524250"/>
            <a:ext cx="142875" cy="104775"/>
          </a:xfrm>
          <a:prstGeom prst="line">
            <a:avLst/>
          </a:prstGeom>
          <a:noFill/>
          <a:ln w="28575">
            <a:solidFill>
              <a:srgbClr val="38AFA2"/>
            </a:solidFill>
          </a:ln>
        </p:spPr>
        <p:txBody>
          <a:bodyPr/>
          <a:lstStyle/>
          <a:p>
            <a:endParaRPr lang="zh-CN" altLang="en-US"/>
          </a:p>
        </p:txBody>
      </p:sp>
      <p:sp>
        <p:nvSpPr>
          <p:cNvPr id="173" name="diagram-line-95">
            <a:extLst>
              <a:ext uri="{FF2B5EF4-FFF2-40B4-BE49-F238E27FC236}">
                <a16:creationId xmlns:a16="http://schemas.microsoft.com/office/drawing/2014/main" id="{385244FA-88F2-4ED3-9613-2DF7AED82D89}"/>
              </a:ext>
            </a:extLst>
          </p:cNvPr>
          <p:cNvSpPr>
            <a:spLocks noGrp="1"/>
          </p:cNvSpPr>
          <p:nvPr/>
        </p:nvSpPr>
        <p:spPr>
          <a:xfrm flipH="1">
            <a:off x="4991100" y="3714750"/>
            <a:ext cx="114300" cy="180975"/>
          </a:xfrm>
          <a:prstGeom prst="line">
            <a:avLst/>
          </a:prstGeom>
          <a:noFill/>
          <a:ln w="28575">
            <a:solidFill>
              <a:srgbClr val="38AFA2"/>
            </a:solidFill>
          </a:ln>
        </p:spPr>
        <p:txBody>
          <a:bodyPr/>
          <a:lstStyle/>
          <a:p>
            <a:endParaRPr lang="zh-CN" altLang="en-US"/>
          </a:p>
        </p:txBody>
      </p:sp>
      <p:sp>
        <p:nvSpPr>
          <p:cNvPr id="174" name="diagram-line-96">
            <a:extLst>
              <a:ext uri="{FF2B5EF4-FFF2-40B4-BE49-F238E27FC236}">
                <a16:creationId xmlns:a16="http://schemas.microsoft.com/office/drawing/2014/main" id="{DB84AD6A-D461-495D-9D03-FCB3B6EE15FB}"/>
              </a:ext>
            </a:extLst>
          </p:cNvPr>
          <p:cNvSpPr>
            <a:spLocks noGrp="1"/>
          </p:cNvSpPr>
          <p:nvPr/>
        </p:nvSpPr>
        <p:spPr>
          <a:xfrm>
            <a:off x="5105400" y="3714750"/>
            <a:ext cx="114300" cy="180975"/>
          </a:xfrm>
          <a:prstGeom prst="line">
            <a:avLst/>
          </a:prstGeom>
          <a:noFill/>
          <a:ln w="28575">
            <a:solidFill>
              <a:srgbClr val="38AFA2"/>
            </a:solidFill>
          </a:ln>
        </p:spPr>
        <p:txBody>
          <a:bodyPr/>
          <a:lstStyle/>
          <a:p>
            <a:endParaRPr lang="zh-CN" altLang="en-US"/>
          </a:p>
        </p:txBody>
      </p:sp>
      <p:sp>
        <p:nvSpPr>
          <p:cNvPr id="175" name="person-diagram-97">
            <a:extLst>
              <a:ext uri="{FF2B5EF4-FFF2-40B4-BE49-F238E27FC236}">
                <a16:creationId xmlns:a16="http://schemas.microsoft.com/office/drawing/2014/main" id="{23E744D2-9827-44E2-BA3D-C7A65A434C09}"/>
              </a:ext>
            </a:extLst>
          </p:cNvPr>
          <p:cNvSpPr>
            <a:spLocks noGrp="1"/>
          </p:cNvSpPr>
          <p:nvPr/>
        </p:nvSpPr>
        <p:spPr>
          <a:xfrm>
            <a:off x="4943475" y="3952875"/>
            <a:ext cx="323850" cy="238125"/>
          </a:xfrm>
          <a:prstGeom prst="rect">
            <a:avLst/>
          </a:prstGeom>
          <a:noFill/>
          <a:ln w="0">
            <a:noFill/>
          </a:ln>
        </p:spPr>
        <p:txBody>
          <a:bodyPr lIns="0" tIns="0" rIns="0" bIns="0" anchor="ctr">
            <a:noAutofit/>
          </a:bodyPr>
          <a:lstStyle>
            <a:defPPr algn="ctr">
              <a:defRPr sz="1425" b="1">
                <a:solidFill>
                  <a:srgbClr val="38AFA2"/>
                </a:solidFill>
                <a:latin typeface="Arial"/>
                <a:ea typeface="Arial"/>
                <a:cs typeface="Arial"/>
              </a:defRPr>
            </a:defPPr>
          </a:lstStyle>
          <a:p>
            <a:pPr algn="ctr">
              <a:defRPr sz="1425" b="1">
                <a:solidFill>
                  <a:srgbClr val="38AFA2"/>
                </a:solidFill>
                <a:latin typeface="Arial"/>
                <a:ea typeface="Arial"/>
                <a:cs typeface="Arial"/>
              </a:defRPr>
            </a:pPr>
            <a:r>
              <a:rPr sz="1425" b="1">
                <a:solidFill>
                  <a:srgbClr val="38AFA2"/>
                </a:solidFill>
                <a:latin typeface="Arial"/>
                <a:ea typeface="Arial"/>
                <a:cs typeface="Arial"/>
              </a:rPr>
              <a:t>B</a:t>
            </a:r>
          </a:p>
        </p:txBody>
      </p:sp>
      <p:sp>
        <p:nvSpPr>
          <p:cNvPr id="176" name="person-diagram-98">
            <a:extLst>
              <a:ext uri="{FF2B5EF4-FFF2-40B4-BE49-F238E27FC236}">
                <a16:creationId xmlns:a16="http://schemas.microsoft.com/office/drawing/2014/main" id="{786F2593-ED18-4F4F-BB6F-213AFA479400}"/>
              </a:ext>
            </a:extLst>
          </p:cNvPr>
          <p:cNvSpPr>
            <a:spLocks noGrp="1"/>
          </p:cNvSpPr>
          <p:nvPr/>
        </p:nvSpPr>
        <p:spPr>
          <a:xfrm>
            <a:off x="1924050" y="4572000"/>
            <a:ext cx="3333750" cy="247650"/>
          </a:xfrm>
          <a:prstGeom prst="rect">
            <a:avLst/>
          </a:prstGeom>
          <a:noFill/>
          <a:ln w="0">
            <a:noFill/>
          </a:ln>
        </p:spPr>
        <p:txBody>
          <a:bodyPr lIns="0" tIns="0" rIns="0" bIns="0" anchor="ctr">
            <a:noAutofit/>
          </a:bodyPr>
          <a:lstStyle>
            <a:defPPr algn="ctr">
              <a:defRPr sz="1350" b="0">
                <a:solidFill>
                  <a:srgbClr val="697386"/>
                </a:solidFill>
                <a:latin typeface="Arial"/>
                <a:ea typeface="Arial"/>
                <a:cs typeface="Arial"/>
              </a:defRPr>
            </a:defPPr>
          </a:lstStyle>
          <a:p>
            <a:pPr algn="ctr">
              <a:defRPr sz="1350" b="0">
                <a:solidFill>
                  <a:srgbClr val="697386"/>
                </a:solidFill>
                <a:latin typeface="Arial"/>
                <a:ea typeface="Arial"/>
                <a:cs typeface="Arial"/>
              </a:defRPr>
            </a:pPr>
            <a:r>
              <a:rPr sz="1350" b="0">
                <a:solidFill>
                  <a:srgbClr val="697386"/>
                </a:solidFill>
                <a:latin typeface="Arial"/>
                <a:ea typeface="Arial"/>
                <a:cs typeface="Arial"/>
              </a:rPr>
              <a:t>Sampled time →</a:t>
            </a:r>
          </a:p>
        </p:txBody>
      </p:sp>
      <p:sp>
        <p:nvSpPr>
          <p:cNvPr id="177" name="person-diagram-99">
            <a:extLst>
              <a:ext uri="{FF2B5EF4-FFF2-40B4-BE49-F238E27FC236}">
                <a16:creationId xmlns:a16="http://schemas.microsoft.com/office/drawing/2014/main" id="{273E9DA6-D4DA-4D6A-96B7-BBFC91F20772}"/>
              </a:ext>
            </a:extLst>
          </p:cNvPr>
          <p:cNvSpPr>
            <a:spLocks noGrp="1"/>
          </p:cNvSpPr>
          <p:nvPr/>
        </p:nvSpPr>
        <p:spPr>
          <a:xfrm>
            <a:off x="6257925" y="1381125"/>
            <a:ext cx="5457825" cy="3800475"/>
          </a:xfrm>
          <a:prstGeom prst="roundRect">
            <a:avLst>
              <a:gd name="adj" fmla="val 4010"/>
            </a:avLst>
          </a:prstGeom>
          <a:solidFill>
            <a:srgbClr val="FFFFFF"/>
          </a:solidFill>
          <a:ln w="11430">
            <a:solidFill>
              <a:srgbClr val="D9DDEA"/>
            </a:solidFill>
          </a:ln>
        </p:spPr>
        <p:txBody>
          <a:bodyPr/>
          <a:lstStyle/>
          <a:p>
            <a:endParaRPr lang="zh-CN" altLang="en-US"/>
          </a:p>
        </p:txBody>
      </p:sp>
      <p:sp>
        <p:nvSpPr>
          <p:cNvPr id="178" name="person-diagram-100">
            <a:extLst>
              <a:ext uri="{FF2B5EF4-FFF2-40B4-BE49-F238E27FC236}">
                <a16:creationId xmlns:a16="http://schemas.microsoft.com/office/drawing/2014/main" id="{B964EDF0-B608-41A4-936D-346D961663BD}"/>
              </a:ext>
            </a:extLst>
          </p:cNvPr>
          <p:cNvSpPr>
            <a:spLocks noGrp="1"/>
          </p:cNvSpPr>
          <p:nvPr/>
        </p:nvSpPr>
        <p:spPr>
          <a:xfrm>
            <a:off x="6496050" y="1543050"/>
            <a:ext cx="4953000" cy="333375"/>
          </a:xfrm>
          <a:prstGeom prst="rect">
            <a:avLst/>
          </a:prstGeom>
          <a:noFill/>
          <a:ln w="0">
            <a:noFill/>
          </a:ln>
        </p:spPr>
        <p:txBody>
          <a:bodyPr lIns="0" tIns="0" rIns="0" bIns="0" anchor="ctr">
            <a:noAutofit/>
          </a:bodyPr>
          <a:lstStyle>
            <a:defPPr algn="l">
              <a:defRPr sz="1950" b="1">
                <a:solidFill>
                  <a:srgbClr val="E31346"/>
                </a:solidFill>
                <a:latin typeface="Arial"/>
                <a:ea typeface="Arial"/>
                <a:cs typeface="Arial"/>
              </a:defRPr>
            </a:defPPr>
          </a:lstStyle>
          <a:p>
            <a:pPr algn="l">
              <a:defRPr sz="1950" b="1">
                <a:solidFill>
                  <a:srgbClr val="E31346"/>
                </a:solidFill>
                <a:latin typeface="Arial"/>
                <a:ea typeface="Arial"/>
                <a:cs typeface="Arial"/>
              </a:defRPr>
            </a:pPr>
            <a:r>
              <a:rPr sz="1950" b="1">
                <a:solidFill>
                  <a:srgbClr val="E31346"/>
                </a:solidFill>
                <a:latin typeface="Arial"/>
                <a:ea typeface="Arial"/>
                <a:cs typeface="Arial"/>
              </a:rPr>
              <a:t>Broken person track</a:t>
            </a:r>
          </a:p>
        </p:txBody>
      </p:sp>
      <p:sp>
        <p:nvSpPr>
          <p:cNvPr id="179" name="person-diagram-101">
            <a:extLst>
              <a:ext uri="{FF2B5EF4-FFF2-40B4-BE49-F238E27FC236}">
                <a16:creationId xmlns:a16="http://schemas.microsoft.com/office/drawing/2014/main" id="{B2AFE566-07F2-49F3-9FDE-F33FCFC9EFCB}"/>
              </a:ext>
            </a:extLst>
          </p:cNvPr>
          <p:cNvSpPr>
            <a:spLocks noGrp="1"/>
          </p:cNvSpPr>
          <p:nvPr/>
        </p:nvSpPr>
        <p:spPr>
          <a:xfrm>
            <a:off x="6496050" y="2305050"/>
            <a:ext cx="1143000" cy="247650"/>
          </a:xfrm>
          <a:prstGeom prst="rect">
            <a:avLst/>
          </a:prstGeom>
          <a:noFill/>
          <a:ln w="0">
            <a:noFill/>
          </a:ln>
        </p:spPr>
        <p:txBody>
          <a:bodyPr lIns="0" tIns="0" rIns="0" bIns="0" anchor="ctr">
            <a:noAutofit/>
          </a:bodyPr>
          <a:lstStyle>
            <a:defPPr algn="l">
              <a:defRPr sz="1350" b="0">
                <a:solidFill>
                  <a:srgbClr val="697386"/>
                </a:solidFill>
                <a:latin typeface="Arial"/>
                <a:ea typeface="Arial"/>
                <a:cs typeface="Arial"/>
              </a:defRPr>
            </a:defPPr>
          </a:lstStyle>
          <a:p>
            <a:pPr algn="l">
              <a:defRPr sz="1350" b="0">
                <a:solidFill>
                  <a:srgbClr val="697386"/>
                </a:solidFill>
                <a:latin typeface="Arial"/>
                <a:ea typeface="Arial"/>
                <a:cs typeface="Arial"/>
              </a:defRPr>
            </a:pPr>
            <a:r>
              <a:rPr sz="1350" b="0">
                <a:solidFill>
                  <a:srgbClr val="697386"/>
                </a:solidFill>
                <a:latin typeface="Arial"/>
                <a:ea typeface="Arial"/>
                <a:cs typeface="Arial"/>
              </a:rPr>
              <a:t>Person-0</a:t>
            </a:r>
          </a:p>
        </p:txBody>
      </p:sp>
      <p:sp>
        <p:nvSpPr>
          <p:cNvPr id="180" name="person-diagram-102">
            <a:extLst>
              <a:ext uri="{FF2B5EF4-FFF2-40B4-BE49-F238E27FC236}">
                <a16:creationId xmlns:a16="http://schemas.microsoft.com/office/drawing/2014/main" id="{C9C4EBDE-36FA-477D-A21A-0F38FE5B1CC8}"/>
              </a:ext>
            </a:extLst>
          </p:cNvPr>
          <p:cNvSpPr>
            <a:spLocks noGrp="1"/>
          </p:cNvSpPr>
          <p:nvPr/>
        </p:nvSpPr>
        <p:spPr>
          <a:xfrm>
            <a:off x="6496050" y="3524250"/>
            <a:ext cx="1143000" cy="247650"/>
          </a:xfrm>
          <a:prstGeom prst="rect">
            <a:avLst/>
          </a:prstGeom>
          <a:noFill/>
          <a:ln w="0">
            <a:noFill/>
          </a:ln>
        </p:spPr>
        <p:txBody>
          <a:bodyPr lIns="0" tIns="0" rIns="0" bIns="0" anchor="ctr">
            <a:noAutofit/>
          </a:bodyPr>
          <a:lstStyle>
            <a:defPPr algn="l">
              <a:defRPr sz="1350" b="0">
                <a:solidFill>
                  <a:srgbClr val="697386"/>
                </a:solidFill>
                <a:latin typeface="Arial"/>
                <a:ea typeface="Arial"/>
                <a:cs typeface="Arial"/>
              </a:defRPr>
            </a:defPPr>
          </a:lstStyle>
          <a:p>
            <a:pPr algn="l">
              <a:defRPr sz="1350" b="0">
                <a:solidFill>
                  <a:srgbClr val="697386"/>
                </a:solidFill>
                <a:latin typeface="Arial"/>
                <a:ea typeface="Arial"/>
                <a:cs typeface="Arial"/>
              </a:defRPr>
            </a:pPr>
            <a:r>
              <a:rPr sz="1350" b="0">
                <a:solidFill>
                  <a:srgbClr val="697386"/>
                </a:solidFill>
                <a:latin typeface="Arial"/>
                <a:ea typeface="Arial"/>
                <a:cs typeface="Arial"/>
              </a:rPr>
              <a:t>Person-1</a:t>
            </a:r>
          </a:p>
        </p:txBody>
      </p:sp>
      <p:sp>
        <p:nvSpPr>
          <p:cNvPr id="181" name="person-diagram-103">
            <a:extLst>
              <a:ext uri="{FF2B5EF4-FFF2-40B4-BE49-F238E27FC236}">
                <a16:creationId xmlns:a16="http://schemas.microsoft.com/office/drawing/2014/main" id="{3A791FC6-9319-4FDB-AF69-83B8E77AD247}"/>
              </a:ext>
            </a:extLst>
          </p:cNvPr>
          <p:cNvSpPr>
            <a:spLocks noGrp="1"/>
          </p:cNvSpPr>
          <p:nvPr/>
        </p:nvSpPr>
        <p:spPr>
          <a:xfrm>
            <a:off x="7800975" y="2114550"/>
            <a:ext cx="114300" cy="114300"/>
          </a:xfrm>
          <a:prstGeom prst="ellipse">
            <a:avLst/>
          </a:prstGeom>
          <a:solidFill>
            <a:srgbClr val="1B1D63"/>
          </a:solidFill>
          <a:ln w="0">
            <a:noFill/>
          </a:ln>
        </p:spPr>
        <p:txBody>
          <a:bodyPr/>
          <a:lstStyle/>
          <a:p>
            <a:endParaRPr lang="zh-CN" altLang="en-US"/>
          </a:p>
        </p:txBody>
      </p:sp>
      <p:sp>
        <p:nvSpPr>
          <p:cNvPr id="182" name="diagram-line-104">
            <a:extLst>
              <a:ext uri="{FF2B5EF4-FFF2-40B4-BE49-F238E27FC236}">
                <a16:creationId xmlns:a16="http://schemas.microsoft.com/office/drawing/2014/main" id="{2654A5C8-8A28-42B1-B163-EF84694FD471}"/>
              </a:ext>
            </a:extLst>
          </p:cNvPr>
          <p:cNvSpPr>
            <a:spLocks noGrp="1"/>
          </p:cNvSpPr>
          <p:nvPr/>
        </p:nvSpPr>
        <p:spPr>
          <a:xfrm>
            <a:off x="7858125" y="2247900"/>
            <a:ext cx="953" cy="247650"/>
          </a:xfrm>
          <a:prstGeom prst="line">
            <a:avLst/>
          </a:prstGeom>
          <a:noFill/>
          <a:ln w="28575">
            <a:solidFill>
              <a:srgbClr val="1B1D63"/>
            </a:solidFill>
          </a:ln>
        </p:spPr>
        <p:txBody>
          <a:bodyPr/>
          <a:lstStyle/>
          <a:p>
            <a:endParaRPr lang="zh-CN" altLang="en-US"/>
          </a:p>
        </p:txBody>
      </p:sp>
      <p:sp>
        <p:nvSpPr>
          <p:cNvPr id="183" name="diagram-line-105">
            <a:extLst>
              <a:ext uri="{FF2B5EF4-FFF2-40B4-BE49-F238E27FC236}">
                <a16:creationId xmlns:a16="http://schemas.microsoft.com/office/drawing/2014/main" id="{587F2F43-FBB7-408E-B1D4-36F689D13154}"/>
              </a:ext>
            </a:extLst>
          </p:cNvPr>
          <p:cNvSpPr>
            <a:spLocks noGrp="1"/>
          </p:cNvSpPr>
          <p:nvPr/>
        </p:nvSpPr>
        <p:spPr>
          <a:xfrm flipH="1">
            <a:off x="7715250" y="2305050"/>
            <a:ext cx="142875" cy="104775"/>
          </a:xfrm>
          <a:prstGeom prst="line">
            <a:avLst/>
          </a:prstGeom>
          <a:noFill/>
          <a:ln w="28575">
            <a:solidFill>
              <a:srgbClr val="1B1D63"/>
            </a:solidFill>
          </a:ln>
        </p:spPr>
        <p:txBody>
          <a:bodyPr/>
          <a:lstStyle/>
          <a:p>
            <a:endParaRPr lang="zh-CN" altLang="en-US"/>
          </a:p>
        </p:txBody>
      </p:sp>
      <p:sp>
        <p:nvSpPr>
          <p:cNvPr id="184" name="diagram-line-106">
            <a:extLst>
              <a:ext uri="{FF2B5EF4-FFF2-40B4-BE49-F238E27FC236}">
                <a16:creationId xmlns:a16="http://schemas.microsoft.com/office/drawing/2014/main" id="{6E4BF99A-EFE4-4BF3-88E3-4937994DAB98}"/>
              </a:ext>
            </a:extLst>
          </p:cNvPr>
          <p:cNvSpPr>
            <a:spLocks noGrp="1"/>
          </p:cNvSpPr>
          <p:nvPr/>
        </p:nvSpPr>
        <p:spPr>
          <a:xfrm>
            <a:off x="7858125" y="2305050"/>
            <a:ext cx="142875" cy="104775"/>
          </a:xfrm>
          <a:prstGeom prst="line">
            <a:avLst/>
          </a:prstGeom>
          <a:noFill/>
          <a:ln w="28575">
            <a:solidFill>
              <a:srgbClr val="1B1D63"/>
            </a:solidFill>
          </a:ln>
        </p:spPr>
        <p:txBody>
          <a:bodyPr/>
          <a:lstStyle/>
          <a:p>
            <a:endParaRPr lang="zh-CN" altLang="en-US"/>
          </a:p>
        </p:txBody>
      </p:sp>
      <p:sp>
        <p:nvSpPr>
          <p:cNvPr id="185" name="diagram-line-107">
            <a:extLst>
              <a:ext uri="{FF2B5EF4-FFF2-40B4-BE49-F238E27FC236}">
                <a16:creationId xmlns:a16="http://schemas.microsoft.com/office/drawing/2014/main" id="{A330CD3E-FAE3-4A91-BAB2-1425B0B6AFAD}"/>
              </a:ext>
            </a:extLst>
          </p:cNvPr>
          <p:cNvSpPr>
            <a:spLocks noGrp="1"/>
          </p:cNvSpPr>
          <p:nvPr/>
        </p:nvSpPr>
        <p:spPr>
          <a:xfrm flipH="1">
            <a:off x="7743825" y="2495550"/>
            <a:ext cx="114300" cy="180975"/>
          </a:xfrm>
          <a:prstGeom prst="line">
            <a:avLst/>
          </a:prstGeom>
          <a:noFill/>
          <a:ln w="28575">
            <a:solidFill>
              <a:srgbClr val="1B1D63"/>
            </a:solidFill>
          </a:ln>
        </p:spPr>
        <p:txBody>
          <a:bodyPr/>
          <a:lstStyle/>
          <a:p>
            <a:endParaRPr lang="zh-CN" altLang="en-US"/>
          </a:p>
        </p:txBody>
      </p:sp>
      <p:sp>
        <p:nvSpPr>
          <p:cNvPr id="186" name="diagram-line-108">
            <a:extLst>
              <a:ext uri="{FF2B5EF4-FFF2-40B4-BE49-F238E27FC236}">
                <a16:creationId xmlns:a16="http://schemas.microsoft.com/office/drawing/2014/main" id="{0E999E75-51ED-4067-80A7-F1806CB4F595}"/>
              </a:ext>
            </a:extLst>
          </p:cNvPr>
          <p:cNvSpPr>
            <a:spLocks noGrp="1"/>
          </p:cNvSpPr>
          <p:nvPr/>
        </p:nvSpPr>
        <p:spPr>
          <a:xfrm>
            <a:off x="7858125" y="2495550"/>
            <a:ext cx="114300" cy="180975"/>
          </a:xfrm>
          <a:prstGeom prst="line">
            <a:avLst/>
          </a:prstGeom>
          <a:noFill/>
          <a:ln w="28575">
            <a:solidFill>
              <a:srgbClr val="1B1D63"/>
            </a:solidFill>
          </a:ln>
        </p:spPr>
        <p:txBody>
          <a:bodyPr/>
          <a:lstStyle/>
          <a:p>
            <a:endParaRPr lang="zh-CN" altLang="en-US"/>
          </a:p>
        </p:txBody>
      </p:sp>
      <p:sp>
        <p:nvSpPr>
          <p:cNvPr id="187" name="person-diagram-109">
            <a:extLst>
              <a:ext uri="{FF2B5EF4-FFF2-40B4-BE49-F238E27FC236}">
                <a16:creationId xmlns:a16="http://schemas.microsoft.com/office/drawing/2014/main" id="{39676876-8D15-400D-8C49-5AD70A2CB3BD}"/>
              </a:ext>
            </a:extLst>
          </p:cNvPr>
          <p:cNvSpPr>
            <a:spLocks noGrp="1"/>
          </p:cNvSpPr>
          <p:nvPr/>
        </p:nvSpPr>
        <p:spPr>
          <a:xfrm>
            <a:off x="7696200" y="2733675"/>
            <a:ext cx="323850" cy="238125"/>
          </a:xfrm>
          <a:prstGeom prst="rect">
            <a:avLst/>
          </a:prstGeom>
          <a:noFill/>
          <a:ln w="0">
            <a:noFill/>
          </a:ln>
        </p:spPr>
        <p:txBody>
          <a:bodyPr lIns="0" tIns="0" rIns="0" bIns="0" anchor="ctr">
            <a:noAutofit/>
          </a:bodyPr>
          <a:lstStyle>
            <a:defPPr algn="ctr">
              <a:defRPr sz="1425" b="1">
                <a:solidFill>
                  <a:srgbClr val="1B1D63"/>
                </a:solidFill>
                <a:latin typeface="Arial"/>
                <a:ea typeface="Arial"/>
                <a:cs typeface="Arial"/>
              </a:defRPr>
            </a:defPPr>
          </a:lstStyle>
          <a:p>
            <a:pPr algn="ctr">
              <a:defRPr sz="1425" b="1">
                <a:solidFill>
                  <a:srgbClr val="1B1D63"/>
                </a:solidFill>
                <a:latin typeface="Arial"/>
                <a:ea typeface="Arial"/>
                <a:cs typeface="Arial"/>
              </a:defRPr>
            </a:pPr>
            <a:r>
              <a:rPr sz="1425" b="1">
                <a:solidFill>
                  <a:srgbClr val="1B1D63"/>
                </a:solidFill>
                <a:latin typeface="Arial"/>
                <a:ea typeface="Arial"/>
                <a:cs typeface="Arial"/>
              </a:rPr>
              <a:t>A</a:t>
            </a:r>
          </a:p>
        </p:txBody>
      </p:sp>
      <p:sp>
        <p:nvSpPr>
          <p:cNvPr id="188" name="person-diagram-110">
            <a:extLst>
              <a:ext uri="{FF2B5EF4-FFF2-40B4-BE49-F238E27FC236}">
                <a16:creationId xmlns:a16="http://schemas.microsoft.com/office/drawing/2014/main" id="{7C1D9DEE-2D21-4FD3-838C-CD7AC0F0B771}"/>
              </a:ext>
            </a:extLst>
          </p:cNvPr>
          <p:cNvSpPr>
            <a:spLocks noGrp="1"/>
          </p:cNvSpPr>
          <p:nvPr/>
        </p:nvSpPr>
        <p:spPr>
          <a:xfrm>
            <a:off x="7800975" y="3333750"/>
            <a:ext cx="114300" cy="114300"/>
          </a:xfrm>
          <a:prstGeom prst="ellipse">
            <a:avLst/>
          </a:prstGeom>
          <a:solidFill>
            <a:srgbClr val="38AFA2"/>
          </a:solidFill>
          <a:ln w="0">
            <a:noFill/>
          </a:ln>
        </p:spPr>
        <p:txBody>
          <a:bodyPr/>
          <a:lstStyle/>
          <a:p>
            <a:endParaRPr lang="zh-CN" altLang="en-US"/>
          </a:p>
        </p:txBody>
      </p:sp>
      <p:sp>
        <p:nvSpPr>
          <p:cNvPr id="189" name="diagram-line-111">
            <a:extLst>
              <a:ext uri="{FF2B5EF4-FFF2-40B4-BE49-F238E27FC236}">
                <a16:creationId xmlns:a16="http://schemas.microsoft.com/office/drawing/2014/main" id="{0AB7254E-1F0B-485A-833A-21ADE06183D6}"/>
              </a:ext>
            </a:extLst>
          </p:cNvPr>
          <p:cNvSpPr>
            <a:spLocks noGrp="1"/>
          </p:cNvSpPr>
          <p:nvPr/>
        </p:nvSpPr>
        <p:spPr>
          <a:xfrm>
            <a:off x="7858125" y="3467100"/>
            <a:ext cx="953" cy="247650"/>
          </a:xfrm>
          <a:prstGeom prst="line">
            <a:avLst/>
          </a:prstGeom>
          <a:noFill/>
          <a:ln w="28575">
            <a:solidFill>
              <a:srgbClr val="38AFA2"/>
            </a:solidFill>
          </a:ln>
        </p:spPr>
        <p:txBody>
          <a:bodyPr/>
          <a:lstStyle/>
          <a:p>
            <a:endParaRPr lang="zh-CN" altLang="en-US"/>
          </a:p>
        </p:txBody>
      </p:sp>
      <p:sp>
        <p:nvSpPr>
          <p:cNvPr id="190" name="diagram-line-112">
            <a:extLst>
              <a:ext uri="{FF2B5EF4-FFF2-40B4-BE49-F238E27FC236}">
                <a16:creationId xmlns:a16="http://schemas.microsoft.com/office/drawing/2014/main" id="{85273419-CDED-4B0E-B31F-2924B6A592C8}"/>
              </a:ext>
            </a:extLst>
          </p:cNvPr>
          <p:cNvSpPr>
            <a:spLocks noGrp="1"/>
          </p:cNvSpPr>
          <p:nvPr/>
        </p:nvSpPr>
        <p:spPr>
          <a:xfrm flipH="1">
            <a:off x="7715250" y="3524250"/>
            <a:ext cx="142875" cy="104775"/>
          </a:xfrm>
          <a:prstGeom prst="line">
            <a:avLst/>
          </a:prstGeom>
          <a:noFill/>
          <a:ln w="28575">
            <a:solidFill>
              <a:srgbClr val="38AFA2"/>
            </a:solidFill>
          </a:ln>
        </p:spPr>
        <p:txBody>
          <a:bodyPr/>
          <a:lstStyle/>
          <a:p>
            <a:endParaRPr lang="zh-CN" altLang="en-US"/>
          </a:p>
        </p:txBody>
      </p:sp>
      <p:sp>
        <p:nvSpPr>
          <p:cNvPr id="191" name="diagram-line-113">
            <a:extLst>
              <a:ext uri="{FF2B5EF4-FFF2-40B4-BE49-F238E27FC236}">
                <a16:creationId xmlns:a16="http://schemas.microsoft.com/office/drawing/2014/main" id="{FA6D95FB-3A7D-4654-960D-F71AFC58C110}"/>
              </a:ext>
            </a:extLst>
          </p:cNvPr>
          <p:cNvSpPr>
            <a:spLocks noGrp="1"/>
          </p:cNvSpPr>
          <p:nvPr/>
        </p:nvSpPr>
        <p:spPr>
          <a:xfrm>
            <a:off x="7858125" y="3524250"/>
            <a:ext cx="142875" cy="104775"/>
          </a:xfrm>
          <a:prstGeom prst="line">
            <a:avLst/>
          </a:prstGeom>
          <a:noFill/>
          <a:ln w="28575">
            <a:solidFill>
              <a:srgbClr val="38AFA2"/>
            </a:solidFill>
          </a:ln>
        </p:spPr>
        <p:txBody>
          <a:bodyPr/>
          <a:lstStyle/>
          <a:p>
            <a:endParaRPr lang="zh-CN" altLang="en-US"/>
          </a:p>
        </p:txBody>
      </p:sp>
      <p:sp>
        <p:nvSpPr>
          <p:cNvPr id="192" name="diagram-line-114">
            <a:extLst>
              <a:ext uri="{FF2B5EF4-FFF2-40B4-BE49-F238E27FC236}">
                <a16:creationId xmlns:a16="http://schemas.microsoft.com/office/drawing/2014/main" id="{A5FA8986-6548-4827-97ED-51C3D13F1615}"/>
              </a:ext>
            </a:extLst>
          </p:cNvPr>
          <p:cNvSpPr>
            <a:spLocks noGrp="1"/>
          </p:cNvSpPr>
          <p:nvPr/>
        </p:nvSpPr>
        <p:spPr>
          <a:xfrm flipH="1">
            <a:off x="7743825" y="3714750"/>
            <a:ext cx="114300" cy="180975"/>
          </a:xfrm>
          <a:prstGeom prst="line">
            <a:avLst/>
          </a:prstGeom>
          <a:noFill/>
          <a:ln w="28575">
            <a:solidFill>
              <a:srgbClr val="38AFA2"/>
            </a:solidFill>
          </a:ln>
        </p:spPr>
        <p:txBody>
          <a:bodyPr/>
          <a:lstStyle/>
          <a:p>
            <a:endParaRPr lang="zh-CN" altLang="en-US"/>
          </a:p>
        </p:txBody>
      </p:sp>
      <p:sp>
        <p:nvSpPr>
          <p:cNvPr id="193" name="diagram-line-115">
            <a:extLst>
              <a:ext uri="{FF2B5EF4-FFF2-40B4-BE49-F238E27FC236}">
                <a16:creationId xmlns:a16="http://schemas.microsoft.com/office/drawing/2014/main" id="{B59648AE-B1DD-46F1-83FF-1B728084FC15}"/>
              </a:ext>
            </a:extLst>
          </p:cNvPr>
          <p:cNvSpPr>
            <a:spLocks noGrp="1"/>
          </p:cNvSpPr>
          <p:nvPr/>
        </p:nvSpPr>
        <p:spPr>
          <a:xfrm>
            <a:off x="7858125" y="3714750"/>
            <a:ext cx="114300" cy="180975"/>
          </a:xfrm>
          <a:prstGeom prst="line">
            <a:avLst/>
          </a:prstGeom>
          <a:noFill/>
          <a:ln w="28575">
            <a:solidFill>
              <a:srgbClr val="38AFA2"/>
            </a:solidFill>
          </a:ln>
        </p:spPr>
        <p:txBody>
          <a:bodyPr/>
          <a:lstStyle/>
          <a:p>
            <a:endParaRPr lang="zh-CN" altLang="en-US"/>
          </a:p>
        </p:txBody>
      </p:sp>
      <p:sp>
        <p:nvSpPr>
          <p:cNvPr id="194" name="person-diagram-116">
            <a:extLst>
              <a:ext uri="{FF2B5EF4-FFF2-40B4-BE49-F238E27FC236}">
                <a16:creationId xmlns:a16="http://schemas.microsoft.com/office/drawing/2014/main" id="{01A170B5-E542-4FB4-8374-BDDBC909E316}"/>
              </a:ext>
            </a:extLst>
          </p:cNvPr>
          <p:cNvSpPr>
            <a:spLocks noGrp="1"/>
          </p:cNvSpPr>
          <p:nvPr/>
        </p:nvSpPr>
        <p:spPr>
          <a:xfrm>
            <a:off x="7696200" y="3952875"/>
            <a:ext cx="323850" cy="238125"/>
          </a:xfrm>
          <a:prstGeom prst="rect">
            <a:avLst/>
          </a:prstGeom>
          <a:noFill/>
          <a:ln w="0">
            <a:noFill/>
          </a:ln>
        </p:spPr>
        <p:txBody>
          <a:bodyPr lIns="0" tIns="0" rIns="0" bIns="0" anchor="ctr">
            <a:noAutofit/>
          </a:bodyPr>
          <a:lstStyle>
            <a:defPPr algn="ctr">
              <a:defRPr sz="1425" b="1">
                <a:solidFill>
                  <a:srgbClr val="38AFA2"/>
                </a:solidFill>
                <a:latin typeface="Arial"/>
                <a:ea typeface="Arial"/>
                <a:cs typeface="Arial"/>
              </a:defRPr>
            </a:defPPr>
          </a:lstStyle>
          <a:p>
            <a:pPr algn="ctr">
              <a:defRPr sz="1425" b="1">
                <a:solidFill>
                  <a:srgbClr val="38AFA2"/>
                </a:solidFill>
                <a:latin typeface="Arial"/>
                <a:ea typeface="Arial"/>
                <a:cs typeface="Arial"/>
              </a:defRPr>
            </a:pPr>
            <a:r>
              <a:rPr sz="1425" b="1">
                <a:solidFill>
                  <a:srgbClr val="38AFA2"/>
                </a:solidFill>
                <a:latin typeface="Arial"/>
                <a:ea typeface="Arial"/>
                <a:cs typeface="Arial"/>
              </a:rPr>
              <a:t>B</a:t>
            </a:r>
          </a:p>
        </p:txBody>
      </p:sp>
      <p:sp>
        <p:nvSpPr>
          <p:cNvPr id="195" name="person-diagram-117">
            <a:extLst>
              <a:ext uri="{FF2B5EF4-FFF2-40B4-BE49-F238E27FC236}">
                <a16:creationId xmlns:a16="http://schemas.microsoft.com/office/drawing/2014/main" id="{91EDC6ED-3E57-4E66-BF1F-66165F7FDE90}"/>
              </a:ext>
            </a:extLst>
          </p:cNvPr>
          <p:cNvSpPr>
            <a:spLocks noGrp="1"/>
          </p:cNvSpPr>
          <p:nvPr/>
        </p:nvSpPr>
        <p:spPr>
          <a:xfrm>
            <a:off x="8553450" y="2114550"/>
            <a:ext cx="114300" cy="114300"/>
          </a:xfrm>
          <a:prstGeom prst="ellipse">
            <a:avLst/>
          </a:prstGeom>
          <a:solidFill>
            <a:srgbClr val="1B1D63"/>
          </a:solidFill>
          <a:ln w="0">
            <a:noFill/>
          </a:ln>
        </p:spPr>
        <p:txBody>
          <a:bodyPr/>
          <a:lstStyle/>
          <a:p>
            <a:endParaRPr lang="zh-CN" altLang="en-US"/>
          </a:p>
        </p:txBody>
      </p:sp>
      <p:sp>
        <p:nvSpPr>
          <p:cNvPr id="196" name="diagram-line-118">
            <a:extLst>
              <a:ext uri="{FF2B5EF4-FFF2-40B4-BE49-F238E27FC236}">
                <a16:creationId xmlns:a16="http://schemas.microsoft.com/office/drawing/2014/main" id="{5CF81DFA-CE66-41FB-BA63-88DC4EC65CD2}"/>
              </a:ext>
            </a:extLst>
          </p:cNvPr>
          <p:cNvSpPr>
            <a:spLocks noGrp="1"/>
          </p:cNvSpPr>
          <p:nvPr/>
        </p:nvSpPr>
        <p:spPr>
          <a:xfrm>
            <a:off x="8610600" y="2247900"/>
            <a:ext cx="953" cy="247650"/>
          </a:xfrm>
          <a:prstGeom prst="line">
            <a:avLst/>
          </a:prstGeom>
          <a:noFill/>
          <a:ln w="28575">
            <a:solidFill>
              <a:srgbClr val="1B1D63"/>
            </a:solidFill>
          </a:ln>
        </p:spPr>
        <p:txBody>
          <a:bodyPr/>
          <a:lstStyle/>
          <a:p>
            <a:endParaRPr lang="zh-CN" altLang="en-US"/>
          </a:p>
        </p:txBody>
      </p:sp>
      <p:sp>
        <p:nvSpPr>
          <p:cNvPr id="197" name="diagram-line-119">
            <a:extLst>
              <a:ext uri="{FF2B5EF4-FFF2-40B4-BE49-F238E27FC236}">
                <a16:creationId xmlns:a16="http://schemas.microsoft.com/office/drawing/2014/main" id="{9BE2CD97-C20B-4D4F-A25D-5B4CBC928003}"/>
              </a:ext>
            </a:extLst>
          </p:cNvPr>
          <p:cNvSpPr>
            <a:spLocks noGrp="1"/>
          </p:cNvSpPr>
          <p:nvPr/>
        </p:nvSpPr>
        <p:spPr>
          <a:xfrm flipH="1">
            <a:off x="8467725" y="2305050"/>
            <a:ext cx="142875" cy="104775"/>
          </a:xfrm>
          <a:prstGeom prst="line">
            <a:avLst/>
          </a:prstGeom>
          <a:noFill/>
          <a:ln w="28575">
            <a:solidFill>
              <a:srgbClr val="1B1D63"/>
            </a:solidFill>
          </a:ln>
        </p:spPr>
        <p:txBody>
          <a:bodyPr/>
          <a:lstStyle/>
          <a:p>
            <a:endParaRPr lang="zh-CN" altLang="en-US"/>
          </a:p>
        </p:txBody>
      </p:sp>
      <p:sp>
        <p:nvSpPr>
          <p:cNvPr id="198" name="diagram-line-120">
            <a:extLst>
              <a:ext uri="{FF2B5EF4-FFF2-40B4-BE49-F238E27FC236}">
                <a16:creationId xmlns:a16="http://schemas.microsoft.com/office/drawing/2014/main" id="{43EAEF76-C8EE-485F-99EB-BEEEF46CF92F}"/>
              </a:ext>
            </a:extLst>
          </p:cNvPr>
          <p:cNvSpPr>
            <a:spLocks noGrp="1"/>
          </p:cNvSpPr>
          <p:nvPr/>
        </p:nvSpPr>
        <p:spPr>
          <a:xfrm>
            <a:off x="8610600" y="2305050"/>
            <a:ext cx="142875" cy="104775"/>
          </a:xfrm>
          <a:prstGeom prst="line">
            <a:avLst/>
          </a:prstGeom>
          <a:noFill/>
          <a:ln w="28575">
            <a:solidFill>
              <a:srgbClr val="1B1D63"/>
            </a:solidFill>
          </a:ln>
        </p:spPr>
        <p:txBody>
          <a:bodyPr/>
          <a:lstStyle/>
          <a:p>
            <a:endParaRPr lang="zh-CN" altLang="en-US"/>
          </a:p>
        </p:txBody>
      </p:sp>
      <p:sp>
        <p:nvSpPr>
          <p:cNvPr id="199" name="diagram-line-121">
            <a:extLst>
              <a:ext uri="{FF2B5EF4-FFF2-40B4-BE49-F238E27FC236}">
                <a16:creationId xmlns:a16="http://schemas.microsoft.com/office/drawing/2014/main" id="{593B5FEB-331B-4770-A535-4CDBD698AE8C}"/>
              </a:ext>
            </a:extLst>
          </p:cNvPr>
          <p:cNvSpPr>
            <a:spLocks noGrp="1"/>
          </p:cNvSpPr>
          <p:nvPr/>
        </p:nvSpPr>
        <p:spPr>
          <a:xfrm flipH="1">
            <a:off x="8496300" y="2495550"/>
            <a:ext cx="114300" cy="180975"/>
          </a:xfrm>
          <a:prstGeom prst="line">
            <a:avLst/>
          </a:prstGeom>
          <a:noFill/>
          <a:ln w="28575">
            <a:solidFill>
              <a:srgbClr val="1B1D63"/>
            </a:solidFill>
          </a:ln>
        </p:spPr>
        <p:txBody>
          <a:bodyPr/>
          <a:lstStyle/>
          <a:p>
            <a:endParaRPr lang="zh-CN" altLang="en-US"/>
          </a:p>
        </p:txBody>
      </p:sp>
      <p:sp>
        <p:nvSpPr>
          <p:cNvPr id="200" name="diagram-line-122">
            <a:extLst>
              <a:ext uri="{FF2B5EF4-FFF2-40B4-BE49-F238E27FC236}">
                <a16:creationId xmlns:a16="http://schemas.microsoft.com/office/drawing/2014/main" id="{95CF6DF1-CCFE-4727-B0CC-94A0612C2012}"/>
              </a:ext>
            </a:extLst>
          </p:cNvPr>
          <p:cNvSpPr>
            <a:spLocks noGrp="1"/>
          </p:cNvSpPr>
          <p:nvPr/>
        </p:nvSpPr>
        <p:spPr>
          <a:xfrm>
            <a:off x="8610600" y="2495550"/>
            <a:ext cx="114300" cy="180975"/>
          </a:xfrm>
          <a:prstGeom prst="line">
            <a:avLst/>
          </a:prstGeom>
          <a:noFill/>
          <a:ln w="28575">
            <a:solidFill>
              <a:srgbClr val="1B1D63"/>
            </a:solidFill>
          </a:ln>
        </p:spPr>
        <p:txBody>
          <a:bodyPr/>
          <a:lstStyle/>
          <a:p>
            <a:endParaRPr lang="zh-CN" altLang="en-US"/>
          </a:p>
        </p:txBody>
      </p:sp>
      <p:sp>
        <p:nvSpPr>
          <p:cNvPr id="201" name="person-diagram-123">
            <a:extLst>
              <a:ext uri="{FF2B5EF4-FFF2-40B4-BE49-F238E27FC236}">
                <a16:creationId xmlns:a16="http://schemas.microsoft.com/office/drawing/2014/main" id="{160F0E3D-3DBC-460F-919B-93415890F91B}"/>
              </a:ext>
            </a:extLst>
          </p:cNvPr>
          <p:cNvSpPr>
            <a:spLocks noGrp="1"/>
          </p:cNvSpPr>
          <p:nvPr/>
        </p:nvSpPr>
        <p:spPr>
          <a:xfrm>
            <a:off x="8448675" y="2733675"/>
            <a:ext cx="323850" cy="238125"/>
          </a:xfrm>
          <a:prstGeom prst="rect">
            <a:avLst/>
          </a:prstGeom>
          <a:noFill/>
          <a:ln w="0">
            <a:noFill/>
          </a:ln>
        </p:spPr>
        <p:txBody>
          <a:bodyPr lIns="0" tIns="0" rIns="0" bIns="0" anchor="ctr">
            <a:noAutofit/>
          </a:bodyPr>
          <a:lstStyle>
            <a:defPPr algn="ctr">
              <a:defRPr sz="1425" b="1">
                <a:solidFill>
                  <a:srgbClr val="1B1D63"/>
                </a:solidFill>
                <a:latin typeface="Arial"/>
                <a:ea typeface="Arial"/>
                <a:cs typeface="Arial"/>
              </a:defRPr>
            </a:defPPr>
          </a:lstStyle>
          <a:p>
            <a:pPr algn="ctr">
              <a:defRPr sz="1425" b="1">
                <a:solidFill>
                  <a:srgbClr val="1B1D63"/>
                </a:solidFill>
                <a:latin typeface="Arial"/>
                <a:ea typeface="Arial"/>
                <a:cs typeface="Arial"/>
              </a:defRPr>
            </a:pPr>
            <a:r>
              <a:rPr sz="1425" b="1">
                <a:solidFill>
                  <a:srgbClr val="1B1D63"/>
                </a:solidFill>
                <a:latin typeface="Arial"/>
                <a:ea typeface="Arial"/>
                <a:cs typeface="Arial"/>
              </a:rPr>
              <a:t>A</a:t>
            </a:r>
          </a:p>
        </p:txBody>
      </p:sp>
      <p:sp>
        <p:nvSpPr>
          <p:cNvPr id="202" name="person-diagram-124">
            <a:extLst>
              <a:ext uri="{FF2B5EF4-FFF2-40B4-BE49-F238E27FC236}">
                <a16:creationId xmlns:a16="http://schemas.microsoft.com/office/drawing/2014/main" id="{C963A438-83CD-46DB-87BC-F5ECC333F6BA}"/>
              </a:ext>
            </a:extLst>
          </p:cNvPr>
          <p:cNvSpPr>
            <a:spLocks noGrp="1"/>
          </p:cNvSpPr>
          <p:nvPr/>
        </p:nvSpPr>
        <p:spPr>
          <a:xfrm>
            <a:off x="8553450" y="3333750"/>
            <a:ext cx="114300" cy="114300"/>
          </a:xfrm>
          <a:prstGeom prst="ellipse">
            <a:avLst/>
          </a:prstGeom>
          <a:solidFill>
            <a:srgbClr val="38AFA2"/>
          </a:solidFill>
          <a:ln w="0">
            <a:noFill/>
          </a:ln>
        </p:spPr>
        <p:txBody>
          <a:bodyPr/>
          <a:lstStyle/>
          <a:p>
            <a:endParaRPr lang="zh-CN" altLang="en-US"/>
          </a:p>
        </p:txBody>
      </p:sp>
      <p:sp>
        <p:nvSpPr>
          <p:cNvPr id="203" name="diagram-line-125">
            <a:extLst>
              <a:ext uri="{FF2B5EF4-FFF2-40B4-BE49-F238E27FC236}">
                <a16:creationId xmlns:a16="http://schemas.microsoft.com/office/drawing/2014/main" id="{F0845D63-DF58-448E-9053-BEF12868DBC8}"/>
              </a:ext>
            </a:extLst>
          </p:cNvPr>
          <p:cNvSpPr>
            <a:spLocks noGrp="1"/>
          </p:cNvSpPr>
          <p:nvPr/>
        </p:nvSpPr>
        <p:spPr>
          <a:xfrm>
            <a:off x="8610600" y="3467100"/>
            <a:ext cx="953" cy="247650"/>
          </a:xfrm>
          <a:prstGeom prst="line">
            <a:avLst/>
          </a:prstGeom>
          <a:noFill/>
          <a:ln w="28575">
            <a:solidFill>
              <a:srgbClr val="38AFA2"/>
            </a:solidFill>
          </a:ln>
        </p:spPr>
        <p:txBody>
          <a:bodyPr/>
          <a:lstStyle/>
          <a:p>
            <a:endParaRPr lang="zh-CN" altLang="en-US"/>
          </a:p>
        </p:txBody>
      </p:sp>
      <p:sp>
        <p:nvSpPr>
          <p:cNvPr id="204" name="diagram-line-126">
            <a:extLst>
              <a:ext uri="{FF2B5EF4-FFF2-40B4-BE49-F238E27FC236}">
                <a16:creationId xmlns:a16="http://schemas.microsoft.com/office/drawing/2014/main" id="{35236B8E-CB38-4003-8442-B37516B7A6B1}"/>
              </a:ext>
            </a:extLst>
          </p:cNvPr>
          <p:cNvSpPr>
            <a:spLocks noGrp="1"/>
          </p:cNvSpPr>
          <p:nvPr/>
        </p:nvSpPr>
        <p:spPr>
          <a:xfrm flipH="1">
            <a:off x="8467725" y="3524250"/>
            <a:ext cx="142875" cy="104775"/>
          </a:xfrm>
          <a:prstGeom prst="line">
            <a:avLst/>
          </a:prstGeom>
          <a:noFill/>
          <a:ln w="28575">
            <a:solidFill>
              <a:srgbClr val="38AFA2"/>
            </a:solidFill>
          </a:ln>
        </p:spPr>
        <p:txBody>
          <a:bodyPr/>
          <a:lstStyle/>
          <a:p>
            <a:endParaRPr lang="zh-CN" altLang="en-US"/>
          </a:p>
        </p:txBody>
      </p:sp>
      <p:sp>
        <p:nvSpPr>
          <p:cNvPr id="205" name="diagram-line-127">
            <a:extLst>
              <a:ext uri="{FF2B5EF4-FFF2-40B4-BE49-F238E27FC236}">
                <a16:creationId xmlns:a16="http://schemas.microsoft.com/office/drawing/2014/main" id="{74FD801A-FFFD-4D40-AFC3-91DF99A43EE2}"/>
              </a:ext>
            </a:extLst>
          </p:cNvPr>
          <p:cNvSpPr>
            <a:spLocks noGrp="1"/>
          </p:cNvSpPr>
          <p:nvPr/>
        </p:nvSpPr>
        <p:spPr>
          <a:xfrm>
            <a:off x="8610600" y="3524250"/>
            <a:ext cx="142875" cy="104775"/>
          </a:xfrm>
          <a:prstGeom prst="line">
            <a:avLst/>
          </a:prstGeom>
          <a:noFill/>
          <a:ln w="28575">
            <a:solidFill>
              <a:srgbClr val="38AFA2"/>
            </a:solidFill>
          </a:ln>
        </p:spPr>
        <p:txBody>
          <a:bodyPr/>
          <a:lstStyle/>
          <a:p>
            <a:endParaRPr lang="zh-CN" altLang="en-US"/>
          </a:p>
        </p:txBody>
      </p:sp>
      <p:sp>
        <p:nvSpPr>
          <p:cNvPr id="206" name="diagram-line-128">
            <a:extLst>
              <a:ext uri="{FF2B5EF4-FFF2-40B4-BE49-F238E27FC236}">
                <a16:creationId xmlns:a16="http://schemas.microsoft.com/office/drawing/2014/main" id="{C3848051-DB56-44B8-B8DE-97EF29302905}"/>
              </a:ext>
            </a:extLst>
          </p:cNvPr>
          <p:cNvSpPr>
            <a:spLocks noGrp="1"/>
          </p:cNvSpPr>
          <p:nvPr/>
        </p:nvSpPr>
        <p:spPr>
          <a:xfrm flipH="1">
            <a:off x="8496300" y="3714750"/>
            <a:ext cx="114300" cy="180975"/>
          </a:xfrm>
          <a:prstGeom prst="line">
            <a:avLst/>
          </a:prstGeom>
          <a:noFill/>
          <a:ln w="28575">
            <a:solidFill>
              <a:srgbClr val="38AFA2"/>
            </a:solidFill>
          </a:ln>
        </p:spPr>
        <p:txBody>
          <a:bodyPr/>
          <a:lstStyle/>
          <a:p>
            <a:endParaRPr lang="zh-CN" altLang="en-US"/>
          </a:p>
        </p:txBody>
      </p:sp>
      <p:sp>
        <p:nvSpPr>
          <p:cNvPr id="207" name="diagram-line-129">
            <a:extLst>
              <a:ext uri="{FF2B5EF4-FFF2-40B4-BE49-F238E27FC236}">
                <a16:creationId xmlns:a16="http://schemas.microsoft.com/office/drawing/2014/main" id="{921A0414-03C3-4A7D-B86E-6286B8A99BC0}"/>
              </a:ext>
            </a:extLst>
          </p:cNvPr>
          <p:cNvSpPr>
            <a:spLocks noGrp="1"/>
          </p:cNvSpPr>
          <p:nvPr/>
        </p:nvSpPr>
        <p:spPr>
          <a:xfrm>
            <a:off x="8610600" y="3714750"/>
            <a:ext cx="114300" cy="180975"/>
          </a:xfrm>
          <a:prstGeom prst="line">
            <a:avLst/>
          </a:prstGeom>
          <a:noFill/>
          <a:ln w="28575">
            <a:solidFill>
              <a:srgbClr val="38AFA2"/>
            </a:solidFill>
          </a:ln>
        </p:spPr>
        <p:txBody>
          <a:bodyPr/>
          <a:lstStyle/>
          <a:p>
            <a:endParaRPr lang="zh-CN" altLang="en-US"/>
          </a:p>
        </p:txBody>
      </p:sp>
      <p:sp>
        <p:nvSpPr>
          <p:cNvPr id="208" name="person-diagram-130">
            <a:extLst>
              <a:ext uri="{FF2B5EF4-FFF2-40B4-BE49-F238E27FC236}">
                <a16:creationId xmlns:a16="http://schemas.microsoft.com/office/drawing/2014/main" id="{EE41A63D-F034-4B7F-B93B-3BCEADA95D43}"/>
              </a:ext>
            </a:extLst>
          </p:cNvPr>
          <p:cNvSpPr>
            <a:spLocks noGrp="1"/>
          </p:cNvSpPr>
          <p:nvPr/>
        </p:nvSpPr>
        <p:spPr>
          <a:xfrm>
            <a:off x="8448675" y="3952875"/>
            <a:ext cx="323850" cy="238125"/>
          </a:xfrm>
          <a:prstGeom prst="rect">
            <a:avLst/>
          </a:prstGeom>
          <a:noFill/>
          <a:ln w="0">
            <a:noFill/>
          </a:ln>
        </p:spPr>
        <p:txBody>
          <a:bodyPr lIns="0" tIns="0" rIns="0" bIns="0" anchor="ctr">
            <a:noAutofit/>
          </a:bodyPr>
          <a:lstStyle>
            <a:defPPr algn="ctr">
              <a:defRPr sz="1425" b="1">
                <a:solidFill>
                  <a:srgbClr val="38AFA2"/>
                </a:solidFill>
                <a:latin typeface="Arial"/>
                <a:ea typeface="Arial"/>
                <a:cs typeface="Arial"/>
              </a:defRPr>
            </a:defPPr>
          </a:lstStyle>
          <a:p>
            <a:pPr algn="ctr">
              <a:defRPr sz="1425" b="1">
                <a:solidFill>
                  <a:srgbClr val="38AFA2"/>
                </a:solidFill>
                <a:latin typeface="Arial"/>
                <a:ea typeface="Arial"/>
                <a:cs typeface="Arial"/>
              </a:defRPr>
            </a:pPr>
            <a:r>
              <a:rPr sz="1425" b="1">
                <a:solidFill>
                  <a:srgbClr val="38AFA2"/>
                </a:solidFill>
                <a:latin typeface="Arial"/>
                <a:ea typeface="Arial"/>
                <a:cs typeface="Arial"/>
              </a:rPr>
              <a:t>B</a:t>
            </a:r>
          </a:p>
        </p:txBody>
      </p:sp>
      <p:sp>
        <p:nvSpPr>
          <p:cNvPr id="209" name="person-diagram-131">
            <a:extLst>
              <a:ext uri="{FF2B5EF4-FFF2-40B4-BE49-F238E27FC236}">
                <a16:creationId xmlns:a16="http://schemas.microsoft.com/office/drawing/2014/main" id="{A316F942-5125-45E3-88F4-4CBDDA0ECAD8}"/>
              </a:ext>
            </a:extLst>
          </p:cNvPr>
          <p:cNvSpPr>
            <a:spLocks noGrp="1"/>
          </p:cNvSpPr>
          <p:nvPr/>
        </p:nvSpPr>
        <p:spPr>
          <a:xfrm>
            <a:off x="9305925" y="2114550"/>
            <a:ext cx="114300" cy="114300"/>
          </a:xfrm>
          <a:prstGeom prst="ellipse">
            <a:avLst/>
          </a:prstGeom>
          <a:solidFill>
            <a:srgbClr val="1B1D63"/>
          </a:solidFill>
          <a:ln w="0">
            <a:noFill/>
          </a:ln>
        </p:spPr>
        <p:txBody>
          <a:bodyPr/>
          <a:lstStyle/>
          <a:p>
            <a:endParaRPr lang="zh-CN" altLang="en-US"/>
          </a:p>
        </p:txBody>
      </p:sp>
      <p:sp>
        <p:nvSpPr>
          <p:cNvPr id="210" name="diagram-line-132">
            <a:extLst>
              <a:ext uri="{FF2B5EF4-FFF2-40B4-BE49-F238E27FC236}">
                <a16:creationId xmlns:a16="http://schemas.microsoft.com/office/drawing/2014/main" id="{9D9397C0-48E4-49C6-886C-FA94D316101E}"/>
              </a:ext>
            </a:extLst>
          </p:cNvPr>
          <p:cNvSpPr>
            <a:spLocks noGrp="1"/>
          </p:cNvSpPr>
          <p:nvPr/>
        </p:nvSpPr>
        <p:spPr>
          <a:xfrm>
            <a:off x="9363075" y="2247900"/>
            <a:ext cx="953" cy="247650"/>
          </a:xfrm>
          <a:prstGeom prst="line">
            <a:avLst/>
          </a:prstGeom>
          <a:noFill/>
          <a:ln w="28575">
            <a:solidFill>
              <a:srgbClr val="1B1D63"/>
            </a:solidFill>
          </a:ln>
        </p:spPr>
        <p:txBody>
          <a:bodyPr/>
          <a:lstStyle/>
          <a:p>
            <a:endParaRPr lang="zh-CN" altLang="en-US"/>
          </a:p>
        </p:txBody>
      </p:sp>
      <p:sp>
        <p:nvSpPr>
          <p:cNvPr id="211" name="diagram-line-133">
            <a:extLst>
              <a:ext uri="{FF2B5EF4-FFF2-40B4-BE49-F238E27FC236}">
                <a16:creationId xmlns:a16="http://schemas.microsoft.com/office/drawing/2014/main" id="{43E1C6C7-5A62-4039-B913-B3ECA1EA8142}"/>
              </a:ext>
            </a:extLst>
          </p:cNvPr>
          <p:cNvSpPr>
            <a:spLocks noGrp="1"/>
          </p:cNvSpPr>
          <p:nvPr/>
        </p:nvSpPr>
        <p:spPr>
          <a:xfrm flipH="1">
            <a:off x="9220200" y="2305050"/>
            <a:ext cx="142875" cy="104775"/>
          </a:xfrm>
          <a:prstGeom prst="line">
            <a:avLst/>
          </a:prstGeom>
          <a:noFill/>
          <a:ln w="28575">
            <a:solidFill>
              <a:srgbClr val="1B1D63"/>
            </a:solidFill>
          </a:ln>
        </p:spPr>
        <p:txBody>
          <a:bodyPr/>
          <a:lstStyle/>
          <a:p>
            <a:endParaRPr lang="zh-CN" altLang="en-US"/>
          </a:p>
        </p:txBody>
      </p:sp>
      <p:sp>
        <p:nvSpPr>
          <p:cNvPr id="212" name="diagram-line-134">
            <a:extLst>
              <a:ext uri="{FF2B5EF4-FFF2-40B4-BE49-F238E27FC236}">
                <a16:creationId xmlns:a16="http://schemas.microsoft.com/office/drawing/2014/main" id="{0630D399-100E-456B-A8C6-DFCB3AEBDFA3}"/>
              </a:ext>
            </a:extLst>
          </p:cNvPr>
          <p:cNvSpPr>
            <a:spLocks noGrp="1"/>
          </p:cNvSpPr>
          <p:nvPr/>
        </p:nvSpPr>
        <p:spPr>
          <a:xfrm>
            <a:off x="9363075" y="2305050"/>
            <a:ext cx="142875" cy="104775"/>
          </a:xfrm>
          <a:prstGeom prst="line">
            <a:avLst/>
          </a:prstGeom>
          <a:noFill/>
          <a:ln w="28575">
            <a:solidFill>
              <a:srgbClr val="1B1D63"/>
            </a:solidFill>
          </a:ln>
        </p:spPr>
        <p:txBody>
          <a:bodyPr/>
          <a:lstStyle/>
          <a:p>
            <a:endParaRPr lang="zh-CN" altLang="en-US"/>
          </a:p>
        </p:txBody>
      </p:sp>
      <p:sp>
        <p:nvSpPr>
          <p:cNvPr id="213" name="diagram-line-135">
            <a:extLst>
              <a:ext uri="{FF2B5EF4-FFF2-40B4-BE49-F238E27FC236}">
                <a16:creationId xmlns:a16="http://schemas.microsoft.com/office/drawing/2014/main" id="{9D1EEF12-2CB9-4A72-B3E1-2C04D028FC20}"/>
              </a:ext>
            </a:extLst>
          </p:cNvPr>
          <p:cNvSpPr>
            <a:spLocks noGrp="1"/>
          </p:cNvSpPr>
          <p:nvPr/>
        </p:nvSpPr>
        <p:spPr>
          <a:xfrm flipH="1">
            <a:off x="9248775" y="2495550"/>
            <a:ext cx="114300" cy="180975"/>
          </a:xfrm>
          <a:prstGeom prst="line">
            <a:avLst/>
          </a:prstGeom>
          <a:noFill/>
          <a:ln w="28575">
            <a:solidFill>
              <a:srgbClr val="1B1D63"/>
            </a:solidFill>
          </a:ln>
        </p:spPr>
        <p:txBody>
          <a:bodyPr/>
          <a:lstStyle/>
          <a:p>
            <a:endParaRPr lang="zh-CN" altLang="en-US"/>
          </a:p>
        </p:txBody>
      </p:sp>
      <p:sp>
        <p:nvSpPr>
          <p:cNvPr id="214" name="diagram-line-136">
            <a:extLst>
              <a:ext uri="{FF2B5EF4-FFF2-40B4-BE49-F238E27FC236}">
                <a16:creationId xmlns:a16="http://schemas.microsoft.com/office/drawing/2014/main" id="{2F55E56E-A445-46D1-AA9F-68105ED2C7C0}"/>
              </a:ext>
            </a:extLst>
          </p:cNvPr>
          <p:cNvSpPr>
            <a:spLocks noGrp="1"/>
          </p:cNvSpPr>
          <p:nvPr/>
        </p:nvSpPr>
        <p:spPr>
          <a:xfrm>
            <a:off x="9363075" y="2495550"/>
            <a:ext cx="114300" cy="180975"/>
          </a:xfrm>
          <a:prstGeom prst="line">
            <a:avLst/>
          </a:prstGeom>
          <a:noFill/>
          <a:ln w="28575">
            <a:solidFill>
              <a:srgbClr val="1B1D63"/>
            </a:solidFill>
          </a:ln>
        </p:spPr>
        <p:txBody>
          <a:bodyPr/>
          <a:lstStyle/>
          <a:p>
            <a:endParaRPr lang="zh-CN" altLang="en-US"/>
          </a:p>
        </p:txBody>
      </p:sp>
      <p:sp>
        <p:nvSpPr>
          <p:cNvPr id="215" name="person-diagram-137">
            <a:extLst>
              <a:ext uri="{FF2B5EF4-FFF2-40B4-BE49-F238E27FC236}">
                <a16:creationId xmlns:a16="http://schemas.microsoft.com/office/drawing/2014/main" id="{B3380641-1A9A-4F0F-AC22-FF3AA4C6B7DE}"/>
              </a:ext>
            </a:extLst>
          </p:cNvPr>
          <p:cNvSpPr>
            <a:spLocks noGrp="1"/>
          </p:cNvSpPr>
          <p:nvPr/>
        </p:nvSpPr>
        <p:spPr>
          <a:xfrm>
            <a:off x="9201150" y="2733675"/>
            <a:ext cx="323850" cy="238125"/>
          </a:xfrm>
          <a:prstGeom prst="rect">
            <a:avLst/>
          </a:prstGeom>
          <a:noFill/>
          <a:ln w="0">
            <a:noFill/>
          </a:ln>
        </p:spPr>
        <p:txBody>
          <a:bodyPr lIns="0" tIns="0" rIns="0" bIns="0" anchor="ctr">
            <a:noAutofit/>
          </a:bodyPr>
          <a:lstStyle>
            <a:defPPr algn="ctr">
              <a:defRPr sz="1425" b="1">
                <a:solidFill>
                  <a:srgbClr val="1B1D63"/>
                </a:solidFill>
                <a:latin typeface="Arial"/>
                <a:ea typeface="Arial"/>
                <a:cs typeface="Arial"/>
              </a:defRPr>
            </a:defPPr>
          </a:lstStyle>
          <a:p>
            <a:pPr algn="ctr">
              <a:defRPr sz="1425" b="1">
                <a:solidFill>
                  <a:srgbClr val="1B1D63"/>
                </a:solidFill>
                <a:latin typeface="Arial"/>
                <a:ea typeface="Arial"/>
                <a:cs typeface="Arial"/>
              </a:defRPr>
            </a:pPr>
            <a:r>
              <a:rPr sz="1425" b="1">
                <a:solidFill>
                  <a:srgbClr val="1B1D63"/>
                </a:solidFill>
                <a:latin typeface="Arial"/>
                <a:ea typeface="Arial"/>
                <a:cs typeface="Arial"/>
              </a:rPr>
              <a:t>A</a:t>
            </a:r>
          </a:p>
        </p:txBody>
      </p:sp>
      <p:sp>
        <p:nvSpPr>
          <p:cNvPr id="216" name="person-diagram-138">
            <a:extLst>
              <a:ext uri="{FF2B5EF4-FFF2-40B4-BE49-F238E27FC236}">
                <a16:creationId xmlns:a16="http://schemas.microsoft.com/office/drawing/2014/main" id="{5793D580-985D-4B69-A8CB-2F29FE7C877C}"/>
              </a:ext>
            </a:extLst>
          </p:cNvPr>
          <p:cNvSpPr>
            <a:spLocks noGrp="1"/>
          </p:cNvSpPr>
          <p:nvPr/>
        </p:nvSpPr>
        <p:spPr>
          <a:xfrm>
            <a:off x="9305925" y="3333750"/>
            <a:ext cx="114300" cy="114300"/>
          </a:xfrm>
          <a:prstGeom prst="ellipse">
            <a:avLst/>
          </a:prstGeom>
          <a:solidFill>
            <a:srgbClr val="38AFA2"/>
          </a:solidFill>
          <a:ln w="0">
            <a:noFill/>
          </a:ln>
        </p:spPr>
        <p:txBody>
          <a:bodyPr/>
          <a:lstStyle/>
          <a:p>
            <a:endParaRPr lang="zh-CN" altLang="en-US"/>
          </a:p>
        </p:txBody>
      </p:sp>
      <p:sp>
        <p:nvSpPr>
          <p:cNvPr id="217" name="diagram-line-139">
            <a:extLst>
              <a:ext uri="{FF2B5EF4-FFF2-40B4-BE49-F238E27FC236}">
                <a16:creationId xmlns:a16="http://schemas.microsoft.com/office/drawing/2014/main" id="{CC250852-7111-4B0D-9530-89F617CF1615}"/>
              </a:ext>
            </a:extLst>
          </p:cNvPr>
          <p:cNvSpPr>
            <a:spLocks noGrp="1"/>
          </p:cNvSpPr>
          <p:nvPr/>
        </p:nvSpPr>
        <p:spPr>
          <a:xfrm>
            <a:off x="9363075" y="3467100"/>
            <a:ext cx="953" cy="247650"/>
          </a:xfrm>
          <a:prstGeom prst="line">
            <a:avLst/>
          </a:prstGeom>
          <a:noFill/>
          <a:ln w="28575">
            <a:solidFill>
              <a:srgbClr val="38AFA2"/>
            </a:solidFill>
          </a:ln>
        </p:spPr>
        <p:txBody>
          <a:bodyPr/>
          <a:lstStyle/>
          <a:p>
            <a:endParaRPr lang="zh-CN" altLang="en-US"/>
          </a:p>
        </p:txBody>
      </p:sp>
      <p:sp>
        <p:nvSpPr>
          <p:cNvPr id="218" name="diagram-line-140">
            <a:extLst>
              <a:ext uri="{FF2B5EF4-FFF2-40B4-BE49-F238E27FC236}">
                <a16:creationId xmlns:a16="http://schemas.microsoft.com/office/drawing/2014/main" id="{4D8634E2-D99E-4D8F-ADC9-C7C06872A452}"/>
              </a:ext>
            </a:extLst>
          </p:cNvPr>
          <p:cNvSpPr>
            <a:spLocks noGrp="1"/>
          </p:cNvSpPr>
          <p:nvPr/>
        </p:nvSpPr>
        <p:spPr>
          <a:xfrm flipH="1">
            <a:off x="9220200" y="3524250"/>
            <a:ext cx="142875" cy="104775"/>
          </a:xfrm>
          <a:prstGeom prst="line">
            <a:avLst/>
          </a:prstGeom>
          <a:noFill/>
          <a:ln w="28575">
            <a:solidFill>
              <a:srgbClr val="38AFA2"/>
            </a:solidFill>
          </a:ln>
        </p:spPr>
        <p:txBody>
          <a:bodyPr/>
          <a:lstStyle/>
          <a:p>
            <a:endParaRPr lang="zh-CN" altLang="en-US"/>
          </a:p>
        </p:txBody>
      </p:sp>
      <p:sp>
        <p:nvSpPr>
          <p:cNvPr id="219" name="diagram-line-141">
            <a:extLst>
              <a:ext uri="{FF2B5EF4-FFF2-40B4-BE49-F238E27FC236}">
                <a16:creationId xmlns:a16="http://schemas.microsoft.com/office/drawing/2014/main" id="{CA02E81B-C228-4546-81D9-D84107AAF7E2}"/>
              </a:ext>
            </a:extLst>
          </p:cNvPr>
          <p:cNvSpPr>
            <a:spLocks noGrp="1"/>
          </p:cNvSpPr>
          <p:nvPr/>
        </p:nvSpPr>
        <p:spPr>
          <a:xfrm>
            <a:off x="9363075" y="3524250"/>
            <a:ext cx="142875" cy="104775"/>
          </a:xfrm>
          <a:prstGeom prst="line">
            <a:avLst/>
          </a:prstGeom>
          <a:noFill/>
          <a:ln w="28575">
            <a:solidFill>
              <a:srgbClr val="38AFA2"/>
            </a:solidFill>
          </a:ln>
        </p:spPr>
        <p:txBody>
          <a:bodyPr/>
          <a:lstStyle/>
          <a:p>
            <a:endParaRPr lang="zh-CN" altLang="en-US"/>
          </a:p>
        </p:txBody>
      </p:sp>
      <p:sp>
        <p:nvSpPr>
          <p:cNvPr id="220" name="diagram-line-142">
            <a:extLst>
              <a:ext uri="{FF2B5EF4-FFF2-40B4-BE49-F238E27FC236}">
                <a16:creationId xmlns:a16="http://schemas.microsoft.com/office/drawing/2014/main" id="{61CFC398-7DDC-4885-952B-FB84BB3CD463}"/>
              </a:ext>
            </a:extLst>
          </p:cNvPr>
          <p:cNvSpPr>
            <a:spLocks noGrp="1"/>
          </p:cNvSpPr>
          <p:nvPr/>
        </p:nvSpPr>
        <p:spPr>
          <a:xfrm flipH="1">
            <a:off x="9248775" y="3714750"/>
            <a:ext cx="114300" cy="180975"/>
          </a:xfrm>
          <a:prstGeom prst="line">
            <a:avLst/>
          </a:prstGeom>
          <a:noFill/>
          <a:ln w="28575">
            <a:solidFill>
              <a:srgbClr val="38AFA2"/>
            </a:solidFill>
          </a:ln>
        </p:spPr>
        <p:txBody>
          <a:bodyPr/>
          <a:lstStyle/>
          <a:p>
            <a:endParaRPr lang="zh-CN" altLang="en-US"/>
          </a:p>
        </p:txBody>
      </p:sp>
      <p:sp>
        <p:nvSpPr>
          <p:cNvPr id="221" name="diagram-line-143">
            <a:extLst>
              <a:ext uri="{FF2B5EF4-FFF2-40B4-BE49-F238E27FC236}">
                <a16:creationId xmlns:a16="http://schemas.microsoft.com/office/drawing/2014/main" id="{31903259-A96D-4BBC-A6D1-CB8DA39F36F4}"/>
              </a:ext>
            </a:extLst>
          </p:cNvPr>
          <p:cNvSpPr>
            <a:spLocks noGrp="1"/>
          </p:cNvSpPr>
          <p:nvPr/>
        </p:nvSpPr>
        <p:spPr>
          <a:xfrm>
            <a:off x="9363075" y="3714750"/>
            <a:ext cx="114300" cy="180975"/>
          </a:xfrm>
          <a:prstGeom prst="line">
            <a:avLst/>
          </a:prstGeom>
          <a:noFill/>
          <a:ln w="28575">
            <a:solidFill>
              <a:srgbClr val="38AFA2"/>
            </a:solidFill>
          </a:ln>
        </p:spPr>
        <p:txBody>
          <a:bodyPr/>
          <a:lstStyle/>
          <a:p>
            <a:endParaRPr lang="zh-CN" altLang="en-US"/>
          </a:p>
        </p:txBody>
      </p:sp>
      <p:sp>
        <p:nvSpPr>
          <p:cNvPr id="222" name="person-diagram-144">
            <a:extLst>
              <a:ext uri="{FF2B5EF4-FFF2-40B4-BE49-F238E27FC236}">
                <a16:creationId xmlns:a16="http://schemas.microsoft.com/office/drawing/2014/main" id="{3270DAE3-00DA-4399-9C0A-D5E358F6B0E0}"/>
              </a:ext>
            </a:extLst>
          </p:cNvPr>
          <p:cNvSpPr>
            <a:spLocks noGrp="1"/>
          </p:cNvSpPr>
          <p:nvPr/>
        </p:nvSpPr>
        <p:spPr>
          <a:xfrm>
            <a:off x="9201150" y="3952875"/>
            <a:ext cx="323850" cy="238125"/>
          </a:xfrm>
          <a:prstGeom prst="rect">
            <a:avLst/>
          </a:prstGeom>
          <a:noFill/>
          <a:ln w="0">
            <a:noFill/>
          </a:ln>
        </p:spPr>
        <p:txBody>
          <a:bodyPr lIns="0" tIns="0" rIns="0" bIns="0" anchor="ctr">
            <a:noAutofit/>
          </a:bodyPr>
          <a:lstStyle>
            <a:defPPr algn="ctr">
              <a:defRPr sz="1425" b="1">
                <a:solidFill>
                  <a:srgbClr val="38AFA2"/>
                </a:solidFill>
                <a:latin typeface="Arial"/>
                <a:ea typeface="Arial"/>
                <a:cs typeface="Arial"/>
              </a:defRPr>
            </a:defPPr>
          </a:lstStyle>
          <a:p>
            <a:pPr algn="ctr">
              <a:defRPr sz="1425" b="1">
                <a:solidFill>
                  <a:srgbClr val="38AFA2"/>
                </a:solidFill>
                <a:latin typeface="Arial"/>
                <a:ea typeface="Arial"/>
                <a:cs typeface="Arial"/>
              </a:defRPr>
            </a:pPr>
            <a:r>
              <a:rPr sz="1425" b="1">
                <a:solidFill>
                  <a:srgbClr val="38AFA2"/>
                </a:solidFill>
                <a:latin typeface="Arial"/>
                <a:ea typeface="Arial"/>
                <a:cs typeface="Arial"/>
              </a:rPr>
              <a:t>B</a:t>
            </a:r>
          </a:p>
        </p:txBody>
      </p:sp>
      <p:sp>
        <p:nvSpPr>
          <p:cNvPr id="223" name="person-diagram-145">
            <a:extLst>
              <a:ext uri="{FF2B5EF4-FFF2-40B4-BE49-F238E27FC236}">
                <a16:creationId xmlns:a16="http://schemas.microsoft.com/office/drawing/2014/main" id="{D33DB880-809A-41A1-953E-CA657B3E8D99}"/>
              </a:ext>
            </a:extLst>
          </p:cNvPr>
          <p:cNvSpPr>
            <a:spLocks noGrp="1"/>
          </p:cNvSpPr>
          <p:nvPr/>
        </p:nvSpPr>
        <p:spPr>
          <a:xfrm>
            <a:off x="10058400" y="2114550"/>
            <a:ext cx="114300" cy="114300"/>
          </a:xfrm>
          <a:prstGeom prst="ellipse">
            <a:avLst/>
          </a:prstGeom>
          <a:solidFill>
            <a:srgbClr val="38AFA2"/>
          </a:solidFill>
          <a:ln w="0">
            <a:noFill/>
          </a:ln>
        </p:spPr>
        <p:txBody>
          <a:bodyPr/>
          <a:lstStyle/>
          <a:p>
            <a:endParaRPr lang="zh-CN" altLang="en-US"/>
          </a:p>
        </p:txBody>
      </p:sp>
      <p:sp>
        <p:nvSpPr>
          <p:cNvPr id="224" name="diagram-line-146">
            <a:extLst>
              <a:ext uri="{FF2B5EF4-FFF2-40B4-BE49-F238E27FC236}">
                <a16:creationId xmlns:a16="http://schemas.microsoft.com/office/drawing/2014/main" id="{4E9404F2-0780-4210-84FF-8B404F7B3FB9}"/>
              </a:ext>
            </a:extLst>
          </p:cNvPr>
          <p:cNvSpPr>
            <a:spLocks noGrp="1"/>
          </p:cNvSpPr>
          <p:nvPr/>
        </p:nvSpPr>
        <p:spPr>
          <a:xfrm>
            <a:off x="10115550" y="2247900"/>
            <a:ext cx="953" cy="247650"/>
          </a:xfrm>
          <a:prstGeom prst="line">
            <a:avLst/>
          </a:prstGeom>
          <a:noFill/>
          <a:ln w="28575">
            <a:solidFill>
              <a:srgbClr val="38AFA2"/>
            </a:solidFill>
          </a:ln>
        </p:spPr>
        <p:txBody>
          <a:bodyPr/>
          <a:lstStyle/>
          <a:p>
            <a:endParaRPr lang="zh-CN" altLang="en-US"/>
          </a:p>
        </p:txBody>
      </p:sp>
      <p:sp>
        <p:nvSpPr>
          <p:cNvPr id="225" name="diagram-line-147">
            <a:extLst>
              <a:ext uri="{FF2B5EF4-FFF2-40B4-BE49-F238E27FC236}">
                <a16:creationId xmlns:a16="http://schemas.microsoft.com/office/drawing/2014/main" id="{172F5BE5-E9B3-4506-BEF1-B73ABCF73784}"/>
              </a:ext>
            </a:extLst>
          </p:cNvPr>
          <p:cNvSpPr>
            <a:spLocks noGrp="1"/>
          </p:cNvSpPr>
          <p:nvPr/>
        </p:nvSpPr>
        <p:spPr>
          <a:xfrm flipH="1">
            <a:off x="9972675" y="2305050"/>
            <a:ext cx="142875" cy="104775"/>
          </a:xfrm>
          <a:prstGeom prst="line">
            <a:avLst/>
          </a:prstGeom>
          <a:noFill/>
          <a:ln w="28575">
            <a:solidFill>
              <a:srgbClr val="38AFA2"/>
            </a:solidFill>
          </a:ln>
        </p:spPr>
        <p:txBody>
          <a:bodyPr/>
          <a:lstStyle/>
          <a:p>
            <a:endParaRPr lang="zh-CN" altLang="en-US"/>
          </a:p>
        </p:txBody>
      </p:sp>
      <p:sp>
        <p:nvSpPr>
          <p:cNvPr id="226" name="diagram-line-148">
            <a:extLst>
              <a:ext uri="{FF2B5EF4-FFF2-40B4-BE49-F238E27FC236}">
                <a16:creationId xmlns:a16="http://schemas.microsoft.com/office/drawing/2014/main" id="{E2667E6D-1BA8-422A-B386-03482AA05F29}"/>
              </a:ext>
            </a:extLst>
          </p:cNvPr>
          <p:cNvSpPr>
            <a:spLocks noGrp="1"/>
          </p:cNvSpPr>
          <p:nvPr/>
        </p:nvSpPr>
        <p:spPr>
          <a:xfrm>
            <a:off x="10115550" y="2305050"/>
            <a:ext cx="142875" cy="104775"/>
          </a:xfrm>
          <a:prstGeom prst="line">
            <a:avLst/>
          </a:prstGeom>
          <a:noFill/>
          <a:ln w="28575">
            <a:solidFill>
              <a:srgbClr val="38AFA2"/>
            </a:solidFill>
          </a:ln>
        </p:spPr>
        <p:txBody>
          <a:bodyPr/>
          <a:lstStyle/>
          <a:p>
            <a:endParaRPr lang="zh-CN" altLang="en-US"/>
          </a:p>
        </p:txBody>
      </p:sp>
      <p:sp>
        <p:nvSpPr>
          <p:cNvPr id="227" name="diagram-line-149">
            <a:extLst>
              <a:ext uri="{FF2B5EF4-FFF2-40B4-BE49-F238E27FC236}">
                <a16:creationId xmlns:a16="http://schemas.microsoft.com/office/drawing/2014/main" id="{9290341D-037D-4E31-B800-99945C14F55B}"/>
              </a:ext>
            </a:extLst>
          </p:cNvPr>
          <p:cNvSpPr>
            <a:spLocks noGrp="1"/>
          </p:cNvSpPr>
          <p:nvPr/>
        </p:nvSpPr>
        <p:spPr>
          <a:xfrm flipH="1">
            <a:off x="10001250" y="2495550"/>
            <a:ext cx="114300" cy="180975"/>
          </a:xfrm>
          <a:prstGeom prst="line">
            <a:avLst/>
          </a:prstGeom>
          <a:noFill/>
          <a:ln w="28575">
            <a:solidFill>
              <a:srgbClr val="38AFA2"/>
            </a:solidFill>
          </a:ln>
        </p:spPr>
        <p:txBody>
          <a:bodyPr/>
          <a:lstStyle/>
          <a:p>
            <a:endParaRPr lang="zh-CN" altLang="en-US"/>
          </a:p>
        </p:txBody>
      </p:sp>
      <p:sp>
        <p:nvSpPr>
          <p:cNvPr id="228" name="diagram-line-150">
            <a:extLst>
              <a:ext uri="{FF2B5EF4-FFF2-40B4-BE49-F238E27FC236}">
                <a16:creationId xmlns:a16="http://schemas.microsoft.com/office/drawing/2014/main" id="{E0715589-B3B9-46FD-9EA8-1F7DE1526387}"/>
              </a:ext>
            </a:extLst>
          </p:cNvPr>
          <p:cNvSpPr>
            <a:spLocks noGrp="1"/>
          </p:cNvSpPr>
          <p:nvPr/>
        </p:nvSpPr>
        <p:spPr>
          <a:xfrm>
            <a:off x="10115550" y="2495550"/>
            <a:ext cx="114300" cy="180975"/>
          </a:xfrm>
          <a:prstGeom prst="line">
            <a:avLst/>
          </a:prstGeom>
          <a:noFill/>
          <a:ln w="28575">
            <a:solidFill>
              <a:srgbClr val="38AFA2"/>
            </a:solidFill>
          </a:ln>
        </p:spPr>
        <p:txBody>
          <a:bodyPr/>
          <a:lstStyle/>
          <a:p>
            <a:endParaRPr lang="zh-CN" altLang="en-US"/>
          </a:p>
        </p:txBody>
      </p:sp>
      <p:sp>
        <p:nvSpPr>
          <p:cNvPr id="229" name="person-diagram-151">
            <a:extLst>
              <a:ext uri="{FF2B5EF4-FFF2-40B4-BE49-F238E27FC236}">
                <a16:creationId xmlns:a16="http://schemas.microsoft.com/office/drawing/2014/main" id="{3D612E4F-72A0-439B-9396-1A30C8BE1270}"/>
              </a:ext>
            </a:extLst>
          </p:cNvPr>
          <p:cNvSpPr>
            <a:spLocks noGrp="1"/>
          </p:cNvSpPr>
          <p:nvPr/>
        </p:nvSpPr>
        <p:spPr>
          <a:xfrm>
            <a:off x="9953625" y="2733675"/>
            <a:ext cx="323850" cy="238125"/>
          </a:xfrm>
          <a:prstGeom prst="rect">
            <a:avLst/>
          </a:prstGeom>
          <a:noFill/>
          <a:ln w="0">
            <a:noFill/>
          </a:ln>
        </p:spPr>
        <p:txBody>
          <a:bodyPr lIns="0" tIns="0" rIns="0" bIns="0" anchor="ctr">
            <a:noAutofit/>
          </a:bodyPr>
          <a:lstStyle>
            <a:defPPr algn="ctr">
              <a:defRPr sz="1425" b="1">
                <a:solidFill>
                  <a:srgbClr val="38AFA2"/>
                </a:solidFill>
                <a:latin typeface="Arial"/>
                <a:ea typeface="Arial"/>
                <a:cs typeface="Arial"/>
              </a:defRPr>
            </a:defPPr>
          </a:lstStyle>
          <a:p>
            <a:pPr algn="ctr">
              <a:defRPr sz="1425" b="1">
                <a:solidFill>
                  <a:srgbClr val="38AFA2"/>
                </a:solidFill>
                <a:latin typeface="Arial"/>
                <a:ea typeface="Arial"/>
                <a:cs typeface="Arial"/>
              </a:defRPr>
            </a:pPr>
            <a:r>
              <a:rPr sz="1425" b="1">
                <a:solidFill>
                  <a:srgbClr val="38AFA2"/>
                </a:solidFill>
                <a:latin typeface="Arial"/>
                <a:ea typeface="Arial"/>
                <a:cs typeface="Arial"/>
              </a:rPr>
              <a:t>B</a:t>
            </a:r>
          </a:p>
        </p:txBody>
      </p:sp>
      <p:sp>
        <p:nvSpPr>
          <p:cNvPr id="230" name="person-diagram-152">
            <a:extLst>
              <a:ext uri="{FF2B5EF4-FFF2-40B4-BE49-F238E27FC236}">
                <a16:creationId xmlns:a16="http://schemas.microsoft.com/office/drawing/2014/main" id="{C5D28E2F-965D-4F56-A57B-CD5730EC3A92}"/>
              </a:ext>
            </a:extLst>
          </p:cNvPr>
          <p:cNvSpPr>
            <a:spLocks noGrp="1"/>
          </p:cNvSpPr>
          <p:nvPr/>
        </p:nvSpPr>
        <p:spPr>
          <a:xfrm>
            <a:off x="10058400" y="3333750"/>
            <a:ext cx="114300" cy="114300"/>
          </a:xfrm>
          <a:prstGeom prst="ellipse">
            <a:avLst/>
          </a:prstGeom>
          <a:solidFill>
            <a:srgbClr val="1B1D63"/>
          </a:solidFill>
          <a:ln w="0">
            <a:noFill/>
          </a:ln>
        </p:spPr>
        <p:txBody>
          <a:bodyPr/>
          <a:lstStyle/>
          <a:p>
            <a:endParaRPr lang="zh-CN" altLang="en-US"/>
          </a:p>
        </p:txBody>
      </p:sp>
      <p:sp>
        <p:nvSpPr>
          <p:cNvPr id="231" name="diagram-line-153">
            <a:extLst>
              <a:ext uri="{FF2B5EF4-FFF2-40B4-BE49-F238E27FC236}">
                <a16:creationId xmlns:a16="http://schemas.microsoft.com/office/drawing/2014/main" id="{D8277801-8AF3-43D2-9D06-248AE0E27E49}"/>
              </a:ext>
            </a:extLst>
          </p:cNvPr>
          <p:cNvSpPr>
            <a:spLocks noGrp="1"/>
          </p:cNvSpPr>
          <p:nvPr/>
        </p:nvSpPr>
        <p:spPr>
          <a:xfrm>
            <a:off x="10115550" y="3467100"/>
            <a:ext cx="953" cy="247650"/>
          </a:xfrm>
          <a:prstGeom prst="line">
            <a:avLst/>
          </a:prstGeom>
          <a:noFill/>
          <a:ln w="28575">
            <a:solidFill>
              <a:srgbClr val="1B1D63"/>
            </a:solidFill>
          </a:ln>
        </p:spPr>
        <p:txBody>
          <a:bodyPr/>
          <a:lstStyle/>
          <a:p>
            <a:endParaRPr lang="zh-CN" altLang="en-US"/>
          </a:p>
        </p:txBody>
      </p:sp>
      <p:sp>
        <p:nvSpPr>
          <p:cNvPr id="232" name="diagram-line-154">
            <a:extLst>
              <a:ext uri="{FF2B5EF4-FFF2-40B4-BE49-F238E27FC236}">
                <a16:creationId xmlns:a16="http://schemas.microsoft.com/office/drawing/2014/main" id="{52F5D7AA-6595-419B-9D56-1AD15D6D2FE3}"/>
              </a:ext>
            </a:extLst>
          </p:cNvPr>
          <p:cNvSpPr>
            <a:spLocks noGrp="1"/>
          </p:cNvSpPr>
          <p:nvPr/>
        </p:nvSpPr>
        <p:spPr>
          <a:xfrm flipH="1">
            <a:off x="9972675" y="3524250"/>
            <a:ext cx="142875" cy="104775"/>
          </a:xfrm>
          <a:prstGeom prst="line">
            <a:avLst/>
          </a:prstGeom>
          <a:noFill/>
          <a:ln w="28575">
            <a:solidFill>
              <a:srgbClr val="1B1D63"/>
            </a:solidFill>
          </a:ln>
        </p:spPr>
        <p:txBody>
          <a:bodyPr/>
          <a:lstStyle/>
          <a:p>
            <a:endParaRPr lang="zh-CN" altLang="en-US"/>
          </a:p>
        </p:txBody>
      </p:sp>
      <p:sp>
        <p:nvSpPr>
          <p:cNvPr id="233" name="diagram-line-155">
            <a:extLst>
              <a:ext uri="{FF2B5EF4-FFF2-40B4-BE49-F238E27FC236}">
                <a16:creationId xmlns:a16="http://schemas.microsoft.com/office/drawing/2014/main" id="{93A2B500-AF47-43DF-9504-FBD36C972C71}"/>
              </a:ext>
            </a:extLst>
          </p:cNvPr>
          <p:cNvSpPr>
            <a:spLocks noGrp="1"/>
          </p:cNvSpPr>
          <p:nvPr/>
        </p:nvSpPr>
        <p:spPr>
          <a:xfrm>
            <a:off x="10115550" y="3524250"/>
            <a:ext cx="142875" cy="104775"/>
          </a:xfrm>
          <a:prstGeom prst="line">
            <a:avLst/>
          </a:prstGeom>
          <a:noFill/>
          <a:ln w="28575">
            <a:solidFill>
              <a:srgbClr val="1B1D63"/>
            </a:solidFill>
          </a:ln>
        </p:spPr>
        <p:txBody>
          <a:bodyPr/>
          <a:lstStyle/>
          <a:p>
            <a:endParaRPr lang="zh-CN" altLang="en-US"/>
          </a:p>
        </p:txBody>
      </p:sp>
      <p:sp>
        <p:nvSpPr>
          <p:cNvPr id="234" name="diagram-line-156">
            <a:extLst>
              <a:ext uri="{FF2B5EF4-FFF2-40B4-BE49-F238E27FC236}">
                <a16:creationId xmlns:a16="http://schemas.microsoft.com/office/drawing/2014/main" id="{54E4C3B7-4179-4F06-89B0-3E765C8B70A5}"/>
              </a:ext>
            </a:extLst>
          </p:cNvPr>
          <p:cNvSpPr>
            <a:spLocks noGrp="1"/>
          </p:cNvSpPr>
          <p:nvPr/>
        </p:nvSpPr>
        <p:spPr>
          <a:xfrm flipH="1">
            <a:off x="10001250" y="3714750"/>
            <a:ext cx="114300" cy="180975"/>
          </a:xfrm>
          <a:prstGeom prst="line">
            <a:avLst/>
          </a:prstGeom>
          <a:noFill/>
          <a:ln w="28575">
            <a:solidFill>
              <a:srgbClr val="1B1D63"/>
            </a:solidFill>
          </a:ln>
        </p:spPr>
        <p:txBody>
          <a:bodyPr/>
          <a:lstStyle/>
          <a:p>
            <a:endParaRPr lang="zh-CN" altLang="en-US"/>
          </a:p>
        </p:txBody>
      </p:sp>
      <p:sp>
        <p:nvSpPr>
          <p:cNvPr id="235" name="diagram-line-157">
            <a:extLst>
              <a:ext uri="{FF2B5EF4-FFF2-40B4-BE49-F238E27FC236}">
                <a16:creationId xmlns:a16="http://schemas.microsoft.com/office/drawing/2014/main" id="{1DD95AE8-6DC7-4067-90C1-EB7F05EE5E23}"/>
              </a:ext>
            </a:extLst>
          </p:cNvPr>
          <p:cNvSpPr>
            <a:spLocks noGrp="1"/>
          </p:cNvSpPr>
          <p:nvPr/>
        </p:nvSpPr>
        <p:spPr>
          <a:xfrm>
            <a:off x="10115550" y="3714750"/>
            <a:ext cx="114300" cy="180975"/>
          </a:xfrm>
          <a:prstGeom prst="line">
            <a:avLst/>
          </a:prstGeom>
          <a:noFill/>
          <a:ln w="28575">
            <a:solidFill>
              <a:srgbClr val="1B1D63"/>
            </a:solidFill>
          </a:ln>
        </p:spPr>
        <p:txBody>
          <a:bodyPr/>
          <a:lstStyle/>
          <a:p>
            <a:endParaRPr lang="zh-CN" altLang="en-US"/>
          </a:p>
        </p:txBody>
      </p:sp>
      <p:sp>
        <p:nvSpPr>
          <p:cNvPr id="236" name="person-diagram-158">
            <a:extLst>
              <a:ext uri="{FF2B5EF4-FFF2-40B4-BE49-F238E27FC236}">
                <a16:creationId xmlns:a16="http://schemas.microsoft.com/office/drawing/2014/main" id="{515DA34E-096C-4B7A-B356-82F97609E957}"/>
              </a:ext>
            </a:extLst>
          </p:cNvPr>
          <p:cNvSpPr>
            <a:spLocks noGrp="1"/>
          </p:cNvSpPr>
          <p:nvPr/>
        </p:nvSpPr>
        <p:spPr>
          <a:xfrm>
            <a:off x="9953625" y="3952875"/>
            <a:ext cx="323850" cy="238125"/>
          </a:xfrm>
          <a:prstGeom prst="rect">
            <a:avLst/>
          </a:prstGeom>
          <a:noFill/>
          <a:ln w="0">
            <a:noFill/>
          </a:ln>
        </p:spPr>
        <p:txBody>
          <a:bodyPr lIns="0" tIns="0" rIns="0" bIns="0" anchor="ctr">
            <a:noAutofit/>
          </a:bodyPr>
          <a:lstStyle>
            <a:defPPr algn="ctr">
              <a:defRPr sz="1425" b="1">
                <a:solidFill>
                  <a:srgbClr val="1B1D63"/>
                </a:solidFill>
                <a:latin typeface="Arial"/>
                <a:ea typeface="Arial"/>
                <a:cs typeface="Arial"/>
              </a:defRPr>
            </a:defPPr>
          </a:lstStyle>
          <a:p>
            <a:pPr algn="ctr">
              <a:defRPr sz="1425" b="1">
                <a:solidFill>
                  <a:srgbClr val="1B1D63"/>
                </a:solidFill>
                <a:latin typeface="Arial"/>
                <a:ea typeface="Arial"/>
                <a:cs typeface="Arial"/>
              </a:defRPr>
            </a:pPr>
            <a:r>
              <a:rPr sz="1425" b="1">
                <a:solidFill>
                  <a:srgbClr val="1B1D63"/>
                </a:solidFill>
                <a:latin typeface="Arial"/>
                <a:ea typeface="Arial"/>
                <a:cs typeface="Arial"/>
              </a:rPr>
              <a:t>A</a:t>
            </a:r>
          </a:p>
        </p:txBody>
      </p:sp>
      <p:sp>
        <p:nvSpPr>
          <p:cNvPr id="237" name="person-diagram-159">
            <a:extLst>
              <a:ext uri="{FF2B5EF4-FFF2-40B4-BE49-F238E27FC236}">
                <a16:creationId xmlns:a16="http://schemas.microsoft.com/office/drawing/2014/main" id="{916C815E-69D0-43F5-96E9-D974E9A11E59}"/>
              </a:ext>
            </a:extLst>
          </p:cNvPr>
          <p:cNvSpPr>
            <a:spLocks noGrp="1"/>
          </p:cNvSpPr>
          <p:nvPr/>
        </p:nvSpPr>
        <p:spPr>
          <a:xfrm>
            <a:off x="10810875" y="2114550"/>
            <a:ext cx="114300" cy="114300"/>
          </a:xfrm>
          <a:prstGeom prst="ellipse">
            <a:avLst/>
          </a:prstGeom>
          <a:solidFill>
            <a:srgbClr val="38AFA2"/>
          </a:solidFill>
          <a:ln w="0">
            <a:noFill/>
          </a:ln>
        </p:spPr>
        <p:txBody>
          <a:bodyPr/>
          <a:lstStyle/>
          <a:p>
            <a:endParaRPr lang="zh-CN" altLang="en-US"/>
          </a:p>
        </p:txBody>
      </p:sp>
      <p:sp>
        <p:nvSpPr>
          <p:cNvPr id="238" name="diagram-line-160">
            <a:extLst>
              <a:ext uri="{FF2B5EF4-FFF2-40B4-BE49-F238E27FC236}">
                <a16:creationId xmlns:a16="http://schemas.microsoft.com/office/drawing/2014/main" id="{F2699DC9-102B-4B7C-9A39-B65D8C90E8E3}"/>
              </a:ext>
            </a:extLst>
          </p:cNvPr>
          <p:cNvSpPr>
            <a:spLocks noGrp="1"/>
          </p:cNvSpPr>
          <p:nvPr/>
        </p:nvSpPr>
        <p:spPr>
          <a:xfrm>
            <a:off x="10868025" y="2247900"/>
            <a:ext cx="953" cy="247650"/>
          </a:xfrm>
          <a:prstGeom prst="line">
            <a:avLst/>
          </a:prstGeom>
          <a:noFill/>
          <a:ln w="28575">
            <a:solidFill>
              <a:srgbClr val="38AFA2"/>
            </a:solidFill>
          </a:ln>
        </p:spPr>
        <p:txBody>
          <a:bodyPr/>
          <a:lstStyle/>
          <a:p>
            <a:endParaRPr lang="zh-CN" altLang="en-US"/>
          </a:p>
        </p:txBody>
      </p:sp>
      <p:sp>
        <p:nvSpPr>
          <p:cNvPr id="239" name="diagram-line-161">
            <a:extLst>
              <a:ext uri="{FF2B5EF4-FFF2-40B4-BE49-F238E27FC236}">
                <a16:creationId xmlns:a16="http://schemas.microsoft.com/office/drawing/2014/main" id="{C92BED31-C8F4-4186-9A7B-442BF19118B4}"/>
              </a:ext>
            </a:extLst>
          </p:cNvPr>
          <p:cNvSpPr>
            <a:spLocks noGrp="1"/>
          </p:cNvSpPr>
          <p:nvPr/>
        </p:nvSpPr>
        <p:spPr>
          <a:xfrm flipH="1">
            <a:off x="10725150" y="2305050"/>
            <a:ext cx="142875" cy="104775"/>
          </a:xfrm>
          <a:prstGeom prst="line">
            <a:avLst/>
          </a:prstGeom>
          <a:noFill/>
          <a:ln w="28575">
            <a:solidFill>
              <a:srgbClr val="38AFA2"/>
            </a:solidFill>
          </a:ln>
        </p:spPr>
        <p:txBody>
          <a:bodyPr/>
          <a:lstStyle/>
          <a:p>
            <a:endParaRPr lang="zh-CN" altLang="en-US"/>
          </a:p>
        </p:txBody>
      </p:sp>
      <p:sp>
        <p:nvSpPr>
          <p:cNvPr id="240" name="diagram-line-162">
            <a:extLst>
              <a:ext uri="{FF2B5EF4-FFF2-40B4-BE49-F238E27FC236}">
                <a16:creationId xmlns:a16="http://schemas.microsoft.com/office/drawing/2014/main" id="{84632F77-BC2E-4333-9AEA-B95B74D25F2C}"/>
              </a:ext>
            </a:extLst>
          </p:cNvPr>
          <p:cNvSpPr>
            <a:spLocks noGrp="1"/>
          </p:cNvSpPr>
          <p:nvPr/>
        </p:nvSpPr>
        <p:spPr>
          <a:xfrm>
            <a:off x="10868025" y="2305050"/>
            <a:ext cx="142875" cy="104775"/>
          </a:xfrm>
          <a:prstGeom prst="line">
            <a:avLst/>
          </a:prstGeom>
          <a:noFill/>
          <a:ln w="28575">
            <a:solidFill>
              <a:srgbClr val="38AFA2"/>
            </a:solidFill>
          </a:ln>
        </p:spPr>
        <p:txBody>
          <a:bodyPr/>
          <a:lstStyle/>
          <a:p>
            <a:endParaRPr lang="zh-CN" altLang="en-US"/>
          </a:p>
        </p:txBody>
      </p:sp>
      <p:sp>
        <p:nvSpPr>
          <p:cNvPr id="241" name="diagram-line-163">
            <a:extLst>
              <a:ext uri="{FF2B5EF4-FFF2-40B4-BE49-F238E27FC236}">
                <a16:creationId xmlns:a16="http://schemas.microsoft.com/office/drawing/2014/main" id="{3981AD04-3F19-428A-91DE-D2E01EBE76D0}"/>
              </a:ext>
            </a:extLst>
          </p:cNvPr>
          <p:cNvSpPr>
            <a:spLocks noGrp="1"/>
          </p:cNvSpPr>
          <p:nvPr/>
        </p:nvSpPr>
        <p:spPr>
          <a:xfrm flipH="1">
            <a:off x="10753725" y="2495550"/>
            <a:ext cx="114300" cy="180975"/>
          </a:xfrm>
          <a:prstGeom prst="line">
            <a:avLst/>
          </a:prstGeom>
          <a:noFill/>
          <a:ln w="28575">
            <a:solidFill>
              <a:srgbClr val="38AFA2"/>
            </a:solidFill>
          </a:ln>
        </p:spPr>
        <p:txBody>
          <a:bodyPr/>
          <a:lstStyle/>
          <a:p>
            <a:endParaRPr lang="zh-CN" altLang="en-US"/>
          </a:p>
        </p:txBody>
      </p:sp>
      <p:sp>
        <p:nvSpPr>
          <p:cNvPr id="242" name="diagram-line-164">
            <a:extLst>
              <a:ext uri="{FF2B5EF4-FFF2-40B4-BE49-F238E27FC236}">
                <a16:creationId xmlns:a16="http://schemas.microsoft.com/office/drawing/2014/main" id="{05A51131-75C7-45D7-B75E-63AEC28E9B0A}"/>
              </a:ext>
            </a:extLst>
          </p:cNvPr>
          <p:cNvSpPr>
            <a:spLocks noGrp="1"/>
          </p:cNvSpPr>
          <p:nvPr/>
        </p:nvSpPr>
        <p:spPr>
          <a:xfrm>
            <a:off x="10868025" y="2495550"/>
            <a:ext cx="114300" cy="180975"/>
          </a:xfrm>
          <a:prstGeom prst="line">
            <a:avLst/>
          </a:prstGeom>
          <a:noFill/>
          <a:ln w="28575">
            <a:solidFill>
              <a:srgbClr val="38AFA2"/>
            </a:solidFill>
          </a:ln>
        </p:spPr>
        <p:txBody>
          <a:bodyPr/>
          <a:lstStyle/>
          <a:p>
            <a:endParaRPr lang="zh-CN" altLang="en-US"/>
          </a:p>
        </p:txBody>
      </p:sp>
      <p:sp>
        <p:nvSpPr>
          <p:cNvPr id="243" name="person-diagram-165">
            <a:extLst>
              <a:ext uri="{FF2B5EF4-FFF2-40B4-BE49-F238E27FC236}">
                <a16:creationId xmlns:a16="http://schemas.microsoft.com/office/drawing/2014/main" id="{37354056-FAF5-45D9-9761-E05C536E9021}"/>
              </a:ext>
            </a:extLst>
          </p:cNvPr>
          <p:cNvSpPr>
            <a:spLocks noGrp="1"/>
          </p:cNvSpPr>
          <p:nvPr/>
        </p:nvSpPr>
        <p:spPr>
          <a:xfrm>
            <a:off x="10706100" y="2733675"/>
            <a:ext cx="323850" cy="238125"/>
          </a:xfrm>
          <a:prstGeom prst="rect">
            <a:avLst/>
          </a:prstGeom>
          <a:noFill/>
          <a:ln w="0">
            <a:noFill/>
          </a:ln>
        </p:spPr>
        <p:txBody>
          <a:bodyPr lIns="0" tIns="0" rIns="0" bIns="0" anchor="ctr">
            <a:noAutofit/>
          </a:bodyPr>
          <a:lstStyle>
            <a:defPPr algn="ctr">
              <a:defRPr sz="1425" b="1">
                <a:solidFill>
                  <a:srgbClr val="38AFA2"/>
                </a:solidFill>
                <a:latin typeface="Arial"/>
                <a:ea typeface="Arial"/>
                <a:cs typeface="Arial"/>
              </a:defRPr>
            </a:defPPr>
          </a:lstStyle>
          <a:p>
            <a:pPr algn="ctr">
              <a:defRPr sz="1425" b="1">
                <a:solidFill>
                  <a:srgbClr val="38AFA2"/>
                </a:solidFill>
                <a:latin typeface="Arial"/>
                <a:ea typeface="Arial"/>
                <a:cs typeface="Arial"/>
              </a:defRPr>
            </a:pPr>
            <a:r>
              <a:rPr sz="1425" b="1">
                <a:solidFill>
                  <a:srgbClr val="38AFA2"/>
                </a:solidFill>
                <a:latin typeface="Arial"/>
                <a:ea typeface="Arial"/>
                <a:cs typeface="Arial"/>
              </a:rPr>
              <a:t>B</a:t>
            </a:r>
          </a:p>
        </p:txBody>
      </p:sp>
      <p:sp>
        <p:nvSpPr>
          <p:cNvPr id="244" name="person-diagram-166">
            <a:extLst>
              <a:ext uri="{FF2B5EF4-FFF2-40B4-BE49-F238E27FC236}">
                <a16:creationId xmlns:a16="http://schemas.microsoft.com/office/drawing/2014/main" id="{EC14497A-2C84-49DC-997E-34E23910FAE3}"/>
              </a:ext>
            </a:extLst>
          </p:cNvPr>
          <p:cNvSpPr>
            <a:spLocks noGrp="1"/>
          </p:cNvSpPr>
          <p:nvPr/>
        </p:nvSpPr>
        <p:spPr>
          <a:xfrm>
            <a:off x="10810875" y="3333750"/>
            <a:ext cx="114300" cy="114300"/>
          </a:xfrm>
          <a:prstGeom prst="ellipse">
            <a:avLst/>
          </a:prstGeom>
          <a:solidFill>
            <a:srgbClr val="1B1D63"/>
          </a:solidFill>
          <a:ln w="0">
            <a:noFill/>
          </a:ln>
        </p:spPr>
        <p:txBody>
          <a:bodyPr/>
          <a:lstStyle/>
          <a:p>
            <a:endParaRPr lang="zh-CN" altLang="en-US"/>
          </a:p>
        </p:txBody>
      </p:sp>
      <p:sp>
        <p:nvSpPr>
          <p:cNvPr id="245" name="diagram-line-167">
            <a:extLst>
              <a:ext uri="{FF2B5EF4-FFF2-40B4-BE49-F238E27FC236}">
                <a16:creationId xmlns:a16="http://schemas.microsoft.com/office/drawing/2014/main" id="{E3C9A27B-2247-41CD-8737-42FEB5B85BB5}"/>
              </a:ext>
            </a:extLst>
          </p:cNvPr>
          <p:cNvSpPr>
            <a:spLocks noGrp="1"/>
          </p:cNvSpPr>
          <p:nvPr/>
        </p:nvSpPr>
        <p:spPr>
          <a:xfrm>
            <a:off x="10868025" y="3467100"/>
            <a:ext cx="953" cy="247650"/>
          </a:xfrm>
          <a:prstGeom prst="line">
            <a:avLst/>
          </a:prstGeom>
          <a:noFill/>
          <a:ln w="28575">
            <a:solidFill>
              <a:srgbClr val="1B1D63"/>
            </a:solidFill>
          </a:ln>
        </p:spPr>
        <p:txBody>
          <a:bodyPr/>
          <a:lstStyle/>
          <a:p>
            <a:endParaRPr lang="zh-CN" altLang="en-US"/>
          </a:p>
        </p:txBody>
      </p:sp>
      <p:sp>
        <p:nvSpPr>
          <p:cNvPr id="246" name="diagram-line-168">
            <a:extLst>
              <a:ext uri="{FF2B5EF4-FFF2-40B4-BE49-F238E27FC236}">
                <a16:creationId xmlns:a16="http://schemas.microsoft.com/office/drawing/2014/main" id="{43E18C01-76A7-4D87-8CD7-6804AEBC06F1}"/>
              </a:ext>
            </a:extLst>
          </p:cNvPr>
          <p:cNvSpPr>
            <a:spLocks noGrp="1"/>
          </p:cNvSpPr>
          <p:nvPr/>
        </p:nvSpPr>
        <p:spPr>
          <a:xfrm flipH="1">
            <a:off x="10725150" y="3524250"/>
            <a:ext cx="142875" cy="104775"/>
          </a:xfrm>
          <a:prstGeom prst="line">
            <a:avLst/>
          </a:prstGeom>
          <a:noFill/>
          <a:ln w="28575">
            <a:solidFill>
              <a:srgbClr val="1B1D63"/>
            </a:solidFill>
          </a:ln>
        </p:spPr>
        <p:txBody>
          <a:bodyPr/>
          <a:lstStyle/>
          <a:p>
            <a:endParaRPr lang="zh-CN" altLang="en-US"/>
          </a:p>
        </p:txBody>
      </p:sp>
      <p:sp>
        <p:nvSpPr>
          <p:cNvPr id="247" name="diagram-line-169">
            <a:extLst>
              <a:ext uri="{FF2B5EF4-FFF2-40B4-BE49-F238E27FC236}">
                <a16:creationId xmlns:a16="http://schemas.microsoft.com/office/drawing/2014/main" id="{6868A395-ECE0-4695-8BA6-AF1016A924EC}"/>
              </a:ext>
            </a:extLst>
          </p:cNvPr>
          <p:cNvSpPr>
            <a:spLocks noGrp="1"/>
          </p:cNvSpPr>
          <p:nvPr/>
        </p:nvSpPr>
        <p:spPr>
          <a:xfrm>
            <a:off x="10868025" y="3524250"/>
            <a:ext cx="142875" cy="104775"/>
          </a:xfrm>
          <a:prstGeom prst="line">
            <a:avLst/>
          </a:prstGeom>
          <a:noFill/>
          <a:ln w="28575">
            <a:solidFill>
              <a:srgbClr val="1B1D63"/>
            </a:solidFill>
          </a:ln>
        </p:spPr>
        <p:txBody>
          <a:bodyPr/>
          <a:lstStyle/>
          <a:p>
            <a:endParaRPr lang="zh-CN" altLang="en-US"/>
          </a:p>
        </p:txBody>
      </p:sp>
      <p:sp>
        <p:nvSpPr>
          <p:cNvPr id="248" name="diagram-line-170">
            <a:extLst>
              <a:ext uri="{FF2B5EF4-FFF2-40B4-BE49-F238E27FC236}">
                <a16:creationId xmlns:a16="http://schemas.microsoft.com/office/drawing/2014/main" id="{9F500A15-FE44-4EEE-B573-09940959601E}"/>
              </a:ext>
            </a:extLst>
          </p:cNvPr>
          <p:cNvSpPr>
            <a:spLocks noGrp="1"/>
          </p:cNvSpPr>
          <p:nvPr/>
        </p:nvSpPr>
        <p:spPr>
          <a:xfrm flipH="1">
            <a:off x="10753725" y="3714750"/>
            <a:ext cx="114300" cy="180975"/>
          </a:xfrm>
          <a:prstGeom prst="line">
            <a:avLst/>
          </a:prstGeom>
          <a:noFill/>
          <a:ln w="28575">
            <a:solidFill>
              <a:srgbClr val="1B1D63"/>
            </a:solidFill>
          </a:ln>
        </p:spPr>
        <p:txBody>
          <a:bodyPr/>
          <a:lstStyle/>
          <a:p>
            <a:endParaRPr lang="zh-CN" altLang="en-US"/>
          </a:p>
        </p:txBody>
      </p:sp>
      <p:sp>
        <p:nvSpPr>
          <p:cNvPr id="249" name="diagram-line-171">
            <a:extLst>
              <a:ext uri="{FF2B5EF4-FFF2-40B4-BE49-F238E27FC236}">
                <a16:creationId xmlns:a16="http://schemas.microsoft.com/office/drawing/2014/main" id="{055D7EF1-FE3E-4568-94F2-9307D422ADCE}"/>
              </a:ext>
            </a:extLst>
          </p:cNvPr>
          <p:cNvSpPr>
            <a:spLocks noGrp="1"/>
          </p:cNvSpPr>
          <p:nvPr/>
        </p:nvSpPr>
        <p:spPr>
          <a:xfrm>
            <a:off x="10868025" y="3714750"/>
            <a:ext cx="114300" cy="180975"/>
          </a:xfrm>
          <a:prstGeom prst="line">
            <a:avLst/>
          </a:prstGeom>
          <a:noFill/>
          <a:ln w="28575">
            <a:solidFill>
              <a:srgbClr val="1B1D63"/>
            </a:solidFill>
          </a:ln>
        </p:spPr>
        <p:txBody>
          <a:bodyPr/>
          <a:lstStyle/>
          <a:p>
            <a:endParaRPr lang="zh-CN" altLang="en-US"/>
          </a:p>
        </p:txBody>
      </p:sp>
      <p:sp>
        <p:nvSpPr>
          <p:cNvPr id="250" name="person-diagram-172">
            <a:extLst>
              <a:ext uri="{FF2B5EF4-FFF2-40B4-BE49-F238E27FC236}">
                <a16:creationId xmlns:a16="http://schemas.microsoft.com/office/drawing/2014/main" id="{80708F12-34C0-4D32-A2CA-042A155D8527}"/>
              </a:ext>
            </a:extLst>
          </p:cNvPr>
          <p:cNvSpPr>
            <a:spLocks noGrp="1"/>
          </p:cNvSpPr>
          <p:nvPr/>
        </p:nvSpPr>
        <p:spPr>
          <a:xfrm>
            <a:off x="10706100" y="3952875"/>
            <a:ext cx="323850" cy="238125"/>
          </a:xfrm>
          <a:prstGeom prst="rect">
            <a:avLst/>
          </a:prstGeom>
          <a:noFill/>
          <a:ln w="0">
            <a:noFill/>
          </a:ln>
        </p:spPr>
        <p:txBody>
          <a:bodyPr lIns="0" tIns="0" rIns="0" bIns="0" anchor="ctr">
            <a:noAutofit/>
          </a:bodyPr>
          <a:lstStyle>
            <a:defPPr algn="ctr">
              <a:defRPr sz="1425" b="1">
                <a:solidFill>
                  <a:srgbClr val="1B1D63"/>
                </a:solidFill>
                <a:latin typeface="Arial"/>
                <a:ea typeface="Arial"/>
                <a:cs typeface="Arial"/>
              </a:defRPr>
            </a:defPPr>
          </a:lstStyle>
          <a:p>
            <a:pPr algn="ctr">
              <a:defRPr sz="1425" b="1">
                <a:solidFill>
                  <a:srgbClr val="1B1D63"/>
                </a:solidFill>
                <a:latin typeface="Arial"/>
                <a:ea typeface="Arial"/>
                <a:cs typeface="Arial"/>
              </a:defRPr>
            </a:pPr>
            <a:r>
              <a:rPr sz="1425" b="1">
                <a:solidFill>
                  <a:srgbClr val="1B1D63"/>
                </a:solidFill>
                <a:latin typeface="Arial"/>
                <a:ea typeface="Arial"/>
                <a:cs typeface="Arial"/>
              </a:rPr>
              <a:t>A</a:t>
            </a:r>
          </a:p>
        </p:txBody>
      </p:sp>
      <p:sp>
        <p:nvSpPr>
          <p:cNvPr id="251" name="person-diagram-173">
            <a:extLst>
              <a:ext uri="{FF2B5EF4-FFF2-40B4-BE49-F238E27FC236}">
                <a16:creationId xmlns:a16="http://schemas.microsoft.com/office/drawing/2014/main" id="{94A0E1DE-8E93-4F8D-B3DA-48C060DC50C0}"/>
              </a:ext>
            </a:extLst>
          </p:cNvPr>
          <p:cNvSpPr>
            <a:spLocks noGrp="1"/>
          </p:cNvSpPr>
          <p:nvPr/>
        </p:nvSpPr>
        <p:spPr>
          <a:xfrm>
            <a:off x="7686675" y="4572000"/>
            <a:ext cx="3333750" cy="247650"/>
          </a:xfrm>
          <a:prstGeom prst="rect">
            <a:avLst/>
          </a:prstGeom>
          <a:noFill/>
          <a:ln w="0">
            <a:noFill/>
          </a:ln>
        </p:spPr>
        <p:txBody>
          <a:bodyPr lIns="0" tIns="0" rIns="0" bIns="0" anchor="ctr">
            <a:noAutofit/>
          </a:bodyPr>
          <a:lstStyle>
            <a:defPPr algn="ctr">
              <a:defRPr sz="1350" b="0">
                <a:solidFill>
                  <a:srgbClr val="697386"/>
                </a:solidFill>
                <a:latin typeface="Arial"/>
                <a:ea typeface="Arial"/>
                <a:cs typeface="Arial"/>
              </a:defRPr>
            </a:defPPr>
          </a:lstStyle>
          <a:p>
            <a:pPr algn="ctr">
              <a:defRPr sz="1350" b="0">
                <a:solidFill>
                  <a:srgbClr val="697386"/>
                </a:solidFill>
                <a:latin typeface="Arial"/>
                <a:ea typeface="Arial"/>
                <a:cs typeface="Arial"/>
              </a:defRPr>
            </a:pPr>
            <a:r>
              <a:rPr sz="1350" b="0">
                <a:solidFill>
                  <a:srgbClr val="697386"/>
                </a:solidFill>
                <a:latin typeface="Arial"/>
                <a:ea typeface="Arial"/>
                <a:cs typeface="Arial"/>
              </a:rPr>
              <a:t>Sampled time →</a:t>
            </a:r>
          </a:p>
        </p:txBody>
      </p:sp>
      <p:sp>
        <p:nvSpPr>
          <p:cNvPr id="252" name="diagram-line-174">
            <a:extLst>
              <a:ext uri="{FF2B5EF4-FFF2-40B4-BE49-F238E27FC236}">
                <a16:creationId xmlns:a16="http://schemas.microsoft.com/office/drawing/2014/main" id="{2397C25C-3A17-440E-A867-74A2C3E338C3}"/>
              </a:ext>
            </a:extLst>
          </p:cNvPr>
          <p:cNvSpPr>
            <a:spLocks noGrp="1"/>
          </p:cNvSpPr>
          <p:nvPr/>
        </p:nvSpPr>
        <p:spPr>
          <a:xfrm>
            <a:off x="9734550" y="2009775"/>
            <a:ext cx="953" cy="2362200"/>
          </a:xfrm>
          <a:prstGeom prst="line">
            <a:avLst/>
          </a:prstGeom>
          <a:noFill/>
          <a:ln w="19050">
            <a:solidFill>
              <a:srgbClr val="E31346"/>
            </a:solidFill>
          </a:ln>
        </p:spPr>
        <p:txBody>
          <a:bodyPr/>
          <a:lstStyle/>
          <a:p>
            <a:endParaRPr lang="zh-CN" altLang="en-US"/>
          </a:p>
        </p:txBody>
      </p:sp>
      <p:sp>
        <p:nvSpPr>
          <p:cNvPr id="253" name="person-diagram-175">
            <a:extLst>
              <a:ext uri="{FF2B5EF4-FFF2-40B4-BE49-F238E27FC236}">
                <a16:creationId xmlns:a16="http://schemas.microsoft.com/office/drawing/2014/main" id="{60908CD3-BB63-4E35-8F5E-0D582F0B007B}"/>
              </a:ext>
            </a:extLst>
          </p:cNvPr>
          <p:cNvSpPr>
            <a:spLocks noGrp="1"/>
          </p:cNvSpPr>
          <p:nvPr/>
        </p:nvSpPr>
        <p:spPr>
          <a:xfrm>
            <a:off x="8924925" y="4800600"/>
            <a:ext cx="2000250" cy="247650"/>
          </a:xfrm>
          <a:prstGeom prst="rect">
            <a:avLst/>
          </a:prstGeom>
          <a:noFill/>
          <a:ln w="0">
            <a:noFill/>
          </a:ln>
        </p:spPr>
        <p:txBody>
          <a:bodyPr lIns="0" tIns="0" rIns="0" bIns="0" anchor="ctr">
            <a:noAutofit/>
          </a:bodyPr>
          <a:lstStyle>
            <a:defPPr algn="ctr">
              <a:defRPr sz="1275" b="1">
                <a:solidFill>
                  <a:srgbClr val="E31346"/>
                </a:solidFill>
                <a:latin typeface="Arial"/>
                <a:ea typeface="Arial"/>
                <a:cs typeface="Arial"/>
              </a:defRPr>
            </a:defPPr>
          </a:lstStyle>
          <a:p>
            <a:pPr algn="ctr">
              <a:defRPr sz="1275" b="1">
                <a:solidFill>
                  <a:srgbClr val="E31346"/>
                </a:solidFill>
                <a:latin typeface="Arial"/>
                <a:ea typeface="Arial"/>
                <a:cs typeface="Arial"/>
              </a:defRPr>
            </a:pPr>
            <a:r>
              <a:rPr sz="1275" b="1">
                <a:solidFill>
                  <a:srgbClr val="E31346"/>
                </a:solidFill>
                <a:latin typeface="Arial"/>
                <a:ea typeface="Arial"/>
                <a:cs typeface="Arial"/>
              </a:rPr>
              <a:t>swap boundary</a:t>
            </a:r>
          </a:p>
        </p:txBody>
      </p:sp>
      <p:sp>
        <p:nvSpPr>
          <p:cNvPr id="254" name="person-diagram-176">
            <a:extLst>
              <a:ext uri="{FF2B5EF4-FFF2-40B4-BE49-F238E27FC236}">
                <a16:creationId xmlns:a16="http://schemas.microsoft.com/office/drawing/2014/main" id="{EE80E157-F172-4BC5-B3A4-36629590BB32}"/>
              </a:ext>
            </a:extLst>
          </p:cNvPr>
          <p:cNvSpPr>
            <a:spLocks noGrp="1"/>
          </p:cNvSpPr>
          <p:nvPr/>
        </p:nvSpPr>
        <p:spPr>
          <a:xfrm>
            <a:off x="495300" y="5381625"/>
            <a:ext cx="11220450" cy="304800"/>
          </a:xfrm>
          <a:prstGeom prst="rect">
            <a:avLst/>
          </a:prstGeom>
          <a:noFill/>
          <a:ln w="0">
            <a:noFill/>
          </a:ln>
        </p:spPr>
        <p:txBody>
          <a:bodyPr lIns="0" tIns="0" rIns="0" bIns="0" anchor="ctr">
            <a:noAutofit/>
          </a:bodyPr>
          <a:lstStyle>
            <a:defPPr algn="ctr">
              <a:defRPr sz="1725" b="1">
                <a:solidFill>
                  <a:srgbClr val="1B1D63"/>
                </a:solidFill>
                <a:latin typeface="Arial"/>
                <a:ea typeface="Arial"/>
                <a:cs typeface="Arial"/>
              </a:defRPr>
            </a:defPPr>
          </a:lstStyle>
          <a:p>
            <a:pPr algn="ctr">
              <a:defRPr sz="1725" b="1">
                <a:solidFill>
                  <a:srgbClr val="1B1D63"/>
                </a:solidFill>
                <a:latin typeface="Arial"/>
                <a:ea typeface="Arial"/>
                <a:cs typeface="Arial"/>
              </a:defRPr>
            </a:pPr>
            <a:r>
              <a:rPr sz="1725" b="1">
                <a:solidFill>
                  <a:srgbClr val="1B1D63"/>
                </a:solidFill>
                <a:latin typeface="Arial"/>
                <a:ea typeface="Arial"/>
                <a:cs typeface="Arial"/>
              </a:rPr>
              <a:t>Same skeletons per frame · different slot assignment over time</a:t>
            </a:r>
          </a:p>
        </p:txBody>
      </p:sp>
      <p:sp>
        <p:nvSpPr>
          <p:cNvPr id="255" name="person-diagram-177">
            <a:extLst>
              <a:ext uri="{FF2B5EF4-FFF2-40B4-BE49-F238E27FC236}">
                <a16:creationId xmlns:a16="http://schemas.microsoft.com/office/drawing/2014/main" id="{58E42271-A47D-46DB-8DA5-1C0411353F4B}"/>
              </a:ext>
            </a:extLst>
          </p:cNvPr>
          <p:cNvSpPr>
            <a:spLocks noGrp="1"/>
          </p:cNvSpPr>
          <p:nvPr/>
        </p:nvSpPr>
        <p:spPr>
          <a:xfrm>
            <a:off x="495300" y="5810250"/>
            <a:ext cx="11220450" cy="495300"/>
          </a:xfrm>
          <a:prstGeom prst="roundRect">
            <a:avLst>
              <a:gd name="adj" fmla="val 30769"/>
            </a:avLst>
          </a:prstGeom>
          <a:solidFill>
            <a:srgbClr val="1B1D63"/>
          </a:solidFill>
          <a:ln w="11430">
            <a:solidFill>
              <a:srgbClr val="1B1D63"/>
            </a:solidFill>
          </a:ln>
        </p:spPr>
        <p:txBody>
          <a:bodyPr/>
          <a:lstStyle/>
          <a:p>
            <a:endParaRPr lang="zh-CN" altLang="en-US"/>
          </a:p>
        </p:txBody>
      </p:sp>
      <p:sp>
        <p:nvSpPr>
          <p:cNvPr id="256" name="person-diagram-178">
            <a:extLst>
              <a:ext uri="{FF2B5EF4-FFF2-40B4-BE49-F238E27FC236}">
                <a16:creationId xmlns:a16="http://schemas.microsoft.com/office/drawing/2014/main" id="{24D90C72-314B-4101-B54D-5C1C7A5C6E54}"/>
              </a:ext>
            </a:extLst>
          </p:cNvPr>
          <p:cNvSpPr>
            <a:spLocks noGrp="1"/>
          </p:cNvSpPr>
          <p:nvPr/>
        </p:nvSpPr>
        <p:spPr>
          <a:xfrm>
            <a:off x="723900" y="5857875"/>
            <a:ext cx="10763250" cy="400050"/>
          </a:xfrm>
          <a:prstGeom prst="rect">
            <a:avLst/>
          </a:prstGeom>
          <a:noFill/>
          <a:ln w="0">
            <a:noFill/>
          </a:ln>
        </p:spPr>
        <p:txBody>
          <a:bodyPr lIns="0" tIns="0" rIns="0" bIns="0" anchor="ctr">
            <a:noAutofit/>
          </a:bodyPr>
          <a:lstStyle>
            <a:defPPr algn="ctr">
              <a:defRPr sz="2025" b="1">
                <a:solidFill>
                  <a:srgbClr val="FFFFFF"/>
                </a:solidFill>
                <a:latin typeface="Arial"/>
                <a:ea typeface="Arial"/>
                <a:cs typeface="Arial"/>
              </a:defRPr>
            </a:defPPr>
          </a:lstStyle>
          <a:p>
            <a:pPr algn="ctr">
              <a:defRPr sz="2025" b="1">
                <a:solidFill>
                  <a:srgbClr val="FFFFFF"/>
                </a:solidFill>
                <a:latin typeface="Arial"/>
                <a:ea typeface="Arial"/>
                <a:cs typeface="Arial"/>
              </a:defRPr>
            </a:pPr>
            <a:r>
              <a:rPr sz="2025" b="1">
                <a:solidFill>
                  <a:srgbClr val="FFFFFF"/>
                </a:solidFill>
                <a:latin typeface="Arial"/>
                <a:ea typeface="Arial"/>
                <a:cs typeface="Arial"/>
              </a:rPr>
              <a:t>Does recognition rely on consistent person tracks?</a:t>
            </a:r>
          </a:p>
        </p:txBody>
      </p:sp>
      <p:sp>
        <p:nvSpPr>
          <p:cNvPr id="257" name="person-diagram-179">
            <a:extLst>
              <a:ext uri="{FF2B5EF4-FFF2-40B4-BE49-F238E27FC236}">
                <a16:creationId xmlns:a16="http://schemas.microsoft.com/office/drawing/2014/main" id="{9F6C3BF5-5412-4309-A403-D9B89BE44BFE}"/>
              </a:ext>
            </a:extLst>
          </p:cNvPr>
          <p:cNvSpPr>
            <a:spLocks noGrp="1"/>
          </p:cNvSpPr>
          <p:nvPr/>
        </p:nvSpPr>
        <p:spPr>
          <a:xfrm>
            <a:off x="495300" y="6343650"/>
            <a:ext cx="11220450" cy="190500"/>
          </a:xfrm>
          <a:prstGeom prst="rect">
            <a:avLst/>
          </a:prstGeom>
          <a:noFill/>
          <a:ln w="0">
            <a:noFill/>
          </a:ln>
        </p:spPr>
        <p:txBody>
          <a:bodyPr lIns="0" tIns="0" rIns="0" bIns="0" anchor="ctr">
            <a:noAutofit/>
          </a:bodyPr>
          <a:lstStyle>
            <a:defPPr algn="ctr">
              <a:defRPr sz="1050" b="0">
                <a:solidFill>
                  <a:srgbClr val="697386"/>
                </a:solidFill>
                <a:latin typeface="Arial"/>
                <a:ea typeface="Arial"/>
                <a:cs typeface="Arial"/>
              </a:defRPr>
            </a:defPPr>
          </a:lstStyle>
          <a:p>
            <a:pPr algn="ctr">
              <a:defRPr sz="1050" b="0">
                <a:solidFill>
                  <a:srgbClr val="697386"/>
                </a:solidFill>
                <a:latin typeface="Arial"/>
                <a:ea typeface="Arial"/>
                <a:cs typeface="Arial"/>
              </a:defRPr>
            </a:pPr>
            <a:r>
              <a:rPr sz="1050" b="0">
                <a:solidFill>
                  <a:srgbClr val="697386"/>
                </a:solidFill>
                <a:latin typeface="Arial"/>
                <a:ea typeface="Arial"/>
                <a:cs typeface="Arial"/>
              </a:rPr>
              <a:t>Person A = navy · Person B = teal    |    Track continuity ≠ human identity recognition</a:t>
            </a:r>
          </a:p>
        </p:txBody>
      </p:sp>
    </p:spTree>
    <p:extLst>
      <p:ext uri="{BB962C8B-B14F-4D97-AF65-F5344CB8AC3E}">
        <p14:creationId xmlns:p14="http://schemas.microsoft.com/office/powerpoint/2010/main" val="4579871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0D19F966-A061-5A51-9CB6-F9640CE0D895}"/>
              </a:ext>
            </a:extLst>
          </p:cNvPr>
          <p:cNvSpPr>
            <a:spLocks noGrp="1"/>
          </p:cNvSpPr>
          <p:nvPr/>
        </p:nvSpPr>
        <p:spPr>
          <a:xfrm>
            <a:off x="0" y="0"/>
            <a:ext cx="152400" cy="6858000"/>
          </a:xfrm>
          <a:prstGeom prst="rect">
            <a:avLst/>
          </a:prstGeom>
          <a:solidFill>
            <a:srgbClr val="E31346"/>
          </a:solidFill>
          <a:ln w="0">
            <a:noFill/>
          </a:ln>
        </p:spPr>
        <p:txBody>
          <a:bodyPr/>
          <a:lstStyle/>
          <a:p>
            <a:endParaRPr lang="zh-CN" altLang="en-US"/>
          </a:p>
        </p:txBody>
      </p:sp>
      <p:sp>
        <p:nvSpPr>
          <p:cNvPr id="2" name="矩形 1">
            <a:extLst>
              <a:ext uri="{FF2B5EF4-FFF2-40B4-BE49-F238E27FC236}">
                <a16:creationId xmlns:a16="http://schemas.microsoft.com/office/drawing/2014/main" id="{0403AF2D-F799-5C21-8BA3-8DAA2C0DFB51}"/>
              </a:ext>
            </a:extLst>
          </p:cNvPr>
          <p:cNvSpPr>
            <a:spLocks noGrp="1"/>
          </p:cNvSpPr>
          <p:nvPr/>
        </p:nvSpPr>
        <p:spPr>
          <a:xfrm>
            <a:off x="152400" y="6562725"/>
            <a:ext cx="12039600" cy="295275"/>
          </a:xfrm>
          <a:prstGeom prst="rect">
            <a:avLst/>
          </a:prstGeom>
          <a:solidFill>
            <a:srgbClr val="1B1D63"/>
          </a:solidFill>
          <a:ln w="0">
            <a:noFill/>
          </a:ln>
        </p:spPr>
        <p:txBody>
          <a:bodyPr/>
          <a:lstStyle/>
          <a:p>
            <a:endParaRPr lang="zh-CN" altLang="en-US"/>
          </a:p>
        </p:txBody>
      </p:sp>
      <p:sp>
        <p:nvSpPr>
          <p:cNvPr id="4" name="矩形 3">
            <a:extLst>
              <a:ext uri="{FF2B5EF4-FFF2-40B4-BE49-F238E27FC236}">
                <a16:creationId xmlns:a16="http://schemas.microsoft.com/office/drawing/2014/main" id="{B6F6913D-8727-52D4-AA48-64604D68549B}"/>
              </a:ext>
            </a:extLst>
          </p:cNvPr>
          <p:cNvSpPr>
            <a:spLocks noGrp="1"/>
          </p:cNvSpPr>
          <p:nvPr/>
        </p:nvSpPr>
        <p:spPr>
          <a:xfrm>
            <a:off x="495300" y="723900"/>
            <a:ext cx="7239000" cy="219075"/>
          </a:xfrm>
          <a:prstGeom prst="rect">
            <a:avLst/>
          </a:prstGeom>
          <a:noFill/>
          <a:ln w="0">
            <a:noFill/>
          </a:ln>
        </p:spPr>
        <p:txBody>
          <a:bodyPr anchor="ctr">
            <a:normAutofit fontScale="93397" lnSpcReduction="10000"/>
          </a:bodyPr>
          <a:lstStyle/>
          <a:p>
            <a:pPr algn="l">
              <a:defRPr sz="975" b="1">
                <a:solidFill>
                  <a:srgbClr val="E31346"/>
                </a:solidFill>
                <a:latin typeface="Arial"/>
                <a:ea typeface="Arial"/>
                <a:cs typeface="Arial"/>
              </a:defRPr>
            </a:pPr>
            <a:r>
              <a:rPr sz="975" b="1">
                <a:solidFill>
                  <a:srgbClr val="E31346"/>
                </a:solidFill>
                <a:latin typeface="Arial"/>
                <a:ea typeface="Arial"/>
                <a:cs typeface="Arial"/>
              </a:rPr>
              <a:t>EE6008 · HUMAN POSE GROUP PROJECT</a:t>
            </a:r>
          </a:p>
        </p:txBody>
      </p:sp>
      <p:sp>
        <p:nvSpPr>
          <p:cNvPr id="5" name="矩形 4">
            <a:extLst>
              <a:ext uri="{FF2B5EF4-FFF2-40B4-BE49-F238E27FC236}">
                <a16:creationId xmlns:a16="http://schemas.microsoft.com/office/drawing/2014/main" id="{B617116B-AF95-5115-B0BC-B59C72C2D898}"/>
              </a:ext>
            </a:extLst>
          </p:cNvPr>
          <p:cNvSpPr>
            <a:spLocks noGrp="1"/>
          </p:cNvSpPr>
          <p:nvPr/>
        </p:nvSpPr>
        <p:spPr>
          <a:xfrm>
            <a:off x="495300" y="1009650"/>
            <a:ext cx="1562100" cy="47625"/>
          </a:xfrm>
          <a:prstGeom prst="rect">
            <a:avLst/>
          </a:prstGeom>
          <a:solidFill>
            <a:srgbClr val="E31346"/>
          </a:solidFill>
          <a:ln w="0">
            <a:noFill/>
          </a:ln>
        </p:spPr>
        <p:txBody>
          <a:bodyPr/>
          <a:lstStyle/>
          <a:p>
            <a:endParaRPr lang="zh-CN" altLang="en-US"/>
          </a:p>
        </p:txBody>
      </p:sp>
      <p:sp>
        <p:nvSpPr>
          <p:cNvPr id="7" name="矩形 6">
            <a:extLst>
              <a:ext uri="{FF2B5EF4-FFF2-40B4-BE49-F238E27FC236}">
                <a16:creationId xmlns:a16="http://schemas.microsoft.com/office/drawing/2014/main" id="{1A672E28-C4DC-5346-A3FA-FBEAE6DC03B3}"/>
              </a:ext>
            </a:extLst>
          </p:cNvPr>
          <p:cNvSpPr>
            <a:spLocks noGrp="1"/>
          </p:cNvSpPr>
          <p:nvPr/>
        </p:nvSpPr>
        <p:spPr>
          <a:xfrm>
            <a:off x="495300" y="6591300"/>
            <a:ext cx="2857500" cy="219075"/>
          </a:xfrm>
          <a:prstGeom prst="rect">
            <a:avLst/>
          </a:prstGeom>
          <a:noFill/>
          <a:ln w="0">
            <a:noFill/>
          </a:ln>
        </p:spPr>
        <p:txBody>
          <a:bodyPr anchor="ctr">
            <a:normAutofit/>
          </a:bodyPr>
          <a:lstStyle/>
          <a:p>
            <a:pPr algn="l">
              <a:defRPr sz="750" b="1">
                <a:solidFill>
                  <a:srgbClr val="FFFFFF"/>
                </a:solidFill>
                <a:latin typeface="Arial"/>
                <a:ea typeface="Arial"/>
                <a:cs typeface="Arial"/>
              </a:defRPr>
            </a:pPr>
            <a:r>
              <a:rPr sz="750" b="1">
                <a:solidFill>
                  <a:srgbClr val="FFFFFF"/>
                </a:solidFill>
                <a:latin typeface="Arial"/>
                <a:ea typeface="Arial"/>
                <a:cs typeface="Arial"/>
              </a:rPr>
              <a:t>EE6008 · WEEKLY REPORT</a:t>
            </a:r>
          </a:p>
        </p:txBody>
      </p:sp>
      <p:sp>
        <p:nvSpPr>
          <p:cNvPr id="8" name="矩形 7">
            <a:extLst>
              <a:ext uri="{FF2B5EF4-FFF2-40B4-BE49-F238E27FC236}">
                <a16:creationId xmlns:a16="http://schemas.microsoft.com/office/drawing/2014/main" id="{D75351CE-C33C-5B0C-9272-8B1760DD183B}"/>
              </a:ext>
            </a:extLst>
          </p:cNvPr>
          <p:cNvSpPr>
            <a:spLocks noGrp="1"/>
          </p:cNvSpPr>
          <p:nvPr/>
        </p:nvSpPr>
        <p:spPr>
          <a:xfrm>
            <a:off x="11049000" y="6591300"/>
            <a:ext cx="619125" cy="219075"/>
          </a:xfrm>
          <a:prstGeom prst="rect">
            <a:avLst/>
          </a:prstGeom>
          <a:noFill/>
          <a:ln w="0">
            <a:noFill/>
          </a:ln>
        </p:spPr>
        <p:txBody>
          <a:bodyPr anchor="ctr">
            <a:normAutofit/>
          </a:bodyPr>
          <a:lstStyle/>
          <a:p>
            <a:pPr algn="r">
              <a:defRPr sz="750" b="1">
                <a:solidFill>
                  <a:srgbClr val="FFFFFF"/>
                </a:solidFill>
                <a:latin typeface="Arial"/>
                <a:ea typeface="Arial"/>
                <a:cs typeface="Arial"/>
              </a:defRPr>
            </a:pPr>
            <a:r>
              <a:rPr sz="750" b="1">
                <a:solidFill>
                  <a:srgbClr val="FFFFFF"/>
                </a:solidFill>
                <a:latin typeface="Arial"/>
                <a:ea typeface="Arial"/>
                <a:cs typeface="Arial"/>
              </a:rPr>
              <a:t>03</a:t>
            </a:r>
          </a:p>
        </p:txBody>
      </p:sp>
      <p:sp>
        <p:nvSpPr>
          <p:cNvPr id="100" name="person-diagram-180">
            <a:extLst>
              <a:ext uri="{FF2B5EF4-FFF2-40B4-BE49-F238E27FC236}">
                <a16:creationId xmlns:a16="http://schemas.microsoft.com/office/drawing/2014/main" id="{A32FF197-3CEE-4D8C-A483-C9AA00F772C3}"/>
              </a:ext>
            </a:extLst>
          </p:cNvPr>
          <p:cNvSpPr>
            <a:spLocks noGrp="1"/>
          </p:cNvSpPr>
          <p:nvPr/>
        </p:nvSpPr>
        <p:spPr>
          <a:xfrm>
            <a:off x="590550" y="238125"/>
            <a:ext cx="8524875" cy="476250"/>
          </a:xfrm>
          <a:prstGeom prst="rect">
            <a:avLst/>
          </a:prstGeom>
          <a:noFill/>
          <a:ln w="0">
            <a:noFill/>
          </a:ln>
        </p:spPr>
        <p:txBody>
          <a:bodyPr lIns="0" tIns="0" rIns="0" bIns="0" anchor="ctr">
            <a:noAutofit/>
          </a:bodyPr>
          <a:lstStyle>
            <a:defPPr algn="l">
              <a:defRPr sz="2524" b="1">
                <a:solidFill>
                  <a:srgbClr val="1B1D63"/>
                </a:solidFill>
                <a:latin typeface="Arial"/>
                <a:ea typeface="Arial"/>
                <a:cs typeface="Arial"/>
              </a:defRPr>
            </a:defPPr>
          </a:lstStyle>
          <a:p>
            <a:pPr algn="l">
              <a:defRPr sz="2524" b="1">
                <a:solidFill>
                  <a:srgbClr val="1B1D63"/>
                </a:solidFill>
                <a:latin typeface="Arial"/>
                <a:ea typeface="Arial"/>
                <a:cs typeface="Arial"/>
              </a:defRPr>
            </a:pPr>
            <a:r>
              <a:rPr sz="2524" b="1">
                <a:solidFill>
                  <a:srgbClr val="1B1D63"/>
                </a:solidFill>
                <a:latin typeface="Arial"/>
                <a:ea typeface="Arial"/>
                <a:cs typeface="Arial"/>
              </a:rPr>
              <a:t>Person-Track Diagnostic Design</a:t>
            </a:r>
          </a:p>
        </p:txBody>
      </p:sp>
      <p:pic>
        <p:nvPicPr>
          <p:cNvPr id="101" name="图片 100">
            <a:extLst>
              <a:ext uri="{FF2B5EF4-FFF2-40B4-BE49-F238E27FC236}">
                <a16:creationId xmlns:a16="http://schemas.microsoft.com/office/drawing/2014/main" id="{E28A963F-A532-4434-9462-8B7E9221A5D7}"/>
              </a:ext>
            </a:extLst>
          </p:cNvPr>
          <p:cNvPicPr>
            <a:picLocks noChangeAspect="1"/>
          </p:cNvPicPr>
          <p:nvPr/>
        </p:nvPicPr>
        <p:blipFill>
          <a:blip r:embed="rId3"/>
          <a:stretch/>
        </p:blipFill>
        <p:spPr>
          <a:xfrm>
            <a:off x="9696450" y="191381"/>
            <a:ext cx="2038350" cy="731663"/>
          </a:xfrm>
          <a:prstGeom prst="rect">
            <a:avLst/>
          </a:prstGeom>
        </p:spPr>
      </p:pic>
      <p:sp>
        <p:nvSpPr>
          <p:cNvPr id="102" name="person-diagram-181">
            <a:extLst>
              <a:ext uri="{FF2B5EF4-FFF2-40B4-BE49-F238E27FC236}">
                <a16:creationId xmlns:a16="http://schemas.microsoft.com/office/drawing/2014/main" id="{16046A6B-99E3-43F2-9803-6E5F91C8EA1C}"/>
              </a:ext>
            </a:extLst>
          </p:cNvPr>
          <p:cNvSpPr>
            <a:spLocks noGrp="1"/>
          </p:cNvSpPr>
          <p:nvPr/>
        </p:nvSpPr>
        <p:spPr>
          <a:xfrm>
            <a:off x="495300" y="1447800"/>
            <a:ext cx="2590800" cy="3790950"/>
          </a:xfrm>
          <a:prstGeom prst="roundRect">
            <a:avLst>
              <a:gd name="adj" fmla="val 5882"/>
            </a:avLst>
          </a:prstGeom>
          <a:solidFill>
            <a:srgbClr val="FFFFFF"/>
          </a:solidFill>
          <a:ln w="11430">
            <a:solidFill>
              <a:srgbClr val="D9DDEA"/>
            </a:solidFill>
          </a:ln>
        </p:spPr>
        <p:txBody>
          <a:bodyPr/>
          <a:lstStyle/>
          <a:p>
            <a:endParaRPr lang="zh-CN" altLang="en-US"/>
          </a:p>
        </p:txBody>
      </p:sp>
      <p:sp>
        <p:nvSpPr>
          <p:cNvPr id="103" name="person-diagram-182">
            <a:extLst>
              <a:ext uri="{FF2B5EF4-FFF2-40B4-BE49-F238E27FC236}">
                <a16:creationId xmlns:a16="http://schemas.microsoft.com/office/drawing/2014/main" id="{BF927FA5-D884-4B75-888F-1C28802A97B5}"/>
              </a:ext>
            </a:extLst>
          </p:cNvPr>
          <p:cNvSpPr>
            <a:spLocks noGrp="1"/>
          </p:cNvSpPr>
          <p:nvPr/>
        </p:nvSpPr>
        <p:spPr>
          <a:xfrm>
            <a:off x="704850" y="1628775"/>
            <a:ext cx="2190750" cy="247650"/>
          </a:xfrm>
          <a:prstGeom prst="rect">
            <a:avLst/>
          </a:prstGeom>
          <a:noFill/>
          <a:ln w="0">
            <a:noFill/>
          </a:ln>
        </p:spPr>
        <p:txBody>
          <a:bodyPr lIns="0" tIns="0" rIns="0" bIns="0" anchor="ctr">
            <a:noAutofit/>
          </a:bodyPr>
          <a:lstStyle>
            <a:defPPr algn="l">
              <a:defRPr sz="1050" b="1">
                <a:solidFill>
                  <a:srgbClr val="E31346"/>
                </a:solidFill>
                <a:latin typeface="Arial"/>
                <a:ea typeface="Arial"/>
                <a:cs typeface="Arial"/>
              </a:defRPr>
            </a:defPPr>
          </a:lstStyle>
          <a:p>
            <a:pPr algn="l">
              <a:defRPr sz="1050" b="1">
                <a:solidFill>
                  <a:srgbClr val="E31346"/>
                </a:solidFill>
                <a:latin typeface="Arial"/>
                <a:ea typeface="Arial"/>
                <a:cs typeface="Arial"/>
              </a:defRPr>
            </a:pPr>
            <a:r>
              <a:rPr sz="1050" b="1">
                <a:solidFill>
                  <a:srgbClr val="E31346"/>
                </a:solidFill>
                <a:latin typeface="Arial"/>
                <a:ea typeface="Arial"/>
                <a:cs typeface="Arial"/>
              </a:rPr>
              <a:t>01</a:t>
            </a:r>
          </a:p>
        </p:txBody>
      </p:sp>
      <p:sp>
        <p:nvSpPr>
          <p:cNvPr id="104" name="person-diagram-183">
            <a:extLst>
              <a:ext uri="{FF2B5EF4-FFF2-40B4-BE49-F238E27FC236}">
                <a16:creationId xmlns:a16="http://schemas.microsoft.com/office/drawing/2014/main" id="{F89EE687-E34E-4DA2-B45F-5F270E8E7A14}"/>
              </a:ext>
            </a:extLst>
          </p:cNvPr>
          <p:cNvSpPr>
            <a:spLocks noGrp="1"/>
          </p:cNvSpPr>
          <p:nvPr/>
        </p:nvSpPr>
        <p:spPr>
          <a:xfrm>
            <a:off x="704850" y="1990725"/>
            <a:ext cx="2209800" cy="323850"/>
          </a:xfrm>
          <a:prstGeom prst="rect">
            <a:avLst/>
          </a:prstGeom>
          <a:noFill/>
          <a:ln w="0">
            <a:noFill/>
          </a:ln>
        </p:spPr>
        <p:txBody>
          <a:bodyPr lIns="0" tIns="0" rIns="0" bIns="0" anchor="ctr">
            <a:noAutofit/>
          </a:bodyPr>
          <a:lstStyle>
            <a:defPPr algn="l">
              <a:defRPr sz="1800" b="1">
                <a:solidFill>
                  <a:srgbClr val="1B1D63"/>
                </a:solidFill>
                <a:latin typeface="Arial"/>
                <a:ea typeface="Arial"/>
                <a:cs typeface="Arial"/>
              </a:defRPr>
            </a:defPPr>
          </a:lstStyle>
          <a:p>
            <a:pPr algn="l">
              <a:defRPr sz="1800" b="1">
                <a:solidFill>
                  <a:srgbClr val="1B1D63"/>
                </a:solidFill>
                <a:latin typeface="Arial"/>
                <a:ea typeface="Arial"/>
                <a:cs typeface="Arial"/>
              </a:defRPr>
            </a:pPr>
            <a:r>
              <a:rPr sz="1800" b="1">
                <a:solidFill>
                  <a:srgbClr val="1B1D63"/>
                </a:solidFill>
                <a:latin typeface="Arial"/>
                <a:ea typeface="Arial"/>
                <a:cs typeface="Arial"/>
              </a:rPr>
              <a:t>Global swap</a:t>
            </a:r>
          </a:p>
        </p:txBody>
      </p:sp>
      <p:sp>
        <p:nvSpPr>
          <p:cNvPr id="105" name="person-diagram-184">
            <a:extLst>
              <a:ext uri="{FF2B5EF4-FFF2-40B4-BE49-F238E27FC236}">
                <a16:creationId xmlns:a16="http://schemas.microsoft.com/office/drawing/2014/main" id="{674983A1-4CA3-4BF8-A463-622B89F25062}"/>
              </a:ext>
            </a:extLst>
          </p:cNvPr>
          <p:cNvSpPr>
            <a:spLocks noGrp="1"/>
          </p:cNvSpPr>
          <p:nvPr/>
        </p:nvSpPr>
        <p:spPr>
          <a:xfrm>
            <a:off x="3371850" y="1447800"/>
            <a:ext cx="2590800" cy="3790950"/>
          </a:xfrm>
          <a:prstGeom prst="roundRect">
            <a:avLst>
              <a:gd name="adj" fmla="val 5882"/>
            </a:avLst>
          </a:prstGeom>
          <a:solidFill>
            <a:srgbClr val="FFFFFF"/>
          </a:solidFill>
          <a:ln w="11430">
            <a:solidFill>
              <a:srgbClr val="D9DDEA"/>
            </a:solidFill>
          </a:ln>
        </p:spPr>
        <p:txBody>
          <a:bodyPr/>
          <a:lstStyle/>
          <a:p>
            <a:endParaRPr lang="zh-CN" altLang="en-US"/>
          </a:p>
        </p:txBody>
      </p:sp>
      <p:sp>
        <p:nvSpPr>
          <p:cNvPr id="106" name="person-diagram-185">
            <a:extLst>
              <a:ext uri="{FF2B5EF4-FFF2-40B4-BE49-F238E27FC236}">
                <a16:creationId xmlns:a16="http://schemas.microsoft.com/office/drawing/2014/main" id="{C8B1B338-B1C6-403A-A2F8-F601312D1F27}"/>
              </a:ext>
            </a:extLst>
          </p:cNvPr>
          <p:cNvSpPr>
            <a:spLocks noGrp="1"/>
          </p:cNvSpPr>
          <p:nvPr/>
        </p:nvSpPr>
        <p:spPr>
          <a:xfrm>
            <a:off x="3581400" y="1628775"/>
            <a:ext cx="2190750" cy="247650"/>
          </a:xfrm>
          <a:prstGeom prst="rect">
            <a:avLst/>
          </a:prstGeom>
          <a:noFill/>
          <a:ln w="0">
            <a:noFill/>
          </a:ln>
        </p:spPr>
        <p:txBody>
          <a:bodyPr lIns="0" tIns="0" rIns="0" bIns="0" anchor="ctr">
            <a:noAutofit/>
          </a:bodyPr>
          <a:lstStyle>
            <a:defPPr algn="l">
              <a:defRPr sz="1050" b="1">
                <a:solidFill>
                  <a:srgbClr val="E31346"/>
                </a:solidFill>
                <a:latin typeface="Arial"/>
                <a:ea typeface="Arial"/>
                <a:cs typeface="Arial"/>
              </a:defRPr>
            </a:defPPr>
          </a:lstStyle>
          <a:p>
            <a:pPr algn="l">
              <a:defRPr sz="1050" b="1">
                <a:solidFill>
                  <a:srgbClr val="E31346"/>
                </a:solidFill>
                <a:latin typeface="Arial"/>
                <a:ea typeface="Arial"/>
                <a:cs typeface="Arial"/>
              </a:defRPr>
            </a:pPr>
            <a:r>
              <a:rPr sz="1050" b="1">
                <a:solidFill>
                  <a:srgbClr val="E31346"/>
                </a:solidFill>
                <a:latin typeface="Arial"/>
                <a:ea typeface="Arial"/>
                <a:cs typeface="Arial"/>
              </a:rPr>
              <a:t>02</a:t>
            </a:r>
          </a:p>
        </p:txBody>
      </p:sp>
      <p:sp>
        <p:nvSpPr>
          <p:cNvPr id="107" name="person-diagram-186">
            <a:extLst>
              <a:ext uri="{FF2B5EF4-FFF2-40B4-BE49-F238E27FC236}">
                <a16:creationId xmlns:a16="http://schemas.microsoft.com/office/drawing/2014/main" id="{7A61A402-2C2B-46B6-A2E6-DF4E13725072}"/>
              </a:ext>
            </a:extLst>
          </p:cNvPr>
          <p:cNvSpPr>
            <a:spLocks noGrp="1"/>
          </p:cNvSpPr>
          <p:nvPr/>
        </p:nvSpPr>
        <p:spPr>
          <a:xfrm>
            <a:off x="3581400" y="1990725"/>
            <a:ext cx="2209800" cy="323850"/>
          </a:xfrm>
          <a:prstGeom prst="rect">
            <a:avLst/>
          </a:prstGeom>
          <a:noFill/>
          <a:ln w="0">
            <a:noFill/>
          </a:ln>
        </p:spPr>
        <p:txBody>
          <a:bodyPr lIns="0" tIns="0" rIns="0" bIns="0" anchor="ctr">
            <a:noAutofit/>
          </a:bodyPr>
          <a:lstStyle>
            <a:defPPr algn="l">
              <a:defRPr sz="1800" b="1">
                <a:solidFill>
                  <a:srgbClr val="1B1D63"/>
                </a:solidFill>
                <a:latin typeface="Arial"/>
                <a:ea typeface="Arial"/>
                <a:cs typeface="Arial"/>
              </a:defRPr>
            </a:defPPr>
          </a:lstStyle>
          <a:p>
            <a:pPr algn="l">
              <a:defRPr sz="1800" b="1">
                <a:solidFill>
                  <a:srgbClr val="1B1D63"/>
                </a:solidFill>
                <a:latin typeface="Arial"/>
                <a:ea typeface="Arial"/>
                <a:cs typeface="Arial"/>
              </a:defRPr>
            </a:pPr>
            <a:r>
              <a:rPr sz="1800" b="1">
                <a:solidFill>
                  <a:srgbClr val="1B1D63"/>
                </a:solidFill>
                <a:latin typeface="Arial"/>
                <a:ea typeface="Arial"/>
                <a:cs typeface="Arial"/>
              </a:rPr>
              <a:t>Temporal swap</a:t>
            </a:r>
          </a:p>
        </p:txBody>
      </p:sp>
      <p:sp>
        <p:nvSpPr>
          <p:cNvPr id="108" name="person-diagram-187">
            <a:extLst>
              <a:ext uri="{FF2B5EF4-FFF2-40B4-BE49-F238E27FC236}">
                <a16:creationId xmlns:a16="http://schemas.microsoft.com/office/drawing/2014/main" id="{56997251-9FCA-4A08-8145-C279BE617501}"/>
              </a:ext>
            </a:extLst>
          </p:cNvPr>
          <p:cNvSpPr>
            <a:spLocks noGrp="1"/>
          </p:cNvSpPr>
          <p:nvPr/>
        </p:nvSpPr>
        <p:spPr>
          <a:xfrm>
            <a:off x="6248400" y="1447800"/>
            <a:ext cx="2590800" cy="3790950"/>
          </a:xfrm>
          <a:prstGeom prst="roundRect">
            <a:avLst>
              <a:gd name="adj" fmla="val 5882"/>
            </a:avLst>
          </a:prstGeom>
          <a:solidFill>
            <a:srgbClr val="FFFFFF"/>
          </a:solidFill>
          <a:ln w="11430">
            <a:solidFill>
              <a:srgbClr val="D9DDEA"/>
            </a:solidFill>
          </a:ln>
        </p:spPr>
        <p:txBody>
          <a:bodyPr/>
          <a:lstStyle/>
          <a:p>
            <a:endParaRPr lang="zh-CN" altLang="en-US"/>
          </a:p>
        </p:txBody>
      </p:sp>
      <p:sp>
        <p:nvSpPr>
          <p:cNvPr id="109" name="person-diagram-188">
            <a:extLst>
              <a:ext uri="{FF2B5EF4-FFF2-40B4-BE49-F238E27FC236}">
                <a16:creationId xmlns:a16="http://schemas.microsoft.com/office/drawing/2014/main" id="{B9A9C955-DEE0-4F21-BDDA-CB413676FF87}"/>
              </a:ext>
            </a:extLst>
          </p:cNvPr>
          <p:cNvSpPr>
            <a:spLocks noGrp="1"/>
          </p:cNvSpPr>
          <p:nvPr/>
        </p:nvSpPr>
        <p:spPr>
          <a:xfrm>
            <a:off x="6457950" y="1628775"/>
            <a:ext cx="2190750" cy="247650"/>
          </a:xfrm>
          <a:prstGeom prst="rect">
            <a:avLst/>
          </a:prstGeom>
          <a:noFill/>
          <a:ln w="0">
            <a:noFill/>
          </a:ln>
        </p:spPr>
        <p:txBody>
          <a:bodyPr lIns="0" tIns="0" rIns="0" bIns="0" anchor="ctr">
            <a:noAutofit/>
          </a:bodyPr>
          <a:lstStyle>
            <a:defPPr algn="l">
              <a:defRPr sz="1050" b="1">
                <a:solidFill>
                  <a:srgbClr val="E31346"/>
                </a:solidFill>
                <a:latin typeface="Arial"/>
                <a:ea typeface="Arial"/>
                <a:cs typeface="Arial"/>
              </a:defRPr>
            </a:defPPr>
          </a:lstStyle>
          <a:p>
            <a:pPr algn="l">
              <a:defRPr sz="1050" b="1">
                <a:solidFill>
                  <a:srgbClr val="E31346"/>
                </a:solidFill>
                <a:latin typeface="Arial"/>
                <a:ea typeface="Arial"/>
                <a:cs typeface="Arial"/>
              </a:defRPr>
            </a:pPr>
            <a:r>
              <a:rPr sz="1050" b="1">
                <a:solidFill>
                  <a:srgbClr val="E31346"/>
                </a:solidFill>
                <a:latin typeface="Arial"/>
                <a:ea typeface="Arial"/>
                <a:cs typeface="Arial"/>
              </a:rPr>
              <a:t>03</a:t>
            </a:r>
          </a:p>
        </p:txBody>
      </p:sp>
      <p:sp>
        <p:nvSpPr>
          <p:cNvPr id="110" name="person-diagram-189">
            <a:extLst>
              <a:ext uri="{FF2B5EF4-FFF2-40B4-BE49-F238E27FC236}">
                <a16:creationId xmlns:a16="http://schemas.microsoft.com/office/drawing/2014/main" id="{4F35687D-B60A-4068-8321-40F0236E0768}"/>
              </a:ext>
            </a:extLst>
          </p:cNvPr>
          <p:cNvSpPr>
            <a:spLocks noGrp="1"/>
          </p:cNvSpPr>
          <p:nvPr/>
        </p:nvSpPr>
        <p:spPr>
          <a:xfrm>
            <a:off x="6457950" y="1990725"/>
            <a:ext cx="2209800" cy="323850"/>
          </a:xfrm>
          <a:prstGeom prst="rect">
            <a:avLst/>
          </a:prstGeom>
          <a:noFill/>
          <a:ln w="0">
            <a:noFill/>
          </a:ln>
        </p:spPr>
        <p:txBody>
          <a:bodyPr lIns="0" tIns="0" rIns="0" bIns="0" anchor="ctr">
            <a:noAutofit/>
          </a:bodyPr>
          <a:lstStyle>
            <a:defPPr algn="l">
              <a:defRPr sz="1800" b="1">
                <a:solidFill>
                  <a:srgbClr val="1B1D63"/>
                </a:solidFill>
                <a:latin typeface="Arial"/>
                <a:ea typeface="Arial"/>
                <a:cs typeface="Arial"/>
              </a:defRPr>
            </a:defPPr>
          </a:lstStyle>
          <a:p>
            <a:pPr algn="l">
              <a:defRPr sz="1800" b="1">
                <a:solidFill>
                  <a:srgbClr val="1B1D63"/>
                </a:solidFill>
                <a:latin typeface="Arial"/>
                <a:ea typeface="Arial"/>
                <a:cs typeface="Arial"/>
              </a:defRPr>
            </a:pPr>
            <a:r>
              <a:rPr sz="1800" b="1">
                <a:solidFill>
                  <a:srgbClr val="1B1D63"/>
                </a:solidFill>
                <a:latin typeface="Arial"/>
                <a:ea typeface="Arial"/>
                <a:cs typeface="Arial"/>
              </a:rPr>
              <a:t>Localized swap</a:t>
            </a:r>
          </a:p>
        </p:txBody>
      </p:sp>
      <p:sp>
        <p:nvSpPr>
          <p:cNvPr id="111" name="person-diagram-190">
            <a:extLst>
              <a:ext uri="{FF2B5EF4-FFF2-40B4-BE49-F238E27FC236}">
                <a16:creationId xmlns:a16="http://schemas.microsoft.com/office/drawing/2014/main" id="{AE50B8AB-DF4F-4BC3-95DA-1BB9297914B1}"/>
              </a:ext>
            </a:extLst>
          </p:cNvPr>
          <p:cNvSpPr>
            <a:spLocks noGrp="1"/>
          </p:cNvSpPr>
          <p:nvPr/>
        </p:nvSpPr>
        <p:spPr>
          <a:xfrm>
            <a:off x="9124950" y="1447800"/>
            <a:ext cx="2590800" cy="3790950"/>
          </a:xfrm>
          <a:prstGeom prst="roundRect">
            <a:avLst>
              <a:gd name="adj" fmla="val 5882"/>
            </a:avLst>
          </a:prstGeom>
          <a:solidFill>
            <a:srgbClr val="FBE8EF"/>
          </a:solidFill>
          <a:ln w="11430">
            <a:solidFill>
              <a:srgbClr val="D9DDEA"/>
            </a:solidFill>
          </a:ln>
        </p:spPr>
        <p:txBody>
          <a:bodyPr/>
          <a:lstStyle/>
          <a:p>
            <a:endParaRPr lang="zh-CN" altLang="en-US"/>
          </a:p>
        </p:txBody>
      </p:sp>
      <p:sp>
        <p:nvSpPr>
          <p:cNvPr id="112" name="person-diagram-191">
            <a:extLst>
              <a:ext uri="{FF2B5EF4-FFF2-40B4-BE49-F238E27FC236}">
                <a16:creationId xmlns:a16="http://schemas.microsoft.com/office/drawing/2014/main" id="{6D26AE11-9BCC-4D10-AA24-B4BF3FC9C8A8}"/>
              </a:ext>
            </a:extLst>
          </p:cNvPr>
          <p:cNvSpPr>
            <a:spLocks noGrp="1"/>
          </p:cNvSpPr>
          <p:nvPr/>
        </p:nvSpPr>
        <p:spPr>
          <a:xfrm>
            <a:off x="9334500" y="1628775"/>
            <a:ext cx="2190750" cy="247650"/>
          </a:xfrm>
          <a:prstGeom prst="rect">
            <a:avLst/>
          </a:prstGeom>
          <a:noFill/>
          <a:ln w="0">
            <a:noFill/>
          </a:ln>
        </p:spPr>
        <p:txBody>
          <a:bodyPr lIns="0" tIns="0" rIns="0" bIns="0" anchor="ctr">
            <a:noAutofit/>
          </a:bodyPr>
          <a:lstStyle>
            <a:defPPr algn="l">
              <a:defRPr sz="1050" b="1">
                <a:solidFill>
                  <a:srgbClr val="E31346"/>
                </a:solidFill>
                <a:latin typeface="Arial"/>
                <a:ea typeface="Arial"/>
                <a:cs typeface="Arial"/>
              </a:defRPr>
            </a:defPPr>
          </a:lstStyle>
          <a:p>
            <a:pPr algn="l">
              <a:defRPr sz="1050" b="1">
                <a:solidFill>
                  <a:srgbClr val="E31346"/>
                </a:solidFill>
                <a:latin typeface="Arial"/>
                <a:ea typeface="Arial"/>
                <a:cs typeface="Arial"/>
              </a:defRPr>
            </a:pPr>
            <a:r>
              <a:rPr sz="1050" b="1">
                <a:solidFill>
                  <a:srgbClr val="E31346"/>
                </a:solidFill>
                <a:latin typeface="Arial"/>
                <a:ea typeface="Arial"/>
                <a:cs typeface="Arial"/>
              </a:rPr>
              <a:t>04</a:t>
            </a:r>
          </a:p>
        </p:txBody>
      </p:sp>
      <p:sp>
        <p:nvSpPr>
          <p:cNvPr id="113" name="person-diagram-192">
            <a:extLst>
              <a:ext uri="{FF2B5EF4-FFF2-40B4-BE49-F238E27FC236}">
                <a16:creationId xmlns:a16="http://schemas.microsoft.com/office/drawing/2014/main" id="{F66B0B7A-B8A4-409F-A547-E1DB52AA4CA2}"/>
              </a:ext>
            </a:extLst>
          </p:cNvPr>
          <p:cNvSpPr>
            <a:spLocks noGrp="1"/>
          </p:cNvSpPr>
          <p:nvPr/>
        </p:nvSpPr>
        <p:spPr>
          <a:xfrm>
            <a:off x="9334500" y="1990725"/>
            <a:ext cx="2209800" cy="323850"/>
          </a:xfrm>
          <a:prstGeom prst="rect">
            <a:avLst/>
          </a:prstGeom>
          <a:noFill/>
          <a:ln w="0">
            <a:noFill/>
          </a:ln>
        </p:spPr>
        <p:txBody>
          <a:bodyPr lIns="0" tIns="0" rIns="0" bIns="0" anchor="ctr">
            <a:noAutofit/>
          </a:bodyPr>
          <a:lstStyle>
            <a:defPPr algn="l">
              <a:defRPr sz="1800" b="1">
                <a:solidFill>
                  <a:srgbClr val="1B1D63"/>
                </a:solidFill>
                <a:latin typeface="Arial"/>
                <a:ea typeface="Arial"/>
                <a:cs typeface="Arial"/>
              </a:defRPr>
            </a:defPPr>
          </a:lstStyle>
          <a:p>
            <a:pPr algn="l">
              <a:defRPr sz="1800" b="1">
                <a:solidFill>
                  <a:srgbClr val="1B1D63"/>
                </a:solidFill>
                <a:latin typeface="Arial"/>
                <a:ea typeface="Arial"/>
                <a:cs typeface="Arial"/>
              </a:defRPr>
            </a:pPr>
            <a:r>
              <a:rPr sz="1800" b="1">
                <a:solidFill>
                  <a:srgbClr val="1B1D63"/>
                </a:solidFill>
                <a:latin typeface="Arial"/>
                <a:ea typeface="Arial"/>
                <a:cs typeface="Arial"/>
              </a:rPr>
              <a:t>Sliding swap</a:t>
            </a:r>
          </a:p>
        </p:txBody>
      </p:sp>
      <p:sp>
        <p:nvSpPr>
          <p:cNvPr id="114" name="person-diagram-193">
            <a:extLst>
              <a:ext uri="{FF2B5EF4-FFF2-40B4-BE49-F238E27FC236}">
                <a16:creationId xmlns:a16="http://schemas.microsoft.com/office/drawing/2014/main" id="{BE2C3861-4B73-45C1-B5E6-A4DAE8A6052A}"/>
              </a:ext>
            </a:extLst>
          </p:cNvPr>
          <p:cNvSpPr>
            <a:spLocks noGrp="1"/>
          </p:cNvSpPr>
          <p:nvPr/>
        </p:nvSpPr>
        <p:spPr>
          <a:xfrm>
            <a:off x="704850" y="2628900"/>
            <a:ext cx="327025" cy="266700"/>
          </a:xfrm>
          <a:prstGeom prst="rect">
            <a:avLst/>
          </a:prstGeom>
          <a:solidFill>
            <a:srgbClr val="E9EDF8"/>
          </a:solidFill>
          <a:ln w="0">
            <a:noFill/>
          </a:ln>
        </p:spPr>
        <p:txBody>
          <a:bodyPr/>
          <a:lstStyle/>
          <a:p>
            <a:endParaRPr lang="zh-CN" altLang="en-US"/>
          </a:p>
        </p:txBody>
      </p:sp>
      <p:sp>
        <p:nvSpPr>
          <p:cNvPr id="115" name="person-diagram-194">
            <a:extLst>
              <a:ext uri="{FF2B5EF4-FFF2-40B4-BE49-F238E27FC236}">
                <a16:creationId xmlns:a16="http://schemas.microsoft.com/office/drawing/2014/main" id="{41395CBF-FDC0-4EFB-900E-E613D29EC193}"/>
              </a:ext>
            </a:extLst>
          </p:cNvPr>
          <p:cNvSpPr>
            <a:spLocks noGrp="1"/>
          </p:cNvSpPr>
          <p:nvPr/>
        </p:nvSpPr>
        <p:spPr>
          <a:xfrm>
            <a:off x="704850" y="2638425"/>
            <a:ext cx="327025" cy="247650"/>
          </a:xfrm>
          <a:prstGeom prst="rect">
            <a:avLst/>
          </a:prstGeom>
          <a:noFill/>
          <a:ln w="0">
            <a:noFill/>
          </a:ln>
        </p:spPr>
        <p:txBody>
          <a:bodyPr lIns="0" tIns="0" rIns="0" bIns="0" anchor="ctr">
            <a:noAutofit/>
          </a:bodyPr>
          <a:lstStyle>
            <a:defPPr algn="ctr">
              <a:defRPr sz="1200" b="1">
                <a:solidFill>
                  <a:srgbClr val="1B1D63"/>
                </a:solidFill>
                <a:latin typeface="Arial"/>
                <a:ea typeface="Arial"/>
                <a:cs typeface="Arial"/>
              </a:defRPr>
            </a:defPPr>
          </a:lstStyle>
          <a:p>
            <a:pPr algn="ctr">
              <a:defRPr sz="1200" b="1">
                <a:solidFill>
                  <a:srgbClr val="1B1D63"/>
                </a:solidFill>
                <a:latin typeface="Arial"/>
                <a:ea typeface="Arial"/>
                <a:cs typeface="Arial"/>
              </a:defRPr>
            </a:pPr>
            <a:r>
              <a:rPr sz="1200" b="1">
                <a:solidFill>
                  <a:srgbClr val="1B1D63"/>
                </a:solidFill>
                <a:latin typeface="Arial"/>
                <a:ea typeface="Arial"/>
                <a:cs typeface="Arial"/>
              </a:rPr>
              <a:t>A</a:t>
            </a:r>
          </a:p>
        </p:txBody>
      </p:sp>
      <p:sp>
        <p:nvSpPr>
          <p:cNvPr id="116" name="person-diagram-195">
            <a:extLst>
              <a:ext uri="{FF2B5EF4-FFF2-40B4-BE49-F238E27FC236}">
                <a16:creationId xmlns:a16="http://schemas.microsoft.com/office/drawing/2014/main" id="{D35AE15A-8EA0-470F-8DF0-E55B230950FB}"/>
              </a:ext>
            </a:extLst>
          </p:cNvPr>
          <p:cNvSpPr>
            <a:spLocks noGrp="1"/>
          </p:cNvSpPr>
          <p:nvPr/>
        </p:nvSpPr>
        <p:spPr>
          <a:xfrm>
            <a:off x="1060450" y="2628900"/>
            <a:ext cx="327025" cy="266700"/>
          </a:xfrm>
          <a:prstGeom prst="rect">
            <a:avLst/>
          </a:prstGeom>
          <a:solidFill>
            <a:srgbClr val="E9EDF8"/>
          </a:solidFill>
          <a:ln w="0">
            <a:noFill/>
          </a:ln>
        </p:spPr>
        <p:txBody>
          <a:bodyPr/>
          <a:lstStyle/>
          <a:p>
            <a:endParaRPr lang="zh-CN" altLang="en-US"/>
          </a:p>
        </p:txBody>
      </p:sp>
      <p:sp>
        <p:nvSpPr>
          <p:cNvPr id="117" name="person-diagram-196">
            <a:extLst>
              <a:ext uri="{FF2B5EF4-FFF2-40B4-BE49-F238E27FC236}">
                <a16:creationId xmlns:a16="http://schemas.microsoft.com/office/drawing/2014/main" id="{242FA2A9-FA7E-4BF5-84A4-044DC00AA5E9}"/>
              </a:ext>
            </a:extLst>
          </p:cNvPr>
          <p:cNvSpPr>
            <a:spLocks noGrp="1"/>
          </p:cNvSpPr>
          <p:nvPr/>
        </p:nvSpPr>
        <p:spPr>
          <a:xfrm>
            <a:off x="1060450" y="2638425"/>
            <a:ext cx="327025" cy="247650"/>
          </a:xfrm>
          <a:prstGeom prst="rect">
            <a:avLst/>
          </a:prstGeom>
          <a:noFill/>
          <a:ln w="0">
            <a:noFill/>
          </a:ln>
        </p:spPr>
        <p:txBody>
          <a:bodyPr lIns="0" tIns="0" rIns="0" bIns="0" anchor="ctr">
            <a:noAutofit/>
          </a:bodyPr>
          <a:lstStyle>
            <a:defPPr algn="ctr">
              <a:defRPr sz="1200" b="1">
                <a:solidFill>
                  <a:srgbClr val="1B1D63"/>
                </a:solidFill>
                <a:latin typeface="Arial"/>
                <a:ea typeface="Arial"/>
                <a:cs typeface="Arial"/>
              </a:defRPr>
            </a:defPPr>
          </a:lstStyle>
          <a:p>
            <a:pPr algn="ctr">
              <a:defRPr sz="1200" b="1">
                <a:solidFill>
                  <a:srgbClr val="1B1D63"/>
                </a:solidFill>
                <a:latin typeface="Arial"/>
                <a:ea typeface="Arial"/>
                <a:cs typeface="Arial"/>
              </a:defRPr>
            </a:pPr>
            <a:r>
              <a:rPr sz="1200" b="1">
                <a:solidFill>
                  <a:srgbClr val="1B1D63"/>
                </a:solidFill>
                <a:latin typeface="Arial"/>
                <a:ea typeface="Arial"/>
                <a:cs typeface="Arial"/>
              </a:rPr>
              <a:t>A</a:t>
            </a:r>
          </a:p>
        </p:txBody>
      </p:sp>
      <p:sp>
        <p:nvSpPr>
          <p:cNvPr id="118" name="person-diagram-197">
            <a:extLst>
              <a:ext uri="{FF2B5EF4-FFF2-40B4-BE49-F238E27FC236}">
                <a16:creationId xmlns:a16="http://schemas.microsoft.com/office/drawing/2014/main" id="{4665AC67-5819-4DFF-A4EF-90180124C4FB}"/>
              </a:ext>
            </a:extLst>
          </p:cNvPr>
          <p:cNvSpPr>
            <a:spLocks noGrp="1"/>
          </p:cNvSpPr>
          <p:nvPr/>
        </p:nvSpPr>
        <p:spPr>
          <a:xfrm>
            <a:off x="1416050" y="2628900"/>
            <a:ext cx="327025" cy="266700"/>
          </a:xfrm>
          <a:prstGeom prst="rect">
            <a:avLst/>
          </a:prstGeom>
          <a:solidFill>
            <a:srgbClr val="E9EDF8"/>
          </a:solidFill>
          <a:ln w="0">
            <a:noFill/>
          </a:ln>
        </p:spPr>
        <p:txBody>
          <a:bodyPr/>
          <a:lstStyle/>
          <a:p>
            <a:endParaRPr lang="zh-CN" altLang="en-US"/>
          </a:p>
        </p:txBody>
      </p:sp>
      <p:sp>
        <p:nvSpPr>
          <p:cNvPr id="119" name="person-diagram-198">
            <a:extLst>
              <a:ext uri="{FF2B5EF4-FFF2-40B4-BE49-F238E27FC236}">
                <a16:creationId xmlns:a16="http://schemas.microsoft.com/office/drawing/2014/main" id="{7BAFF841-2BCF-40CC-89EC-CE7E08FA1826}"/>
              </a:ext>
            </a:extLst>
          </p:cNvPr>
          <p:cNvSpPr>
            <a:spLocks noGrp="1"/>
          </p:cNvSpPr>
          <p:nvPr/>
        </p:nvSpPr>
        <p:spPr>
          <a:xfrm>
            <a:off x="1416050" y="2638425"/>
            <a:ext cx="327025" cy="247650"/>
          </a:xfrm>
          <a:prstGeom prst="rect">
            <a:avLst/>
          </a:prstGeom>
          <a:noFill/>
          <a:ln w="0">
            <a:noFill/>
          </a:ln>
        </p:spPr>
        <p:txBody>
          <a:bodyPr lIns="0" tIns="0" rIns="0" bIns="0" anchor="ctr">
            <a:noAutofit/>
          </a:bodyPr>
          <a:lstStyle>
            <a:defPPr algn="ctr">
              <a:defRPr sz="1200" b="1">
                <a:solidFill>
                  <a:srgbClr val="1B1D63"/>
                </a:solidFill>
                <a:latin typeface="Arial"/>
                <a:ea typeface="Arial"/>
                <a:cs typeface="Arial"/>
              </a:defRPr>
            </a:defPPr>
          </a:lstStyle>
          <a:p>
            <a:pPr algn="ctr">
              <a:defRPr sz="1200" b="1">
                <a:solidFill>
                  <a:srgbClr val="1B1D63"/>
                </a:solidFill>
                <a:latin typeface="Arial"/>
                <a:ea typeface="Arial"/>
                <a:cs typeface="Arial"/>
              </a:defRPr>
            </a:pPr>
            <a:r>
              <a:rPr sz="1200" b="1">
                <a:solidFill>
                  <a:srgbClr val="1B1D63"/>
                </a:solidFill>
                <a:latin typeface="Arial"/>
                <a:ea typeface="Arial"/>
                <a:cs typeface="Arial"/>
              </a:rPr>
              <a:t>A</a:t>
            </a:r>
          </a:p>
        </p:txBody>
      </p:sp>
      <p:sp>
        <p:nvSpPr>
          <p:cNvPr id="120" name="person-diagram-199">
            <a:extLst>
              <a:ext uri="{FF2B5EF4-FFF2-40B4-BE49-F238E27FC236}">
                <a16:creationId xmlns:a16="http://schemas.microsoft.com/office/drawing/2014/main" id="{EADB2FBE-F709-4D4D-9142-6E79CBF3AD28}"/>
              </a:ext>
            </a:extLst>
          </p:cNvPr>
          <p:cNvSpPr>
            <a:spLocks noGrp="1"/>
          </p:cNvSpPr>
          <p:nvPr/>
        </p:nvSpPr>
        <p:spPr>
          <a:xfrm>
            <a:off x="1771650" y="2628900"/>
            <a:ext cx="327025" cy="266700"/>
          </a:xfrm>
          <a:prstGeom prst="rect">
            <a:avLst/>
          </a:prstGeom>
          <a:solidFill>
            <a:srgbClr val="E9EDF8"/>
          </a:solidFill>
          <a:ln w="0">
            <a:noFill/>
          </a:ln>
        </p:spPr>
        <p:txBody>
          <a:bodyPr/>
          <a:lstStyle/>
          <a:p>
            <a:endParaRPr lang="zh-CN" altLang="en-US"/>
          </a:p>
        </p:txBody>
      </p:sp>
      <p:sp>
        <p:nvSpPr>
          <p:cNvPr id="121" name="person-diagram-200">
            <a:extLst>
              <a:ext uri="{FF2B5EF4-FFF2-40B4-BE49-F238E27FC236}">
                <a16:creationId xmlns:a16="http://schemas.microsoft.com/office/drawing/2014/main" id="{F6CCCD12-D6EA-40C7-B252-52C79E6C53BB}"/>
              </a:ext>
            </a:extLst>
          </p:cNvPr>
          <p:cNvSpPr>
            <a:spLocks noGrp="1"/>
          </p:cNvSpPr>
          <p:nvPr/>
        </p:nvSpPr>
        <p:spPr>
          <a:xfrm>
            <a:off x="1771650" y="2638425"/>
            <a:ext cx="327025" cy="247650"/>
          </a:xfrm>
          <a:prstGeom prst="rect">
            <a:avLst/>
          </a:prstGeom>
          <a:noFill/>
          <a:ln w="0">
            <a:noFill/>
          </a:ln>
        </p:spPr>
        <p:txBody>
          <a:bodyPr lIns="0" tIns="0" rIns="0" bIns="0" anchor="ctr">
            <a:noAutofit/>
          </a:bodyPr>
          <a:lstStyle>
            <a:defPPr algn="ctr">
              <a:defRPr sz="1200" b="1">
                <a:solidFill>
                  <a:srgbClr val="1B1D63"/>
                </a:solidFill>
                <a:latin typeface="Arial"/>
                <a:ea typeface="Arial"/>
                <a:cs typeface="Arial"/>
              </a:defRPr>
            </a:defPPr>
          </a:lstStyle>
          <a:p>
            <a:pPr algn="ctr">
              <a:defRPr sz="1200" b="1">
                <a:solidFill>
                  <a:srgbClr val="1B1D63"/>
                </a:solidFill>
                <a:latin typeface="Arial"/>
                <a:ea typeface="Arial"/>
                <a:cs typeface="Arial"/>
              </a:defRPr>
            </a:pPr>
            <a:r>
              <a:rPr sz="1200" b="1">
                <a:solidFill>
                  <a:srgbClr val="1B1D63"/>
                </a:solidFill>
                <a:latin typeface="Arial"/>
                <a:ea typeface="Arial"/>
                <a:cs typeface="Arial"/>
              </a:rPr>
              <a:t>A</a:t>
            </a:r>
          </a:p>
        </p:txBody>
      </p:sp>
      <p:sp>
        <p:nvSpPr>
          <p:cNvPr id="122" name="person-diagram-201">
            <a:extLst>
              <a:ext uri="{FF2B5EF4-FFF2-40B4-BE49-F238E27FC236}">
                <a16:creationId xmlns:a16="http://schemas.microsoft.com/office/drawing/2014/main" id="{BA6449DF-9E2F-4984-8399-CFDF12A397CC}"/>
              </a:ext>
            </a:extLst>
          </p:cNvPr>
          <p:cNvSpPr>
            <a:spLocks noGrp="1"/>
          </p:cNvSpPr>
          <p:nvPr/>
        </p:nvSpPr>
        <p:spPr>
          <a:xfrm>
            <a:off x="2127250" y="2628900"/>
            <a:ext cx="327025" cy="266700"/>
          </a:xfrm>
          <a:prstGeom prst="rect">
            <a:avLst/>
          </a:prstGeom>
          <a:solidFill>
            <a:srgbClr val="E9EDF8"/>
          </a:solidFill>
          <a:ln w="0">
            <a:noFill/>
          </a:ln>
        </p:spPr>
        <p:txBody>
          <a:bodyPr/>
          <a:lstStyle/>
          <a:p>
            <a:endParaRPr lang="zh-CN" altLang="en-US"/>
          </a:p>
        </p:txBody>
      </p:sp>
      <p:sp>
        <p:nvSpPr>
          <p:cNvPr id="123" name="person-diagram-202">
            <a:extLst>
              <a:ext uri="{FF2B5EF4-FFF2-40B4-BE49-F238E27FC236}">
                <a16:creationId xmlns:a16="http://schemas.microsoft.com/office/drawing/2014/main" id="{7C1BBEC0-2E5A-414C-A011-DF49CF804256}"/>
              </a:ext>
            </a:extLst>
          </p:cNvPr>
          <p:cNvSpPr>
            <a:spLocks noGrp="1"/>
          </p:cNvSpPr>
          <p:nvPr/>
        </p:nvSpPr>
        <p:spPr>
          <a:xfrm>
            <a:off x="2127250" y="2638425"/>
            <a:ext cx="327025" cy="247650"/>
          </a:xfrm>
          <a:prstGeom prst="rect">
            <a:avLst/>
          </a:prstGeom>
          <a:noFill/>
          <a:ln w="0">
            <a:noFill/>
          </a:ln>
        </p:spPr>
        <p:txBody>
          <a:bodyPr lIns="0" tIns="0" rIns="0" bIns="0" anchor="ctr">
            <a:noAutofit/>
          </a:bodyPr>
          <a:lstStyle>
            <a:defPPr algn="ctr">
              <a:defRPr sz="1200" b="1">
                <a:solidFill>
                  <a:srgbClr val="1B1D63"/>
                </a:solidFill>
                <a:latin typeface="Arial"/>
                <a:ea typeface="Arial"/>
                <a:cs typeface="Arial"/>
              </a:defRPr>
            </a:defPPr>
          </a:lstStyle>
          <a:p>
            <a:pPr algn="ctr">
              <a:defRPr sz="1200" b="1">
                <a:solidFill>
                  <a:srgbClr val="1B1D63"/>
                </a:solidFill>
                <a:latin typeface="Arial"/>
                <a:ea typeface="Arial"/>
                <a:cs typeface="Arial"/>
              </a:defRPr>
            </a:pPr>
            <a:r>
              <a:rPr sz="1200" b="1">
                <a:solidFill>
                  <a:srgbClr val="1B1D63"/>
                </a:solidFill>
                <a:latin typeface="Arial"/>
                <a:ea typeface="Arial"/>
                <a:cs typeface="Arial"/>
              </a:rPr>
              <a:t>A</a:t>
            </a:r>
          </a:p>
        </p:txBody>
      </p:sp>
      <p:sp>
        <p:nvSpPr>
          <p:cNvPr id="124" name="person-diagram-203">
            <a:extLst>
              <a:ext uri="{FF2B5EF4-FFF2-40B4-BE49-F238E27FC236}">
                <a16:creationId xmlns:a16="http://schemas.microsoft.com/office/drawing/2014/main" id="{F3AF3311-2468-4D2D-BC94-E70442F6D174}"/>
              </a:ext>
            </a:extLst>
          </p:cNvPr>
          <p:cNvSpPr>
            <a:spLocks noGrp="1"/>
          </p:cNvSpPr>
          <p:nvPr/>
        </p:nvSpPr>
        <p:spPr>
          <a:xfrm>
            <a:off x="2482850" y="2628900"/>
            <a:ext cx="327025" cy="266700"/>
          </a:xfrm>
          <a:prstGeom prst="rect">
            <a:avLst/>
          </a:prstGeom>
          <a:solidFill>
            <a:srgbClr val="E9EDF8"/>
          </a:solidFill>
          <a:ln w="0">
            <a:noFill/>
          </a:ln>
        </p:spPr>
        <p:txBody>
          <a:bodyPr/>
          <a:lstStyle/>
          <a:p>
            <a:endParaRPr lang="zh-CN" altLang="en-US"/>
          </a:p>
        </p:txBody>
      </p:sp>
      <p:sp>
        <p:nvSpPr>
          <p:cNvPr id="125" name="person-diagram-204">
            <a:extLst>
              <a:ext uri="{FF2B5EF4-FFF2-40B4-BE49-F238E27FC236}">
                <a16:creationId xmlns:a16="http://schemas.microsoft.com/office/drawing/2014/main" id="{4D47E590-7865-4750-AE79-EA33FA48C2B0}"/>
              </a:ext>
            </a:extLst>
          </p:cNvPr>
          <p:cNvSpPr>
            <a:spLocks noGrp="1"/>
          </p:cNvSpPr>
          <p:nvPr/>
        </p:nvSpPr>
        <p:spPr>
          <a:xfrm>
            <a:off x="2482850" y="2638425"/>
            <a:ext cx="327025" cy="247650"/>
          </a:xfrm>
          <a:prstGeom prst="rect">
            <a:avLst/>
          </a:prstGeom>
          <a:noFill/>
          <a:ln w="0">
            <a:noFill/>
          </a:ln>
        </p:spPr>
        <p:txBody>
          <a:bodyPr lIns="0" tIns="0" rIns="0" bIns="0" anchor="ctr">
            <a:noAutofit/>
          </a:bodyPr>
          <a:lstStyle>
            <a:defPPr algn="ctr">
              <a:defRPr sz="1200" b="1">
                <a:solidFill>
                  <a:srgbClr val="1B1D63"/>
                </a:solidFill>
                <a:latin typeface="Arial"/>
                <a:ea typeface="Arial"/>
                <a:cs typeface="Arial"/>
              </a:defRPr>
            </a:defPPr>
          </a:lstStyle>
          <a:p>
            <a:pPr algn="ctr">
              <a:defRPr sz="1200" b="1">
                <a:solidFill>
                  <a:srgbClr val="1B1D63"/>
                </a:solidFill>
                <a:latin typeface="Arial"/>
                <a:ea typeface="Arial"/>
                <a:cs typeface="Arial"/>
              </a:defRPr>
            </a:pPr>
            <a:r>
              <a:rPr sz="1200" b="1">
                <a:solidFill>
                  <a:srgbClr val="1B1D63"/>
                </a:solidFill>
                <a:latin typeface="Arial"/>
                <a:ea typeface="Arial"/>
                <a:cs typeface="Arial"/>
              </a:rPr>
              <a:t>A</a:t>
            </a:r>
          </a:p>
        </p:txBody>
      </p:sp>
      <p:sp>
        <p:nvSpPr>
          <p:cNvPr id="126" name="person-diagram-205">
            <a:extLst>
              <a:ext uri="{FF2B5EF4-FFF2-40B4-BE49-F238E27FC236}">
                <a16:creationId xmlns:a16="http://schemas.microsoft.com/office/drawing/2014/main" id="{93ED9E83-9F8D-438A-8FBB-245DA0AF3867}"/>
              </a:ext>
            </a:extLst>
          </p:cNvPr>
          <p:cNvSpPr>
            <a:spLocks noGrp="1"/>
          </p:cNvSpPr>
          <p:nvPr/>
        </p:nvSpPr>
        <p:spPr>
          <a:xfrm>
            <a:off x="704850" y="2962275"/>
            <a:ext cx="327025" cy="266700"/>
          </a:xfrm>
          <a:prstGeom prst="rect">
            <a:avLst/>
          </a:prstGeom>
          <a:solidFill>
            <a:srgbClr val="E6F6F4"/>
          </a:solidFill>
          <a:ln w="0">
            <a:noFill/>
          </a:ln>
        </p:spPr>
        <p:txBody>
          <a:bodyPr/>
          <a:lstStyle/>
          <a:p>
            <a:endParaRPr lang="zh-CN" altLang="en-US"/>
          </a:p>
        </p:txBody>
      </p:sp>
      <p:sp>
        <p:nvSpPr>
          <p:cNvPr id="127" name="person-diagram-206">
            <a:extLst>
              <a:ext uri="{FF2B5EF4-FFF2-40B4-BE49-F238E27FC236}">
                <a16:creationId xmlns:a16="http://schemas.microsoft.com/office/drawing/2014/main" id="{A26540D4-4297-43D7-937F-ABDD8BB9B892}"/>
              </a:ext>
            </a:extLst>
          </p:cNvPr>
          <p:cNvSpPr>
            <a:spLocks noGrp="1"/>
          </p:cNvSpPr>
          <p:nvPr/>
        </p:nvSpPr>
        <p:spPr>
          <a:xfrm>
            <a:off x="704850" y="2971800"/>
            <a:ext cx="327025" cy="247650"/>
          </a:xfrm>
          <a:prstGeom prst="rect">
            <a:avLst/>
          </a:prstGeom>
          <a:noFill/>
          <a:ln w="0">
            <a:noFill/>
          </a:ln>
        </p:spPr>
        <p:txBody>
          <a:bodyPr lIns="0" tIns="0" rIns="0" bIns="0" anchor="ctr">
            <a:noAutofit/>
          </a:bodyPr>
          <a:lstStyle>
            <a:defPPr algn="ctr">
              <a:defRPr sz="1200" b="1">
                <a:solidFill>
                  <a:srgbClr val="38AFA2"/>
                </a:solidFill>
                <a:latin typeface="Arial"/>
                <a:ea typeface="Arial"/>
                <a:cs typeface="Arial"/>
              </a:defRPr>
            </a:defPPr>
          </a:lstStyle>
          <a:p>
            <a:pPr algn="ctr">
              <a:defRPr sz="1200" b="1">
                <a:solidFill>
                  <a:srgbClr val="38AFA2"/>
                </a:solidFill>
                <a:latin typeface="Arial"/>
                <a:ea typeface="Arial"/>
                <a:cs typeface="Arial"/>
              </a:defRPr>
            </a:pPr>
            <a:r>
              <a:rPr sz="1200" b="1">
                <a:solidFill>
                  <a:srgbClr val="38AFA2"/>
                </a:solidFill>
                <a:latin typeface="Arial"/>
                <a:ea typeface="Arial"/>
                <a:cs typeface="Arial"/>
              </a:rPr>
              <a:t>B</a:t>
            </a:r>
          </a:p>
        </p:txBody>
      </p:sp>
      <p:sp>
        <p:nvSpPr>
          <p:cNvPr id="128" name="person-diagram-207">
            <a:extLst>
              <a:ext uri="{FF2B5EF4-FFF2-40B4-BE49-F238E27FC236}">
                <a16:creationId xmlns:a16="http://schemas.microsoft.com/office/drawing/2014/main" id="{604D497A-B7FB-4F8E-A85C-05F6CB9C9314}"/>
              </a:ext>
            </a:extLst>
          </p:cNvPr>
          <p:cNvSpPr>
            <a:spLocks noGrp="1"/>
          </p:cNvSpPr>
          <p:nvPr/>
        </p:nvSpPr>
        <p:spPr>
          <a:xfrm>
            <a:off x="1060450" y="2962275"/>
            <a:ext cx="327025" cy="266700"/>
          </a:xfrm>
          <a:prstGeom prst="rect">
            <a:avLst/>
          </a:prstGeom>
          <a:solidFill>
            <a:srgbClr val="E6F6F4"/>
          </a:solidFill>
          <a:ln w="0">
            <a:noFill/>
          </a:ln>
        </p:spPr>
        <p:txBody>
          <a:bodyPr/>
          <a:lstStyle/>
          <a:p>
            <a:endParaRPr lang="zh-CN" altLang="en-US"/>
          </a:p>
        </p:txBody>
      </p:sp>
      <p:sp>
        <p:nvSpPr>
          <p:cNvPr id="129" name="person-diagram-208">
            <a:extLst>
              <a:ext uri="{FF2B5EF4-FFF2-40B4-BE49-F238E27FC236}">
                <a16:creationId xmlns:a16="http://schemas.microsoft.com/office/drawing/2014/main" id="{068E3272-B93C-442B-B98A-E7E9CEC9BC77}"/>
              </a:ext>
            </a:extLst>
          </p:cNvPr>
          <p:cNvSpPr>
            <a:spLocks noGrp="1"/>
          </p:cNvSpPr>
          <p:nvPr/>
        </p:nvSpPr>
        <p:spPr>
          <a:xfrm>
            <a:off x="1060450" y="2971800"/>
            <a:ext cx="327025" cy="247650"/>
          </a:xfrm>
          <a:prstGeom prst="rect">
            <a:avLst/>
          </a:prstGeom>
          <a:noFill/>
          <a:ln w="0">
            <a:noFill/>
          </a:ln>
        </p:spPr>
        <p:txBody>
          <a:bodyPr lIns="0" tIns="0" rIns="0" bIns="0" anchor="ctr">
            <a:noAutofit/>
          </a:bodyPr>
          <a:lstStyle>
            <a:defPPr algn="ctr">
              <a:defRPr sz="1200" b="1">
                <a:solidFill>
                  <a:srgbClr val="38AFA2"/>
                </a:solidFill>
                <a:latin typeface="Arial"/>
                <a:ea typeface="Arial"/>
                <a:cs typeface="Arial"/>
              </a:defRPr>
            </a:defPPr>
          </a:lstStyle>
          <a:p>
            <a:pPr algn="ctr">
              <a:defRPr sz="1200" b="1">
                <a:solidFill>
                  <a:srgbClr val="38AFA2"/>
                </a:solidFill>
                <a:latin typeface="Arial"/>
                <a:ea typeface="Arial"/>
                <a:cs typeface="Arial"/>
              </a:defRPr>
            </a:pPr>
            <a:r>
              <a:rPr sz="1200" b="1">
                <a:solidFill>
                  <a:srgbClr val="38AFA2"/>
                </a:solidFill>
                <a:latin typeface="Arial"/>
                <a:ea typeface="Arial"/>
                <a:cs typeface="Arial"/>
              </a:rPr>
              <a:t>B</a:t>
            </a:r>
          </a:p>
        </p:txBody>
      </p:sp>
      <p:sp>
        <p:nvSpPr>
          <p:cNvPr id="130" name="person-diagram-209">
            <a:extLst>
              <a:ext uri="{FF2B5EF4-FFF2-40B4-BE49-F238E27FC236}">
                <a16:creationId xmlns:a16="http://schemas.microsoft.com/office/drawing/2014/main" id="{924F1DB1-B42C-45E9-8590-69D24F40867F}"/>
              </a:ext>
            </a:extLst>
          </p:cNvPr>
          <p:cNvSpPr>
            <a:spLocks noGrp="1"/>
          </p:cNvSpPr>
          <p:nvPr/>
        </p:nvSpPr>
        <p:spPr>
          <a:xfrm>
            <a:off x="1416050" y="2962275"/>
            <a:ext cx="327025" cy="266700"/>
          </a:xfrm>
          <a:prstGeom prst="rect">
            <a:avLst/>
          </a:prstGeom>
          <a:solidFill>
            <a:srgbClr val="E6F6F4"/>
          </a:solidFill>
          <a:ln w="0">
            <a:noFill/>
          </a:ln>
        </p:spPr>
        <p:txBody>
          <a:bodyPr/>
          <a:lstStyle/>
          <a:p>
            <a:endParaRPr lang="zh-CN" altLang="en-US"/>
          </a:p>
        </p:txBody>
      </p:sp>
      <p:sp>
        <p:nvSpPr>
          <p:cNvPr id="131" name="person-diagram-210">
            <a:extLst>
              <a:ext uri="{FF2B5EF4-FFF2-40B4-BE49-F238E27FC236}">
                <a16:creationId xmlns:a16="http://schemas.microsoft.com/office/drawing/2014/main" id="{1702B04F-A813-4EED-9E2E-19DA7B6D6875}"/>
              </a:ext>
            </a:extLst>
          </p:cNvPr>
          <p:cNvSpPr>
            <a:spLocks noGrp="1"/>
          </p:cNvSpPr>
          <p:nvPr/>
        </p:nvSpPr>
        <p:spPr>
          <a:xfrm>
            <a:off x="1416050" y="2971800"/>
            <a:ext cx="327025" cy="247650"/>
          </a:xfrm>
          <a:prstGeom prst="rect">
            <a:avLst/>
          </a:prstGeom>
          <a:noFill/>
          <a:ln w="0">
            <a:noFill/>
          </a:ln>
        </p:spPr>
        <p:txBody>
          <a:bodyPr lIns="0" tIns="0" rIns="0" bIns="0" anchor="ctr">
            <a:noAutofit/>
          </a:bodyPr>
          <a:lstStyle>
            <a:defPPr algn="ctr">
              <a:defRPr sz="1200" b="1">
                <a:solidFill>
                  <a:srgbClr val="38AFA2"/>
                </a:solidFill>
                <a:latin typeface="Arial"/>
                <a:ea typeface="Arial"/>
                <a:cs typeface="Arial"/>
              </a:defRPr>
            </a:defPPr>
          </a:lstStyle>
          <a:p>
            <a:pPr algn="ctr">
              <a:defRPr sz="1200" b="1">
                <a:solidFill>
                  <a:srgbClr val="38AFA2"/>
                </a:solidFill>
                <a:latin typeface="Arial"/>
                <a:ea typeface="Arial"/>
                <a:cs typeface="Arial"/>
              </a:defRPr>
            </a:pPr>
            <a:r>
              <a:rPr sz="1200" b="1">
                <a:solidFill>
                  <a:srgbClr val="38AFA2"/>
                </a:solidFill>
                <a:latin typeface="Arial"/>
                <a:ea typeface="Arial"/>
                <a:cs typeface="Arial"/>
              </a:rPr>
              <a:t>B</a:t>
            </a:r>
          </a:p>
        </p:txBody>
      </p:sp>
      <p:sp>
        <p:nvSpPr>
          <p:cNvPr id="132" name="person-diagram-211">
            <a:extLst>
              <a:ext uri="{FF2B5EF4-FFF2-40B4-BE49-F238E27FC236}">
                <a16:creationId xmlns:a16="http://schemas.microsoft.com/office/drawing/2014/main" id="{79DA183C-09DF-4182-8287-CCD06408657D}"/>
              </a:ext>
            </a:extLst>
          </p:cNvPr>
          <p:cNvSpPr>
            <a:spLocks noGrp="1"/>
          </p:cNvSpPr>
          <p:nvPr/>
        </p:nvSpPr>
        <p:spPr>
          <a:xfrm>
            <a:off x="1771650" y="2962275"/>
            <a:ext cx="327025" cy="266700"/>
          </a:xfrm>
          <a:prstGeom prst="rect">
            <a:avLst/>
          </a:prstGeom>
          <a:solidFill>
            <a:srgbClr val="E6F6F4"/>
          </a:solidFill>
          <a:ln w="0">
            <a:noFill/>
          </a:ln>
        </p:spPr>
        <p:txBody>
          <a:bodyPr/>
          <a:lstStyle/>
          <a:p>
            <a:endParaRPr lang="zh-CN" altLang="en-US"/>
          </a:p>
        </p:txBody>
      </p:sp>
      <p:sp>
        <p:nvSpPr>
          <p:cNvPr id="133" name="person-diagram-212">
            <a:extLst>
              <a:ext uri="{FF2B5EF4-FFF2-40B4-BE49-F238E27FC236}">
                <a16:creationId xmlns:a16="http://schemas.microsoft.com/office/drawing/2014/main" id="{837782B8-8C5C-48F8-9F18-2244A9AF876C}"/>
              </a:ext>
            </a:extLst>
          </p:cNvPr>
          <p:cNvSpPr>
            <a:spLocks noGrp="1"/>
          </p:cNvSpPr>
          <p:nvPr/>
        </p:nvSpPr>
        <p:spPr>
          <a:xfrm>
            <a:off x="1771650" y="2971800"/>
            <a:ext cx="327025" cy="247650"/>
          </a:xfrm>
          <a:prstGeom prst="rect">
            <a:avLst/>
          </a:prstGeom>
          <a:noFill/>
          <a:ln w="0">
            <a:noFill/>
          </a:ln>
        </p:spPr>
        <p:txBody>
          <a:bodyPr lIns="0" tIns="0" rIns="0" bIns="0" anchor="ctr">
            <a:noAutofit/>
          </a:bodyPr>
          <a:lstStyle>
            <a:defPPr algn="ctr">
              <a:defRPr sz="1200" b="1">
                <a:solidFill>
                  <a:srgbClr val="38AFA2"/>
                </a:solidFill>
                <a:latin typeface="Arial"/>
                <a:ea typeface="Arial"/>
                <a:cs typeface="Arial"/>
              </a:defRPr>
            </a:defPPr>
          </a:lstStyle>
          <a:p>
            <a:pPr algn="ctr">
              <a:defRPr sz="1200" b="1">
                <a:solidFill>
                  <a:srgbClr val="38AFA2"/>
                </a:solidFill>
                <a:latin typeface="Arial"/>
                <a:ea typeface="Arial"/>
                <a:cs typeface="Arial"/>
              </a:defRPr>
            </a:pPr>
            <a:r>
              <a:rPr sz="1200" b="1">
                <a:solidFill>
                  <a:srgbClr val="38AFA2"/>
                </a:solidFill>
                <a:latin typeface="Arial"/>
                <a:ea typeface="Arial"/>
                <a:cs typeface="Arial"/>
              </a:rPr>
              <a:t>B</a:t>
            </a:r>
          </a:p>
        </p:txBody>
      </p:sp>
      <p:sp>
        <p:nvSpPr>
          <p:cNvPr id="134" name="person-diagram-213">
            <a:extLst>
              <a:ext uri="{FF2B5EF4-FFF2-40B4-BE49-F238E27FC236}">
                <a16:creationId xmlns:a16="http://schemas.microsoft.com/office/drawing/2014/main" id="{D0834A31-EF30-4269-9E5A-F7AE5BE71914}"/>
              </a:ext>
            </a:extLst>
          </p:cNvPr>
          <p:cNvSpPr>
            <a:spLocks noGrp="1"/>
          </p:cNvSpPr>
          <p:nvPr/>
        </p:nvSpPr>
        <p:spPr>
          <a:xfrm>
            <a:off x="2127250" y="2962275"/>
            <a:ext cx="327025" cy="266700"/>
          </a:xfrm>
          <a:prstGeom prst="rect">
            <a:avLst/>
          </a:prstGeom>
          <a:solidFill>
            <a:srgbClr val="E6F6F4"/>
          </a:solidFill>
          <a:ln w="0">
            <a:noFill/>
          </a:ln>
        </p:spPr>
        <p:txBody>
          <a:bodyPr/>
          <a:lstStyle/>
          <a:p>
            <a:endParaRPr lang="zh-CN" altLang="en-US"/>
          </a:p>
        </p:txBody>
      </p:sp>
      <p:sp>
        <p:nvSpPr>
          <p:cNvPr id="135" name="person-diagram-214">
            <a:extLst>
              <a:ext uri="{FF2B5EF4-FFF2-40B4-BE49-F238E27FC236}">
                <a16:creationId xmlns:a16="http://schemas.microsoft.com/office/drawing/2014/main" id="{1F3E9B0B-0D87-4475-9ED8-F53DAE3208BD}"/>
              </a:ext>
            </a:extLst>
          </p:cNvPr>
          <p:cNvSpPr>
            <a:spLocks noGrp="1"/>
          </p:cNvSpPr>
          <p:nvPr/>
        </p:nvSpPr>
        <p:spPr>
          <a:xfrm>
            <a:off x="2127250" y="2971800"/>
            <a:ext cx="327025" cy="247650"/>
          </a:xfrm>
          <a:prstGeom prst="rect">
            <a:avLst/>
          </a:prstGeom>
          <a:noFill/>
          <a:ln w="0">
            <a:noFill/>
          </a:ln>
        </p:spPr>
        <p:txBody>
          <a:bodyPr lIns="0" tIns="0" rIns="0" bIns="0" anchor="ctr">
            <a:noAutofit/>
          </a:bodyPr>
          <a:lstStyle>
            <a:defPPr algn="ctr">
              <a:defRPr sz="1200" b="1">
                <a:solidFill>
                  <a:srgbClr val="38AFA2"/>
                </a:solidFill>
                <a:latin typeface="Arial"/>
                <a:ea typeface="Arial"/>
                <a:cs typeface="Arial"/>
              </a:defRPr>
            </a:defPPr>
          </a:lstStyle>
          <a:p>
            <a:pPr algn="ctr">
              <a:defRPr sz="1200" b="1">
                <a:solidFill>
                  <a:srgbClr val="38AFA2"/>
                </a:solidFill>
                <a:latin typeface="Arial"/>
                <a:ea typeface="Arial"/>
                <a:cs typeface="Arial"/>
              </a:defRPr>
            </a:pPr>
            <a:r>
              <a:rPr sz="1200" b="1">
                <a:solidFill>
                  <a:srgbClr val="38AFA2"/>
                </a:solidFill>
                <a:latin typeface="Arial"/>
                <a:ea typeface="Arial"/>
                <a:cs typeface="Arial"/>
              </a:rPr>
              <a:t>B</a:t>
            </a:r>
          </a:p>
        </p:txBody>
      </p:sp>
      <p:sp>
        <p:nvSpPr>
          <p:cNvPr id="136" name="person-diagram-215">
            <a:extLst>
              <a:ext uri="{FF2B5EF4-FFF2-40B4-BE49-F238E27FC236}">
                <a16:creationId xmlns:a16="http://schemas.microsoft.com/office/drawing/2014/main" id="{895C634D-30B3-4377-815C-28B3819BBC2A}"/>
              </a:ext>
            </a:extLst>
          </p:cNvPr>
          <p:cNvSpPr>
            <a:spLocks noGrp="1"/>
          </p:cNvSpPr>
          <p:nvPr/>
        </p:nvSpPr>
        <p:spPr>
          <a:xfrm>
            <a:off x="2482850" y="2962275"/>
            <a:ext cx="327025" cy="266700"/>
          </a:xfrm>
          <a:prstGeom prst="rect">
            <a:avLst/>
          </a:prstGeom>
          <a:solidFill>
            <a:srgbClr val="E6F6F4"/>
          </a:solidFill>
          <a:ln w="0">
            <a:noFill/>
          </a:ln>
        </p:spPr>
        <p:txBody>
          <a:bodyPr/>
          <a:lstStyle/>
          <a:p>
            <a:endParaRPr lang="zh-CN" altLang="en-US"/>
          </a:p>
        </p:txBody>
      </p:sp>
      <p:sp>
        <p:nvSpPr>
          <p:cNvPr id="137" name="person-diagram-216">
            <a:extLst>
              <a:ext uri="{FF2B5EF4-FFF2-40B4-BE49-F238E27FC236}">
                <a16:creationId xmlns:a16="http://schemas.microsoft.com/office/drawing/2014/main" id="{EFB3C472-4A34-4DC6-83CB-69A487AF8DD9}"/>
              </a:ext>
            </a:extLst>
          </p:cNvPr>
          <p:cNvSpPr>
            <a:spLocks noGrp="1"/>
          </p:cNvSpPr>
          <p:nvPr/>
        </p:nvSpPr>
        <p:spPr>
          <a:xfrm>
            <a:off x="2482850" y="2971800"/>
            <a:ext cx="327025" cy="247650"/>
          </a:xfrm>
          <a:prstGeom prst="rect">
            <a:avLst/>
          </a:prstGeom>
          <a:noFill/>
          <a:ln w="0">
            <a:noFill/>
          </a:ln>
        </p:spPr>
        <p:txBody>
          <a:bodyPr lIns="0" tIns="0" rIns="0" bIns="0" anchor="ctr">
            <a:noAutofit/>
          </a:bodyPr>
          <a:lstStyle>
            <a:defPPr algn="ctr">
              <a:defRPr sz="1200" b="1">
                <a:solidFill>
                  <a:srgbClr val="38AFA2"/>
                </a:solidFill>
                <a:latin typeface="Arial"/>
                <a:ea typeface="Arial"/>
                <a:cs typeface="Arial"/>
              </a:defRPr>
            </a:defPPr>
          </a:lstStyle>
          <a:p>
            <a:pPr algn="ctr">
              <a:defRPr sz="1200" b="1">
                <a:solidFill>
                  <a:srgbClr val="38AFA2"/>
                </a:solidFill>
                <a:latin typeface="Arial"/>
                <a:ea typeface="Arial"/>
                <a:cs typeface="Arial"/>
              </a:defRPr>
            </a:pPr>
            <a:r>
              <a:rPr sz="1200" b="1">
                <a:solidFill>
                  <a:srgbClr val="38AFA2"/>
                </a:solidFill>
                <a:latin typeface="Arial"/>
                <a:ea typeface="Arial"/>
                <a:cs typeface="Arial"/>
              </a:rPr>
              <a:t>B</a:t>
            </a:r>
          </a:p>
        </p:txBody>
      </p:sp>
      <p:sp>
        <p:nvSpPr>
          <p:cNvPr id="138" name="person-diagram-217">
            <a:extLst>
              <a:ext uri="{FF2B5EF4-FFF2-40B4-BE49-F238E27FC236}">
                <a16:creationId xmlns:a16="http://schemas.microsoft.com/office/drawing/2014/main" id="{A63F249A-9218-48C1-9C36-046E3086226D}"/>
              </a:ext>
            </a:extLst>
          </p:cNvPr>
          <p:cNvSpPr>
            <a:spLocks noGrp="1"/>
          </p:cNvSpPr>
          <p:nvPr/>
        </p:nvSpPr>
        <p:spPr>
          <a:xfrm>
            <a:off x="1685925" y="3333750"/>
            <a:ext cx="171450" cy="161925"/>
          </a:xfrm>
          <a:prstGeom prst="downArrow">
            <a:avLst/>
          </a:prstGeom>
          <a:solidFill>
            <a:srgbClr val="697386"/>
          </a:solidFill>
          <a:ln w="0">
            <a:noFill/>
          </a:ln>
        </p:spPr>
        <p:txBody>
          <a:bodyPr/>
          <a:lstStyle/>
          <a:p>
            <a:endParaRPr lang="zh-CN" altLang="en-US"/>
          </a:p>
        </p:txBody>
      </p:sp>
      <p:sp>
        <p:nvSpPr>
          <p:cNvPr id="139" name="person-diagram-218">
            <a:extLst>
              <a:ext uri="{FF2B5EF4-FFF2-40B4-BE49-F238E27FC236}">
                <a16:creationId xmlns:a16="http://schemas.microsoft.com/office/drawing/2014/main" id="{9F3F56BD-A694-4C6B-88FF-209FDA5A87C0}"/>
              </a:ext>
            </a:extLst>
          </p:cNvPr>
          <p:cNvSpPr>
            <a:spLocks noGrp="1"/>
          </p:cNvSpPr>
          <p:nvPr/>
        </p:nvSpPr>
        <p:spPr>
          <a:xfrm>
            <a:off x="704850" y="3600450"/>
            <a:ext cx="327025" cy="266700"/>
          </a:xfrm>
          <a:prstGeom prst="rect">
            <a:avLst/>
          </a:prstGeom>
          <a:solidFill>
            <a:srgbClr val="E6F6F4"/>
          </a:solidFill>
          <a:ln w="0">
            <a:noFill/>
          </a:ln>
        </p:spPr>
        <p:txBody>
          <a:bodyPr/>
          <a:lstStyle/>
          <a:p>
            <a:endParaRPr lang="zh-CN" altLang="en-US"/>
          </a:p>
        </p:txBody>
      </p:sp>
      <p:sp>
        <p:nvSpPr>
          <p:cNvPr id="140" name="person-diagram-219">
            <a:extLst>
              <a:ext uri="{FF2B5EF4-FFF2-40B4-BE49-F238E27FC236}">
                <a16:creationId xmlns:a16="http://schemas.microsoft.com/office/drawing/2014/main" id="{CC9685A6-F256-40BB-83A3-8792B40619A7}"/>
              </a:ext>
            </a:extLst>
          </p:cNvPr>
          <p:cNvSpPr>
            <a:spLocks noGrp="1"/>
          </p:cNvSpPr>
          <p:nvPr/>
        </p:nvSpPr>
        <p:spPr>
          <a:xfrm>
            <a:off x="704850" y="3609975"/>
            <a:ext cx="327025" cy="247650"/>
          </a:xfrm>
          <a:prstGeom prst="rect">
            <a:avLst/>
          </a:prstGeom>
          <a:noFill/>
          <a:ln w="0">
            <a:noFill/>
          </a:ln>
        </p:spPr>
        <p:txBody>
          <a:bodyPr lIns="0" tIns="0" rIns="0" bIns="0" anchor="ctr">
            <a:noAutofit/>
          </a:bodyPr>
          <a:lstStyle>
            <a:defPPr algn="ctr">
              <a:defRPr sz="1200" b="1">
                <a:solidFill>
                  <a:srgbClr val="38AFA2"/>
                </a:solidFill>
                <a:latin typeface="Arial"/>
                <a:ea typeface="Arial"/>
                <a:cs typeface="Arial"/>
              </a:defRPr>
            </a:defPPr>
          </a:lstStyle>
          <a:p>
            <a:pPr algn="ctr">
              <a:defRPr sz="1200" b="1">
                <a:solidFill>
                  <a:srgbClr val="38AFA2"/>
                </a:solidFill>
                <a:latin typeface="Arial"/>
                <a:ea typeface="Arial"/>
                <a:cs typeface="Arial"/>
              </a:defRPr>
            </a:pPr>
            <a:r>
              <a:rPr sz="1200" b="1">
                <a:solidFill>
                  <a:srgbClr val="38AFA2"/>
                </a:solidFill>
                <a:latin typeface="Arial"/>
                <a:ea typeface="Arial"/>
                <a:cs typeface="Arial"/>
              </a:rPr>
              <a:t>B</a:t>
            </a:r>
          </a:p>
        </p:txBody>
      </p:sp>
      <p:sp>
        <p:nvSpPr>
          <p:cNvPr id="141" name="person-diagram-220">
            <a:extLst>
              <a:ext uri="{FF2B5EF4-FFF2-40B4-BE49-F238E27FC236}">
                <a16:creationId xmlns:a16="http://schemas.microsoft.com/office/drawing/2014/main" id="{93BDA985-D8C1-41F6-8818-6243F5F8CC33}"/>
              </a:ext>
            </a:extLst>
          </p:cNvPr>
          <p:cNvSpPr>
            <a:spLocks noGrp="1"/>
          </p:cNvSpPr>
          <p:nvPr/>
        </p:nvSpPr>
        <p:spPr>
          <a:xfrm>
            <a:off x="1060450" y="3600450"/>
            <a:ext cx="327025" cy="266700"/>
          </a:xfrm>
          <a:prstGeom prst="rect">
            <a:avLst/>
          </a:prstGeom>
          <a:solidFill>
            <a:srgbClr val="E6F6F4"/>
          </a:solidFill>
          <a:ln w="0">
            <a:noFill/>
          </a:ln>
        </p:spPr>
        <p:txBody>
          <a:bodyPr/>
          <a:lstStyle/>
          <a:p>
            <a:endParaRPr lang="zh-CN" altLang="en-US"/>
          </a:p>
        </p:txBody>
      </p:sp>
      <p:sp>
        <p:nvSpPr>
          <p:cNvPr id="142" name="person-diagram-221">
            <a:extLst>
              <a:ext uri="{FF2B5EF4-FFF2-40B4-BE49-F238E27FC236}">
                <a16:creationId xmlns:a16="http://schemas.microsoft.com/office/drawing/2014/main" id="{3D2F21BB-5BBE-4FB7-802F-4716272ADA2B}"/>
              </a:ext>
            </a:extLst>
          </p:cNvPr>
          <p:cNvSpPr>
            <a:spLocks noGrp="1"/>
          </p:cNvSpPr>
          <p:nvPr/>
        </p:nvSpPr>
        <p:spPr>
          <a:xfrm>
            <a:off x="1060450" y="3609975"/>
            <a:ext cx="327025" cy="247650"/>
          </a:xfrm>
          <a:prstGeom prst="rect">
            <a:avLst/>
          </a:prstGeom>
          <a:noFill/>
          <a:ln w="0">
            <a:noFill/>
          </a:ln>
        </p:spPr>
        <p:txBody>
          <a:bodyPr lIns="0" tIns="0" rIns="0" bIns="0" anchor="ctr">
            <a:noAutofit/>
          </a:bodyPr>
          <a:lstStyle>
            <a:defPPr algn="ctr">
              <a:defRPr sz="1200" b="1">
                <a:solidFill>
                  <a:srgbClr val="38AFA2"/>
                </a:solidFill>
                <a:latin typeface="Arial"/>
                <a:ea typeface="Arial"/>
                <a:cs typeface="Arial"/>
              </a:defRPr>
            </a:defPPr>
          </a:lstStyle>
          <a:p>
            <a:pPr algn="ctr">
              <a:defRPr sz="1200" b="1">
                <a:solidFill>
                  <a:srgbClr val="38AFA2"/>
                </a:solidFill>
                <a:latin typeface="Arial"/>
                <a:ea typeface="Arial"/>
                <a:cs typeface="Arial"/>
              </a:defRPr>
            </a:pPr>
            <a:r>
              <a:rPr sz="1200" b="1">
                <a:solidFill>
                  <a:srgbClr val="38AFA2"/>
                </a:solidFill>
                <a:latin typeface="Arial"/>
                <a:ea typeface="Arial"/>
                <a:cs typeface="Arial"/>
              </a:rPr>
              <a:t>B</a:t>
            </a:r>
          </a:p>
        </p:txBody>
      </p:sp>
      <p:sp>
        <p:nvSpPr>
          <p:cNvPr id="143" name="person-diagram-222">
            <a:extLst>
              <a:ext uri="{FF2B5EF4-FFF2-40B4-BE49-F238E27FC236}">
                <a16:creationId xmlns:a16="http://schemas.microsoft.com/office/drawing/2014/main" id="{77910EEF-8A1A-4DDC-999F-6F1E1C6ACF1B}"/>
              </a:ext>
            </a:extLst>
          </p:cNvPr>
          <p:cNvSpPr>
            <a:spLocks noGrp="1"/>
          </p:cNvSpPr>
          <p:nvPr/>
        </p:nvSpPr>
        <p:spPr>
          <a:xfrm>
            <a:off x="1416050" y="3600450"/>
            <a:ext cx="327025" cy="266700"/>
          </a:xfrm>
          <a:prstGeom prst="rect">
            <a:avLst/>
          </a:prstGeom>
          <a:solidFill>
            <a:srgbClr val="E6F6F4"/>
          </a:solidFill>
          <a:ln w="0">
            <a:noFill/>
          </a:ln>
        </p:spPr>
        <p:txBody>
          <a:bodyPr/>
          <a:lstStyle/>
          <a:p>
            <a:endParaRPr lang="zh-CN" altLang="en-US"/>
          </a:p>
        </p:txBody>
      </p:sp>
      <p:sp>
        <p:nvSpPr>
          <p:cNvPr id="144" name="person-diagram-223">
            <a:extLst>
              <a:ext uri="{FF2B5EF4-FFF2-40B4-BE49-F238E27FC236}">
                <a16:creationId xmlns:a16="http://schemas.microsoft.com/office/drawing/2014/main" id="{8752342E-54F7-42C4-859D-69F1F1FCCDCB}"/>
              </a:ext>
            </a:extLst>
          </p:cNvPr>
          <p:cNvSpPr>
            <a:spLocks noGrp="1"/>
          </p:cNvSpPr>
          <p:nvPr/>
        </p:nvSpPr>
        <p:spPr>
          <a:xfrm>
            <a:off x="1416050" y="3609975"/>
            <a:ext cx="327025" cy="247650"/>
          </a:xfrm>
          <a:prstGeom prst="rect">
            <a:avLst/>
          </a:prstGeom>
          <a:noFill/>
          <a:ln w="0">
            <a:noFill/>
          </a:ln>
        </p:spPr>
        <p:txBody>
          <a:bodyPr lIns="0" tIns="0" rIns="0" bIns="0" anchor="ctr">
            <a:noAutofit/>
          </a:bodyPr>
          <a:lstStyle>
            <a:defPPr algn="ctr">
              <a:defRPr sz="1200" b="1">
                <a:solidFill>
                  <a:srgbClr val="38AFA2"/>
                </a:solidFill>
                <a:latin typeface="Arial"/>
                <a:ea typeface="Arial"/>
                <a:cs typeface="Arial"/>
              </a:defRPr>
            </a:defPPr>
          </a:lstStyle>
          <a:p>
            <a:pPr algn="ctr">
              <a:defRPr sz="1200" b="1">
                <a:solidFill>
                  <a:srgbClr val="38AFA2"/>
                </a:solidFill>
                <a:latin typeface="Arial"/>
                <a:ea typeface="Arial"/>
                <a:cs typeface="Arial"/>
              </a:defRPr>
            </a:pPr>
            <a:r>
              <a:rPr sz="1200" b="1">
                <a:solidFill>
                  <a:srgbClr val="38AFA2"/>
                </a:solidFill>
                <a:latin typeface="Arial"/>
                <a:ea typeface="Arial"/>
                <a:cs typeface="Arial"/>
              </a:rPr>
              <a:t>B</a:t>
            </a:r>
          </a:p>
        </p:txBody>
      </p:sp>
      <p:sp>
        <p:nvSpPr>
          <p:cNvPr id="145" name="person-diagram-224">
            <a:extLst>
              <a:ext uri="{FF2B5EF4-FFF2-40B4-BE49-F238E27FC236}">
                <a16:creationId xmlns:a16="http://schemas.microsoft.com/office/drawing/2014/main" id="{E3768E6C-DA0D-43BB-8B61-EC316C401410}"/>
              </a:ext>
            </a:extLst>
          </p:cNvPr>
          <p:cNvSpPr>
            <a:spLocks noGrp="1"/>
          </p:cNvSpPr>
          <p:nvPr/>
        </p:nvSpPr>
        <p:spPr>
          <a:xfrm>
            <a:off x="1771650" y="3600450"/>
            <a:ext cx="327025" cy="266700"/>
          </a:xfrm>
          <a:prstGeom prst="rect">
            <a:avLst/>
          </a:prstGeom>
          <a:solidFill>
            <a:srgbClr val="E6F6F4"/>
          </a:solidFill>
          <a:ln w="0">
            <a:noFill/>
          </a:ln>
        </p:spPr>
        <p:txBody>
          <a:bodyPr/>
          <a:lstStyle/>
          <a:p>
            <a:endParaRPr lang="zh-CN" altLang="en-US"/>
          </a:p>
        </p:txBody>
      </p:sp>
      <p:sp>
        <p:nvSpPr>
          <p:cNvPr id="146" name="person-diagram-225">
            <a:extLst>
              <a:ext uri="{FF2B5EF4-FFF2-40B4-BE49-F238E27FC236}">
                <a16:creationId xmlns:a16="http://schemas.microsoft.com/office/drawing/2014/main" id="{8B5E1656-087A-4BE0-9AF4-65C86FC4F182}"/>
              </a:ext>
            </a:extLst>
          </p:cNvPr>
          <p:cNvSpPr>
            <a:spLocks noGrp="1"/>
          </p:cNvSpPr>
          <p:nvPr/>
        </p:nvSpPr>
        <p:spPr>
          <a:xfrm>
            <a:off x="1771650" y="3609975"/>
            <a:ext cx="327025" cy="247650"/>
          </a:xfrm>
          <a:prstGeom prst="rect">
            <a:avLst/>
          </a:prstGeom>
          <a:noFill/>
          <a:ln w="0">
            <a:noFill/>
          </a:ln>
        </p:spPr>
        <p:txBody>
          <a:bodyPr lIns="0" tIns="0" rIns="0" bIns="0" anchor="ctr">
            <a:noAutofit/>
          </a:bodyPr>
          <a:lstStyle>
            <a:defPPr algn="ctr">
              <a:defRPr sz="1200" b="1">
                <a:solidFill>
                  <a:srgbClr val="38AFA2"/>
                </a:solidFill>
                <a:latin typeface="Arial"/>
                <a:ea typeface="Arial"/>
                <a:cs typeface="Arial"/>
              </a:defRPr>
            </a:defPPr>
          </a:lstStyle>
          <a:p>
            <a:pPr algn="ctr">
              <a:defRPr sz="1200" b="1">
                <a:solidFill>
                  <a:srgbClr val="38AFA2"/>
                </a:solidFill>
                <a:latin typeface="Arial"/>
                <a:ea typeface="Arial"/>
                <a:cs typeface="Arial"/>
              </a:defRPr>
            </a:pPr>
            <a:r>
              <a:rPr sz="1200" b="1">
                <a:solidFill>
                  <a:srgbClr val="38AFA2"/>
                </a:solidFill>
                <a:latin typeface="Arial"/>
                <a:ea typeface="Arial"/>
                <a:cs typeface="Arial"/>
              </a:rPr>
              <a:t>B</a:t>
            </a:r>
          </a:p>
        </p:txBody>
      </p:sp>
      <p:sp>
        <p:nvSpPr>
          <p:cNvPr id="147" name="person-diagram-226">
            <a:extLst>
              <a:ext uri="{FF2B5EF4-FFF2-40B4-BE49-F238E27FC236}">
                <a16:creationId xmlns:a16="http://schemas.microsoft.com/office/drawing/2014/main" id="{8FCD8892-ED48-4EA5-B22D-6F9BCB5D224F}"/>
              </a:ext>
            </a:extLst>
          </p:cNvPr>
          <p:cNvSpPr>
            <a:spLocks noGrp="1"/>
          </p:cNvSpPr>
          <p:nvPr/>
        </p:nvSpPr>
        <p:spPr>
          <a:xfrm>
            <a:off x="2127250" y="3600450"/>
            <a:ext cx="327025" cy="266700"/>
          </a:xfrm>
          <a:prstGeom prst="rect">
            <a:avLst/>
          </a:prstGeom>
          <a:solidFill>
            <a:srgbClr val="E6F6F4"/>
          </a:solidFill>
          <a:ln w="0">
            <a:noFill/>
          </a:ln>
        </p:spPr>
        <p:txBody>
          <a:bodyPr/>
          <a:lstStyle/>
          <a:p>
            <a:endParaRPr lang="zh-CN" altLang="en-US"/>
          </a:p>
        </p:txBody>
      </p:sp>
      <p:sp>
        <p:nvSpPr>
          <p:cNvPr id="148" name="person-diagram-227">
            <a:extLst>
              <a:ext uri="{FF2B5EF4-FFF2-40B4-BE49-F238E27FC236}">
                <a16:creationId xmlns:a16="http://schemas.microsoft.com/office/drawing/2014/main" id="{D4C4F6F3-C11D-4080-8903-9692CCA536B8}"/>
              </a:ext>
            </a:extLst>
          </p:cNvPr>
          <p:cNvSpPr>
            <a:spLocks noGrp="1"/>
          </p:cNvSpPr>
          <p:nvPr/>
        </p:nvSpPr>
        <p:spPr>
          <a:xfrm>
            <a:off x="2127250" y="3609975"/>
            <a:ext cx="327025" cy="247650"/>
          </a:xfrm>
          <a:prstGeom prst="rect">
            <a:avLst/>
          </a:prstGeom>
          <a:noFill/>
          <a:ln w="0">
            <a:noFill/>
          </a:ln>
        </p:spPr>
        <p:txBody>
          <a:bodyPr lIns="0" tIns="0" rIns="0" bIns="0" anchor="ctr">
            <a:noAutofit/>
          </a:bodyPr>
          <a:lstStyle>
            <a:defPPr algn="ctr">
              <a:defRPr sz="1200" b="1">
                <a:solidFill>
                  <a:srgbClr val="38AFA2"/>
                </a:solidFill>
                <a:latin typeface="Arial"/>
                <a:ea typeface="Arial"/>
                <a:cs typeface="Arial"/>
              </a:defRPr>
            </a:defPPr>
          </a:lstStyle>
          <a:p>
            <a:pPr algn="ctr">
              <a:defRPr sz="1200" b="1">
                <a:solidFill>
                  <a:srgbClr val="38AFA2"/>
                </a:solidFill>
                <a:latin typeface="Arial"/>
                <a:ea typeface="Arial"/>
                <a:cs typeface="Arial"/>
              </a:defRPr>
            </a:pPr>
            <a:r>
              <a:rPr sz="1200" b="1">
                <a:solidFill>
                  <a:srgbClr val="38AFA2"/>
                </a:solidFill>
                <a:latin typeface="Arial"/>
                <a:ea typeface="Arial"/>
                <a:cs typeface="Arial"/>
              </a:rPr>
              <a:t>B</a:t>
            </a:r>
          </a:p>
        </p:txBody>
      </p:sp>
      <p:sp>
        <p:nvSpPr>
          <p:cNvPr id="149" name="person-diagram-228">
            <a:extLst>
              <a:ext uri="{FF2B5EF4-FFF2-40B4-BE49-F238E27FC236}">
                <a16:creationId xmlns:a16="http://schemas.microsoft.com/office/drawing/2014/main" id="{0F6CF22F-076E-4945-B364-964F0D3ED243}"/>
              </a:ext>
            </a:extLst>
          </p:cNvPr>
          <p:cNvSpPr>
            <a:spLocks noGrp="1"/>
          </p:cNvSpPr>
          <p:nvPr/>
        </p:nvSpPr>
        <p:spPr>
          <a:xfrm>
            <a:off x="2482850" y="3600450"/>
            <a:ext cx="327025" cy="266700"/>
          </a:xfrm>
          <a:prstGeom prst="rect">
            <a:avLst/>
          </a:prstGeom>
          <a:solidFill>
            <a:srgbClr val="E6F6F4"/>
          </a:solidFill>
          <a:ln w="0">
            <a:noFill/>
          </a:ln>
        </p:spPr>
        <p:txBody>
          <a:bodyPr/>
          <a:lstStyle/>
          <a:p>
            <a:endParaRPr lang="zh-CN" altLang="en-US"/>
          </a:p>
        </p:txBody>
      </p:sp>
      <p:sp>
        <p:nvSpPr>
          <p:cNvPr id="150" name="person-diagram-229">
            <a:extLst>
              <a:ext uri="{FF2B5EF4-FFF2-40B4-BE49-F238E27FC236}">
                <a16:creationId xmlns:a16="http://schemas.microsoft.com/office/drawing/2014/main" id="{9BEA3848-5990-4103-910E-725589AC9EE0}"/>
              </a:ext>
            </a:extLst>
          </p:cNvPr>
          <p:cNvSpPr>
            <a:spLocks noGrp="1"/>
          </p:cNvSpPr>
          <p:nvPr/>
        </p:nvSpPr>
        <p:spPr>
          <a:xfrm>
            <a:off x="2482850" y="3609975"/>
            <a:ext cx="327025" cy="247650"/>
          </a:xfrm>
          <a:prstGeom prst="rect">
            <a:avLst/>
          </a:prstGeom>
          <a:noFill/>
          <a:ln w="0">
            <a:noFill/>
          </a:ln>
        </p:spPr>
        <p:txBody>
          <a:bodyPr lIns="0" tIns="0" rIns="0" bIns="0" anchor="ctr">
            <a:noAutofit/>
          </a:bodyPr>
          <a:lstStyle>
            <a:defPPr algn="ctr">
              <a:defRPr sz="1200" b="1">
                <a:solidFill>
                  <a:srgbClr val="38AFA2"/>
                </a:solidFill>
                <a:latin typeface="Arial"/>
                <a:ea typeface="Arial"/>
                <a:cs typeface="Arial"/>
              </a:defRPr>
            </a:defPPr>
          </a:lstStyle>
          <a:p>
            <a:pPr algn="ctr">
              <a:defRPr sz="1200" b="1">
                <a:solidFill>
                  <a:srgbClr val="38AFA2"/>
                </a:solidFill>
                <a:latin typeface="Arial"/>
                <a:ea typeface="Arial"/>
                <a:cs typeface="Arial"/>
              </a:defRPr>
            </a:pPr>
            <a:r>
              <a:rPr sz="1200" b="1">
                <a:solidFill>
                  <a:srgbClr val="38AFA2"/>
                </a:solidFill>
                <a:latin typeface="Arial"/>
                <a:ea typeface="Arial"/>
                <a:cs typeface="Arial"/>
              </a:rPr>
              <a:t>B</a:t>
            </a:r>
          </a:p>
        </p:txBody>
      </p:sp>
      <p:sp>
        <p:nvSpPr>
          <p:cNvPr id="151" name="person-diagram-230">
            <a:extLst>
              <a:ext uri="{FF2B5EF4-FFF2-40B4-BE49-F238E27FC236}">
                <a16:creationId xmlns:a16="http://schemas.microsoft.com/office/drawing/2014/main" id="{9A41AA76-0E40-4791-80C7-8126AB398099}"/>
              </a:ext>
            </a:extLst>
          </p:cNvPr>
          <p:cNvSpPr>
            <a:spLocks noGrp="1"/>
          </p:cNvSpPr>
          <p:nvPr/>
        </p:nvSpPr>
        <p:spPr>
          <a:xfrm>
            <a:off x="704850" y="3933825"/>
            <a:ext cx="327025" cy="266700"/>
          </a:xfrm>
          <a:prstGeom prst="rect">
            <a:avLst/>
          </a:prstGeom>
          <a:solidFill>
            <a:srgbClr val="E9EDF8"/>
          </a:solidFill>
          <a:ln w="0">
            <a:noFill/>
          </a:ln>
        </p:spPr>
        <p:txBody>
          <a:bodyPr/>
          <a:lstStyle/>
          <a:p>
            <a:endParaRPr lang="zh-CN" altLang="en-US"/>
          </a:p>
        </p:txBody>
      </p:sp>
      <p:sp>
        <p:nvSpPr>
          <p:cNvPr id="152" name="person-diagram-231">
            <a:extLst>
              <a:ext uri="{FF2B5EF4-FFF2-40B4-BE49-F238E27FC236}">
                <a16:creationId xmlns:a16="http://schemas.microsoft.com/office/drawing/2014/main" id="{17993E53-A440-466B-B95C-9CDC7FFBCA7E}"/>
              </a:ext>
            </a:extLst>
          </p:cNvPr>
          <p:cNvSpPr>
            <a:spLocks noGrp="1"/>
          </p:cNvSpPr>
          <p:nvPr/>
        </p:nvSpPr>
        <p:spPr>
          <a:xfrm>
            <a:off x="704850" y="3943350"/>
            <a:ext cx="327025" cy="247650"/>
          </a:xfrm>
          <a:prstGeom prst="rect">
            <a:avLst/>
          </a:prstGeom>
          <a:noFill/>
          <a:ln w="0">
            <a:noFill/>
          </a:ln>
        </p:spPr>
        <p:txBody>
          <a:bodyPr lIns="0" tIns="0" rIns="0" bIns="0" anchor="ctr">
            <a:noAutofit/>
          </a:bodyPr>
          <a:lstStyle>
            <a:defPPr algn="ctr">
              <a:defRPr sz="1200" b="1">
                <a:solidFill>
                  <a:srgbClr val="1B1D63"/>
                </a:solidFill>
                <a:latin typeface="Arial"/>
                <a:ea typeface="Arial"/>
                <a:cs typeface="Arial"/>
              </a:defRPr>
            </a:defPPr>
          </a:lstStyle>
          <a:p>
            <a:pPr algn="ctr">
              <a:defRPr sz="1200" b="1">
                <a:solidFill>
                  <a:srgbClr val="1B1D63"/>
                </a:solidFill>
                <a:latin typeface="Arial"/>
                <a:ea typeface="Arial"/>
                <a:cs typeface="Arial"/>
              </a:defRPr>
            </a:pPr>
            <a:r>
              <a:rPr sz="1200" b="1">
                <a:solidFill>
                  <a:srgbClr val="1B1D63"/>
                </a:solidFill>
                <a:latin typeface="Arial"/>
                <a:ea typeface="Arial"/>
                <a:cs typeface="Arial"/>
              </a:rPr>
              <a:t>A</a:t>
            </a:r>
          </a:p>
        </p:txBody>
      </p:sp>
      <p:sp>
        <p:nvSpPr>
          <p:cNvPr id="153" name="person-diagram-232">
            <a:extLst>
              <a:ext uri="{FF2B5EF4-FFF2-40B4-BE49-F238E27FC236}">
                <a16:creationId xmlns:a16="http://schemas.microsoft.com/office/drawing/2014/main" id="{A7F63BDD-FB5E-4E2E-8EDC-C40D94D65F36}"/>
              </a:ext>
            </a:extLst>
          </p:cNvPr>
          <p:cNvSpPr>
            <a:spLocks noGrp="1"/>
          </p:cNvSpPr>
          <p:nvPr/>
        </p:nvSpPr>
        <p:spPr>
          <a:xfrm>
            <a:off x="1060450" y="3933825"/>
            <a:ext cx="327025" cy="266700"/>
          </a:xfrm>
          <a:prstGeom prst="rect">
            <a:avLst/>
          </a:prstGeom>
          <a:solidFill>
            <a:srgbClr val="E9EDF8"/>
          </a:solidFill>
          <a:ln w="0">
            <a:noFill/>
          </a:ln>
        </p:spPr>
        <p:txBody>
          <a:bodyPr/>
          <a:lstStyle/>
          <a:p>
            <a:endParaRPr lang="zh-CN" altLang="en-US"/>
          </a:p>
        </p:txBody>
      </p:sp>
      <p:sp>
        <p:nvSpPr>
          <p:cNvPr id="154" name="person-diagram-233">
            <a:extLst>
              <a:ext uri="{FF2B5EF4-FFF2-40B4-BE49-F238E27FC236}">
                <a16:creationId xmlns:a16="http://schemas.microsoft.com/office/drawing/2014/main" id="{54525AC0-C2F3-444E-A637-D1FF37225168}"/>
              </a:ext>
            </a:extLst>
          </p:cNvPr>
          <p:cNvSpPr>
            <a:spLocks noGrp="1"/>
          </p:cNvSpPr>
          <p:nvPr/>
        </p:nvSpPr>
        <p:spPr>
          <a:xfrm>
            <a:off x="1060450" y="3943350"/>
            <a:ext cx="327025" cy="247650"/>
          </a:xfrm>
          <a:prstGeom prst="rect">
            <a:avLst/>
          </a:prstGeom>
          <a:noFill/>
          <a:ln w="0">
            <a:noFill/>
          </a:ln>
        </p:spPr>
        <p:txBody>
          <a:bodyPr lIns="0" tIns="0" rIns="0" bIns="0" anchor="ctr">
            <a:noAutofit/>
          </a:bodyPr>
          <a:lstStyle>
            <a:defPPr algn="ctr">
              <a:defRPr sz="1200" b="1">
                <a:solidFill>
                  <a:srgbClr val="1B1D63"/>
                </a:solidFill>
                <a:latin typeface="Arial"/>
                <a:ea typeface="Arial"/>
                <a:cs typeface="Arial"/>
              </a:defRPr>
            </a:defPPr>
          </a:lstStyle>
          <a:p>
            <a:pPr algn="ctr">
              <a:defRPr sz="1200" b="1">
                <a:solidFill>
                  <a:srgbClr val="1B1D63"/>
                </a:solidFill>
                <a:latin typeface="Arial"/>
                <a:ea typeface="Arial"/>
                <a:cs typeface="Arial"/>
              </a:defRPr>
            </a:pPr>
            <a:r>
              <a:rPr sz="1200" b="1">
                <a:solidFill>
                  <a:srgbClr val="1B1D63"/>
                </a:solidFill>
                <a:latin typeface="Arial"/>
                <a:ea typeface="Arial"/>
                <a:cs typeface="Arial"/>
              </a:rPr>
              <a:t>A</a:t>
            </a:r>
          </a:p>
        </p:txBody>
      </p:sp>
      <p:sp>
        <p:nvSpPr>
          <p:cNvPr id="155" name="person-diagram-234">
            <a:extLst>
              <a:ext uri="{FF2B5EF4-FFF2-40B4-BE49-F238E27FC236}">
                <a16:creationId xmlns:a16="http://schemas.microsoft.com/office/drawing/2014/main" id="{8899068A-00FA-4CD6-BD3E-44C7C1FE6DE3}"/>
              </a:ext>
            </a:extLst>
          </p:cNvPr>
          <p:cNvSpPr>
            <a:spLocks noGrp="1"/>
          </p:cNvSpPr>
          <p:nvPr/>
        </p:nvSpPr>
        <p:spPr>
          <a:xfrm>
            <a:off x="1416050" y="3933825"/>
            <a:ext cx="327025" cy="266700"/>
          </a:xfrm>
          <a:prstGeom prst="rect">
            <a:avLst/>
          </a:prstGeom>
          <a:solidFill>
            <a:srgbClr val="E9EDF8"/>
          </a:solidFill>
          <a:ln w="0">
            <a:noFill/>
          </a:ln>
        </p:spPr>
        <p:txBody>
          <a:bodyPr/>
          <a:lstStyle/>
          <a:p>
            <a:endParaRPr lang="zh-CN" altLang="en-US"/>
          </a:p>
        </p:txBody>
      </p:sp>
      <p:sp>
        <p:nvSpPr>
          <p:cNvPr id="156" name="person-diagram-235">
            <a:extLst>
              <a:ext uri="{FF2B5EF4-FFF2-40B4-BE49-F238E27FC236}">
                <a16:creationId xmlns:a16="http://schemas.microsoft.com/office/drawing/2014/main" id="{AD8F2302-CCB4-454C-98BA-A5AB09C1E899}"/>
              </a:ext>
            </a:extLst>
          </p:cNvPr>
          <p:cNvSpPr>
            <a:spLocks noGrp="1"/>
          </p:cNvSpPr>
          <p:nvPr/>
        </p:nvSpPr>
        <p:spPr>
          <a:xfrm>
            <a:off x="1416050" y="3943350"/>
            <a:ext cx="327025" cy="247650"/>
          </a:xfrm>
          <a:prstGeom prst="rect">
            <a:avLst/>
          </a:prstGeom>
          <a:noFill/>
          <a:ln w="0">
            <a:noFill/>
          </a:ln>
        </p:spPr>
        <p:txBody>
          <a:bodyPr lIns="0" tIns="0" rIns="0" bIns="0" anchor="ctr">
            <a:noAutofit/>
          </a:bodyPr>
          <a:lstStyle>
            <a:defPPr algn="ctr">
              <a:defRPr sz="1200" b="1">
                <a:solidFill>
                  <a:srgbClr val="1B1D63"/>
                </a:solidFill>
                <a:latin typeface="Arial"/>
                <a:ea typeface="Arial"/>
                <a:cs typeface="Arial"/>
              </a:defRPr>
            </a:defPPr>
          </a:lstStyle>
          <a:p>
            <a:pPr algn="ctr">
              <a:defRPr sz="1200" b="1">
                <a:solidFill>
                  <a:srgbClr val="1B1D63"/>
                </a:solidFill>
                <a:latin typeface="Arial"/>
                <a:ea typeface="Arial"/>
                <a:cs typeface="Arial"/>
              </a:defRPr>
            </a:pPr>
            <a:r>
              <a:rPr sz="1200" b="1">
                <a:solidFill>
                  <a:srgbClr val="1B1D63"/>
                </a:solidFill>
                <a:latin typeface="Arial"/>
                <a:ea typeface="Arial"/>
                <a:cs typeface="Arial"/>
              </a:rPr>
              <a:t>A</a:t>
            </a:r>
          </a:p>
        </p:txBody>
      </p:sp>
      <p:sp>
        <p:nvSpPr>
          <p:cNvPr id="157" name="person-diagram-236">
            <a:extLst>
              <a:ext uri="{FF2B5EF4-FFF2-40B4-BE49-F238E27FC236}">
                <a16:creationId xmlns:a16="http://schemas.microsoft.com/office/drawing/2014/main" id="{0BF342D4-915B-4C35-9540-1991591F7BEF}"/>
              </a:ext>
            </a:extLst>
          </p:cNvPr>
          <p:cNvSpPr>
            <a:spLocks noGrp="1"/>
          </p:cNvSpPr>
          <p:nvPr/>
        </p:nvSpPr>
        <p:spPr>
          <a:xfrm>
            <a:off x="1771650" y="3933825"/>
            <a:ext cx="327025" cy="266700"/>
          </a:xfrm>
          <a:prstGeom prst="rect">
            <a:avLst/>
          </a:prstGeom>
          <a:solidFill>
            <a:srgbClr val="E9EDF8"/>
          </a:solidFill>
          <a:ln w="0">
            <a:noFill/>
          </a:ln>
        </p:spPr>
        <p:txBody>
          <a:bodyPr/>
          <a:lstStyle/>
          <a:p>
            <a:endParaRPr lang="zh-CN" altLang="en-US"/>
          </a:p>
        </p:txBody>
      </p:sp>
      <p:sp>
        <p:nvSpPr>
          <p:cNvPr id="158" name="person-diagram-237">
            <a:extLst>
              <a:ext uri="{FF2B5EF4-FFF2-40B4-BE49-F238E27FC236}">
                <a16:creationId xmlns:a16="http://schemas.microsoft.com/office/drawing/2014/main" id="{F71A591C-00E2-45A1-B8A0-8C245FE316AF}"/>
              </a:ext>
            </a:extLst>
          </p:cNvPr>
          <p:cNvSpPr>
            <a:spLocks noGrp="1"/>
          </p:cNvSpPr>
          <p:nvPr/>
        </p:nvSpPr>
        <p:spPr>
          <a:xfrm>
            <a:off x="1771650" y="3943350"/>
            <a:ext cx="327025" cy="247650"/>
          </a:xfrm>
          <a:prstGeom prst="rect">
            <a:avLst/>
          </a:prstGeom>
          <a:noFill/>
          <a:ln w="0">
            <a:noFill/>
          </a:ln>
        </p:spPr>
        <p:txBody>
          <a:bodyPr lIns="0" tIns="0" rIns="0" bIns="0" anchor="ctr">
            <a:noAutofit/>
          </a:bodyPr>
          <a:lstStyle>
            <a:defPPr algn="ctr">
              <a:defRPr sz="1200" b="1">
                <a:solidFill>
                  <a:srgbClr val="1B1D63"/>
                </a:solidFill>
                <a:latin typeface="Arial"/>
                <a:ea typeface="Arial"/>
                <a:cs typeface="Arial"/>
              </a:defRPr>
            </a:defPPr>
          </a:lstStyle>
          <a:p>
            <a:pPr algn="ctr">
              <a:defRPr sz="1200" b="1">
                <a:solidFill>
                  <a:srgbClr val="1B1D63"/>
                </a:solidFill>
                <a:latin typeface="Arial"/>
                <a:ea typeface="Arial"/>
                <a:cs typeface="Arial"/>
              </a:defRPr>
            </a:pPr>
            <a:r>
              <a:rPr sz="1200" b="1">
                <a:solidFill>
                  <a:srgbClr val="1B1D63"/>
                </a:solidFill>
                <a:latin typeface="Arial"/>
                <a:ea typeface="Arial"/>
                <a:cs typeface="Arial"/>
              </a:rPr>
              <a:t>A</a:t>
            </a:r>
          </a:p>
        </p:txBody>
      </p:sp>
      <p:sp>
        <p:nvSpPr>
          <p:cNvPr id="159" name="person-diagram-238">
            <a:extLst>
              <a:ext uri="{FF2B5EF4-FFF2-40B4-BE49-F238E27FC236}">
                <a16:creationId xmlns:a16="http://schemas.microsoft.com/office/drawing/2014/main" id="{F37BE6DA-1C80-4AB2-9264-96BEE5293F1B}"/>
              </a:ext>
            </a:extLst>
          </p:cNvPr>
          <p:cNvSpPr>
            <a:spLocks noGrp="1"/>
          </p:cNvSpPr>
          <p:nvPr/>
        </p:nvSpPr>
        <p:spPr>
          <a:xfrm>
            <a:off x="2127250" y="3933825"/>
            <a:ext cx="327025" cy="266700"/>
          </a:xfrm>
          <a:prstGeom prst="rect">
            <a:avLst/>
          </a:prstGeom>
          <a:solidFill>
            <a:srgbClr val="E9EDF8"/>
          </a:solidFill>
          <a:ln w="0">
            <a:noFill/>
          </a:ln>
        </p:spPr>
        <p:txBody>
          <a:bodyPr/>
          <a:lstStyle/>
          <a:p>
            <a:endParaRPr lang="zh-CN" altLang="en-US"/>
          </a:p>
        </p:txBody>
      </p:sp>
      <p:sp>
        <p:nvSpPr>
          <p:cNvPr id="160" name="person-diagram-239">
            <a:extLst>
              <a:ext uri="{FF2B5EF4-FFF2-40B4-BE49-F238E27FC236}">
                <a16:creationId xmlns:a16="http://schemas.microsoft.com/office/drawing/2014/main" id="{DEA09F2B-D890-422A-990C-4DE27CFF3E94}"/>
              </a:ext>
            </a:extLst>
          </p:cNvPr>
          <p:cNvSpPr>
            <a:spLocks noGrp="1"/>
          </p:cNvSpPr>
          <p:nvPr/>
        </p:nvSpPr>
        <p:spPr>
          <a:xfrm>
            <a:off x="2127250" y="3943350"/>
            <a:ext cx="327025" cy="247650"/>
          </a:xfrm>
          <a:prstGeom prst="rect">
            <a:avLst/>
          </a:prstGeom>
          <a:noFill/>
          <a:ln w="0">
            <a:noFill/>
          </a:ln>
        </p:spPr>
        <p:txBody>
          <a:bodyPr lIns="0" tIns="0" rIns="0" bIns="0" anchor="ctr">
            <a:noAutofit/>
          </a:bodyPr>
          <a:lstStyle>
            <a:defPPr algn="ctr">
              <a:defRPr sz="1200" b="1">
                <a:solidFill>
                  <a:srgbClr val="1B1D63"/>
                </a:solidFill>
                <a:latin typeface="Arial"/>
                <a:ea typeface="Arial"/>
                <a:cs typeface="Arial"/>
              </a:defRPr>
            </a:defPPr>
          </a:lstStyle>
          <a:p>
            <a:pPr algn="ctr">
              <a:defRPr sz="1200" b="1">
                <a:solidFill>
                  <a:srgbClr val="1B1D63"/>
                </a:solidFill>
                <a:latin typeface="Arial"/>
                <a:ea typeface="Arial"/>
                <a:cs typeface="Arial"/>
              </a:defRPr>
            </a:pPr>
            <a:r>
              <a:rPr sz="1200" b="1">
                <a:solidFill>
                  <a:srgbClr val="1B1D63"/>
                </a:solidFill>
                <a:latin typeface="Arial"/>
                <a:ea typeface="Arial"/>
                <a:cs typeface="Arial"/>
              </a:rPr>
              <a:t>A</a:t>
            </a:r>
          </a:p>
        </p:txBody>
      </p:sp>
      <p:sp>
        <p:nvSpPr>
          <p:cNvPr id="161" name="person-diagram-240">
            <a:extLst>
              <a:ext uri="{FF2B5EF4-FFF2-40B4-BE49-F238E27FC236}">
                <a16:creationId xmlns:a16="http://schemas.microsoft.com/office/drawing/2014/main" id="{F24BFCB9-C41D-4632-8177-B54DB97C9EFC}"/>
              </a:ext>
            </a:extLst>
          </p:cNvPr>
          <p:cNvSpPr>
            <a:spLocks noGrp="1"/>
          </p:cNvSpPr>
          <p:nvPr/>
        </p:nvSpPr>
        <p:spPr>
          <a:xfrm>
            <a:off x="2482850" y="3933825"/>
            <a:ext cx="327025" cy="266700"/>
          </a:xfrm>
          <a:prstGeom prst="rect">
            <a:avLst/>
          </a:prstGeom>
          <a:solidFill>
            <a:srgbClr val="E9EDF8"/>
          </a:solidFill>
          <a:ln w="0">
            <a:noFill/>
          </a:ln>
        </p:spPr>
        <p:txBody>
          <a:bodyPr/>
          <a:lstStyle/>
          <a:p>
            <a:endParaRPr lang="zh-CN" altLang="en-US"/>
          </a:p>
        </p:txBody>
      </p:sp>
      <p:sp>
        <p:nvSpPr>
          <p:cNvPr id="162" name="person-diagram-241">
            <a:extLst>
              <a:ext uri="{FF2B5EF4-FFF2-40B4-BE49-F238E27FC236}">
                <a16:creationId xmlns:a16="http://schemas.microsoft.com/office/drawing/2014/main" id="{3C203F60-D393-43CF-B312-6815416DAB1C}"/>
              </a:ext>
            </a:extLst>
          </p:cNvPr>
          <p:cNvSpPr>
            <a:spLocks noGrp="1"/>
          </p:cNvSpPr>
          <p:nvPr/>
        </p:nvSpPr>
        <p:spPr>
          <a:xfrm>
            <a:off x="2482850" y="3943350"/>
            <a:ext cx="327025" cy="247650"/>
          </a:xfrm>
          <a:prstGeom prst="rect">
            <a:avLst/>
          </a:prstGeom>
          <a:noFill/>
          <a:ln w="0">
            <a:noFill/>
          </a:ln>
        </p:spPr>
        <p:txBody>
          <a:bodyPr lIns="0" tIns="0" rIns="0" bIns="0" anchor="ctr">
            <a:noAutofit/>
          </a:bodyPr>
          <a:lstStyle>
            <a:defPPr algn="ctr">
              <a:defRPr sz="1200" b="1">
                <a:solidFill>
                  <a:srgbClr val="1B1D63"/>
                </a:solidFill>
                <a:latin typeface="Arial"/>
                <a:ea typeface="Arial"/>
                <a:cs typeface="Arial"/>
              </a:defRPr>
            </a:defPPr>
          </a:lstStyle>
          <a:p>
            <a:pPr algn="ctr">
              <a:defRPr sz="1200" b="1">
                <a:solidFill>
                  <a:srgbClr val="1B1D63"/>
                </a:solidFill>
                <a:latin typeface="Arial"/>
                <a:ea typeface="Arial"/>
                <a:cs typeface="Arial"/>
              </a:defRPr>
            </a:pPr>
            <a:r>
              <a:rPr sz="1200" b="1">
                <a:solidFill>
                  <a:srgbClr val="1B1D63"/>
                </a:solidFill>
                <a:latin typeface="Arial"/>
                <a:ea typeface="Arial"/>
                <a:cs typeface="Arial"/>
              </a:rPr>
              <a:t>A</a:t>
            </a:r>
          </a:p>
        </p:txBody>
      </p:sp>
      <p:sp>
        <p:nvSpPr>
          <p:cNvPr id="163" name="person-diagram-242">
            <a:extLst>
              <a:ext uri="{FF2B5EF4-FFF2-40B4-BE49-F238E27FC236}">
                <a16:creationId xmlns:a16="http://schemas.microsoft.com/office/drawing/2014/main" id="{208B1F80-B41B-4636-9F0F-9BC17D434A94}"/>
              </a:ext>
            </a:extLst>
          </p:cNvPr>
          <p:cNvSpPr>
            <a:spLocks noGrp="1"/>
          </p:cNvSpPr>
          <p:nvPr/>
        </p:nvSpPr>
        <p:spPr>
          <a:xfrm>
            <a:off x="3581400" y="2762250"/>
            <a:ext cx="238125" cy="266700"/>
          </a:xfrm>
          <a:prstGeom prst="rect">
            <a:avLst/>
          </a:prstGeom>
          <a:solidFill>
            <a:srgbClr val="E9EDF8"/>
          </a:solidFill>
          <a:ln w="0">
            <a:noFill/>
          </a:ln>
        </p:spPr>
        <p:txBody>
          <a:bodyPr/>
          <a:lstStyle/>
          <a:p>
            <a:endParaRPr lang="zh-CN" altLang="en-US"/>
          </a:p>
        </p:txBody>
      </p:sp>
      <p:sp>
        <p:nvSpPr>
          <p:cNvPr id="164" name="person-diagram-243">
            <a:extLst>
              <a:ext uri="{FF2B5EF4-FFF2-40B4-BE49-F238E27FC236}">
                <a16:creationId xmlns:a16="http://schemas.microsoft.com/office/drawing/2014/main" id="{FB9CAEAA-EA4B-4D2F-848A-487241A0327D}"/>
              </a:ext>
            </a:extLst>
          </p:cNvPr>
          <p:cNvSpPr>
            <a:spLocks noGrp="1"/>
          </p:cNvSpPr>
          <p:nvPr/>
        </p:nvSpPr>
        <p:spPr>
          <a:xfrm>
            <a:off x="3581400" y="2771775"/>
            <a:ext cx="238125" cy="247650"/>
          </a:xfrm>
          <a:prstGeom prst="rect">
            <a:avLst/>
          </a:prstGeom>
          <a:noFill/>
          <a:ln w="0">
            <a:noFill/>
          </a:ln>
        </p:spPr>
        <p:txBody>
          <a:bodyPr lIns="0" tIns="0" rIns="0" bIns="0" anchor="ctr">
            <a:noAutofit/>
          </a:bodyPr>
          <a:lstStyle>
            <a:defPPr algn="ctr">
              <a:defRPr sz="1200" b="1">
                <a:solidFill>
                  <a:srgbClr val="1B1D63"/>
                </a:solidFill>
                <a:latin typeface="Arial"/>
                <a:ea typeface="Arial"/>
                <a:cs typeface="Arial"/>
              </a:defRPr>
            </a:defPPr>
          </a:lstStyle>
          <a:p>
            <a:pPr algn="ctr">
              <a:defRPr sz="1200" b="1">
                <a:solidFill>
                  <a:srgbClr val="1B1D63"/>
                </a:solidFill>
                <a:latin typeface="Arial"/>
                <a:ea typeface="Arial"/>
                <a:cs typeface="Arial"/>
              </a:defRPr>
            </a:pPr>
            <a:r>
              <a:rPr sz="1200" b="1">
                <a:solidFill>
                  <a:srgbClr val="1B1D63"/>
                </a:solidFill>
                <a:latin typeface="Arial"/>
                <a:ea typeface="Arial"/>
                <a:cs typeface="Arial"/>
              </a:rPr>
              <a:t>A</a:t>
            </a:r>
          </a:p>
        </p:txBody>
      </p:sp>
      <p:sp>
        <p:nvSpPr>
          <p:cNvPr id="165" name="person-diagram-244">
            <a:extLst>
              <a:ext uri="{FF2B5EF4-FFF2-40B4-BE49-F238E27FC236}">
                <a16:creationId xmlns:a16="http://schemas.microsoft.com/office/drawing/2014/main" id="{D68AEA7A-9249-46C9-A94B-034B59A8B060}"/>
              </a:ext>
            </a:extLst>
          </p:cNvPr>
          <p:cNvSpPr>
            <a:spLocks noGrp="1"/>
          </p:cNvSpPr>
          <p:nvPr/>
        </p:nvSpPr>
        <p:spPr>
          <a:xfrm>
            <a:off x="3848100" y="2762250"/>
            <a:ext cx="238125" cy="266700"/>
          </a:xfrm>
          <a:prstGeom prst="rect">
            <a:avLst/>
          </a:prstGeom>
          <a:solidFill>
            <a:srgbClr val="E9EDF8"/>
          </a:solidFill>
          <a:ln w="0">
            <a:noFill/>
          </a:ln>
        </p:spPr>
        <p:txBody>
          <a:bodyPr/>
          <a:lstStyle/>
          <a:p>
            <a:endParaRPr lang="zh-CN" altLang="en-US"/>
          </a:p>
        </p:txBody>
      </p:sp>
      <p:sp>
        <p:nvSpPr>
          <p:cNvPr id="166" name="person-diagram-245">
            <a:extLst>
              <a:ext uri="{FF2B5EF4-FFF2-40B4-BE49-F238E27FC236}">
                <a16:creationId xmlns:a16="http://schemas.microsoft.com/office/drawing/2014/main" id="{FB39A693-1672-41C6-BC7A-8670EA4400A3}"/>
              </a:ext>
            </a:extLst>
          </p:cNvPr>
          <p:cNvSpPr>
            <a:spLocks noGrp="1"/>
          </p:cNvSpPr>
          <p:nvPr/>
        </p:nvSpPr>
        <p:spPr>
          <a:xfrm>
            <a:off x="3848100" y="2771775"/>
            <a:ext cx="238125" cy="247650"/>
          </a:xfrm>
          <a:prstGeom prst="rect">
            <a:avLst/>
          </a:prstGeom>
          <a:noFill/>
          <a:ln w="0">
            <a:noFill/>
          </a:ln>
        </p:spPr>
        <p:txBody>
          <a:bodyPr lIns="0" tIns="0" rIns="0" bIns="0" anchor="ctr">
            <a:noAutofit/>
          </a:bodyPr>
          <a:lstStyle>
            <a:defPPr algn="ctr">
              <a:defRPr sz="1200" b="1">
                <a:solidFill>
                  <a:srgbClr val="1B1D63"/>
                </a:solidFill>
                <a:latin typeface="Arial"/>
                <a:ea typeface="Arial"/>
                <a:cs typeface="Arial"/>
              </a:defRPr>
            </a:defPPr>
          </a:lstStyle>
          <a:p>
            <a:pPr algn="ctr">
              <a:defRPr sz="1200" b="1">
                <a:solidFill>
                  <a:srgbClr val="1B1D63"/>
                </a:solidFill>
                <a:latin typeface="Arial"/>
                <a:ea typeface="Arial"/>
                <a:cs typeface="Arial"/>
              </a:defRPr>
            </a:pPr>
            <a:r>
              <a:rPr sz="1200" b="1">
                <a:solidFill>
                  <a:srgbClr val="1B1D63"/>
                </a:solidFill>
                <a:latin typeface="Arial"/>
                <a:ea typeface="Arial"/>
                <a:cs typeface="Arial"/>
              </a:rPr>
              <a:t>A</a:t>
            </a:r>
          </a:p>
        </p:txBody>
      </p:sp>
      <p:sp>
        <p:nvSpPr>
          <p:cNvPr id="167" name="person-diagram-246">
            <a:extLst>
              <a:ext uri="{FF2B5EF4-FFF2-40B4-BE49-F238E27FC236}">
                <a16:creationId xmlns:a16="http://schemas.microsoft.com/office/drawing/2014/main" id="{72F4EB7B-DF31-4457-BDCF-5582A85D7966}"/>
              </a:ext>
            </a:extLst>
          </p:cNvPr>
          <p:cNvSpPr>
            <a:spLocks noGrp="1"/>
          </p:cNvSpPr>
          <p:nvPr/>
        </p:nvSpPr>
        <p:spPr>
          <a:xfrm>
            <a:off x="4114800" y="2762250"/>
            <a:ext cx="238125" cy="266700"/>
          </a:xfrm>
          <a:prstGeom prst="rect">
            <a:avLst/>
          </a:prstGeom>
          <a:solidFill>
            <a:srgbClr val="E9EDF8"/>
          </a:solidFill>
          <a:ln w="0">
            <a:noFill/>
          </a:ln>
        </p:spPr>
        <p:txBody>
          <a:bodyPr/>
          <a:lstStyle/>
          <a:p>
            <a:endParaRPr lang="zh-CN" altLang="en-US"/>
          </a:p>
        </p:txBody>
      </p:sp>
      <p:sp>
        <p:nvSpPr>
          <p:cNvPr id="168" name="person-diagram-247">
            <a:extLst>
              <a:ext uri="{FF2B5EF4-FFF2-40B4-BE49-F238E27FC236}">
                <a16:creationId xmlns:a16="http://schemas.microsoft.com/office/drawing/2014/main" id="{59C4B486-D5D6-4161-B447-4247337EC3D7}"/>
              </a:ext>
            </a:extLst>
          </p:cNvPr>
          <p:cNvSpPr>
            <a:spLocks noGrp="1"/>
          </p:cNvSpPr>
          <p:nvPr/>
        </p:nvSpPr>
        <p:spPr>
          <a:xfrm>
            <a:off x="4114800" y="2771775"/>
            <a:ext cx="238125" cy="247650"/>
          </a:xfrm>
          <a:prstGeom prst="rect">
            <a:avLst/>
          </a:prstGeom>
          <a:noFill/>
          <a:ln w="0">
            <a:noFill/>
          </a:ln>
        </p:spPr>
        <p:txBody>
          <a:bodyPr lIns="0" tIns="0" rIns="0" bIns="0" anchor="ctr">
            <a:noAutofit/>
          </a:bodyPr>
          <a:lstStyle>
            <a:defPPr algn="ctr">
              <a:defRPr sz="1200" b="1">
                <a:solidFill>
                  <a:srgbClr val="1B1D63"/>
                </a:solidFill>
                <a:latin typeface="Arial"/>
                <a:ea typeface="Arial"/>
                <a:cs typeface="Arial"/>
              </a:defRPr>
            </a:defPPr>
          </a:lstStyle>
          <a:p>
            <a:pPr algn="ctr">
              <a:defRPr sz="1200" b="1">
                <a:solidFill>
                  <a:srgbClr val="1B1D63"/>
                </a:solidFill>
                <a:latin typeface="Arial"/>
                <a:ea typeface="Arial"/>
                <a:cs typeface="Arial"/>
              </a:defRPr>
            </a:pPr>
            <a:r>
              <a:rPr sz="1200" b="1">
                <a:solidFill>
                  <a:srgbClr val="1B1D63"/>
                </a:solidFill>
                <a:latin typeface="Arial"/>
                <a:ea typeface="Arial"/>
                <a:cs typeface="Arial"/>
              </a:rPr>
              <a:t>A</a:t>
            </a:r>
          </a:p>
        </p:txBody>
      </p:sp>
      <p:sp>
        <p:nvSpPr>
          <p:cNvPr id="169" name="person-diagram-248">
            <a:extLst>
              <a:ext uri="{FF2B5EF4-FFF2-40B4-BE49-F238E27FC236}">
                <a16:creationId xmlns:a16="http://schemas.microsoft.com/office/drawing/2014/main" id="{123C290E-9FA5-44EE-81F9-C4BEDC19C244}"/>
              </a:ext>
            </a:extLst>
          </p:cNvPr>
          <p:cNvSpPr>
            <a:spLocks noGrp="1"/>
          </p:cNvSpPr>
          <p:nvPr/>
        </p:nvSpPr>
        <p:spPr>
          <a:xfrm>
            <a:off x="4381500" y="2762250"/>
            <a:ext cx="238125" cy="266700"/>
          </a:xfrm>
          <a:prstGeom prst="rect">
            <a:avLst/>
          </a:prstGeom>
          <a:solidFill>
            <a:srgbClr val="E9EDF8"/>
          </a:solidFill>
          <a:ln w="0">
            <a:noFill/>
          </a:ln>
        </p:spPr>
        <p:txBody>
          <a:bodyPr/>
          <a:lstStyle/>
          <a:p>
            <a:endParaRPr lang="zh-CN" altLang="en-US"/>
          </a:p>
        </p:txBody>
      </p:sp>
      <p:sp>
        <p:nvSpPr>
          <p:cNvPr id="170" name="person-diagram-249">
            <a:extLst>
              <a:ext uri="{FF2B5EF4-FFF2-40B4-BE49-F238E27FC236}">
                <a16:creationId xmlns:a16="http://schemas.microsoft.com/office/drawing/2014/main" id="{182ED91D-7023-48D2-A5CC-44D4F26F36EE}"/>
              </a:ext>
            </a:extLst>
          </p:cNvPr>
          <p:cNvSpPr>
            <a:spLocks noGrp="1"/>
          </p:cNvSpPr>
          <p:nvPr/>
        </p:nvSpPr>
        <p:spPr>
          <a:xfrm>
            <a:off x="4381500" y="2771775"/>
            <a:ext cx="238125" cy="247650"/>
          </a:xfrm>
          <a:prstGeom prst="rect">
            <a:avLst/>
          </a:prstGeom>
          <a:noFill/>
          <a:ln w="0">
            <a:noFill/>
          </a:ln>
        </p:spPr>
        <p:txBody>
          <a:bodyPr lIns="0" tIns="0" rIns="0" bIns="0" anchor="ctr">
            <a:noAutofit/>
          </a:bodyPr>
          <a:lstStyle>
            <a:defPPr algn="ctr">
              <a:defRPr sz="1200" b="1">
                <a:solidFill>
                  <a:srgbClr val="1B1D63"/>
                </a:solidFill>
                <a:latin typeface="Arial"/>
                <a:ea typeface="Arial"/>
                <a:cs typeface="Arial"/>
              </a:defRPr>
            </a:defPPr>
          </a:lstStyle>
          <a:p>
            <a:pPr algn="ctr">
              <a:defRPr sz="1200" b="1">
                <a:solidFill>
                  <a:srgbClr val="1B1D63"/>
                </a:solidFill>
                <a:latin typeface="Arial"/>
                <a:ea typeface="Arial"/>
                <a:cs typeface="Arial"/>
              </a:defRPr>
            </a:pPr>
            <a:r>
              <a:rPr sz="1200" b="1">
                <a:solidFill>
                  <a:srgbClr val="1B1D63"/>
                </a:solidFill>
                <a:latin typeface="Arial"/>
                <a:ea typeface="Arial"/>
                <a:cs typeface="Arial"/>
              </a:rPr>
              <a:t>A</a:t>
            </a:r>
          </a:p>
        </p:txBody>
      </p:sp>
      <p:sp>
        <p:nvSpPr>
          <p:cNvPr id="171" name="person-diagram-250">
            <a:extLst>
              <a:ext uri="{FF2B5EF4-FFF2-40B4-BE49-F238E27FC236}">
                <a16:creationId xmlns:a16="http://schemas.microsoft.com/office/drawing/2014/main" id="{5847F970-7E17-4F4B-B381-96FA66B7D481}"/>
              </a:ext>
            </a:extLst>
          </p:cNvPr>
          <p:cNvSpPr>
            <a:spLocks noGrp="1"/>
          </p:cNvSpPr>
          <p:nvPr/>
        </p:nvSpPr>
        <p:spPr>
          <a:xfrm>
            <a:off x="4648200" y="2762250"/>
            <a:ext cx="238125" cy="266700"/>
          </a:xfrm>
          <a:prstGeom prst="rect">
            <a:avLst/>
          </a:prstGeom>
          <a:solidFill>
            <a:srgbClr val="E6F6F4"/>
          </a:solidFill>
          <a:ln w="0">
            <a:noFill/>
          </a:ln>
        </p:spPr>
        <p:txBody>
          <a:bodyPr/>
          <a:lstStyle/>
          <a:p>
            <a:endParaRPr lang="zh-CN" altLang="en-US"/>
          </a:p>
        </p:txBody>
      </p:sp>
      <p:sp>
        <p:nvSpPr>
          <p:cNvPr id="172" name="person-diagram-251">
            <a:extLst>
              <a:ext uri="{FF2B5EF4-FFF2-40B4-BE49-F238E27FC236}">
                <a16:creationId xmlns:a16="http://schemas.microsoft.com/office/drawing/2014/main" id="{785B4F0B-665F-4B35-B2B2-AEBC4D214649}"/>
              </a:ext>
            </a:extLst>
          </p:cNvPr>
          <p:cNvSpPr>
            <a:spLocks noGrp="1"/>
          </p:cNvSpPr>
          <p:nvPr/>
        </p:nvSpPr>
        <p:spPr>
          <a:xfrm>
            <a:off x="4648200" y="2771775"/>
            <a:ext cx="238125" cy="247650"/>
          </a:xfrm>
          <a:prstGeom prst="rect">
            <a:avLst/>
          </a:prstGeom>
          <a:noFill/>
          <a:ln w="0">
            <a:noFill/>
          </a:ln>
        </p:spPr>
        <p:txBody>
          <a:bodyPr lIns="0" tIns="0" rIns="0" bIns="0" anchor="ctr">
            <a:noAutofit/>
          </a:bodyPr>
          <a:lstStyle>
            <a:defPPr algn="ctr">
              <a:defRPr sz="1200" b="1">
                <a:solidFill>
                  <a:srgbClr val="38AFA2"/>
                </a:solidFill>
                <a:latin typeface="Arial"/>
                <a:ea typeface="Arial"/>
                <a:cs typeface="Arial"/>
              </a:defRPr>
            </a:defPPr>
          </a:lstStyle>
          <a:p>
            <a:pPr algn="ctr">
              <a:defRPr sz="1200" b="1">
                <a:solidFill>
                  <a:srgbClr val="38AFA2"/>
                </a:solidFill>
                <a:latin typeface="Arial"/>
                <a:ea typeface="Arial"/>
                <a:cs typeface="Arial"/>
              </a:defRPr>
            </a:pPr>
            <a:r>
              <a:rPr sz="1200" b="1">
                <a:solidFill>
                  <a:srgbClr val="38AFA2"/>
                </a:solidFill>
                <a:latin typeface="Arial"/>
                <a:ea typeface="Arial"/>
                <a:cs typeface="Arial"/>
              </a:rPr>
              <a:t>B</a:t>
            </a:r>
          </a:p>
        </p:txBody>
      </p:sp>
      <p:sp>
        <p:nvSpPr>
          <p:cNvPr id="173" name="person-diagram-252">
            <a:extLst>
              <a:ext uri="{FF2B5EF4-FFF2-40B4-BE49-F238E27FC236}">
                <a16:creationId xmlns:a16="http://schemas.microsoft.com/office/drawing/2014/main" id="{DAB3A97E-556F-4D1C-9131-04DCF69037AF}"/>
              </a:ext>
            </a:extLst>
          </p:cNvPr>
          <p:cNvSpPr>
            <a:spLocks noGrp="1"/>
          </p:cNvSpPr>
          <p:nvPr/>
        </p:nvSpPr>
        <p:spPr>
          <a:xfrm>
            <a:off x="4914900" y="2762250"/>
            <a:ext cx="238125" cy="266700"/>
          </a:xfrm>
          <a:prstGeom prst="rect">
            <a:avLst/>
          </a:prstGeom>
          <a:solidFill>
            <a:srgbClr val="E6F6F4"/>
          </a:solidFill>
          <a:ln w="0">
            <a:noFill/>
          </a:ln>
        </p:spPr>
        <p:txBody>
          <a:bodyPr/>
          <a:lstStyle/>
          <a:p>
            <a:endParaRPr lang="zh-CN" altLang="en-US"/>
          </a:p>
        </p:txBody>
      </p:sp>
      <p:sp>
        <p:nvSpPr>
          <p:cNvPr id="174" name="person-diagram-253">
            <a:extLst>
              <a:ext uri="{FF2B5EF4-FFF2-40B4-BE49-F238E27FC236}">
                <a16:creationId xmlns:a16="http://schemas.microsoft.com/office/drawing/2014/main" id="{8E0847B4-15FE-4883-95FC-B60DC3EAFA01}"/>
              </a:ext>
            </a:extLst>
          </p:cNvPr>
          <p:cNvSpPr>
            <a:spLocks noGrp="1"/>
          </p:cNvSpPr>
          <p:nvPr/>
        </p:nvSpPr>
        <p:spPr>
          <a:xfrm>
            <a:off x="4914900" y="2771775"/>
            <a:ext cx="238125" cy="247650"/>
          </a:xfrm>
          <a:prstGeom prst="rect">
            <a:avLst/>
          </a:prstGeom>
          <a:noFill/>
          <a:ln w="0">
            <a:noFill/>
          </a:ln>
        </p:spPr>
        <p:txBody>
          <a:bodyPr lIns="0" tIns="0" rIns="0" bIns="0" anchor="ctr">
            <a:noAutofit/>
          </a:bodyPr>
          <a:lstStyle>
            <a:defPPr algn="ctr">
              <a:defRPr sz="1200" b="1">
                <a:solidFill>
                  <a:srgbClr val="38AFA2"/>
                </a:solidFill>
                <a:latin typeface="Arial"/>
                <a:ea typeface="Arial"/>
                <a:cs typeface="Arial"/>
              </a:defRPr>
            </a:defPPr>
          </a:lstStyle>
          <a:p>
            <a:pPr algn="ctr">
              <a:defRPr sz="1200" b="1">
                <a:solidFill>
                  <a:srgbClr val="38AFA2"/>
                </a:solidFill>
                <a:latin typeface="Arial"/>
                <a:ea typeface="Arial"/>
                <a:cs typeface="Arial"/>
              </a:defRPr>
            </a:pPr>
            <a:r>
              <a:rPr sz="1200" b="1">
                <a:solidFill>
                  <a:srgbClr val="38AFA2"/>
                </a:solidFill>
                <a:latin typeface="Arial"/>
                <a:ea typeface="Arial"/>
                <a:cs typeface="Arial"/>
              </a:rPr>
              <a:t>B</a:t>
            </a:r>
          </a:p>
        </p:txBody>
      </p:sp>
      <p:sp>
        <p:nvSpPr>
          <p:cNvPr id="175" name="person-diagram-254">
            <a:extLst>
              <a:ext uri="{FF2B5EF4-FFF2-40B4-BE49-F238E27FC236}">
                <a16:creationId xmlns:a16="http://schemas.microsoft.com/office/drawing/2014/main" id="{E6FD7680-9892-4B55-BF6D-B6FEFC77B356}"/>
              </a:ext>
            </a:extLst>
          </p:cNvPr>
          <p:cNvSpPr>
            <a:spLocks noGrp="1"/>
          </p:cNvSpPr>
          <p:nvPr/>
        </p:nvSpPr>
        <p:spPr>
          <a:xfrm>
            <a:off x="5181600" y="2762250"/>
            <a:ext cx="238125" cy="266700"/>
          </a:xfrm>
          <a:prstGeom prst="rect">
            <a:avLst/>
          </a:prstGeom>
          <a:solidFill>
            <a:srgbClr val="E6F6F4"/>
          </a:solidFill>
          <a:ln w="0">
            <a:noFill/>
          </a:ln>
        </p:spPr>
        <p:txBody>
          <a:bodyPr/>
          <a:lstStyle/>
          <a:p>
            <a:endParaRPr lang="zh-CN" altLang="en-US"/>
          </a:p>
        </p:txBody>
      </p:sp>
      <p:sp>
        <p:nvSpPr>
          <p:cNvPr id="176" name="person-diagram-255">
            <a:extLst>
              <a:ext uri="{FF2B5EF4-FFF2-40B4-BE49-F238E27FC236}">
                <a16:creationId xmlns:a16="http://schemas.microsoft.com/office/drawing/2014/main" id="{455D223D-692E-4134-A420-E8F7936A59F8}"/>
              </a:ext>
            </a:extLst>
          </p:cNvPr>
          <p:cNvSpPr>
            <a:spLocks noGrp="1"/>
          </p:cNvSpPr>
          <p:nvPr/>
        </p:nvSpPr>
        <p:spPr>
          <a:xfrm>
            <a:off x="5181600" y="2771775"/>
            <a:ext cx="238125" cy="247650"/>
          </a:xfrm>
          <a:prstGeom prst="rect">
            <a:avLst/>
          </a:prstGeom>
          <a:noFill/>
          <a:ln w="0">
            <a:noFill/>
          </a:ln>
        </p:spPr>
        <p:txBody>
          <a:bodyPr lIns="0" tIns="0" rIns="0" bIns="0" anchor="ctr">
            <a:noAutofit/>
          </a:bodyPr>
          <a:lstStyle>
            <a:defPPr algn="ctr">
              <a:defRPr sz="1200" b="1">
                <a:solidFill>
                  <a:srgbClr val="38AFA2"/>
                </a:solidFill>
                <a:latin typeface="Arial"/>
                <a:ea typeface="Arial"/>
                <a:cs typeface="Arial"/>
              </a:defRPr>
            </a:defPPr>
          </a:lstStyle>
          <a:p>
            <a:pPr algn="ctr">
              <a:defRPr sz="1200" b="1">
                <a:solidFill>
                  <a:srgbClr val="38AFA2"/>
                </a:solidFill>
                <a:latin typeface="Arial"/>
                <a:ea typeface="Arial"/>
                <a:cs typeface="Arial"/>
              </a:defRPr>
            </a:pPr>
            <a:r>
              <a:rPr sz="1200" b="1">
                <a:solidFill>
                  <a:srgbClr val="38AFA2"/>
                </a:solidFill>
                <a:latin typeface="Arial"/>
                <a:ea typeface="Arial"/>
                <a:cs typeface="Arial"/>
              </a:rPr>
              <a:t>B</a:t>
            </a:r>
          </a:p>
        </p:txBody>
      </p:sp>
      <p:sp>
        <p:nvSpPr>
          <p:cNvPr id="177" name="person-diagram-256">
            <a:extLst>
              <a:ext uri="{FF2B5EF4-FFF2-40B4-BE49-F238E27FC236}">
                <a16:creationId xmlns:a16="http://schemas.microsoft.com/office/drawing/2014/main" id="{7BBCA0D1-059F-488A-90DF-C7E1075C1195}"/>
              </a:ext>
            </a:extLst>
          </p:cNvPr>
          <p:cNvSpPr>
            <a:spLocks noGrp="1"/>
          </p:cNvSpPr>
          <p:nvPr/>
        </p:nvSpPr>
        <p:spPr>
          <a:xfrm>
            <a:off x="5448300" y="2762250"/>
            <a:ext cx="238125" cy="266700"/>
          </a:xfrm>
          <a:prstGeom prst="rect">
            <a:avLst/>
          </a:prstGeom>
          <a:solidFill>
            <a:srgbClr val="E6F6F4"/>
          </a:solidFill>
          <a:ln w="0">
            <a:noFill/>
          </a:ln>
        </p:spPr>
        <p:txBody>
          <a:bodyPr/>
          <a:lstStyle/>
          <a:p>
            <a:endParaRPr lang="zh-CN" altLang="en-US"/>
          </a:p>
        </p:txBody>
      </p:sp>
      <p:sp>
        <p:nvSpPr>
          <p:cNvPr id="178" name="person-diagram-257">
            <a:extLst>
              <a:ext uri="{FF2B5EF4-FFF2-40B4-BE49-F238E27FC236}">
                <a16:creationId xmlns:a16="http://schemas.microsoft.com/office/drawing/2014/main" id="{80560DF9-7C7C-4A0B-97D6-E46DE0852BF6}"/>
              </a:ext>
            </a:extLst>
          </p:cNvPr>
          <p:cNvSpPr>
            <a:spLocks noGrp="1"/>
          </p:cNvSpPr>
          <p:nvPr/>
        </p:nvSpPr>
        <p:spPr>
          <a:xfrm>
            <a:off x="5448300" y="2771775"/>
            <a:ext cx="238125" cy="247650"/>
          </a:xfrm>
          <a:prstGeom prst="rect">
            <a:avLst/>
          </a:prstGeom>
          <a:noFill/>
          <a:ln w="0">
            <a:noFill/>
          </a:ln>
        </p:spPr>
        <p:txBody>
          <a:bodyPr lIns="0" tIns="0" rIns="0" bIns="0" anchor="ctr">
            <a:noAutofit/>
          </a:bodyPr>
          <a:lstStyle>
            <a:defPPr algn="ctr">
              <a:defRPr sz="1200" b="1">
                <a:solidFill>
                  <a:srgbClr val="38AFA2"/>
                </a:solidFill>
                <a:latin typeface="Arial"/>
                <a:ea typeface="Arial"/>
                <a:cs typeface="Arial"/>
              </a:defRPr>
            </a:defPPr>
          </a:lstStyle>
          <a:p>
            <a:pPr algn="ctr">
              <a:defRPr sz="1200" b="1">
                <a:solidFill>
                  <a:srgbClr val="38AFA2"/>
                </a:solidFill>
                <a:latin typeface="Arial"/>
                <a:ea typeface="Arial"/>
                <a:cs typeface="Arial"/>
              </a:defRPr>
            </a:pPr>
            <a:r>
              <a:rPr sz="1200" b="1">
                <a:solidFill>
                  <a:srgbClr val="38AFA2"/>
                </a:solidFill>
                <a:latin typeface="Arial"/>
                <a:ea typeface="Arial"/>
                <a:cs typeface="Arial"/>
              </a:rPr>
              <a:t>B</a:t>
            </a:r>
          </a:p>
        </p:txBody>
      </p:sp>
      <p:sp>
        <p:nvSpPr>
          <p:cNvPr id="179" name="person-diagram-258">
            <a:extLst>
              <a:ext uri="{FF2B5EF4-FFF2-40B4-BE49-F238E27FC236}">
                <a16:creationId xmlns:a16="http://schemas.microsoft.com/office/drawing/2014/main" id="{536842A8-A6DA-4047-AE52-5A638FAC3857}"/>
              </a:ext>
            </a:extLst>
          </p:cNvPr>
          <p:cNvSpPr>
            <a:spLocks noGrp="1"/>
          </p:cNvSpPr>
          <p:nvPr/>
        </p:nvSpPr>
        <p:spPr>
          <a:xfrm>
            <a:off x="3581400" y="3105150"/>
            <a:ext cx="238125" cy="266700"/>
          </a:xfrm>
          <a:prstGeom prst="rect">
            <a:avLst/>
          </a:prstGeom>
          <a:solidFill>
            <a:srgbClr val="E6F6F4"/>
          </a:solidFill>
          <a:ln w="0">
            <a:noFill/>
          </a:ln>
        </p:spPr>
        <p:txBody>
          <a:bodyPr/>
          <a:lstStyle/>
          <a:p>
            <a:endParaRPr lang="zh-CN" altLang="en-US"/>
          </a:p>
        </p:txBody>
      </p:sp>
      <p:sp>
        <p:nvSpPr>
          <p:cNvPr id="180" name="person-diagram-259">
            <a:extLst>
              <a:ext uri="{FF2B5EF4-FFF2-40B4-BE49-F238E27FC236}">
                <a16:creationId xmlns:a16="http://schemas.microsoft.com/office/drawing/2014/main" id="{53010DDD-A56C-4B2C-9445-E499380040D3}"/>
              </a:ext>
            </a:extLst>
          </p:cNvPr>
          <p:cNvSpPr>
            <a:spLocks noGrp="1"/>
          </p:cNvSpPr>
          <p:nvPr/>
        </p:nvSpPr>
        <p:spPr>
          <a:xfrm>
            <a:off x="3581400" y="3114675"/>
            <a:ext cx="238125" cy="247650"/>
          </a:xfrm>
          <a:prstGeom prst="rect">
            <a:avLst/>
          </a:prstGeom>
          <a:noFill/>
          <a:ln w="0">
            <a:noFill/>
          </a:ln>
        </p:spPr>
        <p:txBody>
          <a:bodyPr lIns="0" tIns="0" rIns="0" bIns="0" anchor="ctr">
            <a:noAutofit/>
          </a:bodyPr>
          <a:lstStyle>
            <a:defPPr algn="ctr">
              <a:defRPr sz="1200" b="1">
                <a:solidFill>
                  <a:srgbClr val="38AFA2"/>
                </a:solidFill>
                <a:latin typeface="Arial"/>
                <a:ea typeface="Arial"/>
                <a:cs typeface="Arial"/>
              </a:defRPr>
            </a:defPPr>
          </a:lstStyle>
          <a:p>
            <a:pPr algn="ctr">
              <a:defRPr sz="1200" b="1">
                <a:solidFill>
                  <a:srgbClr val="38AFA2"/>
                </a:solidFill>
                <a:latin typeface="Arial"/>
                <a:ea typeface="Arial"/>
                <a:cs typeface="Arial"/>
              </a:defRPr>
            </a:pPr>
            <a:r>
              <a:rPr sz="1200" b="1">
                <a:solidFill>
                  <a:srgbClr val="38AFA2"/>
                </a:solidFill>
                <a:latin typeface="Arial"/>
                <a:ea typeface="Arial"/>
                <a:cs typeface="Arial"/>
              </a:rPr>
              <a:t>B</a:t>
            </a:r>
          </a:p>
        </p:txBody>
      </p:sp>
      <p:sp>
        <p:nvSpPr>
          <p:cNvPr id="181" name="person-diagram-260">
            <a:extLst>
              <a:ext uri="{FF2B5EF4-FFF2-40B4-BE49-F238E27FC236}">
                <a16:creationId xmlns:a16="http://schemas.microsoft.com/office/drawing/2014/main" id="{347BB4EA-97B7-4577-8608-D79CB08413FA}"/>
              </a:ext>
            </a:extLst>
          </p:cNvPr>
          <p:cNvSpPr>
            <a:spLocks noGrp="1"/>
          </p:cNvSpPr>
          <p:nvPr/>
        </p:nvSpPr>
        <p:spPr>
          <a:xfrm>
            <a:off x="3848100" y="3105150"/>
            <a:ext cx="238125" cy="266700"/>
          </a:xfrm>
          <a:prstGeom prst="rect">
            <a:avLst/>
          </a:prstGeom>
          <a:solidFill>
            <a:srgbClr val="E6F6F4"/>
          </a:solidFill>
          <a:ln w="0">
            <a:noFill/>
          </a:ln>
        </p:spPr>
        <p:txBody>
          <a:bodyPr/>
          <a:lstStyle/>
          <a:p>
            <a:endParaRPr lang="zh-CN" altLang="en-US"/>
          </a:p>
        </p:txBody>
      </p:sp>
      <p:sp>
        <p:nvSpPr>
          <p:cNvPr id="182" name="person-diagram-261">
            <a:extLst>
              <a:ext uri="{FF2B5EF4-FFF2-40B4-BE49-F238E27FC236}">
                <a16:creationId xmlns:a16="http://schemas.microsoft.com/office/drawing/2014/main" id="{E5D5F7A2-2A3D-4BA4-AFE8-5447190C802C}"/>
              </a:ext>
            </a:extLst>
          </p:cNvPr>
          <p:cNvSpPr>
            <a:spLocks noGrp="1"/>
          </p:cNvSpPr>
          <p:nvPr/>
        </p:nvSpPr>
        <p:spPr>
          <a:xfrm>
            <a:off x="3848100" y="3114675"/>
            <a:ext cx="238125" cy="247650"/>
          </a:xfrm>
          <a:prstGeom prst="rect">
            <a:avLst/>
          </a:prstGeom>
          <a:noFill/>
          <a:ln w="0">
            <a:noFill/>
          </a:ln>
        </p:spPr>
        <p:txBody>
          <a:bodyPr lIns="0" tIns="0" rIns="0" bIns="0" anchor="ctr">
            <a:noAutofit/>
          </a:bodyPr>
          <a:lstStyle>
            <a:defPPr algn="ctr">
              <a:defRPr sz="1200" b="1">
                <a:solidFill>
                  <a:srgbClr val="38AFA2"/>
                </a:solidFill>
                <a:latin typeface="Arial"/>
                <a:ea typeface="Arial"/>
                <a:cs typeface="Arial"/>
              </a:defRPr>
            </a:defPPr>
          </a:lstStyle>
          <a:p>
            <a:pPr algn="ctr">
              <a:defRPr sz="1200" b="1">
                <a:solidFill>
                  <a:srgbClr val="38AFA2"/>
                </a:solidFill>
                <a:latin typeface="Arial"/>
                <a:ea typeface="Arial"/>
                <a:cs typeface="Arial"/>
              </a:defRPr>
            </a:pPr>
            <a:r>
              <a:rPr sz="1200" b="1">
                <a:solidFill>
                  <a:srgbClr val="38AFA2"/>
                </a:solidFill>
                <a:latin typeface="Arial"/>
                <a:ea typeface="Arial"/>
                <a:cs typeface="Arial"/>
              </a:rPr>
              <a:t>B</a:t>
            </a:r>
          </a:p>
        </p:txBody>
      </p:sp>
      <p:sp>
        <p:nvSpPr>
          <p:cNvPr id="183" name="person-diagram-262">
            <a:extLst>
              <a:ext uri="{FF2B5EF4-FFF2-40B4-BE49-F238E27FC236}">
                <a16:creationId xmlns:a16="http://schemas.microsoft.com/office/drawing/2014/main" id="{A7F3508C-A780-4EFC-8012-A2733C379F05}"/>
              </a:ext>
            </a:extLst>
          </p:cNvPr>
          <p:cNvSpPr>
            <a:spLocks noGrp="1"/>
          </p:cNvSpPr>
          <p:nvPr/>
        </p:nvSpPr>
        <p:spPr>
          <a:xfrm>
            <a:off x="4114800" y="3105150"/>
            <a:ext cx="238125" cy="266700"/>
          </a:xfrm>
          <a:prstGeom prst="rect">
            <a:avLst/>
          </a:prstGeom>
          <a:solidFill>
            <a:srgbClr val="E6F6F4"/>
          </a:solidFill>
          <a:ln w="0">
            <a:noFill/>
          </a:ln>
        </p:spPr>
        <p:txBody>
          <a:bodyPr/>
          <a:lstStyle/>
          <a:p>
            <a:endParaRPr lang="zh-CN" altLang="en-US"/>
          </a:p>
        </p:txBody>
      </p:sp>
      <p:sp>
        <p:nvSpPr>
          <p:cNvPr id="184" name="person-diagram-263">
            <a:extLst>
              <a:ext uri="{FF2B5EF4-FFF2-40B4-BE49-F238E27FC236}">
                <a16:creationId xmlns:a16="http://schemas.microsoft.com/office/drawing/2014/main" id="{5FCB532D-3992-4632-9718-2E405BD01E98}"/>
              </a:ext>
            </a:extLst>
          </p:cNvPr>
          <p:cNvSpPr>
            <a:spLocks noGrp="1"/>
          </p:cNvSpPr>
          <p:nvPr/>
        </p:nvSpPr>
        <p:spPr>
          <a:xfrm>
            <a:off x="4114800" y="3114675"/>
            <a:ext cx="238125" cy="247650"/>
          </a:xfrm>
          <a:prstGeom prst="rect">
            <a:avLst/>
          </a:prstGeom>
          <a:noFill/>
          <a:ln w="0">
            <a:noFill/>
          </a:ln>
        </p:spPr>
        <p:txBody>
          <a:bodyPr lIns="0" tIns="0" rIns="0" bIns="0" anchor="ctr">
            <a:noAutofit/>
          </a:bodyPr>
          <a:lstStyle>
            <a:defPPr algn="ctr">
              <a:defRPr sz="1200" b="1">
                <a:solidFill>
                  <a:srgbClr val="38AFA2"/>
                </a:solidFill>
                <a:latin typeface="Arial"/>
                <a:ea typeface="Arial"/>
                <a:cs typeface="Arial"/>
              </a:defRPr>
            </a:defPPr>
          </a:lstStyle>
          <a:p>
            <a:pPr algn="ctr">
              <a:defRPr sz="1200" b="1">
                <a:solidFill>
                  <a:srgbClr val="38AFA2"/>
                </a:solidFill>
                <a:latin typeface="Arial"/>
                <a:ea typeface="Arial"/>
                <a:cs typeface="Arial"/>
              </a:defRPr>
            </a:pPr>
            <a:r>
              <a:rPr sz="1200" b="1">
                <a:solidFill>
                  <a:srgbClr val="38AFA2"/>
                </a:solidFill>
                <a:latin typeface="Arial"/>
                <a:ea typeface="Arial"/>
                <a:cs typeface="Arial"/>
              </a:rPr>
              <a:t>B</a:t>
            </a:r>
          </a:p>
        </p:txBody>
      </p:sp>
      <p:sp>
        <p:nvSpPr>
          <p:cNvPr id="185" name="person-diagram-264">
            <a:extLst>
              <a:ext uri="{FF2B5EF4-FFF2-40B4-BE49-F238E27FC236}">
                <a16:creationId xmlns:a16="http://schemas.microsoft.com/office/drawing/2014/main" id="{CA262888-BEA4-4EA5-BEAF-9C27B0BACA03}"/>
              </a:ext>
            </a:extLst>
          </p:cNvPr>
          <p:cNvSpPr>
            <a:spLocks noGrp="1"/>
          </p:cNvSpPr>
          <p:nvPr/>
        </p:nvSpPr>
        <p:spPr>
          <a:xfrm>
            <a:off x="4381500" y="3105150"/>
            <a:ext cx="238125" cy="266700"/>
          </a:xfrm>
          <a:prstGeom prst="rect">
            <a:avLst/>
          </a:prstGeom>
          <a:solidFill>
            <a:srgbClr val="E6F6F4"/>
          </a:solidFill>
          <a:ln w="0">
            <a:noFill/>
          </a:ln>
        </p:spPr>
        <p:txBody>
          <a:bodyPr/>
          <a:lstStyle/>
          <a:p>
            <a:endParaRPr lang="zh-CN" altLang="en-US"/>
          </a:p>
        </p:txBody>
      </p:sp>
      <p:sp>
        <p:nvSpPr>
          <p:cNvPr id="186" name="person-diagram-265">
            <a:extLst>
              <a:ext uri="{FF2B5EF4-FFF2-40B4-BE49-F238E27FC236}">
                <a16:creationId xmlns:a16="http://schemas.microsoft.com/office/drawing/2014/main" id="{A51F3193-EFBC-4CF9-B102-AD533F1DF839}"/>
              </a:ext>
            </a:extLst>
          </p:cNvPr>
          <p:cNvSpPr>
            <a:spLocks noGrp="1"/>
          </p:cNvSpPr>
          <p:nvPr/>
        </p:nvSpPr>
        <p:spPr>
          <a:xfrm>
            <a:off x="4381500" y="3114675"/>
            <a:ext cx="238125" cy="247650"/>
          </a:xfrm>
          <a:prstGeom prst="rect">
            <a:avLst/>
          </a:prstGeom>
          <a:noFill/>
          <a:ln w="0">
            <a:noFill/>
          </a:ln>
        </p:spPr>
        <p:txBody>
          <a:bodyPr lIns="0" tIns="0" rIns="0" bIns="0" anchor="ctr">
            <a:noAutofit/>
          </a:bodyPr>
          <a:lstStyle>
            <a:defPPr algn="ctr">
              <a:defRPr sz="1200" b="1">
                <a:solidFill>
                  <a:srgbClr val="38AFA2"/>
                </a:solidFill>
                <a:latin typeface="Arial"/>
                <a:ea typeface="Arial"/>
                <a:cs typeface="Arial"/>
              </a:defRPr>
            </a:defPPr>
          </a:lstStyle>
          <a:p>
            <a:pPr algn="ctr">
              <a:defRPr sz="1200" b="1">
                <a:solidFill>
                  <a:srgbClr val="38AFA2"/>
                </a:solidFill>
                <a:latin typeface="Arial"/>
                <a:ea typeface="Arial"/>
                <a:cs typeface="Arial"/>
              </a:defRPr>
            </a:pPr>
            <a:r>
              <a:rPr sz="1200" b="1">
                <a:solidFill>
                  <a:srgbClr val="38AFA2"/>
                </a:solidFill>
                <a:latin typeface="Arial"/>
                <a:ea typeface="Arial"/>
                <a:cs typeface="Arial"/>
              </a:rPr>
              <a:t>B</a:t>
            </a:r>
          </a:p>
        </p:txBody>
      </p:sp>
      <p:sp>
        <p:nvSpPr>
          <p:cNvPr id="187" name="person-diagram-266">
            <a:extLst>
              <a:ext uri="{FF2B5EF4-FFF2-40B4-BE49-F238E27FC236}">
                <a16:creationId xmlns:a16="http://schemas.microsoft.com/office/drawing/2014/main" id="{93DFDD29-51F1-4D0F-A6E6-F1044ED21968}"/>
              </a:ext>
            </a:extLst>
          </p:cNvPr>
          <p:cNvSpPr>
            <a:spLocks noGrp="1"/>
          </p:cNvSpPr>
          <p:nvPr/>
        </p:nvSpPr>
        <p:spPr>
          <a:xfrm>
            <a:off x="4648200" y="3105150"/>
            <a:ext cx="238125" cy="266700"/>
          </a:xfrm>
          <a:prstGeom prst="rect">
            <a:avLst/>
          </a:prstGeom>
          <a:solidFill>
            <a:srgbClr val="E9EDF8"/>
          </a:solidFill>
          <a:ln w="0">
            <a:noFill/>
          </a:ln>
        </p:spPr>
        <p:txBody>
          <a:bodyPr/>
          <a:lstStyle/>
          <a:p>
            <a:endParaRPr lang="zh-CN" altLang="en-US"/>
          </a:p>
        </p:txBody>
      </p:sp>
      <p:sp>
        <p:nvSpPr>
          <p:cNvPr id="188" name="person-diagram-267">
            <a:extLst>
              <a:ext uri="{FF2B5EF4-FFF2-40B4-BE49-F238E27FC236}">
                <a16:creationId xmlns:a16="http://schemas.microsoft.com/office/drawing/2014/main" id="{70303B41-8812-4014-AC83-A7AEDD3A4D45}"/>
              </a:ext>
            </a:extLst>
          </p:cNvPr>
          <p:cNvSpPr>
            <a:spLocks noGrp="1"/>
          </p:cNvSpPr>
          <p:nvPr/>
        </p:nvSpPr>
        <p:spPr>
          <a:xfrm>
            <a:off x="4648200" y="3114675"/>
            <a:ext cx="238125" cy="247650"/>
          </a:xfrm>
          <a:prstGeom prst="rect">
            <a:avLst/>
          </a:prstGeom>
          <a:noFill/>
          <a:ln w="0">
            <a:noFill/>
          </a:ln>
        </p:spPr>
        <p:txBody>
          <a:bodyPr lIns="0" tIns="0" rIns="0" bIns="0" anchor="ctr">
            <a:noAutofit/>
          </a:bodyPr>
          <a:lstStyle>
            <a:defPPr algn="ctr">
              <a:defRPr sz="1200" b="1">
                <a:solidFill>
                  <a:srgbClr val="1B1D63"/>
                </a:solidFill>
                <a:latin typeface="Arial"/>
                <a:ea typeface="Arial"/>
                <a:cs typeface="Arial"/>
              </a:defRPr>
            </a:defPPr>
          </a:lstStyle>
          <a:p>
            <a:pPr algn="ctr">
              <a:defRPr sz="1200" b="1">
                <a:solidFill>
                  <a:srgbClr val="1B1D63"/>
                </a:solidFill>
                <a:latin typeface="Arial"/>
                <a:ea typeface="Arial"/>
                <a:cs typeface="Arial"/>
              </a:defRPr>
            </a:pPr>
            <a:r>
              <a:rPr sz="1200" b="1">
                <a:solidFill>
                  <a:srgbClr val="1B1D63"/>
                </a:solidFill>
                <a:latin typeface="Arial"/>
                <a:ea typeface="Arial"/>
                <a:cs typeface="Arial"/>
              </a:rPr>
              <a:t>A</a:t>
            </a:r>
          </a:p>
        </p:txBody>
      </p:sp>
      <p:sp>
        <p:nvSpPr>
          <p:cNvPr id="189" name="person-diagram-268">
            <a:extLst>
              <a:ext uri="{FF2B5EF4-FFF2-40B4-BE49-F238E27FC236}">
                <a16:creationId xmlns:a16="http://schemas.microsoft.com/office/drawing/2014/main" id="{72063140-6D0C-4004-8C79-DDBF513188C6}"/>
              </a:ext>
            </a:extLst>
          </p:cNvPr>
          <p:cNvSpPr>
            <a:spLocks noGrp="1"/>
          </p:cNvSpPr>
          <p:nvPr/>
        </p:nvSpPr>
        <p:spPr>
          <a:xfrm>
            <a:off x="4914900" y="3105150"/>
            <a:ext cx="238125" cy="266700"/>
          </a:xfrm>
          <a:prstGeom prst="rect">
            <a:avLst/>
          </a:prstGeom>
          <a:solidFill>
            <a:srgbClr val="E9EDF8"/>
          </a:solidFill>
          <a:ln w="0">
            <a:noFill/>
          </a:ln>
        </p:spPr>
        <p:txBody>
          <a:bodyPr/>
          <a:lstStyle/>
          <a:p>
            <a:endParaRPr lang="zh-CN" altLang="en-US"/>
          </a:p>
        </p:txBody>
      </p:sp>
      <p:sp>
        <p:nvSpPr>
          <p:cNvPr id="190" name="person-diagram-269">
            <a:extLst>
              <a:ext uri="{FF2B5EF4-FFF2-40B4-BE49-F238E27FC236}">
                <a16:creationId xmlns:a16="http://schemas.microsoft.com/office/drawing/2014/main" id="{05EC197A-D34C-461D-8718-00ACD1C6F909}"/>
              </a:ext>
            </a:extLst>
          </p:cNvPr>
          <p:cNvSpPr>
            <a:spLocks noGrp="1"/>
          </p:cNvSpPr>
          <p:nvPr/>
        </p:nvSpPr>
        <p:spPr>
          <a:xfrm>
            <a:off x="4914900" y="3114675"/>
            <a:ext cx="238125" cy="247650"/>
          </a:xfrm>
          <a:prstGeom prst="rect">
            <a:avLst/>
          </a:prstGeom>
          <a:noFill/>
          <a:ln w="0">
            <a:noFill/>
          </a:ln>
        </p:spPr>
        <p:txBody>
          <a:bodyPr lIns="0" tIns="0" rIns="0" bIns="0" anchor="ctr">
            <a:noAutofit/>
          </a:bodyPr>
          <a:lstStyle>
            <a:defPPr algn="ctr">
              <a:defRPr sz="1200" b="1">
                <a:solidFill>
                  <a:srgbClr val="1B1D63"/>
                </a:solidFill>
                <a:latin typeface="Arial"/>
                <a:ea typeface="Arial"/>
                <a:cs typeface="Arial"/>
              </a:defRPr>
            </a:defPPr>
          </a:lstStyle>
          <a:p>
            <a:pPr algn="ctr">
              <a:defRPr sz="1200" b="1">
                <a:solidFill>
                  <a:srgbClr val="1B1D63"/>
                </a:solidFill>
                <a:latin typeface="Arial"/>
                <a:ea typeface="Arial"/>
                <a:cs typeface="Arial"/>
              </a:defRPr>
            </a:pPr>
            <a:r>
              <a:rPr sz="1200" b="1">
                <a:solidFill>
                  <a:srgbClr val="1B1D63"/>
                </a:solidFill>
                <a:latin typeface="Arial"/>
                <a:ea typeface="Arial"/>
                <a:cs typeface="Arial"/>
              </a:rPr>
              <a:t>A</a:t>
            </a:r>
          </a:p>
        </p:txBody>
      </p:sp>
      <p:sp>
        <p:nvSpPr>
          <p:cNvPr id="191" name="person-diagram-270">
            <a:extLst>
              <a:ext uri="{FF2B5EF4-FFF2-40B4-BE49-F238E27FC236}">
                <a16:creationId xmlns:a16="http://schemas.microsoft.com/office/drawing/2014/main" id="{B85203DE-299A-42AB-8C02-17CB4A2FFB38}"/>
              </a:ext>
            </a:extLst>
          </p:cNvPr>
          <p:cNvSpPr>
            <a:spLocks noGrp="1"/>
          </p:cNvSpPr>
          <p:nvPr/>
        </p:nvSpPr>
        <p:spPr>
          <a:xfrm>
            <a:off x="5181600" y="3105150"/>
            <a:ext cx="238125" cy="266700"/>
          </a:xfrm>
          <a:prstGeom prst="rect">
            <a:avLst/>
          </a:prstGeom>
          <a:solidFill>
            <a:srgbClr val="E9EDF8"/>
          </a:solidFill>
          <a:ln w="0">
            <a:noFill/>
          </a:ln>
        </p:spPr>
        <p:txBody>
          <a:bodyPr/>
          <a:lstStyle/>
          <a:p>
            <a:endParaRPr lang="zh-CN" altLang="en-US"/>
          </a:p>
        </p:txBody>
      </p:sp>
      <p:sp>
        <p:nvSpPr>
          <p:cNvPr id="192" name="person-diagram-271">
            <a:extLst>
              <a:ext uri="{FF2B5EF4-FFF2-40B4-BE49-F238E27FC236}">
                <a16:creationId xmlns:a16="http://schemas.microsoft.com/office/drawing/2014/main" id="{DCB7A507-FBC2-41B6-AB40-CCB0D916D079}"/>
              </a:ext>
            </a:extLst>
          </p:cNvPr>
          <p:cNvSpPr>
            <a:spLocks noGrp="1"/>
          </p:cNvSpPr>
          <p:nvPr/>
        </p:nvSpPr>
        <p:spPr>
          <a:xfrm>
            <a:off x="5181600" y="3114675"/>
            <a:ext cx="238125" cy="247650"/>
          </a:xfrm>
          <a:prstGeom prst="rect">
            <a:avLst/>
          </a:prstGeom>
          <a:noFill/>
          <a:ln w="0">
            <a:noFill/>
          </a:ln>
        </p:spPr>
        <p:txBody>
          <a:bodyPr lIns="0" tIns="0" rIns="0" bIns="0" anchor="ctr">
            <a:noAutofit/>
          </a:bodyPr>
          <a:lstStyle>
            <a:defPPr algn="ctr">
              <a:defRPr sz="1200" b="1">
                <a:solidFill>
                  <a:srgbClr val="1B1D63"/>
                </a:solidFill>
                <a:latin typeface="Arial"/>
                <a:ea typeface="Arial"/>
                <a:cs typeface="Arial"/>
              </a:defRPr>
            </a:defPPr>
          </a:lstStyle>
          <a:p>
            <a:pPr algn="ctr">
              <a:defRPr sz="1200" b="1">
                <a:solidFill>
                  <a:srgbClr val="1B1D63"/>
                </a:solidFill>
                <a:latin typeface="Arial"/>
                <a:ea typeface="Arial"/>
                <a:cs typeface="Arial"/>
              </a:defRPr>
            </a:pPr>
            <a:r>
              <a:rPr sz="1200" b="1">
                <a:solidFill>
                  <a:srgbClr val="1B1D63"/>
                </a:solidFill>
                <a:latin typeface="Arial"/>
                <a:ea typeface="Arial"/>
                <a:cs typeface="Arial"/>
              </a:rPr>
              <a:t>A</a:t>
            </a:r>
          </a:p>
        </p:txBody>
      </p:sp>
      <p:sp>
        <p:nvSpPr>
          <p:cNvPr id="193" name="person-diagram-272">
            <a:extLst>
              <a:ext uri="{FF2B5EF4-FFF2-40B4-BE49-F238E27FC236}">
                <a16:creationId xmlns:a16="http://schemas.microsoft.com/office/drawing/2014/main" id="{4325050E-6B90-4DF8-82F5-751F8FB6C968}"/>
              </a:ext>
            </a:extLst>
          </p:cNvPr>
          <p:cNvSpPr>
            <a:spLocks noGrp="1"/>
          </p:cNvSpPr>
          <p:nvPr/>
        </p:nvSpPr>
        <p:spPr>
          <a:xfrm>
            <a:off x="5448300" y="3105150"/>
            <a:ext cx="238125" cy="266700"/>
          </a:xfrm>
          <a:prstGeom prst="rect">
            <a:avLst/>
          </a:prstGeom>
          <a:solidFill>
            <a:srgbClr val="E9EDF8"/>
          </a:solidFill>
          <a:ln w="0">
            <a:noFill/>
          </a:ln>
        </p:spPr>
        <p:txBody>
          <a:bodyPr/>
          <a:lstStyle/>
          <a:p>
            <a:endParaRPr lang="zh-CN" altLang="en-US"/>
          </a:p>
        </p:txBody>
      </p:sp>
      <p:sp>
        <p:nvSpPr>
          <p:cNvPr id="194" name="person-diagram-273">
            <a:extLst>
              <a:ext uri="{FF2B5EF4-FFF2-40B4-BE49-F238E27FC236}">
                <a16:creationId xmlns:a16="http://schemas.microsoft.com/office/drawing/2014/main" id="{5D007457-4A8D-4FBA-BD21-087186221452}"/>
              </a:ext>
            </a:extLst>
          </p:cNvPr>
          <p:cNvSpPr>
            <a:spLocks noGrp="1"/>
          </p:cNvSpPr>
          <p:nvPr/>
        </p:nvSpPr>
        <p:spPr>
          <a:xfrm>
            <a:off x="5448300" y="3114675"/>
            <a:ext cx="238125" cy="247650"/>
          </a:xfrm>
          <a:prstGeom prst="rect">
            <a:avLst/>
          </a:prstGeom>
          <a:noFill/>
          <a:ln w="0">
            <a:noFill/>
          </a:ln>
        </p:spPr>
        <p:txBody>
          <a:bodyPr lIns="0" tIns="0" rIns="0" bIns="0" anchor="ctr">
            <a:noAutofit/>
          </a:bodyPr>
          <a:lstStyle>
            <a:defPPr algn="ctr">
              <a:defRPr sz="1200" b="1">
                <a:solidFill>
                  <a:srgbClr val="1B1D63"/>
                </a:solidFill>
                <a:latin typeface="Arial"/>
                <a:ea typeface="Arial"/>
                <a:cs typeface="Arial"/>
              </a:defRPr>
            </a:defPPr>
          </a:lstStyle>
          <a:p>
            <a:pPr algn="ctr">
              <a:defRPr sz="1200" b="1">
                <a:solidFill>
                  <a:srgbClr val="1B1D63"/>
                </a:solidFill>
                <a:latin typeface="Arial"/>
                <a:ea typeface="Arial"/>
                <a:cs typeface="Arial"/>
              </a:defRPr>
            </a:pPr>
            <a:r>
              <a:rPr sz="1200" b="1">
                <a:solidFill>
                  <a:srgbClr val="1B1D63"/>
                </a:solidFill>
                <a:latin typeface="Arial"/>
                <a:ea typeface="Arial"/>
                <a:cs typeface="Arial"/>
              </a:rPr>
              <a:t>A</a:t>
            </a:r>
          </a:p>
        </p:txBody>
      </p:sp>
      <p:sp>
        <p:nvSpPr>
          <p:cNvPr id="195" name="diagram-line-274">
            <a:extLst>
              <a:ext uri="{FF2B5EF4-FFF2-40B4-BE49-F238E27FC236}">
                <a16:creationId xmlns:a16="http://schemas.microsoft.com/office/drawing/2014/main" id="{F91DE511-3CA9-4D63-B636-8BFAFABEE17C}"/>
              </a:ext>
            </a:extLst>
          </p:cNvPr>
          <p:cNvSpPr>
            <a:spLocks noGrp="1"/>
          </p:cNvSpPr>
          <p:nvPr/>
        </p:nvSpPr>
        <p:spPr>
          <a:xfrm>
            <a:off x="4629150" y="2676525"/>
            <a:ext cx="953" cy="781050"/>
          </a:xfrm>
          <a:prstGeom prst="line">
            <a:avLst/>
          </a:prstGeom>
          <a:noFill/>
          <a:ln w="19050">
            <a:solidFill>
              <a:srgbClr val="E31346"/>
            </a:solidFill>
          </a:ln>
        </p:spPr>
        <p:txBody>
          <a:bodyPr/>
          <a:lstStyle/>
          <a:p>
            <a:endParaRPr lang="zh-CN" altLang="en-US"/>
          </a:p>
        </p:txBody>
      </p:sp>
      <p:sp>
        <p:nvSpPr>
          <p:cNvPr id="196" name="person-diagram-275">
            <a:extLst>
              <a:ext uri="{FF2B5EF4-FFF2-40B4-BE49-F238E27FC236}">
                <a16:creationId xmlns:a16="http://schemas.microsoft.com/office/drawing/2014/main" id="{2D91CCC5-D803-442A-92CA-520F46623EDA}"/>
              </a:ext>
            </a:extLst>
          </p:cNvPr>
          <p:cNvSpPr>
            <a:spLocks noGrp="1"/>
          </p:cNvSpPr>
          <p:nvPr/>
        </p:nvSpPr>
        <p:spPr>
          <a:xfrm>
            <a:off x="3581400" y="3781425"/>
            <a:ext cx="2133600" cy="600075"/>
          </a:xfrm>
          <a:prstGeom prst="rect">
            <a:avLst/>
          </a:prstGeom>
          <a:noFill/>
          <a:ln w="0">
            <a:noFill/>
          </a:ln>
        </p:spPr>
        <p:txBody>
          <a:bodyPr lIns="0" tIns="0" rIns="0" bIns="0" anchor="ctr">
            <a:noAutofit/>
          </a:bodyPr>
          <a:lstStyle>
            <a:defPPr algn="l">
              <a:defRPr sz="1350" b="0">
                <a:solidFill>
                  <a:srgbClr val="697386"/>
                </a:solidFill>
                <a:latin typeface="Arial"/>
                <a:ea typeface="Arial"/>
                <a:cs typeface="Arial"/>
              </a:defRPr>
            </a:defPPr>
          </a:lstStyle>
          <a:p>
            <a:pPr algn="l">
              <a:defRPr sz="1350" b="0">
                <a:solidFill>
                  <a:srgbClr val="697386"/>
                </a:solidFill>
                <a:latin typeface="Arial"/>
                <a:ea typeface="Arial"/>
                <a:cs typeface="Arial"/>
              </a:defRPr>
            </a:pPr>
            <a:r>
              <a:rPr sz="1350" b="0">
                <a:solidFill>
                  <a:srgbClr val="697386"/>
                </a:solidFill>
                <a:latin typeface="Arial"/>
                <a:ea typeface="Arial"/>
                <a:cs typeface="Arial"/>
              </a:rPr>
              <a:t>One internal break</a:t>
            </a:r>
          </a:p>
          <a:p>
            <a:pPr algn="l">
              <a:defRPr sz="1350" b="0">
                <a:solidFill>
                  <a:srgbClr val="697386"/>
                </a:solidFill>
                <a:latin typeface="Arial"/>
                <a:ea typeface="Arial"/>
                <a:cs typeface="Arial"/>
              </a:defRPr>
            </a:pPr>
            <a:r>
              <a:rPr sz="1350" b="0">
                <a:solidFill>
                  <a:srgbClr val="697386"/>
                </a:solidFill>
                <a:latin typeface="Arial"/>
                <a:ea typeface="Arial"/>
                <a:cs typeface="Arial"/>
              </a:rPr>
              <a:t>Variable swapped duration</a:t>
            </a:r>
          </a:p>
        </p:txBody>
      </p:sp>
      <p:sp>
        <p:nvSpPr>
          <p:cNvPr id="197" name="person-diagram-276">
            <a:extLst>
              <a:ext uri="{FF2B5EF4-FFF2-40B4-BE49-F238E27FC236}">
                <a16:creationId xmlns:a16="http://schemas.microsoft.com/office/drawing/2014/main" id="{3665E63F-DB99-4473-8C4A-43AD21D32A54}"/>
              </a:ext>
            </a:extLst>
          </p:cNvPr>
          <p:cNvSpPr>
            <a:spLocks noGrp="1"/>
          </p:cNvSpPr>
          <p:nvPr/>
        </p:nvSpPr>
        <p:spPr>
          <a:xfrm>
            <a:off x="6457950" y="2581275"/>
            <a:ext cx="2133600" cy="209550"/>
          </a:xfrm>
          <a:prstGeom prst="rect">
            <a:avLst/>
          </a:prstGeom>
          <a:noFill/>
          <a:ln w="0">
            <a:noFill/>
          </a:ln>
        </p:spPr>
        <p:txBody>
          <a:bodyPr lIns="0" tIns="0" rIns="0" bIns="0" anchor="ctr">
            <a:noAutofit/>
          </a:bodyPr>
          <a:lstStyle>
            <a:defPPr algn="l">
              <a:defRPr sz="1200" b="0">
                <a:solidFill>
                  <a:srgbClr val="697386"/>
                </a:solidFill>
                <a:latin typeface="Arial"/>
                <a:ea typeface="Arial"/>
                <a:cs typeface="Arial"/>
              </a:defRPr>
            </a:defPPr>
          </a:lstStyle>
          <a:p>
            <a:pPr algn="l">
              <a:defRPr sz="1200" b="0">
                <a:solidFill>
                  <a:srgbClr val="697386"/>
                </a:solidFill>
                <a:latin typeface="Arial"/>
                <a:ea typeface="Arial"/>
                <a:cs typeface="Arial"/>
              </a:defRPr>
            </a:pPr>
            <a:r>
              <a:rPr sz="1200" b="0">
                <a:solidFill>
                  <a:srgbClr val="697386"/>
                </a:solidFill>
                <a:latin typeface="Arial"/>
                <a:ea typeface="Arial"/>
                <a:cs typeface="Arial"/>
              </a:rPr>
              <a:t>Early</a:t>
            </a:r>
          </a:p>
        </p:txBody>
      </p:sp>
      <p:sp>
        <p:nvSpPr>
          <p:cNvPr id="198" name="person-diagram-277">
            <a:extLst>
              <a:ext uri="{FF2B5EF4-FFF2-40B4-BE49-F238E27FC236}">
                <a16:creationId xmlns:a16="http://schemas.microsoft.com/office/drawing/2014/main" id="{737E657D-82CE-4DD1-98E3-430D2F0DAE93}"/>
              </a:ext>
            </a:extLst>
          </p:cNvPr>
          <p:cNvSpPr>
            <a:spLocks noGrp="1"/>
          </p:cNvSpPr>
          <p:nvPr/>
        </p:nvSpPr>
        <p:spPr>
          <a:xfrm>
            <a:off x="6457950" y="2847975"/>
            <a:ext cx="2133600" cy="133350"/>
          </a:xfrm>
          <a:prstGeom prst="rect">
            <a:avLst/>
          </a:prstGeom>
          <a:solidFill>
            <a:srgbClr val="E9EDF8"/>
          </a:solidFill>
          <a:ln w="0">
            <a:noFill/>
          </a:ln>
        </p:spPr>
        <p:txBody>
          <a:bodyPr/>
          <a:lstStyle/>
          <a:p>
            <a:endParaRPr lang="zh-CN" altLang="en-US"/>
          </a:p>
        </p:txBody>
      </p:sp>
      <p:sp>
        <p:nvSpPr>
          <p:cNvPr id="199" name="person-diagram-278">
            <a:extLst>
              <a:ext uri="{FF2B5EF4-FFF2-40B4-BE49-F238E27FC236}">
                <a16:creationId xmlns:a16="http://schemas.microsoft.com/office/drawing/2014/main" id="{D75FFC85-B484-4615-A1AF-1291EFB67F8E}"/>
              </a:ext>
            </a:extLst>
          </p:cNvPr>
          <p:cNvSpPr>
            <a:spLocks noGrp="1"/>
          </p:cNvSpPr>
          <p:nvPr/>
        </p:nvSpPr>
        <p:spPr>
          <a:xfrm>
            <a:off x="6724650" y="2847975"/>
            <a:ext cx="533400" cy="133350"/>
          </a:xfrm>
          <a:prstGeom prst="rect">
            <a:avLst/>
          </a:prstGeom>
          <a:solidFill>
            <a:srgbClr val="E31346"/>
          </a:solidFill>
          <a:ln w="0">
            <a:noFill/>
          </a:ln>
        </p:spPr>
        <p:txBody>
          <a:bodyPr/>
          <a:lstStyle/>
          <a:p>
            <a:endParaRPr lang="zh-CN" altLang="en-US"/>
          </a:p>
        </p:txBody>
      </p:sp>
      <p:sp>
        <p:nvSpPr>
          <p:cNvPr id="200" name="person-diagram-279">
            <a:extLst>
              <a:ext uri="{FF2B5EF4-FFF2-40B4-BE49-F238E27FC236}">
                <a16:creationId xmlns:a16="http://schemas.microsoft.com/office/drawing/2014/main" id="{CF3615B9-017D-44D1-8073-BFF81ECD37E9}"/>
              </a:ext>
            </a:extLst>
          </p:cNvPr>
          <p:cNvSpPr>
            <a:spLocks noGrp="1"/>
          </p:cNvSpPr>
          <p:nvPr/>
        </p:nvSpPr>
        <p:spPr>
          <a:xfrm>
            <a:off x="6457950" y="3009900"/>
            <a:ext cx="285750" cy="209550"/>
          </a:xfrm>
          <a:prstGeom prst="rect">
            <a:avLst/>
          </a:prstGeom>
          <a:noFill/>
          <a:ln w="0">
            <a:noFill/>
          </a:ln>
        </p:spPr>
        <p:txBody>
          <a:bodyPr lIns="0" tIns="0" rIns="0" bIns="0" anchor="ctr">
            <a:noAutofit/>
          </a:bodyPr>
          <a:lstStyle>
            <a:defPPr algn="l">
              <a:defRPr sz="1050" b="0">
                <a:solidFill>
                  <a:srgbClr val="697386"/>
                </a:solidFill>
                <a:latin typeface="Arial"/>
                <a:ea typeface="Arial"/>
                <a:cs typeface="Arial"/>
              </a:defRPr>
            </a:defPPr>
          </a:lstStyle>
          <a:p>
            <a:pPr algn="l">
              <a:defRPr sz="1050" b="0">
                <a:solidFill>
                  <a:srgbClr val="697386"/>
                </a:solidFill>
                <a:latin typeface="Arial"/>
                <a:ea typeface="Arial"/>
                <a:cs typeface="Arial"/>
              </a:defRPr>
            </a:pPr>
            <a:r>
              <a:rPr sz="1050" b="0">
                <a:solidFill>
                  <a:srgbClr val="697386"/>
                </a:solidFill>
                <a:latin typeface="Arial"/>
                <a:ea typeface="Arial"/>
                <a:cs typeface="Arial"/>
              </a:rPr>
              <a:t>0</a:t>
            </a:r>
          </a:p>
        </p:txBody>
      </p:sp>
      <p:sp>
        <p:nvSpPr>
          <p:cNvPr id="201" name="person-diagram-280">
            <a:extLst>
              <a:ext uri="{FF2B5EF4-FFF2-40B4-BE49-F238E27FC236}">
                <a16:creationId xmlns:a16="http://schemas.microsoft.com/office/drawing/2014/main" id="{994182E2-3FC1-4E97-BA0D-1283BF660626}"/>
              </a:ext>
            </a:extLst>
          </p:cNvPr>
          <p:cNvSpPr>
            <a:spLocks noGrp="1"/>
          </p:cNvSpPr>
          <p:nvPr/>
        </p:nvSpPr>
        <p:spPr>
          <a:xfrm>
            <a:off x="8334375" y="3009900"/>
            <a:ext cx="285750" cy="209550"/>
          </a:xfrm>
          <a:prstGeom prst="rect">
            <a:avLst/>
          </a:prstGeom>
          <a:noFill/>
          <a:ln w="0">
            <a:noFill/>
          </a:ln>
        </p:spPr>
        <p:txBody>
          <a:bodyPr lIns="0" tIns="0" rIns="0" bIns="0" anchor="ctr">
            <a:noAutofit/>
          </a:bodyPr>
          <a:lstStyle>
            <a:defPPr algn="r">
              <a:defRPr sz="1050" b="0">
                <a:solidFill>
                  <a:srgbClr val="697386"/>
                </a:solidFill>
                <a:latin typeface="Arial"/>
                <a:ea typeface="Arial"/>
                <a:cs typeface="Arial"/>
              </a:defRPr>
            </a:defPPr>
          </a:lstStyle>
          <a:p>
            <a:pPr algn="r">
              <a:defRPr sz="1050" b="0">
                <a:solidFill>
                  <a:srgbClr val="697386"/>
                </a:solidFill>
                <a:latin typeface="Arial"/>
                <a:ea typeface="Arial"/>
                <a:cs typeface="Arial"/>
              </a:defRPr>
            </a:pPr>
            <a:r>
              <a:rPr sz="1050" b="0">
                <a:solidFill>
                  <a:srgbClr val="697386"/>
                </a:solidFill>
                <a:latin typeface="Arial"/>
                <a:ea typeface="Arial"/>
                <a:cs typeface="Arial"/>
              </a:rPr>
              <a:t>64</a:t>
            </a:r>
          </a:p>
        </p:txBody>
      </p:sp>
      <p:sp>
        <p:nvSpPr>
          <p:cNvPr id="202" name="person-diagram-281">
            <a:extLst>
              <a:ext uri="{FF2B5EF4-FFF2-40B4-BE49-F238E27FC236}">
                <a16:creationId xmlns:a16="http://schemas.microsoft.com/office/drawing/2014/main" id="{57EC23FF-9CE7-42D3-98CE-AEA1AA2F0E28}"/>
              </a:ext>
            </a:extLst>
          </p:cNvPr>
          <p:cNvSpPr>
            <a:spLocks noGrp="1"/>
          </p:cNvSpPr>
          <p:nvPr/>
        </p:nvSpPr>
        <p:spPr>
          <a:xfrm>
            <a:off x="6457950" y="3181350"/>
            <a:ext cx="2133600" cy="209550"/>
          </a:xfrm>
          <a:prstGeom prst="rect">
            <a:avLst/>
          </a:prstGeom>
          <a:noFill/>
          <a:ln w="0">
            <a:noFill/>
          </a:ln>
        </p:spPr>
        <p:txBody>
          <a:bodyPr lIns="0" tIns="0" rIns="0" bIns="0" anchor="ctr">
            <a:noAutofit/>
          </a:bodyPr>
          <a:lstStyle>
            <a:defPPr algn="l">
              <a:defRPr sz="1200" b="0">
                <a:solidFill>
                  <a:srgbClr val="697386"/>
                </a:solidFill>
                <a:latin typeface="Arial"/>
                <a:ea typeface="Arial"/>
                <a:cs typeface="Arial"/>
              </a:defRPr>
            </a:defPPr>
          </a:lstStyle>
          <a:p>
            <a:pPr algn="l">
              <a:defRPr sz="1200" b="0">
                <a:solidFill>
                  <a:srgbClr val="697386"/>
                </a:solidFill>
                <a:latin typeface="Arial"/>
                <a:ea typeface="Arial"/>
                <a:cs typeface="Arial"/>
              </a:defRPr>
            </a:pPr>
            <a:r>
              <a:rPr sz="1200" b="0">
                <a:solidFill>
                  <a:srgbClr val="697386"/>
                </a:solidFill>
                <a:latin typeface="Arial"/>
                <a:ea typeface="Arial"/>
                <a:cs typeface="Arial"/>
              </a:rPr>
              <a:t>Middle</a:t>
            </a:r>
          </a:p>
        </p:txBody>
      </p:sp>
      <p:sp>
        <p:nvSpPr>
          <p:cNvPr id="203" name="person-diagram-282">
            <a:extLst>
              <a:ext uri="{FF2B5EF4-FFF2-40B4-BE49-F238E27FC236}">
                <a16:creationId xmlns:a16="http://schemas.microsoft.com/office/drawing/2014/main" id="{8FFADC71-98C9-4530-AF51-E31BB5917570}"/>
              </a:ext>
            </a:extLst>
          </p:cNvPr>
          <p:cNvSpPr>
            <a:spLocks noGrp="1"/>
          </p:cNvSpPr>
          <p:nvPr/>
        </p:nvSpPr>
        <p:spPr>
          <a:xfrm>
            <a:off x="6457950" y="3448050"/>
            <a:ext cx="2133600" cy="133350"/>
          </a:xfrm>
          <a:prstGeom prst="rect">
            <a:avLst/>
          </a:prstGeom>
          <a:solidFill>
            <a:srgbClr val="E9EDF8"/>
          </a:solidFill>
          <a:ln w="0">
            <a:noFill/>
          </a:ln>
        </p:spPr>
        <p:txBody>
          <a:bodyPr/>
          <a:lstStyle/>
          <a:p>
            <a:endParaRPr lang="zh-CN" altLang="en-US"/>
          </a:p>
        </p:txBody>
      </p:sp>
      <p:sp>
        <p:nvSpPr>
          <p:cNvPr id="204" name="person-diagram-283">
            <a:extLst>
              <a:ext uri="{FF2B5EF4-FFF2-40B4-BE49-F238E27FC236}">
                <a16:creationId xmlns:a16="http://schemas.microsoft.com/office/drawing/2014/main" id="{03FA6056-8D6B-4729-A0CE-244D842F5958}"/>
              </a:ext>
            </a:extLst>
          </p:cNvPr>
          <p:cNvSpPr>
            <a:spLocks noGrp="1"/>
          </p:cNvSpPr>
          <p:nvPr/>
        </p:nvSpPr>
        <p:spPr>
          <a:xfrm>
            <a:off x="7258050" y="3448050"/>
            <a:ext cx="533400" cy="133350"/>
          </a:xfrm>
          <a:prstGeom prst="rect">
            <a:avLst/>
          </a:prstGeom>
          <a:solidFill>
            <a:srgbClr val="E31346"/>
          </a:solidFill>
          <a:ln w="0">
            <a:noFill/>
          </a:ln>
        </p:spPr>
        <p:txBody>
          <a:bodyPr/>
          <a:lstStyle/>
          <a:p>
            <a:endParaRPr lang="zh-CN" altLang="en-US"/>
          </a:p>
        </p:txBody>
      </p:sp>
      <p:sp>
        <p:nvSpPr>
          <p:cNvPr id="205" name="person-diagram-284">
            <a:extLst>
              <a:ext uri="{FF2B5EF4-FFF2-40B4-BE49-F238E27FC236}">
                <a16:creationId xmlns:a16="http://schemas.microsoft.com/office/drawing/2014/main" id="{E9AC0BF4-4C7F-48C9-9573-3228BCCAB83A}"/>
              </a:ext>
            </a:extLst>
          </p:cNvPr>
          <p:cNvSpPr>
            <a:spLocks noGrp="1"/>
          </p:cNvSpPr>
          <p:nvPr/>
        </p:nvSpPr>
        <p:spPr>
          <a:xfrm>
            <a:off x="6457950" y="3609975"/>
            <a:ext cx="285750" cy="209550"/>
          </a:xfrm>
          <a:prstGeom prst="rect">
            <a:avLst/>
          </a:prstGeom>
          <a:noFill/>
          <a:ln w="0">
            <a:noFill/>
          </a:ln>
        </p:spPr>
        <p:txBody>
          <a:bodyPr lIns="0" tIns="0" rIns="0" bIns="0" anchor="ctr">
            <a:noAutofit/>
          </a:bodyPr>
          <a:lstStyle>
            <a:defPPr algn="l">
              <a:defRPr sz="1050" b="0">
                <a:solidFill>
                  <a:srgbClr val="697386"/>
                </a:solidFill>
                <a:latin typeface="Arial"/>
                <a:ea typeface="Arial"/>
                <a:cs typeface="Arial"/>
              </a:defRPr>
            </a:defPPr>
          </a:lstStyle>
          <a:p>
            <a:pPr algn="l">
              <a:defRPr sz="1050" b="0">
                <a:solidFill>
                  <a:srgbClr val="697386"/>
                </a:solidFill>
                <a:latin typeface="Arial"/>
                <a:ea typeface="Arial"/>
                <a:cs typeface="Arial"/>
              </a:defRPr>
            </a:pPr>
            <a:r>
              <a:rPr sz="1050" b="0">
                <a:solidFill>
                  <a:srgbClr val="697386"/>
                </a:solidFill>
                <a:latin typeface="Arial"/>
                <a:ea typeface="Arial"/>
                <a:cs typeface="Arial"/>
              </a:rPr>
              <a:t>0</a:t>
            </a:r>
          </a:p>
        </p:txBody>
      </p:sp>
      <p:sp>
        <p:nvSpPr>
          <p:cNvPr id="206" name="person-diagram-285">
            <a:extLst>
              <a:ext uri="{FF2B5EF4-FFF2-40B4-BE49-F238E27FC236}">
                <a16:creationId xmlns:a16="http://schemas.microsoft.com/office/drawing/2014/main" id="{AFC49CF5-F2AE-4957-ACAB-1F1675368B60}"/>
              </a:ext>
            </a:extLst>
          </p:cNvPr>
          <p:cNvSpPr>
            <a:spLocks noGrp="1"/>
          </p:cNvSpPr>
          <p:nvPr/>
        </p:nvSpPr>
        <p:spPr>
          <a:xfrm>
            <a:off x="8334375" y="3609975"/>
            <a:ext cx="285750" cy="209550"/>
          </a:xfrm>
          <a:prstGeom prst="rect">
            <a:avLst/>
          </a:prstGeom>
          <a:noFill/>
          <a:ln w="0">
            <a:noFill/>
          </a:ln>
        </p:spPr>
        <p:txBody>
          <a:bodyPr lIns="0" tIns="0" rIns="0" bIns="0" anchor="ctr">
            <a:noAutofit/>
          </a:bodyPr>
          <a:lstStyle>
            <a:defPPr algn="r">
              <a:defRPr sz="1050" b="0">
                <a:solidFill>
                  <a:srgbClr val="697386"/>
                </a:solidFill>
                <a:latin typeface="Arial"/>
                <a:ea typeface="Arial"/>
                <a:cs typeface="Arial"/>
              </a:defRPr>
            </a:defPPr>
          </a:lstStyle>
          <a:p>
            <a:pPr algn="r">
              <a:defRPr sz="1050" b="0">
                <a:solidFill>
                  <a:srgbClr val="697386"/>
                </a:solidFill>
                <a:latin typeface="Arial"/>
                <a:ea typeface="Arial"/>
                <a:cs typeface="Arial"/>
              </a:defRPr>
            </a:pPr>
            <a:r>
              <a:rPr sz="1050" b="0">
                <a:solidFill>
                  <a:srgbClr val="697386"/>
                </a:solidFill>
                <a:latin typeface="Arial"/>
                <a:ea typeface="Arial"/>
                <a:cs typeface="Arial"/>
              </a:rPr>
              <a:t>64</a:t>
            </a:r>
          </a:p>
        </p:txBody>
      </p:sp>
      <p:sp>
        <p:nvSpPr>
          <p:cNvPr id="207" name="person-diagram-286">
            <a:extLst>
              <a:ext uri="{FF2B5EF4-FFF2-40B4-BE49-F238E27FC236}">
                <a16:creationId xmlns:a16="http://schemas.microsoft.com/office/drawing/2014/main" id="{7B58CD9F-3E5A-4EB0-9B66-7C80DC10EF20}"/>
              </a:ext>
            </a:extLst>
          </p:cNvPr>
          <p:cNvSpPr>
            <a:spLocks noGrp="1"/>
          </p:cNvSpPr>
          <p:nvPr/>
        </p:nvSpPr>
        <p:spPr>
          <a:xfrm>
            <a:off x="6457950" y="3781425"/>
            <a:ext cx="2133600" cy="209550"/>
          </a:xfrm>
          <a:prstGeom prst="rect">
            <a:avLst/>
          </a:prstGeom>
          <a:noFill/>
          <a:ln w="0">
            <a:noFill/>
          </a:ln>
        </p:spPr>
        <p:txBody>
          <a:bodyPr lIns="0" tIns="0" rIns="0" bIns="0" anchor="ctr">
            <a:noAutofit/>
          </a:bodyPr>
          <a:lstStyle>
            <a:defPPr algn="l">
              <a:defRPr sz="1200" b="0">
                <a:solidFill>
                  <a:srgbClr val="697386"/>
                </a:solidFill>
                <a:latin typeface="Arial"/>
                <a:ea typeface="Arial"/>
                <a:cs typeface="Arial"/>
              </a:defRPr>
            </a:defPPr>
          </a:lstStyle>
          <a:p>
            <a:pPr algn="l">
              <a:defRPr sz="1200" b="0">
                <a:solidFill>
                  <a:srgbClr val="697386"/>
                </a:solidFill>
                <a:latin typeface="Arial"/>
                <a:ea typeface="Arial"/>
                <a:cs typeface="Arial"/>
              </a:defRPr>
            </a:pPr>
            <a:r>
              <a:rPr sz="1200" b="0">
                <a:solidFill>
                  <a:srgbClr val="697386"/>
                </a:solidFill>
                <a:latin typeface="Arial"/>
                <a:ea typeface="Arial"/>
                <a:cs typeface="Arial"/>
              </a:rPr>
              <a:t>Late</a:t>
            </a:r>
          </a:p>
        </p:txBody>
      </p:sp>
      <p:sp>
        <p:nvSpPr>
          <p:cNvPr id="208" name="person-diagram-287">
            <a:extLst>
              <a:ext uri="{FF2B5EF4-FFF2-40B4-BE49-F238E27FC236}">
                <a16:creationId xmlns:a16="http://schemas.microsoft.com/office/drawing/2014/main" id="{B28F6AE4-D25A-494B-B7AE-6B07FB8261FD}"/>
              </a:ext>
            </a:extLst>
          </p:cNvPr>
          <p:cNvSpPr>
            <a:spLocks noGrp="1"/>
          </p:cNvSpPr>
          <p:nvPr/>
        </p:nvSpPr>
        <p:spPr>
          <a:xfrm>
            <a:off x="6457950" y="4048125"/>
            <a:ext cx="2133600" cy="133350"/>
          </a:xfrm>
          <a:prstGeom prst="rect">
            <a:avLst/>
          </a:prstGeom>
          <a:solidFill>
            <a:srgbClr val="E9EDF8"/>
          </a:solidFill>
          <a:ln w="0">
            <a:noFill/>
          </a:ln>
        </p:spPr>
        <p:txBody>
          <a:bodyPr/>
          <a:lstStyle/>
          <a:p>
            <a:endParaRPr lang="zh-CN" altLang="en-US"/>
          </a:p>
        </p:txBody>
      </p:sp>
      <p:sp>
        <p:nvSpPr>
          <p:cNvPr id="209" name="person-diagram-288">
            <a:extLst>
              <a:ext uri="{FF2B5EF4-FFF2-40B4-BE49-F238E27FC236}">
                <a16:creationId xmlns:a16="http://schemas.microsoft.com/office/drawing/2014/main" id="{B527822C-6D87-4231-8023-C03D1949958F}"/>
              </a:ext>
            </a:extLst>
          </p:cNvPr>
          <p:cNvSpPr>
            <a:spLocks noGrp="1"/>
          </p:cNvSpPr>
          <p:nvPr/>
        </p:nvSpPr>
        <p:spPr>
          <a:xfrm>
            <a:off x="7791450" y="4048125"/>
            <a:ext cx="533400" cy="133350"/>
          </a:xfrm>
          <a:prstGeom prst="rect">
            <a:avLst/>
          </a:prstGeom>
          <a:solidFill>
            <a:srgbClr val="E31346"/>
          </a:solidFill>
          <a:ln w="0">
            <a:noFill/>
          </a:ln>
        </p:spPr>
        <p:txBody>
          <a:bodyPr/>
          <a:lstStyle/>
          <a:p>
            <a:endParaRPr lang="zh-CN" altLang="en-US"/>
          </a:p>
        </p:txBody>
      </p:sp>
      <p:sp>
        <p:nvSpPr>
          <p:cNvPr id="210" name="person-diagram-289">
            <a:extLst>
              <a:ext uri="{FF2B5EF4-FFF2-40B4-BE49-F238E27FC236}">
                <a16:creationId xmlns:a16="http://schemas.microsoft.com/office/drawing/2014/main" id="{A73EBAF2-0606-4C0D-A51B-ECA546ACE1A3}"/>
              </a:ext>
            </a:extLst>
          </p:cNvPr>
          <p:cNvSpPr>
            <a:spLocks noGrp="1"/>
          </p:cNvSpPr>
          <p:nvPr/>
        </p:nvSpPr>
        <p:spPr>
          <a:xfrm>
            <a:off x="6457950" y="4210050"/>
            <a:ext cx="285750" cy="209550"/>
          </a:xfrm>
          <a:prstGeom prst="rect">
            <a:avLst/>
          </a:prstGeom>
          <a:noFill/>
          <a:ln w="0">
            <a:noFill/>
          </a:ln>
        </p:spPr>
        <p:txBody>
          <a:bodyPr lIns="0" tIns="0" rIns="0" bIns="0" anchor="ctr">
            <a:noAutofit/>
          </a:bodyPr>
          <a:lstStyle>
            <a:defPPr algn="l">
              <a:defRPr sz="1050" b="0">
                <a:solidFill>
                  <a:srgbClr val="697386"/>
                </a:solidFill>
                <a:latin typeface="Arial"/>
                <a:ea typeface="Arial"/>
                <a:cs typeface="Arial"/>
              </a:defRPr>
            </a:defPPr>
          </a:lstStyle>
          <a:p>
            <a:pPr algn="l">
              <a:defRPr sz="1050" b="0">
                <a:solidFill>
                  <a:srgbClr val="697386"/>
                </a:solidFill>
                <a:latin typeface="Arial"/>
                <a:ea typeface="Arial"/>
                <a:cs typeface="Arial"/>
              </a:defRPr>
            </a:pPr>
            <a:r>
              <a:rPr sz="1050" b="0">
                <a:solidFill>
                  <a:srgbClr val="697386"/>
                </a:solidFill>
                <a:latin typeface="Arial"/>
                <a:ea typeface="Arial"/>
                <a:cs typeface="Arial"/>
              </a:rPr>
              <a:t>0</a:t>
            </a:r>
          </a:p>
        </p:txBody>
      </p:sp>
      <p:sp>
        <p:nvSpPr>
          <p:cNvPr id="211" name="person-diagram-290">
            <a:extLst>
              <a:ext uri="{FF2B5EF4-FFF2-40B4-BE49-F238E27FC236}">
                <a16:creationId xmlns:a16="http://schemas.microsoft.com/office/drawing/2014/main" id="{A2CFCD84-45C0-4A17-95EA-D7B4AF73C3F1}"/>
              </a:ext>
            </a:extLst>
          </p:cNvPr>
          <p:cNvSpPr>
            <a:spLocks noGrp="1"/>
          </p:cNvSpPr>
          <p:nvPr/>
        </p:nvSpPr>
        <p:spPr>
          <a:xfrm>
            <a:off x="8334375" y="4210050"/>
            <a:ext cx="285750" cy="209550"/>
          </a:xfrm>
          <a:prstGeom prst="rect">
            <a:avLst/>
          </a:prstGeom>
          <a:noFill/>
          <a:ln w="0">
            <a:noFill/>
          </a:ln>
        </p:spPr>
        <p:txBody>
          <a:bodyPr lIns="0" tIns="0" rIns="0" bIns="0" anchor="ctr">
            <a:noAutofit/>
          </a:bodyPr>
          <a:lstStyle>
            <a:defPPr algn="r">
              <a:defRPr sz="1050" b="0">
                <a:solidFill>
                  <a:srgbClr val="697386"/>
                </a:solidFill>
                <a:latin typeface="Arial"/>
                <a:ea typeface="Arial"/>
                <a:cs typeface="Arial"/>
              </a:defRPr>
            </a:defPPr>
          </a:lstStyle>
          <a:p>
            <a:pPr algn="r">
              <a:defRPr sz="1050" b="0">
                <a:solidFill>
                  <a:srgbClr val="697386"/>
                </a:solidFill>
                <a:latin typeface="Arial"/>
                <a:ea typeface="Arial"/>
                <a:cs typeface="Arial"/>
              </a:defRPr>
            </a:pPr>
            <a:r>
              <a:rPr sz="1050" b="0">
                <a:solidFill>
                  <a:srgbClr val="697386"/>
                </a:solidFill>
                <a:latin typeface="Arial"/>
                <a:ea typeface="Arial"/>
                <a:cs typeface="Arial"/>
              </a:rPr>
              <a:t>64</a:t>
            </a:r>
          </a:p>
        </p:txBody>
      </p:sp>
      <p:sp>
        <p:nvSpPr>
          <p:cNvPr id="212" name="person-diagram-291">
            <a:extLst>
              <a:ext uri="{FF2B5EF4-FFF2-40B4-BE49-F238E27FC236}">
                <a16:creationId xmlns:a16="http://schemas.microsoft.com/office/drawing/2014/main" id="{1EABE6E9-76EF-4226-9F41-840C6D7D12F0}"/>
              </a:ext>
            </a:extLst>
          </p:cNvPr>
          <p:cNvSpPr>
            <a:spLocks noGrp="1"/>
          </p:cNvSpPr>
          <p:nvPr/>
        </p:nvSpPr>
        <p:spPr>
          <a:xfrm>
            <a:off x="9334500" y="2686050"/>
            <a:ext cx="2133600" cy="133350"/>
          </a:xfrm>
          <a:prstGeom prst="rect">
            <a:avLst/>
          </a:prstGeom>
          <a:solidFill>
            <a:srgbClr val="E9EDF8"/>
          </a:solidFill>
          <a:ln w="0">
            <a:noFill/>
          </a:ln>
        </p:spPr>
        <p:txBody>
          <a:bodyPr/>
          <a:lstStyle/>
          <a:p>
            <a:endParaRPr lang="zh-CN" altLang="en-US"/>
          </a:p>
        </p:txBody>
      </p:sp>
      <p:sp>
        <p:nvSpPr>
          <p:cNvPr id="213" name="person-diagram-292">
            <a:extLst>
              <a:ext uri="{FF2B5EF4-FFF2-40B4-BE49-F238E27FC236}">
                <a16:creationId xmlns:a16="http://schemas.microsoft.com/office/drawing/2014/main" id="{F712C63B-DA38-403F-8A00-00F18C719F4C}"/>
              </a:ext>
            </a:extLst>
          </p:cNvPr>
          <p:cNvSpPr>
            <a:spLocks noGrp="1"/>
          </p:cNvSpPr>
          <p:nvPr/>
        </p:nvSpPr>
        <p:spPr>
          <a:xfrm>
            <a:off x="9467850" y="2686050"/>
            <a:ext cx="533400" cy="133350"/>
          </a:xfrm>
          <a:prstGeom prst="rect">
            <a:avLst/>
          </a:prstGeom>
          <a:solidFill>
            <a:srgbClr val="E31346"/>
          </a:solidFill>
          <a:ln w="0">
            <a:noFill/>
          </a:ln>
        </p:spPr>
        <p:txBody>
          <a:bodyPr/>
          <a:lstStyle/>
          <a:p>
            <a:endParaRPr lang="zh-CN" altLang="en-US"/>
          </a:p>
        </p:txBody>
      </p:sp>
      <p:sp>
        <p:nvSpPr>
          <p:cNvPr id="214" name="person-diagram-293">
            <a:extLst>
              <a:ext uri="{FF2B5EF4-FFF2-40B4-BE49-F238E27FC236}">
                <a16:creationId xmlns:a16="http://schemas.microsoft.com/office/drawing/2014/main" id="{CF825730-522A-426D-BDB6-6F62C79A4931}"/>
              </a:ext>
            </a:extLst>
          </p:cNvPr>
          <p:cNvSpPr>
            <a:spLocks noGrp="1"/>
          </p:cNvSpPr>
          <p:nvPr/>
        </p:nvSpPr>
        <p:spPr>
          <a:xfrm>
            <a:off x="9334500" y="2847975"/>
            <a:ext cx="285750" cy="209550"/>
          </a:xfrm>
          <a:prstGeom prst="rect">
            <a:avLst/>
          </a:prstGeom>
          <a:noFill/>
          <a:ln w="0">
            <a:noFill/>
          </a:ln>
        </p:spPr>
        <p:txBody>
          <a:bodyPr lIns="0" tIns="0" rIns="0" bIns="0" anchor="ctr">
            <a:noAutofit/>
          </a:bodyPr>
          <a:lstStyle>
            <a:defPPr algn="l">
              <a:defRPr sz="1050" b="0">
                <a:solidFill>
                  <a:srgbClr val="697386"/>
                </a:solidFill>
                <a:latin typeface="Arial"/>
                <a:ea typeface="Arial"/>
                <a:cs typeface="Arial"/>
              </a:defRPr>
            </a:defPPr>
          </a:lstStyle>
          <a:p>
            <a:pPr algn="l">
              <a:defRPr sz="1050" b="0">
                <a:solidFill>
                  <a:srgbClr val="697386"/>
                </a:solidFill>
                <a:latin typeface="Arial"/>
                <a:ea typeface="Arial"/>
                <a:cs typeface="Arial"/>
              </a:defRPr>
            </a:pPr>
            <a:r>
              <a:rPr sz="1050" b="0">
                <a:solidFill>
                  <a:srgbClr val="697386"/>
                </a:solidFill>
                <a:latin typeface="Arial"/>
                <a:ea typeface="Arial"/>
                <a:cs typeface="Arial"/>
              </a:rPr>
              <a:t>0</a:t>
            </a:r>
          </a:p>
        </p:txBody>
      </p:sp>
      <p:sp>
        <p:nvSpPr>
          <p:cNvPr id="215" name="person-diagram-294">
            <a:extLst>
              <a:ext uri="{FF2B5EF4-FFF2-40B4-BE49-F238E27FC236}">
                <a16:creationId xmlns:a16="http://schemas.microsoft.com/office/drawing/2014/main" id="{0B15E527-021C-41F9-91E2-EBE5D00BF7E3}"/>
              </a:ext>
            </a:extLst>
          </p:cNvPr>
          <p:cNvSpPr>
            <a:spLocks noGrp="1"/>
          </p:cNvSpPr>
          <p:nvPr/>
        </p:nvSpPr>
        <p:spPr>
          <a:xfrm>
            <a:off x="11210925" y="2847975"/>
            <a:ext cx="285750" cy="209550"/>
          </a:xfrm>
          <a:prstGeom prst="rect">
            <a:avLst/>
          </a:prstGeom>
          <a:noFill/>
          <a:ln w="0">
            <a:noFill/>
          </a:ln>
        </p:spPr>
        <p:txBody>
          <a:bodyPr lIns="0" tIns="0" rIns="0" bIns="0" anchor="ctr">
            <a:noAutofit/>
          </a:bodyPr>
          <a:lstStyle>
            <a:defPPr algn="r">
              <a:defRPr sz="1050" b="0">
                <a:solidFill>
                  <a:srgbClr val="697386"/>
                </a:solidFill>
                <a:latin typeface="Arial"/>
                <a:ea typeface="Arial"/>
                <a:cs typeface="Arial"/>
              </a:defRPr>
            </a:defPPr>
          </a:lstStyle>
          <a:p>
            <a:pPr algn="r">
              <a:defRPr sz="1050" b="0">
                <a:solidFill>
                  <a:srgbClr val="697386"/>
                </a:solidFill>
                <a:latin typeface="Arial"/>
                <a:ea typeface="Arial"/>
                <a:cs typeface="Arial"/>
              </a:defRPr>
            </a:pPr>
            <a:r>
              <a:rPr sz="1050" b="0">
                <a:solidFill>
                  <a:srgbClr val="697386"/>
                </a:solidFill>
                <a:latin typeface="Arial"/>
                <a:ea typeface="Arial"/>
                <a:cs typeface="Arial"/>
              </a:rPr>
              <a:t>64</a:t>
            </a:r>
          </a:p>
        </p:txBody>
      </p:sp>
      <p:sp>
        <p:nvSpPr>
          <p:cNvPr id="216" name="person-diagram-295">
            <a:extLst>
              <a:ext uri="{FF2B5EF4-FFF2-40B4-BE49-F238E27FC236}">
                <a16:creationId xmlns:a16="http://schemas.microsoft.com/office/drawing/2014/main" id="{92B91E3C-D7DB-4E29-B4F0-2F8C3B29E0C3}"/>
              </a:ext>
            </a:extLst>
          </p:cNvPr>
          <p:cNvSpPr>
            <a:spLocks noGrp="1"/>
          </p:cNvSpPr>
          <p:nvPr/>
        </p:nvSpPr>
        <p:spPr>
          <a:xfrm>
            <a:off x="9334500" y="3257550"/>
            <a:ext cx="2133600" cy="133350"/>
          </a:xfrm>
          <a:prstGeom prst="rect">
            <a:avLst/>
          </a:prstGeom>
          <a:solidFill>
            <a:srgbClr val="E9EDF8"/>
          </a:solidFill>
          <a:ln w="0">
            <a:noFill/>
          </a:ln>
        </p:spPr>
        <p:txBody>
          <a:bodyPr/>
          <a:lstStyle/>
          <a:p>
            <a:endParaRPr lang="zh-CN" altLang="en-US"/>
          </a:p>
        </p:txBody>
      </p:sp>
      <p:sp>
        <p:nvSpPr>
          <p:cNvPr id="217" name="person-diagram-296">
            <a:extLst>
              <a:ext uri="{FF2B5EF4-FFF2-40B4-BE49-F238E27FC236}">
                <a16:creationId xmlns:a16="http://schemas.microsoft.com/office/drawing/2014/main" id="{FD5AEF7E-06F8-45C0-B6A2-1F1330DD45FA}"/>
              </a:ext>
            </a:extLst>
          </p:cNvPr>
          <p:cNvSpPr>
            <a:spLocks noGrp="1"/>
          </p:cNvSpPr>
          <p:nvPr/>
        </p:nvSpPr>
        <p:spPr>
          <a:xfrm>
            <a:off x="10134600" y="3257550"/>
            <a:ext cx="533400" cy="133350"/>
          </a:xfrm>
          <a:prstGeom prst="rect">
            <a:avLst/>
          </a:prstGeom>
          <a:solidFill>
            <a:srgbClr val="E31346"/>
          </a:solidFill>
          <a:ln w="0">
            <a:noFill/>
          </a:ln>
        </p:spPr>
        <p:txBody>
          <a:bodyPr/>
          <a:lstStyle/>
          <a:p>
            <a:endParaRPr lang="zh-CN" altLang="en-US"/>
          </a:p>
        </p:txBody>
      </p:sp>
      <p:sp>
        <p:nvSpPr>
          <p:cNvPr id="218" name="person-diagram-297">
            <a:extLst>
              <a:ext uri="{FF2B5EF4-FFF2-40B4-BE49-F238E27FC236}">
                <a16:creationId xmlns:a16="http://schemas.microsoft.com/office/drawing/2014/main" id="{092FFE5C-17C9-4C5E-AA7E-B4DBC87AE683}"/>
              </a:ext>
            </a:extLst>
          </p:cNvPr>
          <p:cNvSpPr>
            <a:spLocks noGrp="1"/>
          </p:cNvSpPr>
          <p:nvPr/>
        </p:nvSpPr>
        <p:spPr>
          <a:xfrm>
            <a:off x="9334500" y="3419475"/>
            <a:ext cx="285750" cy="209550"/>
          </a:xfrm>
          <a:prstGeom prst="rect">
            <a:avLst/>
          </a:prstGeom>
          <a:noFill/>
          <a:ln w="0">
            <a:noFill/>
          </a:ln>
        </p:spPr>
        <p:txBody>
          <a:bodyPr lIns="0" tIns="0" rIns="0" bIns="0" anchor="ctr">
            <a:noAutofit/>
          </a:bodyPr>
          <a:lstStyle>
            <a:defPPr algn="l">
              <a:defRPr sz="1050" b="0">
                <a:solidFill>
                  <a:srgbClr val="697386"/>
                </a:solidFill>
                <a:latin typeface="Arial"/>
                <a:ea typeface="Arial"/>
                <a:cs typeface="Arial"/>
              </a:defRPr>
            </a:defPPr>
          </a:lstStyle>
          <a:p>
            <a:pPr algn="l">
              <a:defRPr sz="1050" b="0">
                <a:solidFill>
                  <a:srgbClr val="697386"/>
                </a:solidFill>
                <a:latin typeface="Arial"/>
                <a:ea typeface="Arial"/>
                <a:cs typeface="Arial"/>
              </a:defRPr>
            </a:pPr>
            <a:r>
              <a:rPr sz="1050" b="0">
                <a:solidFill>
                  <a:srgbClr val="697386"/>
                </a:solidFill>
                <a:latin typeface="Arial"/>
                <a:ea typeface="Arial"/>
                <a:cs typeface="Arial"/>
              </a:rPr>
              <a:t>0</a:t>
            </a:r>
          </a:p>
        </p:txBody>
      </p:sp>
      <p:sp>
        <p:nvSpPr>
          <p:cNvPr id="219" name="person-diagram-298">
            <a:extLst>
              <a:ext uri="{FF2B5EF4-FFF2-40B4-BE49-F238E27FC236}">
                <a16:creationId xmlns:a16="http://schemas.microsoft.com/office/drawing/2014/main" id="{30FE31B6-DFFE-4B58-8D78-2106EE725CE0}"/>
              </a:ext>
            </a:extLst>
          </p:cNvPr>
          <p:cNvSpPr>
            <a:spLocks noGrp="1"/>
          </p:cNvSpPr>
          <p:nvPr/>
        </p:nvSpPr>
        <p:spPr>
          <a:xfrm>
            <a:off x="11210925" y="3419475"/>
            <a:ext cx="285750" cy="209550"/>
          </a:xfrm>
          <a:prstGeom prst="rect">
            <a:avLst/>
          </a:prstGeom>
          <a:noFill/>
          <a:ln w="0">
            <a:noFill/>
          </a:ln>
        </p:spPr>
        <p:txBody>
          <a:bodyPr lIns="0" tIns="0" rIns="0" bIns="0" anchor="ctr">
            <a:noAutofit/>
          </a:bodyPr>
          <a:lstStyle>
            <a:defPPr algn="r">
              <a:defRPr sz="1050" b="0">
                <a:solidFill>
                  <a:srgbClr val="697386"/>
                </a:solidFill>
                <a:latin typeface="Arial"/>
                <a:ea typeface="Arial"/>
                <a:cs typeface="Arial"/>
              </a:defRPr>
            </a:defPPr>
          </a:lstStyle>
          <a:p>
            <a:pPr algn="r">
              <a:defRPr sz="1050" b="0">
                <a:solidFill>
                  <a:srgbClr val="697386"/>
                </a:solidFill>
                <a:latin typeface="Arial"/>
                <a:ea typeface="Arial"/>
                <a:cs typeface="Arial"/>
              </a:defRPr>
            </a:pPr>
            <a:r>
              <a:rPr sz="1050" b="0">
                <a:solidFill>
                  <a:srgbClr val="697386"/>
                </a:solidFill>
                <a:latin typeface="Arial"/>
                <a:ea typeface="Arial"/>
                <a:cs typeface="Arial"/>
              </a:rPr>
              <a:t>64</a:t>
            </a:r>
          </a:p>
        </p:txBody>
      </p:sp>
      <p:sp>
        <p:nvSpPr>
          <p:cNvPr id="220" name="person-diagram-299">
            <a:extLst>
              <a:ext uri="{FF2B5EF4-FFF2-40B4-BE49-F238E27FC236}">
                <a16:creationId xmlns:a16="http://schemas.microsoft.com/office/drawing/2014/main" id="{C7468969-6090-4289-A672-45B8AFCE34BC}"/>
              </a:ext>
            </a:extLst>
          </p:cNvPr>
          <p:cNvSpPr>
            <a:spLocks noGrp="1"/>
          </p:cNvSpPr>
          <p:nvPr/>
        </p:nvSpPr>
        <p:spPr>
          <a:xfrm>
            <a:off x="9334500" y="3829050"/>
            <a:ext cx="2133600" cy="133350"/>
          </a:xfrm>
          <a:prstGeom prst="rect">
            <a:avLst/>
          </a:prstGeom>
          <a:solidFill>
            <a:srgbClr val="E9EDF8"/>
          </a:solidFill>
          <a:ln w="0">
            <a:noFill/>
          </a:ln>
        </p:spPr>
        <p:txBody>
          <a:bodyPr/>
          <a:lstStyle/>
          <a:p>
            <a:endParaRPr lang="zh-CN" altLang="en-US"/>
          </a:p>
        </p:txBody>
      </p:sp>
      <p:sp>
        <p:nvSpPr>
          <p:cNvPr id="221" name="person-diagram-300">
            <a:extLst>
              <a:ext uri="{FF2B5EF4-FFF2-40B4-BE49-F238E27FC236}">
                <a16:creationId xmlns:a16="http://schemas.microsoft.com/office/drawing/2014/main" id="{3B517486-4DCC-41B5-924D-BF3F4A23B51F}"/>
              </a:ext>
            </a:extLst>
          </p:cNvPr>
          <p:cNvSpPr>
            <a:spLocks noGrp="1"/>
          </p:cNvSpPr>
          <p:nvPr/>
        </p:nvSpPr>
        <p:spPr>
          <a:xfrm>
            <a:off x="10801350" y="3829050"/>
            <a:ext cx="533400" cy="133350"/>
          </a:xfrm>
          <a:prstGeom prst="rect">
            <a:avLst/>
          </a:prstGeom>
          <a:solidFill>
            <a:srgbClr val="E31346"/>
          </a:solidFill>
          <a:ln w="0">
            <a:noFill/>
          </a:ln>
        </p:spPr>
        <p:txBody>
          <a:bodyPr/>
          <a:lstStyle/>
          <a:p>
            <a:endParaRPr lang="zh-CN" altLang="en-US"/>
          </a:p>
        </p:txBody>
      </p:sp>
      <p:sp>
        <p:nvSpPr>
          <p:cNvPr id="222" name="person-diagram-301">
            <a:extLst>
              <a:ext uri="{FF2B5EF4-FFF2-40B4-BE49-F238E27FC236}">
                <a16:creationId xmlns:a16="http://schemas.microsoft.com/office/drawing/2014/main" id="{12DD55DE-AAC8-4C18-9B2F-BDB6337E48B0}"/>
              </a:ext>
            </a:extLst>
          </p:cNvPr>
          <p:cNvSpPr>
            <a:spLocks noGrp="1"/>
          </p:cNvSpPr>
          <p:nvPr/>
        </p:nvSpPr>
        <p:spPr>
          <a:xfrm>
            <a:off x="9334500" y="3990975"/>
            <a:ext cx="285750" cy="209550"/>
          </a:xfrm>
          <a:prstGeom prst="rect">
            <a:avLst/>
          </a:prstGeom>
          <a:noFill/>
          <a:ln w="0">
            <a:noFill/>
          </a:ln>
        </p:spPr>
        <p:txBody>
          <a:bodyPr lIns="0" tIns="0" rIns="0" bIns="0" anchor="ctr">
            <a:noAutofit/>
          </a:bodyPr>
          <a:lstStyle>
            <a:defPPr algn="l">
              <a:defRPr sz="1050" b="0">
                <a:solidFill>
                  <a:srgbClr val="697386"/>
                </a:solidFill>
                <a:latin typeface="Arial"/>
                <a:ea typeface="Arial"/>
                <a:cs typeface="Arial"/>
              </a:defRPr>
            </a:defPPr>
          </a:lstStyle>
          <a:p>
            <a:pPr algn="l">
              <a:defRPr sz="1050" b="0">
                <a:solidFill>
                  <a:srgbClr val="697386"/>
                </a:solidFill>
                <a:latin typeface="Arial"/>
                <a:ea typeface="Arial"/>
                <a:cs typeface="Arial"/>
              </a:defRPr>
            </a:pPr>
            <a:r>
              <a:rPr sz="1050" b="0">
                <a:solidFill>
                  <a:srgbClr val="697386"/>
                </a:solidFill>
                <a:latin typeface="Arial"/>
                <a:ea typeface="Arial"/>
                <a:cs typeface="Arial"/>
              </a:rPr>
              <a:t>0</a:t>
            </a:r>
          </a:p>
        </p:txBody>
      </p:sp>
      <p:sp>
        <p:nvSpPr>
          <p:cNvPr id="223" name="person-diagram-302">
            <a:extLst>
              <a:ext uri="{FF2B5EF4-FFF2-40B4-BE49-F238E27FC236}">
                <a16:creationId xmlns:a16="http://schemas.microsoft.com/office/drawing/2014/main" id="{0FCF1F72-7646-4898-81C4-F4AA975F564A}"/>
              </a:ext>
            </a:extLst>
          </p:cNvPr>
          <p:cNvSpPr>
            <a:spLocks noGrp="1"/>
          </p:cNvSpPr>
          <p:nvPr/>
        </p:nvSpPr>
        <p:spPr>
          <a:xfrm>
            <a:off x="11210925" y="3990975"/>
            <a:ext cx="285750" cy="209550"/>
          </a:xfrm>
          <a:prstGeom prst="rect">
            <a:avLst/>
          </a:prstGeom>
          <a:noFill/>
          <a:ln w="0">
            <a:noFill/>
          </a:ln>
        </p:spPr>
        <p:txBody>
          <a:bodyPr lIns="0" tIns="0" rIns="0" bIns="0" anchor="ctr">
            <a:noAutofit/>
          </a:bodyPr>
          <a:lstStyle>
            <a:defPPr algn="r">
              <a:defRPr sz="1050" b="0">
                <a:solidFill>
                  <a:srgbClr val="697386"/>
                </a:solidFill>
                <a:latin typeface="Arial"/>
                <a:ea typeface="Arial"/>
                <a:cs typeface="Arial"/>
              </a:defRPr>
            </a:defPPr>
          </a:lstStyle>
          <a:p>
            <a:pPr algn="r">
              <a:defRPr sz="1050" b="0">
                <a:solidFill>
                  <a:srgbClr val="697386"/>
                </a:solidFill>
                <a:latin typeface="Arial"/>
                <a:ea typeface="Arial"/>
                <a:cs typeface="Arial"/>
              </a:defRPr>
            </a:pPr>
            <a:r>
              <a:rPr sz="1050" b="0">
                <a:solidFill>
                  <a:srgbClr val="697386"/>
                </a:solidFill>
                <a:latin typeface="Arial"/>
                <a:ea typeface="Arial"/>
                <a:cs typeface="Arial"/>
              </a:rPr>
              <a:t>64</a:t>
            </a:r>
          </a:p>
        </p:txBody>
      </p:sp>
      <p:sp>
        <p:nvSpPr>
          <p:cNvPr id="224" name="person-diagram-303">
            <a:extLst>
              <a:ext uri="{FF2B5EF4-FFF2-40B4-BE49-F238E27FC236}">
                <a16:creationId xmlns:a16="http://schemas.microsoft.com/office/drawing/2014/main" id="{8601683D-D747-43C7-A04C-E70366643C0E}"/>
              </a:ext>
            </a:extLst>
          </p:cNvPr>
          <p:cNvSpPr>
            <a:spLocks noGrp="1"/>
          </p:cNvSpPr>
          <p:nvPr/>
        </p:nvSpPr>
        <p:spPr>
          <a:xfrm>
            <a:off x="9334500" y="4381500"/>
            <a:ext cx="2133600" cy="485775"/>
          </a:xfrm>
          <a:prstGeom prst="rect">
            <a:avLst/>
          </a:prstGeom>
          <a:noFill/>
          <a:ln w="0">
            <a:noFill/>
          </a:ln>
        </p:spPr>
        <p:txBody>
          <a:bodyPr lIns="0" tIns="0" rIns="0" bIns="0" anchor="ctr">
            <a:noAutofit/>
          </a:bodyPr>
          <a:lstStyle>
            <a:defPPr algn="l">
              <a:defRPr sz="1350" b="1">
                <a:solidFill>
                  <a:srgbClr val="E31346"/>
                </a:solidFill>
                <a:latin typeface="Arial"/>
                <a:ea typeface="Arial"/>
                <a:cs typeface="Arial"/>
              </a:defRPr>
            </a:defPPr>
          </a:lstStyle>
          <a:p>
            <a:pPr algn="l">
              <a:defRPr sz="1350" b="1">
                <a:solidFill>
                  <a:srgbClr val="E31346"/>
                </a:solidFill>
                <a:latin typeface="Arial"/>
                <a:ea typeface="Arial"/>
                <a:cs typeface="Arial"/>
              </a:defRPr>
            </a:pPr>
            <a:r>
              <a:rPr sz="1350" b="1">
                <a:solidFill>
                  <a:srgbClr val="E31346"/>
                </a:solidFill>
                <a:latin typeface="Arial"/>
                <a:ea typeface="Arial"/>
                <a:cs typeface="Arial"/>
              </a:rPr>
              <a:t>16-frame window →</a:t>
            </a:r>
          </a:p>
          <a:p>
            <a:pPr algn="l">
              <a:defRPr sz="1350" b="1">
                <a:solidFill>
                  <a:srgbClr val="E31346"/>
                </a:solidFill>
                <a:latin typeface="Arial"/>
                <a:ea typeface="Arial"/>
                <a:cs typeface="Arial"/>
              </a:defRPr>
            </a:pPr>
            <a:r>
              <a:rPr sz="1350" b="1">
                <a:solidFill>
                  <a:srgbClr val="E31346"/>
                </a:solidFill>
                <a:latin typeface="Arial"/>
                <a:ea typeface="Arial"/>
                <a:cs typeface="Arial"/>
              </a:rPr>
              <a:t>11 measured positions</a:t>
            </a:r>
          </a:p>
        </p:txBody>
      </p:sp>
      <p:sp>
        <p:nvSpPr>
          <p:cNvPr id="225" name="person-diagram-304">
            <a:extLst>
              <a:ext uri="{FF2B5EF4-FFF2-40B4-BE49-F238E27FC236}">
                <a16:creationId xmlns:a16="http://schemas.microsoft.com/office/drawing/2014/main" id="{28BD90D2-1E2B-4890-9D42-B9BF26C96443}"/>
              </a:ext>
            </a:extLst>
          </p:cNvPr>
          <p:cNvSpPr>
            <a:spLocks noGrp="1"/>
          </p:cNvSpPr>
          <p:nvPr/>
        </p:nvSpPr>
        <p:spPr>
          <a:xfrm>
            <a:off x="552450" y="5372100"/>
            <a:ext cx="2476500" cy="457200"/>
          </a:xfrm>
          <a:prstGeom prst="rect">
            <a:avLst/>
          </a:prstGeom>
          <a:noFill/>
          <a:ln w="0">
            <a:noFill/>
          </a:ln>
        </p:spPr>
        <p:txBody>
          <a:bodyPr lIns="0" tIns="0" rIns="0" bIns="0" anchor="ctr">
            <a:noAutofit/>
          </a:bodyPr>
          <a:lstStyle>
            <a:defPPr algn="ctr">
              <a:defRPr sz="1500" b="1">
                <a:solidFill>
                  <a:srgbClr val="1B1D63"/>
                </a:solidFill>
                <a:latin typeface="Arial"/>
                <a:ea typeface="Arial"/>
                <a:cs typeface="Arial"/>
              </a:defRPr>
            </a:defPPr>
          </a:lstStyle>
          <a:p>
            <a:pPr algn="ctr">
              <a:defRPr sz="1500" b="1">
                <a:solidFill>
                  <a:srgbClr val="1B1D63"/>
                </a:solidFill>
                <a:latin typeface="Arial"/>
                <a:ea typeface="Arial"/>
                <a:cs typeface="Arial"/>
              </a:defRPr>
            </a:pPr>
            <a:r>
              <a:rPr sz="1500" b="1">
                <a:solidFill>
                  <a:srgbClr val="1B1D63"/>
                </a:solidFill>
                <a:latin typeface="Arial"/>
                <a:ea typeface="Arial"/>
                <a:cs typeface="Arial"/>
              </a:rPr>
              <a:t>Does whole-clip</a:t>
            </a:r>
          </a:p>
          <a:p>
            <a:pPr algn="ctr">
              <a:defRPr sz="1500" b="1">
                <a:solidFill>
                  <a:srgbClr val="1B1D63"/>
                </a:solidFill>
                <a:latin typeface="Arial"/>
                <a:ea typeface="Arial"/>
                <a:cs typeface="Arial"/>
              </a:defRPr>
            </a:pPr>
            <a:r>
              <a:rPr sz="1500" b="1">
                <a:solidFill>
                  <a:srgbClr val="1B1D63"/>
                </a:solidFill>
                <a:latin typeface="Arial"/>
                <a:ea typeface="Arial"/>
                <a:cs typeface="Arial"/>
              </a:rPr>
              <a:t>slot order matter?</a:t>
            </a:r>
          </a:p>
        </p:txBody>
      </p:sp>
      <p:sp>
        <p:nvSpPr>
          <p:cNvPr id="226" name="person-diagram-305">
            <a:extLst>
              <a:ext uri="{FF2B5EF4-FFF2-40B4-BE49-F238E27FC236}">
                <a16:creationId xmlns:a16="http://schemas.microsoft.com/office/drawing/2014/main" id="{C903A458-7ED8-4DCC-A919-046B9740F933}"/>
              </a:ext>
            </a:extLst>
          </p:cNvPr>
          <p:cNvSpPr>
            <a:spLocks noGrp="1"/>
          </p:cNvSpPr>
          <p:nvPr/>
        </p:nvSpPr>
        <p:spPr>
          <a:xfrm>
            <a:off x="3429000" y="5372100"/>
            <a:ext cx="2476500" cy="457200"/>
          </a:xfrm>
          <a:prstGeom prst="rect">
            <a:avLst/>
          </a:prstGeom>
          <a:noFill/>
          <a:ln w="0">
            <a:noFill/>
          </a:ln>
        </p:spPr>
        <p:txBody>
          <a:bodyPr lIns="0" tIns="0" rIns="0" bIns="0" anchor="ctr">
            <a:noAutofit/>
          </a:bodyPr>
          <a:lstStyle>
            <a:defPPr algn="ctr">
              <a:defRPr sz="1500" b="1">
                <a:solidFill>
                  <a:srgbClr val="1B1D63"/>
                </a:solidFill>
                <a:latin typeface="Arial"/>
                <a:ea typeface="Arial"/>
                <a:cs typeface="Arial"/>
              </a:defRPr>
            </a:defPPr>
          </a:lstStyle>
          <a:p>
            <a:pPr algn="ctr">
              <a:defRPr sz="1500" b="1">
                <a:solidFill>
                  <a:srgbClr val="1B1D63"/>
                </a:solidFill>
                <a:latin typeface="Arial"/>
                <a:ea typeface="Arial"/>
                <a:cs typeface="Arial"/>
              </a:defRPr>
            </a:pPr>
            <a:r>
              <a:rPr sz="1500" b="1">
                <a:solidFill>
                  <a:srgbClr val="1B1D63"/>
                </a:solidFill>
                <a:latin typeface="Arial"/>
                <a:ea typeface="Arial"/>
                <a:cs typeface="Arial"/>
              </a:rPr>
              <a:t>Does an internal</a:t>
            </a:r>
          </a:p>
          <a:p>
            <a:pPr algn="ctr">
              <a:defRPr sz="1500" b="1">
                <a:solidFill>
                  <a:srgbClr val="1B1D63"/>
                </a:solidFill>
                <a:latin typeface="Arial"/>
                <a:ea typeface="Arial"/>
                <a:cs typeface="Arial"/>
              </a:defRPr>
            </a:pPr>
            <a:r>
              <a:rPr sz="1500" b="1">
                <a:solidFill>
                  <a:srgbClr val="1B1D63"/>
                </a:solidFill>
                <a:latin typeface="Arial"/>
                <a:ea typeface="Arial"/>
                <a:cs typeface="Arial"/>
              </a:rPr>
              <a:t>track break matter?</a:t>
            </a:r>
          </a:p>
        </p:txBody>
      </p:sp>
      <p:sp>
        <p:nvSpPr>
          <p:cNvPr id="227" name="person-diagram-306">
            <a:extLst>
              <a:ext uri="{FF2B5EF4-FFF2-40B4-BE49-F238E27FC236}">
                <a16:creationId xmlns:a16="http://schemas.microsoft.com/office/drawing/2014/main" id="{9B24D9A9-8EDA-49CB-BEFE-CA66F802B6BF}"/>
              </a:ext>
            </a:extLst>
          </p:cNvPr>
          <p:cNvSpPr>
            <a:spLocks noGrp="1"/>
          </p:cNvSpPr>
          <p:nvPr/>
        </p:nvSpPr>
        <p:spPr>
          <a:xfrm>
            <a:off x="6305550" y="5372100"/>
            <a:ext cx="2476500" cy="457200"/>
          </a:xfrm>
          <a:prstGeom prst="rect">
            <a:avLst/>
          </a:prstGeom>
          <a:noFill/>
          <a:ln w="0">
            <a:noFill/>
          </a:ln>
        </p:spPr>
        <p:txBody>
          <a:bodyPr lIns="0" tIns="0" rIns="0" bIns="0" anchor="ctr">
            <a:noAutofit/>
          </a:bodyPr>
          <a:lstStyle>
            <a:defPPr algn="ctr">
              <a:defRPr sz="1500" b="1">
                <a:solidFill>
                  <a:srgbClr val="1B1D63"/>
                </a:solidFill>
                <a:latin typeface="Arial"/>
                <a:ea typeface="Arial"/>
                <a:cs typeface="Arial"/>
              </a:defRPr>
            </a:defPPr>
          </a:lstStyle>
          <a:p>
            <a:pPr algn="ctr">
              <a:defRPr sz="1500" b="1">
                <a:solidFill>
                  <a:srgbClr val="1B1D63"/>
                </a:solidFill>
                <a:latin typeface="Arial"/>
                <a:ea typeface="Arial"/>
                <a:cs typeface="Arial"/>
              </a:defRPr>
            </a:pPr>
            <a:r>
              <a:rPr sz="1500" b="1">
                <a:solidFill>
                  <a:srgbClr val="1B1D63"/>
                </a:solidFill>
                <a:latin typeface="Arial"/>
                <a:ea typeface="Arial"/>
                <a:cs typeface="Arial"/>
              </a:rPr>
              <a:t>Does position matter</a:t>
            </a:r>
          </a:p>
          <a:p>
            <a:pPr algn="ctr">
              <a:defRPr sz="1500" b="1">
                <a:solidFill>
                  <a:srgbClr val="1B1D63"/>
                </a:solidFill>
                <a:latin typeface="Arial"/>
                <a:ea typeface="Arial"/>
                <a:cs typeface="Arial"/>
              </a:defRPr>
            </a:pPr>
            <a:r>
              <a:rPr sz="1500" b="1">
                <a:solidFill>
                  <a:srgbClr val="1B1D63"/>
                </a:solidFill>
                <a:latin typeface="Arial"/>
                <a:ea typeface="Arial"/>
                <a:cs typeface="Arial"/>
              </a:rPr>
              <a:t>at fixed duration?</a:t>
            </a:r>
          </a:p>
        </p:txBody>
      </p:sp>
      <p:sp>
        <p:nvSpPr>
          <p:cNvPr id="228" name="person-diagram-307">
            <a:extLst>
              <a:ext uri="{FF2B5EF4-FFF2-40B4-BE49-F238E27FC236}">
                <a16:creationId xmlns:a16="http://schemas.microsoft.com/office/drawing/2014/main" id="{1C10DB90-7159-43D6-A356-F0014079992C}"/>
              </a:ext>
            </a:extLst>
          </p:cNvPr>
          <p:cNvSpPr>
            <a:spLocks noGrp="1"/>
          </p:cNvSpPr>
          <p:nvPr/>
        </p:nvSpPr>
        <p:spPr>
          <a:xfrm>
            <a:off x="9182100" y="5372100"/>
            <a:ext cx="2476500" cy="457200"/>
          </a:xfrm>
          <a:prstGeom prst="rect">
            <a:avLst/>
          </a:prstGeom>
          <a:noFill/>
          <a:ln w="0">
            <a:noFill/>
          </a:ln>
        </p:spPr>
        <p:txBody>
          <a:bodyPr lIns="0" tIns="0" rIns="0" bIns="0" anchor="ctr">
            <a:noAutofit/>
          </a:bodyPr>
          <a:lstStyle>
            <a:defPPr algn="ctr">
              <a:defRPr sz="1500" b="1">
                <a:solidFill>
                  <a:srgbClr val="1B1D63"/>
                </a:solidFill>
                <a:latin typeface="Arial"/>
                <a:ea typeface="Arial"/>
                <a:cs typeface="Arial"/>
              </a:defRPr>
            </a:defPPr>
          </a:lstStyle>
          <a:p>
            <a:pPr algn="ctr">
              <a:defRPr sz="1500" b="1">
                <a:solidFill>
                  <a:srgbClr val="1B1D63"/>
                </a:solidFill>
                <a:latin typeface="Arial"/>
                <a:ea typeface="Arial"/>
                <a:cs typeface="Arial"/>
              </a:defRPr>
            </a:pPr>
            <a:r>
              <a:rPr sz="1500" b="1">
                <a:solidFill>
                  <a:srgbClr val="1B1D63"/>
                </a:solidFill>
                <a:latin typeface="Arial"/>
                <a:ea typeface="Arial"/>
                <a:cs typeface="Arial"/>
              </a:rPr>
              <a:t>Where is the model</a:t>
            </a:r>
          </a:p>
          <a:p>
            <a:pPr algn="ctr">
              <a:defRPr sz="1500" b="1">
                <a:solidFill>
                  <a:srgbClr val="1B1D63"/>
                </a:solidFill>
                <a:latin typeface="Arial"/>
                <a:ea typeface="Arial"/>
                <a:cs typeface="Arial"/>
              </a:defRPr>
            </a:pPr>
            <a:r>
              <a:rPr sz="1500" b="1">
                <a:solidFill>
                  <a:srgbClr val="1B1D63"/>
                </a:solidFill>
                <a:latin typeface="Arial"/>
                <a:ea typeface="Arial"/>
                <a:cs typeface="Arial"/>
              </a:rPr>
              <a:t>most sensitive?</a:t>
            </a:r>
          </a:p>
        </p:txBody>
      </p:sp>
      <p:sp>
        <p:nvSpPr>
          <p:cNvPr id="229" name="person-diagram-308">
            <a:extLst>
              <a:ext uri="{FF2B5EF4-FFF2-40B4-BE49-F238E27FC236}">
                <a16:creationId xmlns:a16="http://schemas.microsoft.com/office/drawing/2014/main" id="{72E2F3BE-59D6-402E-A031-4A83255E0AF5}"/>
              </a:ext>
            </a:extLst>
          </p:cNvPr>
          <p:cNvSpPr>
            <a:spLocks noGrp="1"/>
          </p:cNvSpPr>
          <p:nvPr/>
        </p:nvSpPr>
        <p:spPr>
          <a:xfrm>
            <a:off x="495300" y="6010275"/>
            <a:ext cx="11220450" cy="276225"/>
          </a:xfrm>
          <a:prstGeom prst="rect">
            <a:avLst/>
          </a:prstGeom>
          <a:noFill/>
          <a:ln w="0">
            <a:noFill/>
          </a:ln>
        </p:spPr>
        <p:txBody>
          <a:bodyPr lIns="0" tIns="0" rIns="0" bIns="0" anchor="ctr">
            <a:noAutofit/>
          </a:bodyPr>
          <a:lstStyle>
            <a:defPPr algn="ctr">
              <a:defRPr sz="1350" b="0">
                <a:solidFill>
                  <a:srgbClr val="697386"/>
                </a:solidFill>
                <a:latin typeface="Arial"/>
                <a:ea typeface="Arial"/>
                <a:cs typeface="Arial"/>
              </a:defRPr>
            </a:defPPr>
          </a:lstStyle>
          <a:p>
            <a:pPr algn="ctr">
              <a:defRPr sz="1350" b="0">
                <a:solidFill>
                  <a:srgbClr val="697386"/>
                </a:solidFill>
                <a:latin typeface="Arial"/>
                <a:ea typeface="Arial"/>
                <a:cs typeface="Arial"/>
              </a:defRPr>
            </a:pPr>
            <a:r>
              <a:rPr sz="1350" b="0">
                <a:solidFill>
                  <a:srgbClr val="697386"/>
                </a:solidFill>
                <a:latin typeface="Arial"/>
                <a:ea typeface="Arial"/>
                <a:cs typeface="Arial"/>
              </a:rPr>
              <a:t>Global: 0 internal breaks     Temporal: 1     Localized / Sliding: 2 + fixed 16 frames</a:t>
            </a:r>
          </a:p>
        </p:txBody>
      </p:sp>
    </p:spTree>
    <p:extLst>
      <p:ext uri="{BB962C8B-B14F-4D97-AF65-F5344CB8AC3E}">
        <p14:creationId xmlns:p14="http://schemas.microsoft.com/office/powerpoint/2010/main" val="4579871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6204914C-86CD-512E-B2FE-F87A41D81CF4}"/>
              </a:ext>
            </a:extLst>
          </p:cNvPr>
          <p:cNvSpPr>
            <a:spLocks noGrp="1"/>
          </p:cNvSpPr>
          <p:nvPr/>
        </p:nvSpPr>
        <p:spPr>
          <a:xfrm>
            <a:off x="0" y="0"/>
            <a:ext cx="152400" cy="6858000"/>
          </a:xfrm>
          <a:prstGeom prst="rect">
            <a:avLst/>
          </a:prstGeom>
          <a:solidFill>
            <a:srgbClr val="E31346"/>
          </a:solidFill>
          <a:ln w="0">
            <a:noFill/>
          </a:ln>
        </p:spPr>
        <p:txBody>
          <a:bodyPr/>
          <a:lstStyle/>
          <a:p>
            <a:endParaRPr lang="zh-CN" altLang="en-US"/>
          </a:p>
        </p:txBody>
      </p:sp>
      <p:sp>
        <p:nvSpPr>
          <p:cNvPr id="2" name="矩形 1">
            <a:extLst>
              <a:ext uri="{FF2B5EF4-FFF2-40B4-BE49-F238E27FC236}">
                <a16:creationId xmlns:a16="http://schemas.microsoft.com/office/drawing/2014/main" id="{8BB5218D-92AE-5E42-88E3-90C914A05456}"/>
              </a:ext>
            </a:extLst>
          </p:cNvPr>
          <p:cNvSpPr>
            <a:spLocks noGrp="1"/>
          </p:cNvSpPr>
          <p:nvPr/>
        </p:nvSpPr>
        <p:spPr>
          <a:xfrm>
            <a:off x="152400" y="6562725"/>
            <a:ext cx="12039600" cy="295275"/>
          </a:xfrm>
          <a:prstGeom prst="rect">
            <a:avLst/>
          </a:prstGeom>
          <a:solidFill>
            <a:srgbClr val="1B1D63"/>
          </a:solidFill>
          <a:ln w="0">
            <a:noFill/>
          </a:ln>
        </p:spPr>
        <p:txBody>
          <a:bodyPr/>
          <a:lstStyle/>
          <a:p>
            <a:endParaRPr lang="zh-CN" altLang="en-US"/>
          </a:p>
        </p:txBody>
      </p:sp>
      <p:sp>
        <p:nvSpPr>
          <p:cNvPr id="4" name="矩形 3">
            <a:extLst>
              <a:ext uri="{FF2B5EF4-FFF2-40B4-BE49-F238E27FC236}">
                <a16:creationId xmlns:a16="http://schemas.microsoft.com/office/drawing/2014/main" id="{533656CF-4BAB-5AA4-8F7C-EDC5E9A9A49C}"/>
              </a:ext>
            </a:extLst>
          </p:cNvPr>
          <p:cNvSpPr>
            <a:spLocks noGrp="1"/>
          </p:cNvSpPr>
          <p:nvPr/>
        </p:nvSpPr>
        <p:spPr>
          <a:xfrm>
            <a:off x="495300" y="723900"/>
            <a:ext cx="7239000" cy="219075"/>
          </a:xfrm>
          <a:prstGeom prst="rect">
            <a:avLst/>
          </a:prstGeom>
          <a:noFill/>
          <a:ln w="0">
            <a:noFill/>
          </a:ln>
        </p:spPr>
        <p:txBody>
          <a:bodyPr anchor="ctr">
            <a:normAutofit fontScale="93397" lnSpcReduction="10000"/>
          </a:bodyPr>
          <a:lstStyle/>
          <a:p>
            <a:pPr algn="l">
              <a:defRPr sz="975" b="1">
                <a:solidFill>
                  <a:srgbClr val="E31346"/>
                </a:solidFill>
                <a:latin typeface="Arial"/>
                <a:ea typeface="Arial"/>
                <a:cs typeface="Arial"/>
              </a:defRPr>
            </a:pPr>
            <a:r>
              <a:rPr sz="975" b="1">
                <a:solidFill>
                  <a:srgbClr val="E31346"/>
                </a:solidFill>
                <a:latin typeface="Arial"/>
                <a:ea typeface="Arial"/>
                <a:cs typeface="Arial"/>
              </a:rPr>
              <a:t>EE6008 · HUMAN POSE GROUP PROJECT</a:t>
            </a:r>
          </a:p>
        </p:txBody>
      </p:sp>
      <p:sp>
        <p:nvSpPr>
          <p:cNvPr id="5" name="矩形 4">
            <a:extLst>
              <a:ext uri="{FF2B5EF4-FFF2-40B4-BE49-F238E27FC236}">
                <a16:creationId xmlns:a16="http://schemas.microsoft.com/office/drawing/2014/main" id="{D4C90E3D-0934-514F-87CB-6EB437115F37}"/>
              </a:ext>
            </a:extLst>
          </p:cNvPr>
          <p:cNvSpPr>
            <a:spLocks noGrp="1"/>
          </p:cNvSpPr>
          <p:nvPr/>
        </p:nvSpPr>
        <p:spPr>
          <a:xfrm>
            <a:off x="495300" y="1009650"/>
            <a:ext cx="1562100" cy="47625"/>
          </a:xfrm>
          <a:prstGeom prst="rect">
            <a:avLst/>
          </a:prstGeom>
          <a:solidFill>
            <a:srgbClr val="E31346"/>
          </a:solidFill>
          <a:ln w="0">
            <a:noFill/>
          </a:ln>
        </p:spPr>
        <p:txBody>
          <a:bodyPr/>
          <a:lstStyle/>
          <a:p>
            <a:endParaRPr lang="zh-CN" altLang="en-US"/>
          </a:p>
        </p:txBody>
      </p:sp>
      <p:sp>
        <p:nvSpPr>
          <p:cNvPr id="7" name="矩形 6">
            <a:extLst>
              <a:ext uri="{FF2B5EF4-FFF2-40B4-BE49-F238E27FC236}">
                <a16:creationId xmlns:a16="http://schemas.microsoft.com/office/drawing/2014/main" id="{64840083-3C05-5106-8750-8B653A6E2883}"/>
              </a:ext>
            </a:extLst>
          </p:cNvPr>
          <p:cNvSpPr>
            <a:spLocks noGrp="1"/>
          </p:cNvSpPr>
          <p:nvPr/>
        </p:nvSpPr>
        <p:spPr>
          <a:xfrm>
            <a:off x="495300" y="6591300"/>
            <a:ext cx="2857500" cy="219075"/>
          </a:xfrm>
          <a:prstGeom prst="rect">
            <a:avLst/>
          </a:prstGeom>
          <a:noFill/>
          <a:ln w="0">
            <a:noFill/>
          </a:ln>
        </p:spPr>
        <p:txBody>
          <a:bodyPr anchor="ctr">
            <a:normAutofit/>
          </a:bodyPr>
          <a:lstStyle/>
          <a:p>
            <a:pPr algn="l">
              <a:defRPr sz="750" b="1">
                <a:solidFill>
                  <a:srgbClr val="FFFFFF"/>
                </a:solidFill>
                <a:latin typeface="Arial"/>
                <a:ea typeface="Arial"/>
                <a:cs typeface="Arial"/>
              </a:defRPr>
            </a:pPr>
            <a:r>
              <a:rPr sz="750" b="1">
                <a:solidFill>
                  <a:srgbClr val="FFFFFF"/>
                </a:solidFill>
                <a:latin typeface="Arial"/>
                <a:ea typeface="Arial"/>
                <a:cs typeface="Arial"/>
              </a:rPr>
              <a:t>EE6008 · WEEKLY REPORT</a:t>
            </a:r>
          </a:p>
        </p:txBody>
      </p:sp>
      <p:sp>
        <p:nvSpPr>
          <p:cNvPr id="8" name="矩形 7">
            <a:extLst>
              <a:ext uri="{FF2B5EF4-FFF2-40B4-BE49-F238E27FC236}">
                <a16:creationId xmlns:a16="http://schemas.microsoft.com/office/drawing/2014/main" id="{ED5FF4AB-75B7-5E9C-800D-52FA4B1DB84D}"/>
              </a:ext>
            </a:extLst>
          </p:cNvPr>
          <p:cNvSpPr>
            <a:spLocks noGrp="1"/>
          </p:cNvSpPr>
          <p:nvPr/>
        </p:nvSpPr>
        <p:spPr>
          <a:xfrm>
            <a:off x="11049000" y="6591300"/>
            <a:ext cx="619125" cy="219075"/>
          </a:xfrm>
          <a:prstGeom prst="rect">
            <a:avLst/>
          </a:prstGeom>
          <a:noFill/>
          <a:ln w="0">
            <a:noFill/>
          </a:ln>
        </p:spPr>
        <p:txBody>
          <a:bodyPr anchor="ctr">
            <a:normAutofit/>
          </a:bodyPr>
          <a:lstStyle/>
          <a:p>
            <a:pPr algn="r">
              <a:defRPr sz="750" b="1">
                <a:solidFill>
                  <a:srgbClr val="FFFFFF"/>
                </a:solidFill>
                <a:latin typeface="Arial"/>
                <a:ea typeface="Arial"/>
                <a:cs typeface="Arial"/>
              </a:defRPr>
            </a:pPr>
            <a:r>
              <a:rPr sz="750" b="1">
                <a:solidFill>
                  <a:srgbClr val="FFFFFF"/>
                </a:solidFill>
                <a:latin typeface="Arial"/>
                <a:ea typeface="Arial"/>
                <a:cs typeface="Arial"/>
              </a:rPr>
              <a:t>04</a:t>
            </a:r>
          </a:p>
        </p:txBody>
      </p:sp>
      <p:sp>
        <p:nvSpPr>
          <p:cNvPr id="100" name="person-diagram-309">
            <a:extLst>
              <a:ext uri="{FF2B5EF4-FFF2-40B4-BE49-F238E27FC236}">
                <a16:creationId xmlns:a16="http://schemas.microsoft.com/office/drawing/2014/main" id="{3A37536C-8051-4019-949D-B2ED5819549F}"/>
              </a:ext>
            </a:extLst>
          </p:cNvPr>
          <p:cNvSpPr>
            <a:spLocks noGrp="1"/>
          </p:cNvSpPr>
          <p:nvPr/>
        </p:nvSpPr>
        <p:spPr>
          <a:xfrm>
            <a:off x="590550" y="238125"/>
            <a:ext cx="8524875" cy="476250"/>
          </a:xfrm>
          <a:prstGeom prst="rect">
            <a:avLst/>
          </a:prstGeom>
          <a:noFill/>
          <a:ln w="0">
            <a:noFill/>
          </a:ln>
        </p:spPr>
        <p:txBody>
          <a:bodyPr lIns="0" tIns="0" rIns="0" bIns="0" anchor="ctr">
            <a:noAutofit/>
          </a:bodyPr>
          <a:lstStyle>
            <a:defPPr algn="l">
              <a:defRPr sz="2524" b="1">
                <a:solidFill>
                  <a:srgbClr val="1B1D63"/>
                </a:solidFill>
                <a:latin typeface="Arial"/>
                <a:ea typeface="Arial"/>
                <a:cs typeface="Arial"/>
              </a:defRPr>
            </a:defPPr>
          </a:lstStyle>
          <a:p>
            <a:pPr algn="l">
              <a:defRPr sz="2524" b="1">
                <a:solidFill>
                  <a:srgbClr val="1B1D63"/>
                </a:solidFill>
                <a:latin typeface="Arial"/>
                <a:ea typeface="Arial"/>
                <a:cs typeface="Arial"/>
              </a:defRPr>
            </a:pPr>
            <a:r>
              <a:rPr sz="2524" b="1">
                <a:solidFill>
                  <a:srgbClr val="1B1D63"/>
                </a:solidFill>
                <a:latin typeface="Arial"/>
                <a:ea typeface="Arial"/>
                <a:cs typeface="Arial"/>
              </a:rPr>
              <a:t>Global Robustness ≠ Track Robustness</a:t>
            </a:r>
          </a:p>
        </p:txBody>
      </p:sp>
      <p:pic>
        <p:nvPicPr>
          <p:cNvPr id="101" name="图片 100">
            <a:extLst>
              <a:ext uri="{FF2B5EF4-FFF2-40B4-BE49-F238E27FC236}">
                <a16:creationId xmlns:a16="http://schemas.microsoft.com/office/drawing/2014/main" id="{FA476716-4CB7-4573-BD56-F4AF34B3FBED}"/>
              </a:ext>
            </a:extLst>
          </p:cNvPr>
          <p:cNvPicPr>
            <a:picLocks noChangeAspect="1"/>
          </p:cNvPicPr>
          <p:nvPr/>
        </p:nvPicPr>
        <p:blipFill>
          <a:blip r:embed="rId3"/>
          <a:stretch/>
        </p:blipFill>
        <p:spPr>
          <a:xfrm>
            <a:off x="9696450" y="191381"/>
            <a:ext cx="2038350" cy="731663"/>
          </a:xfrm>
          <a:prstGeom prst="rect">
            <a:avLst/>
          </a:prstGeom>
        </p:spPr>
      </p:pic>
      <p:sp>
        <p:nvSpPr>
          <p:cNvPr id="102" name="person-diagram-310">
            <a:extLst>
              <a:ext uri="{FF2B5EF4-FFF2-40B4-BE49-F238E27FC236}">
                <a16:creationId xmlns:a16="http://schemas.microsoft.com/office/drawing/2014/main" id="{2AEC57F4-3B08-4243-B189-5F2449F46D16}"/>
              </a:ext>
            </a:extLst>
          </p:cNvPr>
          <p:cNvSpPr>
            <a:spLocks noGrp="1"/>
          </p:cNvSpPr>
          <p:nvPr/>
        </p:nvSpPr>
        <p:spPr>
          <a:xfrm>
            <a:off x="3362325" y="1419225"/>
            <a:ext cx="3781425" cy="371475"/>
          </a:xfrm>
          <a:prstGeom prst="rect">
            <a:avLst/>
          </a:prstGeom>
          <a:noFill/>
          <a:ln w="0">
            <a:noFill/>
          </a:ln>
        </p:spPr>
        <p:txBody>
          <a:bodyPr lIns="0" tIns="0" rIns="0" bIns="0" anchor="ctr">
            <a:noAutofit/>
          </a:bodyPr>
          <a:lstStyle>
            <a:defPPr algn="ctr">
              <a:defRPr sz="1800" b="1">
                <a:solidFill>
                  <a:srgbClr val="1B1D63"/>
                </a:solidFill>
                <a:latin typeface="Arial"/>
                <a:ea typeface="Arial"/>
                <a:cs typeface="Arial"/>
              </a:defRPr>
            </a:defPPr>
          </a:lstStyle>
          <a:p>
            <a:pPr algn="ctr">
              <a:defRPr sz="1800" b="1">
                <a:solidFill>
                  <a:srgbClr val="1B1D63"/>
                </a:solidFill>
                <a:latin typeface="Arial"/>
                <a:ea typeface="Arial"/>
                <a:cs typeface="Arial"/>
              </a:defRPr>
            </a:pPr>
            <a:r>
              <a:rPr sz="1800" b="1">
                <a:solidFill>
                  <a:srgbClr val="1B1D63"/>
                </a:solidFill>
                <a:latin typeface="Arial"/>
                <a:ea typeface="Arial"/>
                <a:cs typeface="Arial"/>
              </a:rPr>
              <a:t>Whole-clip exchange</a:t>
            </a:r>
          </a:p>
        </p:txBody>
      </p:sp>
      <p:sp>
        <p:nvSpPr>
          <p:cNvPr id="103" name="person-diagram-311">
            <a:extLst>
              <a:ext uri="{FF2B5EF4-FFF2-40B4-BE49-F238E27FC236}">
                <a16:creationId xmlns:a16="http://schemas.microsoft.com/office/drawing/2014/main" id="{2580D3E9-F289-48ED-B3C4-BEF634DAE3E9}"/>
              </a:ext>
            </a:extLst>
          </p:cNvPr>
          <p:cNvSpPr>
            <a:spLocks noGrp="1"/>
          </p:cNvSpPr>
          <p:nvPr/>
        </p:nvSpPr>
        <p:spPr>
          <a:xfrm>
            <a:off x="7534275" y="1419225"/>
            <a:ext cx="4162425" cy="371475"/>
          </a:xfrm>
          <a:prstGeom prst="rect">
            <a:avLst/>
          </a:prstGeom>
          <a:noFill/>
          <a:ln w="0">
            <a:noFill/>
          </a:ln>
        </p:spPr>
        <p:txBody>
          <a:bodyPr lIns="0" tIns="0" rIns="0" bIns="0" anchor="ctr">
            <a:noAutofit/>
          </a:bodyPr>
          <a:lstStyle>
            <a:defPPr algn="ctr">
              <a:defRPr sz="1800" b="1">
                <a:solidFill>
                  <a:srgbClr val="1B1D63"/>
                </a:solidFill>
                <a:latin typeface="Arial"/>
                <a:ea typeface="Arial"/>
                <a:cs typeface="Arial"/>
              </a:defRPr>
            </a:defPPr>
          </a:lstStyle>
          <a:p>
            <a:pPr algn="ctr">
              <a:defRPr sz="1800" b="1">
                <a:solidFill>
                  <a:srgbClr val="1B1D63"/>
                </a:solidFill>
                <a:latin typeface="Arial"/>
                <a:ea typeface="Arial"/>
                <a:cs typeface="Arial"/>
              </a:defRPr>
            </a:pPr>
            <a:r>
              <a:rPr sz="1800" b="1">
                <a:solidFill>
                  <a:srgbClr val="1B1D63"/>
                </a:solidFill>
                <a:latin typeface="Arial"/>
                <a:ea typeface="Arial"/>
                <a:cs typeface="Arial"/>
              </a:rPr>
              <a:t>Within-sequence break</a:t>
            </a:r>
          </a:p>
        </p:txBody>
      </p:sp>
      <p:sp>
        <p:nvSpPr>
          <p:cNvPr id="104" name="person-diagram-312">
            <a:extLst>
              <a:ext uri="{FF2B5EF4-FFF2-40B4-BE49-F238E27FC236}">
                <a16:creationId xmlns:a16="http://schemas.microsoft.com/office/drawing/2014/main" id="{4D8F1834-4E08-4CB4-8C2A-3D897EBB1FF5}"/>
              </a:ext>
            </a:extLst>
          </p:cNvPr>
          <p:cNvSpPr>
            <a:spLocks noGrp="1"/>
          </p:cNvSpPr>
          <p:nvPr/>
        </p:nvSpPr>
        <p:spPr>
          <a:xfrm>
            <a:off x="619125" y="1828800"/>
            <a:ext cx="2476500" cy="247650"/>
          </a:xfrm>
          <a:prstGeom prst="rect">
            <a:avLst/>
          </a:prstGeom>
          <a:noFill/>
          <a:ln w="0">
            <a:noFill/>
          </a:ln>
        </p:spPr>
        <p:txBody>
          <a:bodyPr lIns="0" tIns="0" rIns="0" bIns="0" anchor="ctr">
            <a:noAutofit/>
          </a:bodyPr>
          <a:lstStyle>
            <a:defPPr algn="l">
              <a:defRPr sz="1050" b="1">
                <a:solidFill>
                  <a:srgbClr val="E31346"/>
                </a:solidFill>
                <a:latin typeface="Arial"/>
                <a:ea typeface="Arial"/>
                <a:cs typeface="Arial"/>
              </a:defRPr>
            </a:defPPr>
          </a:lstStyle>
          <a:p>
            <a:pPr algn="l">
              <a:defRPr sz="1050" b="1">
                <a:solidFill>
                  <a:srgbClr val="E31346"/>
                </a:solidFill>
                <a:latin typeface="Arial"/>
                <a:ea typeface="Arial"/>
                <a:cs typeface="Arial"/>
              </a:defRPr>
            </a:pPr>
            <a:r>
              <a:rPr sz="1050" b="1">
                <a:solidFill>
                  <a:srgbClr val="E31346"/>
                </a:solidFill>
                <a:latin typeface="Arial"/>
                <a:ea typeface="Arial"/>
                <a:cs typeface="Arial"/>
              </a:rPr>
              <a:t>MODEL</a:t>
            </a:r>
          </a:p>
        </p:txBody>
      </p:sp>
      <p:sp>
        <p:nvSpPr>
          <p:cNvPr id="105" name="person-diagram-313">
            <a:extLst>
              <a:ext uri="{FF2B5EF4-FFF2-40B4-BE49-F238E27FC236}">
                <a16:creationId xmlns:a16="http://schemas.microsoft.com/office/drawing/2014/main" id="{A4F31BD3-9790-4D2E-B26C-D8FCC4B8CFFB}"/>
              </a:ext>
            </a:extLst>
          </p:cNvPr>
          <p:cNvSpPr>
            <a:spLocks noGrp="1"/>
          </p:cNvSpPr>
          <p:nvPr/>
        </p:nvSpPr>
        <p:spPr>
          <a:xfrm>
            <a:off x="3362325" y="1819275"/>
            <a:ext cx="3781425" cy="238125"/>
          </a:xfrm>
          <a:prstGeom prst="rect">
            <a:avLst/>
          </a:prstGeom>
          <a:noFill/>
          <a:ln w="0">
            <a:noFill/>
          </a:ln>
        </p:spPr>
        <p:txBody>
          <a:bodyPr lIns="0" tIns="0" rIns="0" bIns="0" anchor="ctr">
            <a:noAutofit/>
          </a:bodyPr>
          <a:lstStyle>
            <a:defPPr algn="ctr">
              <a:defRPr sz="1275" b="0">
                <a:solidFill>
                  <a:srgbClr val="697386"/>
                </a:solidFill>
                <a:latin typeface="Arial"/>
                <a:ea typeface="Arial"/>
                <a:cs typeface="Arial"/>
              </a:defRPr>
            </a:defPPr>
          </a:lstStyle>
          <a:p>
            <a:pPr algn="ctr">
              <a:defRPr sz="1275" b="0">
                <a:solidFill>
                  <a:srgbClr val="697386"/>
                </a:solidFill>
                <a:latin typeface="Arial"/>
                <a:ea typeface="Arial"/>
                <a:cs typeface="Arial"/>
              </a:defRPr>
            </a:pPr>
            <a:r>
              <a:rPr sz="1275" b="0">
                <a:solidFill>
                  <a:srgbClr val="697386"/>
                </a:solidFill>
                <a:latin typeface="Arial"/>
                <a:ea typeface="Arial"/>
                <a:cs typeface="Arial"/>
              </a:rPr>
              <a:t>Global swap</a:t>
            </a:r>
          </a:p>
        </p:txBody>
      </p:sp>
      <p:sp>
        <p:nvSpPr>
          <p:cNvPr id="106" name="person-diagram-314">
            <a:extLst>
              <a:ext uri="{FF2B5EF4-FFF2-40B4-BE49-F238E27FC236}">
                <a16:creationId xmlns:a16="http://schemas.microsoft.com/office/drawing/2014/main" id="{1C244EA6-FE07-4A97-B44D-F93136358F94}"/>
              </a:ext>
            </a:extLst>
          </p:cNvPr>
          <p:cNvSpPr>
            <a:spLocks noGrp="1"/>
          </p:cNvSpPr>
          <p:nvPr/>
        </p:nvSpPr>
        <p:spPr>
          <a:xfrm>
            <a:off x="7534275" y="1819275"/>
            <a:ext cx="4162425" cy="238125"/>
          </a:xfrm>
          <a:prstGeom prst="rect">
            <a:avLst/>
          </a:prstGeom>
          <a:noFill/>
          <a:ln w="0">
            <a:noFill/>
          </a:ln>
        </p:spPr>
        <p:txBody>
          <a:bodyPr lIns="0" tIns="0" rIns="0" bIns="0" anchor="ctr">
            <a:noAutofit/>
          </a:bodyPr>
          <a:lstStyle>
            <a:defPPr algn="ctr">
              <a:defRPr sz="1275" b="0">
                <a:solidFill>
                  <a:srgbClr val="697386"/>
                </a:solidFill>
                <a:latin typeface="Arial"/>
                <a:ea typeface="Arial"/>
                <a:cs typeface="Arial"/>
              </a:defRPr>
            </a:defPPr>
          </a:lstStyle>
          <a:p>
            <a:pPr algn="ctr">
              <a:defRPr sz="1275" b="0">
                <a:solidFill>
                  <a:srgbClr val="697386"/>
                </a:solidFill>
                <a:latin typeface="Arial"/>
                <a:ea typeface="Arial"/>
                <a:cs typeface="Arial"/>
              </a:defRPr>
            </a:pPr>
            <a:r>
              <a:rPr sz="1275" b="0">
                <a:solidFill>
                  <a:srgbClr val="697386"/>
                </a:solidFill>
                <a:latin typeface="Arial"/>
                <a:ea typeface="Arial"/>
                <a:cs typeface="Arial"/>
              </a:rPr>
              <a:t>Late localized [40,56)</a:t>
            </a:r>
          </a:p>
        </p:txBody>
      </p:sp>
      <p:sp>
        <p:nvSpPr>
          <p:cNvPr id="107" name="person-diagram-315">
            <a:extLst>
              <a:ext uri="{FF2B5EF4-FFF2-40B4-BE49-F238E27FC236}">
                <a16:creationId xmlns:a16="http://schemas.microsoft.com/office/drawing/2014/main" id="{C306BAE7-5923-445B-B6E5-17F1FAAA02A1}"/>
              </a:ext>
            </a:extLst>
          </p:cNvPr>
          <p:cNvSpPr>
            <a:spLocks noGrp="1"/>
          </p:cNvSpPr>
          <p:nvPr/>
        </p:nvSpPr>
        <p:spPr>
          <a:xfrm>
            <a:off x="619125" y="2543175"/>
            <a:ext cx="2552700" cy="361950"/>
          </a:xfrm>
          <a:prstGeom prst="rect">
            <a:avLst/>
          </a:prstGeom>
          <a:noFill/>
          <a:ln w="0">
            <a:noFill/>
          </a:ln>
        </p:spPr>
        <p:txBody>
          <a:bodyPr lIns="0" tIns="0" rIns="0" bIns="0" anchor="ctr">
            <a:noAutofit/>
          </a:bodyPr>
          <a:lstStyle>
            <a:defPPr algn="l">
              <a:defRPr sz="2175" b="1">
                <a:solidFill>
                  <a:srgbClr val="1B1D63"/>
                </a:solidFill>
                <a:latin typeface="Arial"/>
                <a:ea typeface="Arial"/>
                <a:cs typeface="Arial"/>
              </a:defRPr>
            </a:defPPr>
          </a:lstStyle>
          <a:p>
            <a:pPr algn="l">
              <a:defRPr sz="2175" b="1">
                <a:solidFill>
                  <a:srgbClr val="1B1D63"/>
                </a:solidFill>
                <a:latin typeface="Arial"/>
                <a:ea typeface="Arial"/>
                <a:cs typeface="Arial"/>
              </a:defRPr>
            </a:pPr>
            <a:r>
              <a:rPr sz="2175" b="1">
                <a:solidFill>
                  <a:srgbClr val="1B1D63"/>
                </a:solidFill>
                <a:latin typeface="Arial"/>
                <a:ea typeface="Arial"/>
                <a:cs typeface="Arial"/>
              </a:rPr>
              <a:t>CTR-GCN</a:t>
            </a:r>
          </a:p>
        </p:txBody>
      </p:sp>
      <p:sp>
        <p:nvSpPr>
          <p:cNvPr id="108" name="person-diagram-316">
            <a:extLst>
              <a:ext uri="{FF2B5EF4-FFF2-40B4-BE49-F238E27FC236}">
                <a16:creationId xmlns:a16="http://schemas.microsoft.com/office/drawing/2014/main" id="{649DF7CF-245F-443B-9F96-57D9ADA3FB87}"/>
              </a:ext>
            </a:extLst>
          </p:cNvPr>
          <p:cNvSpPr>
            <a:spLocks noGrp="1"/>
          </p:cNvSpPr>
          <p:nvPr/>
        </p:nvSpPr>
        <p:spPr>
          <a:xfrm>
            <a:off x="3362325" y="2228850"/>
            <a:ext cx="3781425" cy="1152525"/>
          </a:xfrm>
          <a:prstGeom prst="roundRect">
            <a:avLst>
              <a:gd name="adj" fmla="val 13223"/>
            </a:avLst>
          </a:prstGeom>
          <a:solidFill>
            <a:srgbClr val="FBE8EF"/>
          </a:solidFill>
          <a:ln w="0">
            <a:noFill/>
          </a:ln>
        </p:spPr>
        <p:txBody>
          <a:bodyPr/>
          <a:lstStyle/>
          <a:p>
            <a:endParaRPr lang="zh-CN" altLang="en-US"/>
          </a:p>
        </p:txBody>
      </p:sp>
      <p:sp>
        <p:nvSpPr>
          <p:cNvPr id="109" name="person-diagram-317">
            <a:extLst>
              <a:ext uri="{FF2B5EF4-FFF2-40B4-BE49-F238E27FC236}">
                <a16:creationId xmlns:a16="http://schemas.microsoft.com/office/drawing/2014/main" id="{031FF15D-AA15-4CDC-BBC4-AC6793960B8E}"/>
              </a:ext>
            </a:extLst>
          </p:cNvPr>
          <p:cNvSpPr>
            <a:spLocks noGrp="1"/>
          </p:cNvSpPr>
          <p:nvPr/>
        </p:nvSpPr>
        <p:spPr>
          <a:xfrm>
            <a:off x="7534275" y="2228850"/>
            <a:ext cx="4162425" cy="1152525"/>
          </a:xfrm>
          <a:prstGeom prst="roundRect">
            <a:avLst>
              <a:gd name="adj" fmla="val 13223"/>
            </a:avLst>
          </a:prstGeom>
          <a:solidFill>
            <a:srgbClr val="FBE8EF"/>
          </a:solidFill>
          <a:ln w="0">
            <a:noFill/>
          </a:ln>
        </p:spPr>
        <p:txBody>
          <a:bodyPr/>
          <a:lstStyle/>
          <a:p>
            <a:endParaRPr lang="zh-CN" altLang="en-US"/>
          </a:p>
        </p:txBody>
      </p:sp>
      <p:sp>
        <p:nvSpPr>
          <p:cNvPr id="110" name="person-diagram-318">
            <a:extLst>
              <a:ext uri="{FF2B5EF4-FFF2-40B4-BE49-F238E27FC236}">
                <a16:creationId xmlns:a16="http://schemas.microsoft.com/office/drawing/2014/main" id="{DF4CD3B9-0E28-497C-926F-C8A695D5965F}"/>
              </a:ext>
            </a:extLst>
          </p:cNvPr>
          <p:cNvSpPr>
            <a:spLocks noGrp="1"/>
          </p:cNvSpPr>
          <p:nvPr/>
        </p:nvSpPr>
        <p:spPr>
          <a:xfrm>
            <a:off x="3552825" y="2343150"/>
            <a:ext cx="3400425" cy="276225"/>
          </a:xfrm>
          <a:prstGeom prst="rect">
            <a:avLst/>
          </a:prstGeom>
          <a:noFill/>
          <a:ln w="0">
            <a:noFill/>
          </a:ln>
        </p:spPr>
        <p:txBody>
          <a:bodyPr lIns="0" tIns="0" rIns="0" bIns="0" anchor="ctr">
            <a:noAutofit/>
          </a:bodyPr>
          <a:lstStyle>
            <a:defPPr algn="ctr">
              <a:defRPr sz="1725" b="1">
                <a:solidFill>
                  <a:srgbClr val="E31346"/>
                </a:solidFill>
                <a:latin typeface="Arial"/>
                <a:ea typeface="Arial"/>
                <a:cs typeface="Arial"/>
              </a:defRPr>
            </a:defPPr>
          </a:lstStyle>
          <a:p>
            <a:pPr algn="ctr">
              <a:defRPr sz="1725" b="1">
                <a:solidFill>
                  <a:srgbClr val="E31346"/>
                </a:solidFill>
                <a:latin typeface="Arial"/>
                <a:ea typeface="Arial"/>
                <a:cs typeface="Arial"/>
              </a:defRPr>
            </a:pPr>
            <a:r>
              <a:rPr sz="1725" b="1">
                <a:solidFill>
                  <a:srgbClr val="E31346"/>
                </a:solidFill>
                <a:latin typeface="Arial"/>
                <a:ea typeface="Arial"/>
                <a:cs typeface="Arial"/>
              </a:rPr>
              <a:t>Sensitive</a:t>
            </a:r>
          </a:p>
        </p:txBody>
      </p:sp>
      <p:sp>
        <p:nvSpPr>
          <p:cNvPr id="111" name="person-diagram-319">
            <a:extLst>
              <a:ext uri="{FF2B5EF4-FFF2-40B4-BE49-F238E27FC236}">
                <a16:creationId xmlns:a16="http://schemas.microsoft.com/office/drawing/2014/main" id="{E0813A3D-800C-4872-AB1B-3B76A007D7C3}"/>
              </a:ext>
            </a:extLst>
          </p:cNvPr>
          <p:cNvSpPr>
            <a:spLocks noGrp="1"/>
          </p:cNvSpPr>
          <p:nvPr/>
        </p:nvSpPr>
        <p:spPr>
          <a:xfrm>
            <a:off x="3552825" y="2733675"/>
            <a:ext cx="3400425" cy="409575"/>
          </a:xfrm>
          <a:prstGeom prst="rect">
            <a:avLst/>
          </a:prstGeom>
          <a:noFill/>
          <a:ln w="0">
            <a:noFill/>
          </a:ln>
        </p:spPr>
        <p:txBody>
          <a:bodyPr lIns="0" tIns="0" rIns="0" bIns="0" anchor="ctr">
            <a:noAutofit/>
          </a:bodyPr>
          <a:lstStyle>
            <a:defPPr algn="ctr">
              <a:defRPr sz="2325" b="1">
                <a:solidFill>
                  <a:srgbClr val="E31346"/>
                </a:solidFill>
                <a:latin typeface="Arial"/>
                <a:ea typeface="Arial"/>
                <a:cs typeface="Arial"/>
              </a:defRPr>
            </a:defPPr>
          </a:lstStyle>
          <a:p>
            <a:pPr algn="ctr">
              <a:defRPr sz="2325" b="1">
                <a:solidFill>
                  <a:srgbClr val="E31346"/>
                </a:solidFill>
                <a:latin typeface="Arial"/>
                <a:ea typeface="Arial"/>
                <a:cs typeface="Arial"/>
              </a:defRPr>
            </a:pPr>
            <a:r>
              <a:rPr sz="2325" b="1">
                <a:solidFill>
                  <a:srgbClr val="E31346"/>
                </a:solidFill>
                <a:latin typeface="Arial"/>
                <a:ea typeface="Arial"/>
                <a:cs typeface="Arial"/>
              </a:rPr>
              <a:t>−8.76 pp  ·  Joint</a:t>
            </a:r>
          </a:p>
        </p:txBody>
      </p:sp>
      <p:sp>
        <p:nvSpPr>
          <p:cNvPr id="112" name="person-diagram-320">
            <a:extLst>
              <a:ext uri="{FF2B5EF4-FFF2-40B4-BE49-F238E27FC236}">
                <a16:creationId xmlns:a16="http://schemas.microsoft.com/office/drawing/2014/main" id="{3594699D-F138-405D-ABCF-178193A01D5D}"/>
              </a:ext>
            </a:extLst>
          </p:cNvPr>
          <p:cNvSpPr>
            <a:spLocks noGrp="1"/>
          </p:cNvSpPr>
          <p:nvPr/>
        </p:nvSpPr>
        <p:spPr>
          <a:xfrm>
            <a:off x="7724775" y="2343150"/>
            <a:ext cx="3781425" cy="276225"/>
          </a:xfrm>
          <a:prstGeom prst="rect">
            <a:avLst/>
          </a:prstGeom>
          <a:noFill/>
          <a:ln w="0">
            <a:noFill/>
          </a:ln>
        </p:spPr>
        <p:txBody>
          <a:bodyPr lIns="0" tIns="0" rIns="0" bIns="0" anchor="ctr">
            <a:noAutofit/>
          </a:bodyPr>
          <a:lstStyle>
            <a:defPPr algn="ctr">
              <a:defRPr sz="1725" b="1">
                <a:solidFill>
                  <a:srgbClr val="E31346"/>
                </a:solidFill>
                <a:latin typeface="Arial"/>
                <a:ea typeface="Arial"/>
                <a:cs typeface="Arial"/>
              </a:defRPr>
            </a:defPPr>
          </a:lstStyle>
          <a:p>
            <a:pPr algn="ctr">
              <a:defRPr sz="1725" b="1">
                <a:solidFill>
                  <a:srgbClr val="E31346"/>
                </a:solidFill>
                <a:latin typeface="Arial"/>
                <a:ea typeface="Arial"/>
                <a:cs typeface="Arial"/>
              </a:defRPr>
            </a:pPr>
            <a:r>
              <a:rPr sz="1725" b="1">
                <a:solidFill>
                  <a:srgbClr val="E31346"/>
                </a:solidFill>
                <a:latin typeface="Arial"/>
                <a:ea typeface="Arial"/>
                <a:cs typeface="Arial"/>
              </a:rPr>
              <a:t>Sensitive</a:t>
            </a:r>
          </a:p>
        </p:txBody>
      </p:sp>
      <p:sp>
        <p:nvSpPr>
          <p:cNvPr id="113" name="person-diagram-321">
            <a:extLst>
              <a:ext uri="{FF2B5EF4-FFF2-40B4-BE49-F238E27FC236}">
                <a16:creationId xmlns:a16="http://schemas.microsoft.com/office/drawing/2014/main" id="{95AB1530-412D-4229-B014-A3F698560833}"/>
              </a:ext>
            </a:extLst>
          </p:cNvPr>
          <p:cNvSpPr>
            <a:spLocks noGrp="1"/>
          </p:cNvSpPr>
          <p:nvPr/>
        </p:nvSpPr>
        <p:spPr>
          <a:xfrm>
            <a:off x="7724775" y="2733675"/>
            <a:ext cx="3781425" cy="409575"/>
          </a:xfrm>
          <a:prstGeom prst="rect">
            <a:avLst/>
          </a:prstGeom>
          <a:noFill/>
          <a:ln w="0">
            <a:noFill/>
          </a:ln>
        </p:spPr>
        <p:txBody>
          <a:bodyPr lIns="0" tIns="0" rIns="0" bIns="0" anchor="ctr">
            <a:noAutofit/>
          </a:bodyPr>
          <a:lstStyle>
            <a:defPPr algn="ctr">
              <a:defRPr sz="2325" b="1">
                <a:solidFill>
                  <a:srgbClr val="E31346"/>
                </a:solidFill>
                <a:latin typeface="Arial"/>
                <a:ea typeface="Arial"/>
                <a:cs typeface="Arial"/>
              </a:defRPr>
            </a:defPPr>
          </a:lstStyle>
          <a:p>
            <a:pPr algn="ctr">
              <a:defRPr sz="2325" b="1">
                <a:solidFill>
                  <a:srgbClr val="E31346"/>
                </a:solidFill>
                <a:latin typeface="Arial"/>
                <a:ea typeface="Arial"/>
                <a:cs typeface="Arial"/>
              </a:defRPr>
            </a:pPr>
            <a:r>
              <a:rPr sz="2325" b="1">
                <a:solidFill>
                  <a:srgbClr val="E31346"/>
                </a:solidFill>
                <a:latin typeface="Arial"/>
                <a:ea typeface="Arial"/>
                <a:cs typeface="Arial"/>
              </a:rPr>
              <a:t>−25.75 pp  ·  Fusion</a:t>
            </a:r>
          </a:p>
        </p:txBody>
      </p:sp>
      <p:sp>
        <p:nvSpPr>
          <p:cNvPr id="114" name="person-diagram-322">
            <a:extLst>
              <a:ext uri="{FF2B5EF4-FFF2-40B4-BE49-F238E27FC236}">
                <a16:creationId xmlns:a16="http://schemas.microsoft.com/office/drawing/2014/main" id="{AA9A1532-E365-40DE-91E5-15AE80713105}"/>
              </a:ext>
            </a:extLst>
          </p:cNvPr>
          <p:cNvSpPr>
            <a:spLocks noGrp="1"/>
          </p:cNvSpPr>
          <p:nvPr/>
        </p:nvSpPr>
        <p:spPr>
          <a:xfrm>
            <a:off x="619125" y="3914775"/>
            <a:ext cx="2552700" cy="361950"/>
          </a:xfrm>
          <a:prstGeom prst="rect">
            <a:avLst/>
          </a:prstGeom>
          <a:noFill/>
          <a:ln w="0">
            <a:noFill/>
          </a:ln>
        </p:spPr>
        <p:txBody>
          <a:bodyPr lIns="0" tIns="0" rIns="0" bIns="0" anchor="ctr">
            <a:noAutofit/>
          </a:bodyPr>
          <a:lstStyle>
            <a:defPPr algn="l">
              <a:defRPr sz="2175" b="1">
                <a:solidFill>
                  <a:srgbClr val="E31346"/>
                </a:solidFill>
                <a:latin typeface="Arial"/>
                <a:ea typeface="Arial"/>
                <a:cs typeface="Arial"/>
              </a:defRPr>
            </a:defPPr>
          </a:lstStyle>
          <a:p>
            <a:pPr algn="l">
              <a:defRPr sz="2175" b="1">
                <a:solidFill>
                  <a:srgbClr val="E31346"/>
                </a:solidFill>
                <a:latin typeface="Arial"/>
                <a:ea typeface="Arial"/>
                <a:cs typeface="Arial"/>
              </a:defRPr>
            </a:pPr>
            <a:r>
              <a:rPr sz="2175" b="1">
                <a:solidFill>
                  <a:srgbClr val="E31346"/>
                </a:solidFill>
                <a:latin typeface="Arial"/>
                <a:ea typeface="Arial"/>
                <a:cs typeface="Arial"/>
              </a:rPr>
              <a:t>SkateFormer</a:t>
            </a:r>
          </a:p>
        </p:txBody>
      </p:sp>
      <p:sp>
        <p:nvSpPr>
          <p:cNvPr id="115" name="person-diagram-323">
            <a:extLst>
              <a:ext uri="{FF2B5EF4-FFF2-40B4-BE49-F238E27FC236}">
                <a16:creationId xmlns:a16="http://schemas.microsoft.com/office/drawing/2014/main" id="{D0CEA25A-CC8B-49FB-94C0-03045D19CE2E}"/>
              </a:ext>
            </a:extLst>
          </p:cNvPr>
          <p:cNvSpPr>
            <a:spLocks noGrp="1"/>
          </p:cNvSpPr>
          <p:nvPr/>
        </p:nvSpPr>
        <p:spPr>
          <a:xfrm>
            <a:off x="3362325" y="3600450"/>
            <a:ext cx="3781425" cy="1152525"/>
          </a:xfrm>
          <a:prstGeom prst="roundRect">
            <a:avLst>
              <a:gd name="adj" fmla="val 13223"/>
            </a:avLst>
          </a:prstGeom>
          <a:solidFill>
            <a:srgbClr val="E6F6F4"/>
          </a:solidFill>
          <a:ln w="0">
            <a:noFill/>
          </a:ln>
        </p:spPr>
        <p:txBody>
          <a:bodyPr/>
          <a:lstStyle/>
          <a:p>
            <a:endParaRPr lang="zh-CN" altLang="en-US"/>
          </a:p>
        </p:txBody>
      </p:sp>
      <p:sp>
        <p:nvSpPr>
          <p:cNvPr id="116" name="person-diagram-324">
            <a:extLst>
              <a:ext uri="{FF2B5EF4-FFF2-40B4-BE49-F238E27FC236}">
                <a16:creationId xmlns:a16="http://schemas.microsoft.com/office/drawing/2014/main" id="{F30565E7-332C-4074-A0A1-4F41E75EC859}"/>
              </a:ext>
            </a:extLst>
          </p:cNvPr>
          <p:cNvSpPr>
            <a:spLocks noGrp="1"/>
          </p:cNvSpPr>
          <p:nvPr/>
        </p:nvSpPr>
        <p:spPr>
          <a:xfrm>
            <a:off x="7534275" y="3600450"/>
            <a:ext cx="4162425" cy="1152525"/>
          </a:xfrm>
          <a:prstGeom prst="roundRect">
            <a:avLst>
              <a:gd name="adj" fmla="val 13223"/>
            </a:avLst>
          </a:prstGeom>
          <a:solidFill>
            <a:srgbClr val="FBE8EF"/>
          </a:solidFill>
          <a:ln w="0">
            <a:noFill/>
          </a:ln>
        </p:spPr>
        <p:txBody>
          <a:bodyPr/>
          <a:lstStyle/>
          <a:p>
            <a:endParaRPr lang="zh-CN" altLang="en-US"/>
          </a:p>
        </p:txBody>
      </p:sp>
      <p:sp>
        <p:nvSpPr>
          <p:cNvPr id="117" name="person-diagram-325">
            <a:extLst>
              <a:ext uri="{FF2B5EF4-FFF2-40B4-BE49-F238E27FC236}">
                <a16:creationId xmlns:a16="http://schemas.microsoft.com/office/drawing/2014/main" id="{67174FDC-CC18-4A2D-AE94-57C664F87CB0}"/>
              </a:ext>
            </a:extLst>
          </p:cNvPr>
          <p:cNvSpPr>
            <a:spLocks noGrp="1"/>
          </p:cNvSpPr>
          <p:nvPr/>
        </p:nvSpPr>
        <p:spPr>
          <a:xfrm>
            <a:off x="3552825" y="3714750"/>
            <a:ext cx="3400425" cy="276225"/>
          </a:xfrm>
          <a:prstGeom prst="rect">
            <a:avLst/>
          </a:prstGeom>
          <a:noFill/>
          <a:ln w="0">
            <a:noFill/>
          </a:ln>
        </p:spPr>
        <p:txBody>
          <a:bodyPr lIns="0" tIns="0" rIns="0" bIns="0" anchor="ctr">
            <a:noAutofit/>
          </a:bodyPr>
          <a:lstStyle>
            <a:defPPr algn="ctr">
              <a:defRPr sz="1725" b="1">
                <a:solidFill>
                  <a:srgbClr val="38AFA2"/>
                </a:solidFill>
                <a:latin typeface="Arial"/>
                <a:ea typeface="Arial"/>
                <a:cs typeface="Arial"/>
              </a:defRPr>
            </a:defPPr>
          </a:lstStyle>
          <a:p>
            <a:pPr algn="ctr">
              <a:defRPr sz="1725" b="1">
                <a:solidFill>
                  <a:srgbClr val="38AFA2"/>
                </a:solidFill>
                <a:latin typeface="Arial"/>
                <a:ea typeface="Arial"/>
                <a:cs typeface="Arial"/>
              </a:defRPr>
            </a:pPr>
            <a:r>
              <a:rPr sz="1725" b="1">
                <a:solidFill>
                  <a:srgbClr val="38AFA2"/>
                </a:solidFill>
                <a:latin typeface="Arial"/>
                <a:ea typeface="Arial"/>
                <a:cs typeface="Arial"/>
              </a:rPr>
              <a:t>Relatively robust</a:t>
            </a:r>
          </a:p>
        </p:txBody>
      </p:sp>
      <p:sp>
        <p:nvSpPr>
          <p:cNvPr id="118" name="person-diagram-326">
            <a:extLst>
              <a:ext uri="{FF2B5EF4-FFF2-40B4-BE49-F238E27FC236}">
                <a16:creationId xmlns:a16="http://schemas.microsoft.com/office/drawing/2014/main" id="{C58EA3E2-030D-4D61-960F-9D231E722DF8}"/>
              </a:ext>
            </a:extLst>
          </p:cNvPr>
          <p:cNvSpPr>
            <a:spLocks noGrp="1"/>
          </p:cNvSpPr>
          <p:nvPr/>
        </p:nvSpPr>
        <p:spPr>
          <a:xfrm>
            <a:off x="3552825" y="4105275"/>
            <a:ext cx="3400425" cy="409575"/>
          </a:xfrm>
          <a:prstGeom prst="rect">
            <a:avLst/>
          </a:prstGeom>
          <a:noFill/>
          <a:ln w="0">
            <a:noFill/>
          </a:ln>
        </p:spPr>
        <p:txBody>
          <a:bodyPr lIns="0" tIns="0" rIns="0" bIns="0" anchor="ctr">
            <a:noAutofit/>
          </a:bodyPr>
          <a:lstStyle>
            <a:defPPr algn="ctr">
              <a:defRPr sz="2325" b="1">
                <a:solidFill>
                  <a:srgbClr val="38AFA2"/>
                </a:solidFill>
                <a:latin typeface="Arial"/>
                <a:ea typeface="Arial"/>
                <a:cs typeface="Arial"/>
              </a:defRPr>
            </a:defPPr>
          </a:lstStyle>
          <a:p>
            <a:pPr algn="ctr">
              <a:defRPr sz="2325" b="1">
                <a:solidFill>
                  <a:srgbClr val="38AFA2"/>
                </a:solidFill>
                <a:latin typeface="Arial"/>
                <a:ea typeface="Arial"/>
                <a:cs typeface="Arial"/>
              </a:defRPr>
            </a:pPr>
            <a:r>
              <a:rPr sz="2325" b="1">
                <a:solidFill>
                  <a:srgbClr val="38AFA2"/>
                </a:solidFill>
                <a:latin typeface="Arial"/>
                <a:ea typeface="Arial"/>
                <a:cs typeface="Arial"/>
              </a:rPr>
              <a:t>−0.15 pp  ·  Fusion</a:t>
            </a:r>
          </a:p>
        </p:txBody>
      </p:sp>
      <p:sp>
        <p:nvSpPr>
          <p:cNvPr id="119" name="person-diagram-327">
            <a:extLst>
              <a:ext uri="{FF2B5EF4-FFF2-40B4-BE49-F238E27FC236}">
                <a16:creationId xmlns:a16="http://schemas.microsoft.com/office/drawing/2014/main" id="{CCA3F3A2-DE35-4DA5-B6B3-E4B71639FF1D}"/>
              </a:ext>
            </a:extLst>
          </p:cNvPr>
          <p:cNvSpPr>
            <a:spLocks noGrp="1"/>
          </p:cNvSpPr>
          <p:nvPr/>
        </p:nvSpPr>
        <p:spPr>
          <a:xfrm>
            <a:off x="7724775" y="3714750"/>
            <a:ext cx="3781425" cy="276225"/>
          </a:xfrm>
          <a:prstGeom prst="rect">
            <a:avLst/>
          </a:prstGeom>
          <a:noFill/>
          <a:ln w="0">
            <a:noFill/>
          </a:ln>
        </p:spPr>
        <p:txBody>
          <a:bodyPr lIns="0" tIns="0" rIns="0" bIns="0" anchor="ctr">
            <a:noAutofit/>
          </a:bodyPr>
          <a:lstStyle>
            <a:defPPr algn="ctr">
              <a:defRPr sz="1725" b="1">
                <a:solidFill>
                  <a:srgbClr val="E31346"/>
                </a:solidFill>
                <a:latin typeface="Arial"/>
                <a:ea typeface="Arial"/>
                <a:cs typeface="Arial"/>
              </a:defRPr>
            </a:defPPr>
          </a:lstStyle>
          <a:p>
            <a:pPr algn="ctr">
              <a:defRPr sz="1725" b="1">
                <a:solidFill>
                  <a:srgbClr val="E31346"/>
                </a:solidFill>
                <a:latin typeface="Arial"/>
                <a:ea typeface="Arial"/>
                <a:cs typeface="Arial"/>
              </a:defRPr>
            </a:pPr>
            <a:r>
              <a:rPr sz="1725" b="1">
                <a:solidFill>
                  <a:srgbClr val="E31346"/>
                </a:solidFill>
                <a:latin typeface="Arial"/>
                <a:ea typeface="Arial"/>
                <a:cs typeface="Arial"/>
              </a:rPr>
              <a:t>Sensitive</a:t>
            </a:r>
          </a:p>
        </p:txBody>
      </p:sp>
      <p:sp>
        <p:nvSpPr>
          <p:cNvPr id="120" name="person-diagram-328">
            <a:extLst>
              <a:ext uri="{FF2B5EF4-FFF2-40B4-BE49-F238E27FC236}">
                <a16:creationId xmlns:a16="http://schemas.microsoft.com/office/drawing/2014/main" id="{1BD7558B-6556-49D5-9DE0-3A24B0FAB5F1}"/>
              </a:ext>
            </a:extLst>
          </p:cNvPr>
          <p:cNvSpPr>
            <a:spLocks noGrp="1"/>
          </p:cNvSpPr>
          <p:nvPr/>
        </p:nvSpPr>
        <p:spPr>
          <a:xfrm>
            <a:off x="7724775" y="4105275"/>
            <a:ext cx="3781425" cy="409575"/>
          </a:xfrm>
          <a:prstGeom prst="rect">
            <a:avLst/>
          </a:prstGeom>
          <a:noFill/>
          <a:ln w="0">
            <a:noFill/>
          </a:ln>
        </p:spPr>
        <p:txBody>
          <a:bodyPr lIns="0" tIns="0" rIns="0" bIns="0" anchor="ctr">
            <a:noAutofit/>
          </a:bodyPr>
          <a:lstStyle>
            <a:defPPr algn="ctr">
              <a:defRPr sz="2325" b="1">
                <a:solidFill>
                  <a:srgbClr val="E31346"/>
                </a:solidFill>
                <a:latin typeface="Arial"/>
                <a:ea typeface="Arial"/>
                <a:cs typeface="Arial"/>
              </a:defRPr>
            </a:defPPr>
          </a:lstStyle>
          <a:p>
            <a:pPr algn="ctr">
              <a:defRPr sz="2325" b="1">
                <a:solidFill>
                  <a:srgbClr val="E31346"/>
                </a:solidFill>
                <a:latin typeface="Arial"/>
                <a:ea typeface="Arial"/>
                <a:cs typeface="Arial"/>
              </a:defRPr>
            </a:pPr>
            <a:r>
              <a:rPr sz="2325" b="1">
                <a:solidFill>
                  <a:srgbClr val="E31346"/>
                </a:solidFill>
                <a:latin typeface="Arial"/>
                <a:ea typeface="Arial"/>
                <a:cs typeface="Arial"/>
              </a:rPr>
              <a:t>−22.06 pp  ·  Fusion</a:t>
            </a:r>
          </a:p>
        </p:txBody>
      </p:sp>
      <p:sp>
        <p:nvSpPr>
          <p:cNvPr id="121" name="person-diagram-329">
            <a:extLst>
              <a:ext uri="{FF2B5EF4-FFF2-40B4-BE49-F238E27FC236}">
                <a16:creationId xmlns:a16="http://schemas.microsoft.com/office/drawing/2014/main" id="{5E684636-711C-438F-B8EA-37A4E4E4E6D6}"/>
              </a:ext>
            </a:extLst>
          </p:cNvPr>
          <p:cNvSpPr>
            <a:spLocks noGrp="1"/>
          </p:cNvSpPr>
          <p:nvPr/>
        </p:nvSpPr>
        <p:spPr>
          <a:xfrm>
            <a:off x="495300" y="5029200"/>
            <a:ext cx="11220450" cy="228600"/>
          </a:xfrm>
          <a:prstGeom prst="rect">
            <a:avLst/>
          </a:prstGeom>
          <a:noFill/>
          <a:ln w="0">
            <a:noFill/>
          </a:ln>
        </p:spPr>
        <p:txBody>
          <a:bodyPr lIns="0" tIns="0" rIns="0" bIns="0" anchor="ctr">
            <a:noAutofit/>
          </a:bodyPr>
          <a:lstStyle>
            <a:defPPr algn="ctr">
              <a:defRPr sz="1200" b="0">
                <a:solidFill>
                  <a:srgbClr val="697386"/>
                </a:solidFill>
                <a:latin typeface="Arial"/>
                <a:ea typeface="Arial"/>
                <a:cs typeface="Arial"/>
              </a:defRPr>
            </a:defPPr>
          </a:lstStyle>
          <a:p>
            <a:pPr algn="ctr">
              <a:defRPr sz="1200" b="0">
                <a:solidFill>
                  <a:srgbClr val="697386"/>
                </a:solidFill>
                <a:latin typeface="Arial"/>
                <a:ea typeface="Arial"/>
                <a:cs typeface="Arial"/>
              </a:defRPr>
            </a:pPr>
            <a:r>
              <a:rPr sz="1200" b="0">
                <a:solidFill>
                  <a:srgbClr val="697386"/>
                </a:solidFill>
                <a:latin typeface="Arial"/>
                <a:ea typeface="Arial"/>
                <a:cs typeface="Arial"/>
              </a:rPr>
              <a:t>ΔTop-1 versus each pipeline’s clean baseline · pp = percentage points</a:t>
            </a:r>
          </a:p>
        </p:txBody>
      </p:sp>
      <p:sp>
        <p:nvSpPr>
          <p:cNvPr id="122" name="person-diagram-330">
            <a:extLst>
              <a:ext uri="{FF2B5EF4-FFF2-40B4-BE49-F238E27FC236}">
                <a16:creationId xmlns:a16="http://schemas.microsoft.com/office/drawing/2014/main" id="{05A66744-5CCA-41B3-9233-89EF8527A8F8}"/>
              </a:ext>
            </a:extLst>
          </p:cNvPr>
          <p:cNvSpPr>
            <a:spLocks noGrp="1"/>
          </p:cNvSpPr>
          <p:nvPr/>
        </p:nvSpPr>
        <p:spPr>
          <a:xfrm>
            <a:off x="495300" y="5381625"/>
            <a:ext cx="11220450" cy="285750"/>
          </a:xfrm>
          <a:prstGeom prst="rect">
            <a:avLst/>
          </a:prstGeom>
          <a:noFill/>
          <a:ln w="0">
            <a:noFill/>
          </a:ln>
        </p:spPr>
        <p:txBody>
          <a:bodyPr lIns="0" tIns="0" rIns="0" bIns="0" anchor="ctr">
            <a:noAutofit/>
          </a:bodyPr>
          <a:lstStyle>
            <a:defPPr algn="ctr">
              <a:defRPr sz="1650" b="1">
                <a:solidFill>
                  <a:srgbClr val="1B1D63"/>
                </a:solidFill>
                <a:latin typeface="Arial"/>
                <a:ea typeface="Arial"/>
                <a:cs typeface="Arial"/>
              </a:defRPr>
            </a:defPPr>
          </a:lstStyle>
          <a:p>
            <a:pPr algn="ctr">
              <a:defRPr sz="1650" b="1">
                <a:solidFill>
                  <a:srgbClr val="1B1D63"/>
                </a:solidFill>
                <a:latin typeface="Arial"/>
                <a:ea typeface="Arial"/>
                <a:cs typeface="Arial"/>
              </a:defRPr>
            </a:pPr>
            <a:r>
              <a:rPr sz="1650" b="1">
                <a:solidFill>
                  <a:srgbClr val="1B1D63"/>
                </a:solidFill>
                <a:latin typeface="Arial"/>
                <a:ea typeface="Arial"/>
                <a:cs typeface="Arial"/>
              </a:rPr>
              <a:t>Position response: generally stronger in the mid-to-late sampled region</a:t>
            </a:r>
          </a:p>
        </p:txBody>
      </p:sp>
      <p:sp>
        <p:nvSpPr>
          <p:cNvPr id="123" name="person-diagram-331">
            <a:extLst>
              <a:ext uri="{FF2B5EF4-FFF2-40B4-BE49-F238E27FC236}">
                <a16:creationId xmlns:a16="http://schemas.microsoft.com/office/drawing/2014/main" id="{8ECD4923-9217-45CC-AA7C-39CB6B09FEBC}"/>
              </a:ext>
            </a:extLst>
          </p:cNvPr>
          <p:cNvSpPr>
            <a:spLocks noGrp="1"/>
          </p:cNvSpPr>
          <p:nvPr/>
        </p:nvSpPr>
        <p:spPr>
          <a:xfrm>
            <a:off x="495300" y="5810250"/>
            <a:ext cx="11220450" cy="495300"/>
          </a:xfrm>
          <a:prstGeom prst="roundRect">
            <a:avLst>
              <a:gd name="adj" fmla="val 30769"/>
            </a:avLst>
          </a:prstGeom>
          <a:solidFill>
            <a:srgbClr val="1B1D63"/>
          </a:solidFill>
          <a:ln w="11430">
            <a:solidFill>
              <a:srgbClr val="1B1D63"/>
            </a:solidFill>
          </a:ln>
        </p:spPr>
        <p:txBody>
          <a:bodyPr/>
          <a:lstStyle/>
          <a:p>
            <a:endParaRPr lang="zh-CN" altLang="en-US"/>
          </a:p>
        </p:txBody>
      </p:sp>
      <p:sp>
        <p:nvSpPr>
          <p:cNvPr id="124" name="person-diagram-332">
            <a:extLst>
              <a:ext uri="{FF2B5EF4-FFF2-40B4-BE49-F238E27FC236}">
                <a16:creationId xmlns:a16="http://schemas.microsoft.com/office/drawing/2014/main" id="{8B6A1EC6-E84C-4F78-9246-22363FFE432E}"/>
              </a:ext>
            </a:extLst>
          </p:cNvPr>
          <p:cNvSpPr>
            <a:spLocks noGrp="1"/>
          </p:cNvSpPr>
          <p:nvPr/>
        </p:nvSpPr>
        <p:spPr>
          <a:xfrm>
            <a:off x="723900" y="5857875"/>
            <a:ext cx="10763250" cy="400050"/>
          </a:xfrm>
          <a:prstGeom prst="rect">
            <a:avLst/>
          </a:prstGeom>
          <a:noFill/>
          <a:ln w="0">
            <a:noFill/>
          </a:ln>
        </p:spPr>
        <p:txBody>
          <a:bodyPr lIns="0" tIns="0" rIns="0" bIns="0" anchor="ctr">
            <a:noAutofit/>
          </a:bodyPr>
          <a:lstStyle>
            <a:defPPr algn="ctr">
              <a:defRPr sz="1875" b="1">
                <a:solidFill>
                  <a:srgbClr val="FFFFFF"/>
                </a:solidFill>
                <a:latin typeface="Arial"/>
                <a:ea typeface="Arial"/>
                <a:cs typeface="Arial"/>
              </a:defRPr>
            </a:defPPr>
          </a:lstStyle>
          <a:p>
            <a:pPr algn="ctr">
              <a:defRPr sz="1875" b="1">
                <a:solidFill>
                  <a:srgbClr val="FFFFFF"/>
                </a:solidFill>
                <a:latin typeface="Arial"/>
                <a:ea typeface="Arial"/>
                <a:cs typeface="Arial"/>
              </a:defRPr>
            </a:pPr>
            <a:r>
              <a:rPr sz="1875" b="1">
                <a:solidFill>
                  <a:srgbClr val="FFFFFF"/>
                </a:solidFill>
                <a:latin typeface="Arial"/>
                <a:ea typeface="Arial"/>
                <a:cs typeface="Arial"/>
              </a:rPr>
              <a:t>Global permutation robustness ≠ temporal person-track robustness</a:t>
            </a:r>
          </a:p>
        </p:txBody>
      </p:sp>
    </p:spTree>
    <p:extLst>
      <p:ext uri="{BB962C8B-B14F-4D97-AF65-F5344CB8AC3E}">
        <p14:creationId xmlns:p14="http://schemas.microsoft.com/office/powerpoint/2010/main" val="4579871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8D35274F-5B53-585D-AE53-0FD73C26F91A}"/>
              </a:ext>
            </a:extLst>
          </p:cNvPr>
          <p:cNvSpPr>
            <a:spLocks noGrp="1"/>
          </p:cNvSpPr>
          <p:nvPr/>
        </p:nvSpPr>
        <p:spPr>
          <a:xfrm>
            <a:off x="0" y="0"/>
            <a:ext cx="152400" cy="6858000"/>
          </a:xfrm>
          <a:prstGeom prst="rect">
            <a:avLst/>
          </a:prstGeom>
          <a:solidFill>
            <a:srgbClr val="E31346"/>
          </a:solidFill>
          <a:ln w="0">
            <a:noFill/>
          </a:ln>
        </p:spPr>
        <p:txBody>
          <a:bodyPr/>
          <a:lstStyle/>
          <a:p>
            <a:endParaRPr lang="zh-CN" altLang="en-US"/>
          </a:p>
        </p:txBody>
      </p:sp>
      <p:sp>
        <p:nvSpPr>
          <p:cNvPr id="2" name="矩形 1">
            <a:extLst>
              <a:ext uri="{FF2B5EF4-FFF2-40B4-BE49-F238E27FC236}">
                <a16:creationId xmlns:a16="http://schemas.microsoft.com/office/drawing/2014/main" id="{E7D3BB21-AA8B-566A-B56D-50AEA6A78D4C}"/>
              </a:ext>
            </a:extLst>
          </p:cNvPr>
          <p:cNvSpPr>
            <a:spLocks noGrp="1"/>
          </p:cNvSpPr>
          <p:nvPr/>
        </p:nvSpPr>
        <p:spPr>
          <a:xfrm>
            <a:off x="152400" y="6562725"/>
            <a:ext cx="12039600" cy="295275"/>
          </a:xfrm>
          <a:prstGeom prst="rect">
            <a:avLst/>
          </a:prstGeom>
          <a:solidFill>
            <a:srgbClr val="1B1D63"/>
          </a:solidFill>
          <a:ln w="0">
            <a:noFill/>
          </a:ln>
        </p:spPr>
        <p:txBody>
          <a:bodyPr/>
          <a:lstStyle/>
          <a:p>
            <a:endParaRPr lang="zh-CN" altLang="en-US"/>
          </a:p>
        </p:txBody>
      </p:sp>
      <p:sp>
        <p:nvSpPr>
          <p:cNvPr id="4" name="矩形 3">
            <a:extLst>
              <a:ext uri="{FF2B5EF4-FFF2-40B4-BE49-F238E27FC236}">
                <a16:creationId xmlns:a16="http://schemas.microsoft.com/office/drawing/2014/main" id="{8355EAF8-22E6-542C-8FF5-63A91364B669}"/>
              </a:ext>
            </a:extLst>
          </p:cNvPr>
          <p:cNvSpPr>
            <a:spLocks noGrp="1"/>
          </p:cNvSpPr>
          <p:nvPr/>
        </p:nvSpPr>
        <p:spPr>
          <a:xfrm>
            <a:off x="495300" y="723900"/>
            <a:ext cx="7239000" cy="219075"/>
          </a:xfrm>
          <a:prstGeom prst="rect">
            <a:avLst/>
          </a:prstGeom>
          <a:noFill/>
          <a:ln w="0">
            <a:noFill/>
          </a:ln>
        </p:spPr>
        <p:txBody>
          <a:bodyPr anchor="ctr">
            <a:normAutofit fontScale="93397" lnSpcReduction="10000"/>
          </a:bodyPr>
          <a:lstStyle/>
          <a:p>
            <a:pPr algn="l">
              <a:defRPr sz="975" b="1">
                <a:solidFill>
                  <a:srgbClr val="E31346"/>
                </a:solidFill>
                <a:latin typeface="Arial"/>
                <a:ea typeface="Arial"/>
                <a:cs typeface="Arial"/>
              </a:defRPr>
            </a:pPr>
            <a:r>
              <a:rPr sz="975" b="1">
                <a:solidFill>
                  <a:srgbClr val="E31346"/>
                </a:solidFill>
                <a:latin typeface="Arial"/>
                <a:ea typeface="Arial"/>
                <a:cs typeface="Arial"/>
              </a:rPr>
              <a:t>EE6008 · HUMAN POSE GROUP PROJECT</a:t>
            </a:r>
          </a:p>
        </p:txBody>
      </p:sp>
      <p:sp>
        <p:nvSpPr>
          <p:cNvPr id="5" name="矩形 4">
            <a:extLst>
              <a:ext uri="{FF2B5EF4-FFF2-40B4-BE49-F238E27FC236}">
                <a16:creationId xmlns:a16="http://schemas.microsoft.com/office/drawing/2014/main" id="{04F849E0-E748-5C69-A38E-57413FE715B0}"/>
              </a:ext>
            </a:extLst>
          </p:cNvPr>
          <p:cNvSpPr>
            <a:spLocks noGrp="1"/>
          </p:cNvSpPr>
          <p:nvPr/>
        </p:nvSpPr>
        <p:spPr>
          <a:xfrm>
            <a:off x="495300" y="1009650"/>
            <a:ext cx="1562100" cy="47625"/>
          </a:xfrm>
          <a:prstGeom prst="rect">
            <a:avLst/>
          </a:prstGeom>
          <a:solidFill>
            <a:srgbClr val="E31346"/>
          </a:solidFill>
          <a:ln w="0">
            <a:noFill/>
          </a:ln>
        </p:spPr>
        <p:txBody>
          <a:bodyPr/>
          <a:lstStyle/>
          <a:p>
            <a:endParaRPr lang="zh-CN" altLang="en-US"/>
          </a:p>
        </p:txBody>
      </p:sp>
      <p:sp>
        <p:nvSpPr>
          <p:cNvPr id="7" name="矩形 6">
            <a:extLst>
              <a:ext uri="{FF2B5EF4-FFF2-40B4-BE49-F238E27FC236}">
                <a16:creationId xmlns:a16="http://schemas.microsoft.com/office/drawing/2014/main" id="{E9390AEC-8910-5DFA-83E2-C178FA4F7D00}"/>
              </a:ext>
            </a:extLst>
          </p:cNvPr>
          <p:cNvSpPr>
            <a:spLocks noGrp="1"/>
          </p:cNvSpPr>
          <p:nvPr/>
        </p:nvSpPr>
        <p:spPr>
          <a:xfrm>
            <a:off x="495300" y="6591300"/>
            <a:ext cx="2857500" cy="219075"/>
          </a:xfrm>
          <a:prstGeom prst="rect">
            <a:avLst/>
          </a:prstGeom>
          <a:noFill/>
          <a:ln w="0">
            <a:noFill/>
          </a:ln>
        </p:spPr>
        <p:txBody>
          <a:bodyPr anchor="ctr">
            <a:normAutofit/>
          </a:bodyPr>
          <a:lstStyle/>
          <a:p>
            <a:pPr algn="l">
              <a:defRPr sz="750" b="1">
                <a:solidFill>
                  <a:srgbClr val="FFFFFF"/>
                </a:solidFill>
                <a:latin typeface="Arial"/>
                <a:ea typeface="Arial"/>
                <a:cs typeface="Arial"/>
              </a:defRPr>
            </a:pPr>
            <a:r>
              <a:rPr sz="750" b="1">
                <a:solidFill>
                  <a:srgbClr val="FFFFFF"/>
                </a:solidFill>
                <a:latin typeface="Arial"/>
                <a:ea typeface="Arial"/>
                <a:cs typeface="Arial"/>
              </a:rPr>
              <a:t>EE6008 · WEEKLY REPORT</a:t>
            </a:r>
          </a:p>
        </p:txBody>
      </p:sp>
      <p:sp>
        <p:nvSpPr>
          <p:cNvPr id="8" name="矩形 7">
            <a:extLst>
              <a:ext uri="{FF2B5EF4-FFF2-40B4-BE49-F238E27FC236}">
                <a16:creationId xmlns:a16="http://schemas.microsoft.com/office/drawing/2014/main" id="{80790507-7970-5241-989D-63E961635FE0}"/>
              </a:ext>
            </a:extLst>
          </p:cNvPr>
          <p:cNvSpPr>
            <a:spLocks noGrp="1"/>
          </p:cNvSpPr>
          <p:nvPr/>
        </p:nvSpPr>
        <p:spPr>
          <a:xfrm>
            <a:off x="11049000" y="6591300"/>
            <a:ext cx="619125" cy="219075"/>
          </a:xfrm>
          <a:prstGeom prst="rect">
            <a:avLst/>
          </a:prstGeom>
          <a:noFill/>
          <a:ln w="0">
            <a:noFill/>
          </a:ln>
        </p:spPr>
        <p:txBody>
          <a:bodyPr anchor="ctr">
            <a:normAutofit/>
          </a:bodyPr>
          <a:lstStyle/>
          <a:p>
            <a:pPr algn="r">
              <a:defRPr sz="750" b="1">
                <a:solidFill>
                  <a:srgbClr val="FFFFFF"/>
                </a:solidFill>
                <a:latin typeface="Arial"/>
                <a:ea typeface="Arial"/>
                <a:cs typeface="Arial"/>
              </a:defRPr>
            </a:pPr>
            <a:r>
              <a:rPr sz="750" b="1">
                <a:solidFill>
                  <a:srgbClr val="FFFFFF"/>
                </a:solidFill>
                <a:latin typeface="Arial"/>
                <a:ea typeface="Arial"/>
                <a:cs typeface="Arial"/>
              </a:rPr>
              <a:t>05</a:t>
            </a:r>
          </a:p>
        </p:txBody>
      </p:sp>
      <p:sp>
        <p:nvSpPr>
          <p:cNvPr id="100" name="person-diagram-333">
            <a:extLst>
              <a:ext uri="{FF2B5EF4-FFF2-40B4-BE49-F238E27FC236}">
                <a16:creationId xmlns:a16="http://schemas.microsoft.com/office/drawing/2014/main" id="{9AC2A0F5-E06D-4046-A5D6-EC0152992290}"/>
              </a:ext>
            </a:extLst>
          </p:cNvPr>
          <p:cNvSpPr>
            <a:spLocks noGrp="1"/>
          </p:cNvSpPr>
          <p:nvPr/>
        </p:nvSpPr>
        <p:spPr>
          <a:xfrm>
            <a:off x="590550" y="238125"/>
            <a:ext cx="8524875" cy="476250"/>
          </a:xfrm>
          <a:prstGeom prst="rect">
            <a:avLst/>
          </a:prstGeom>
          <a:noFill/>
          <a:ln w="0">
            <a:noFill/>
          </a:ln>
        </p:spPr>
        <p:txBody>
          <a:bodyPr lIns="0" tIns="0" rIns="0" bIns="0" anchor="ctr">
            <a:noAutofit/>
          </a:bodyPr>
          <a:lstStyle>
            <a:defPPr algn="l">
              <a:defRPr sz="2524" b="1">
                <a:solidFill>
                  <a:srgbClr val="1B1D63"/>
                </a:solidFill>
                <a:latin typeface="Arial"/>
                <a:ea typeface="Arial"/>
                <a:cs typeface="Arial"/>
              </a:defRPr>
            </a:defPPr>
          </a:lstStyle>
          <a:p>
            <a:pPr algn="l">
              <a:defRPr sz="2524" b="1">
                <a:solidFill>
                  <a:srgbClr val="1B1D63"/>
                </a:solidFill>
                <a:latin typeface="Arial"/>
                <a:ea typeface="Arial"/>
                <a:cs typeface="Arial"/>
              </a:defRPr>
            </a:pPr>
            <a:r>
              <a:rPr sz="2524" b="1">
                <a:solidFill>
                  <a:srgbClr val="1B1D63"/>
                </a:solidFill>
                <a:latin typeface="Arial"/>
                <a:ea typeface="Arial"/>
                <a:cs typeface="Arial"/>
              </a:rPr>
              <a:t>What Do the Failures Ask Us to Explain?</a:t>
            </a:r>
          </a:p>
        </p:txBody>
      </p:sp>
      <p:pic>
        <p:nvPicPr>
          <p:cNvPr id="101" name="图片 100">
            <a:extLst>
              <a:ext uri="{FF2B5EF4-FFF2-40B4-BE49-F238E27FC236}">
                <a16:creationId xmlns:a16="http://schemas.microsoft.com/office/drawing/2014/main" id="{6DE8EADF-D9E0-413B-927A-0A3210EDED37}"/>
              </a:ext>
            </a:extLst>
          </p:cNvPr>
          <p:cNvPicPr>
            <a:picLocks noChangeAspect="1"/>
          </p:cNvPicPr>
          <p:nvPr/>
        </p:nvPicPr>
        <p:blipFill>
          <a:blip r:embed="rId3"/>
          <a:stretch/>
        </p:blipFill>
        <p:spPr>
          <a:xfrm>
            <a:off x="9696450" y="191381"/>
            <a:ext cx="2038350" cy="731663"/>
          </a:xfrm>
          <a:prstGeom prst="rect">
            <a:avLst/>
          </a:prstGeom>
        </p:spPr>
      </p:pic>
      <p:sp>
        <p:nvSpPr>
          <p:cNvPr id="102" name="person-diagram-334">
            <a:extLst>
              <a:ext uri="{FF2B5EF4-FFF2-40B4-BE49-F238E27FC236}">
                <a16:creationId xmlns:a16="http://schemas.microsoft.com/office/drawing/2014/main" id="{9E541A58-210C-4C20-BB67-3EB4E7E62EDB}"/>
              </a:ext>
            </a:extLst>
          </p:cNvPr>
          <p:cNvSpPr>
            <a:spLocks noGrp="1"/>
          </p:cNvSpPr>
          <p:nvPr/>
        </p:nvSpPr>
        <p:spPr>
          <a:xfrm>
            <a:off x="714375" y="1419225"/>
            <a:ext cx="4762500" cy="247650"/>
          </a:xfrm>
          <a:prstGeom prst="rect">
            <a:avLst/>
          </a:prstGeom>
          <a:noFill/>
          <a:ln w="0">
            <a:noFill/>
          </a:ln>
        </p:spPr>
        <p:txBody>
          <a:bodyPr lIns="0" tIns="0" rIns="0" bIns="0" anchor="ctr">
            <a:noAutofit/>
          </a:bodyPr>
          <a:lstStyle>
            <a:defPPr algn="l">
              <a:defRPr sz="1050" b="1">
                <a:solidFill>
                  <a:srgbClr val="E31346"/>
                </a:solidFill>
                <a:latin typeface="Arial"/>
                <a:ea typeface="Arial"/>
                <a:cs typeface="Arial"/>
              </a:defRPr>
            </a:defPPr>
          </a:lstStyle>
          <a:p>
            <a:pPr algn="l">
              <a:defRPr sz="1050" b="1">
                <a:solidFill>
                  <a:srgbClr val="E31346"/>
                </a:solidFill>
                <a:latin typeface="Arial"/>
                <a:ea typeface="Arial"/>
                <a:cs typeface="Arial"/>
              </a:defRPr>
            </a:pPr>
            <a:r>
              <a:rPr sz="1050" b="1">
                <a:solidFill>
                  <a:srgbClr val="E31346"/>
                </a:solidFill>
                <a:latin typeface="Arial"/>
                <a:ea typeface="Arial"/>
                <a:cs typeface="Arial"/>
              </a:rPr>
              <a:t>OBSERVATION</a:t>
            </a:r>
          </a:p>
        </p:txBody>
      </p:sp>
      <p:sp>
        <p:nvSpPr>
          <p:cNvPr id="103" name="person-diagram-335">
            <a:extLst>
              <a:ext uri="{FF2B5EF4-FFF2-40B4-BE49-F238E27FC236}">
                <a16:creationId xmlns:a16="http://schemas.microsoft.com/office/drawing/2014/main" id="{37E46C2E-E1A9-4321-BE49-B463486788A2}"/>
              </a:ext>
            </a:extLst>
          </p:cNvPr>
          <p:cNvSpPr>
            <a:spLocks noGrp="1"/>
          </p:cNvSpPr>
          <p:nvPr/>
        </p:nvSpPr>
        <p:spPr>
          <a:xfrm>
            <a:off x="6619875" y="1419225"/>
            <a:ext cx="4857750" cy="247650"/>
          </a:xfrm>
          <a:prstGeom prst="rect">
            <a:avLst/>
          </a:prstGeom>
          <a:noFill/>
          <a:ln w="0">
            <a:noFill/>
          </a:ln>
        </p:spPr>
        <p:txBody>
          <a:bodyPr lIns="0" tIns="0" rIns="0" bIns="0" anchor="ctr">
            <a:noAutofit/>
          </a:bodyPr>
          <a:lstStyle>
            <a:defPPr algn="l">
              <a:defRPr sz="1050" b="1">
                <a:solidFill>
                  <a:srgbClr val="E31346"/>
                </a:solidFill>
                <a:latin typeface="Arial"/>
                <a:ea typeface="Arial"/>
                <a:cs typeface="Arial"/>
              </a:defRPr>
            </a:defPPr>
          </a:lstStyle>
          <a:p>
            <a:pPr algn="l">
              <a:defRPr sz="1050" b="1">
                <a:solidFill>
                  <a:srgbClr val="E31346"/>
                </a:solidFill>
                <a:latin typeface="Arial"/>
                <a:ea typeface="Arial"/>
                <a:cs typeface="Arial"/>
              </a:defRPr>
            </a:pPr>
            <a:r>
              <a:rPr sz="1050" b="1">
                <a:solidFill>
                  <a:srgbClr val="E31346"/>
                </a:solidFill>
                <a:latin typeface="Arial"/>
                <a:ea typeface="Arial"/>
                <a:cs typeface="Arial"/>
              </a:rPr>
              <a:t>ARCHITECTURE QUESTION</a:t>
            </a:r>
          </a:p>
        </p:txBody>
      </p:sp>
      <p:sp>
        <p:nvSpPr>
          <p:cNvPr id="104" name="person-diagram-336">
            <a:extLst>
              <a:ext uri="{FF2B5EF4-FFF2-40B4-BE49-F238E27FC236}">
                <a16:creationId xmlns:a16="http://schemas.microsoft.com/office/drawing/2014/main" id="{698398F6-3451-4F4E-9659-E7E03A075B4C}"/>
              </a:ext>
            </a:extLst>
          </p:cNvPr>
          <p:cNvSpPr>
            <a:spLocks noGrp="1"/>
          </p:cNvSpPr>
          <p:nvPr/>
        </p:nvSpPr>
        <p:spPr>
          <a:xfrm>
            <a:off x="495300" y="1885950"/>
            <a:ext cx="5114925" cy="1028700"/>
          </a:xfrm>
          <a:prstGeom prst="roundRect">
            <a:avLst>
              <a:gd name="adj" fmla="val 14815"/>
            </a:avLst>
          </a:prstGeom>
          <a:solidFill>
            <a:srgbClr val="E9EDF8"/>
          </a:solidFill>
          <a:ln w="0">
            <a:noFill/>
          </a:ln>
        </p:spPr>
        <p:txBody>
          <a:bodyPr/>
          <a:lstStyle/>
          <a:p>
            <a:endParaRPr lang="zh-CN" altLang="en-US"/>
          </a:p>
        </p:txBody>
      </p:sp>
      <p:sp>
        <p:nvSpPr>
          <p:cNvPr id="105" name="person-diagram-337">
            <a:extLst>
              <a:ext uri="{FF2B5EF4-FFF2-40B4-BE49-F238E27FC236}">
                <a16:creationId xmlns:a16="http://schemas.microsoft.com/office/drawing/2014/main" id="{CE84DDF4-97BC-43FF-9D30-E92BD64A6B43}"/>
              </a:ext>
            </a:extLst>
          </p:cNvPr>
          <p:cNvSpPr>
            <a:spLocks noGrp="1"/>
          </p:cNvSpPr>
          <p:nvPr/>
        </p:nvSpPr>
        <p:spPr>
          <a:xfrm>
            <a:off x="733425" y="2047875"/>
            <a:ext cx="4638675" cy="704850"/>
          </a:xfrm>
          <a:prstGeom prst="rect">
            <a:avLst/>
          </a:prstGeom>
          <a:noFill/>
          <a:ln w="0">
            <a:noFill/>
          </a:ln>
        </p:spPr>
        <p:txBody>
          <a:bodyPr lIns="0" tIns="0" rIns="0" bIns="0" anchor="ctr">
            <a:noAutofit/>
          </a:bodyPr>
          <a:lstStyle>
            <a:defPPr algn="l">
              <a:defRPr sz="1725" b="1">
                <a:solidFill>
                  <a:srgbClr val="1B1D63"/>
                </a:solidFill>
                <a:latin typeface="Arial"/>
                <a:ea typeface="Arial"/>
                <a:cs typeface="Arial"/>
              </a:defRPr>
            </a:defPPr>
          </a:lstStyle>
          <a:p>
            <a:pPr algn="l">
              <a:defRPr sz="1725" b="1">
                <a:solidFill>
                  <a:srgbClr val="1B1D63"/>
                </a:solidFill>
                <a:latin typeface="Arial"/>
                <a:ea typeface="Arial"/>
                <a:cs typeface="Arial"/>
              </a:defRPr>
            </a:pPr>
            <a:r>
              <a:rPr sz="1725" b="1">
                <a:solidFill>
                  <a:srgbClr val="1B1D63"/>
                </a:solidFill>
                <a:latin typeface="Arial"/>
                <a:ea typeface="Arial"/>
                <a:cs typeface="Arial"/>
              </a:rPr>
              <a:t>Different global-swap responses</a:t>
            </a:r>
          </a:p>
        </p:txBody>
      </p:sp>
      <p:sp>
        <p:nvSpPr>
          <p:cNvPr id="106" name="person-diagram-338">
            <a:extLst>
              <a:ext uri="{FF2B5EF4-FFF2-40B4-BE49-F238E27FC236}">
                <a16:creationId xmlns:a16="http://schemas.microsoft.com/office/drawing/2014/main" id="{2BDEE1A2-45B0-4F3B-8247-EDAB6A6E0AD7}"/>
              </a:ext>
            </a:extLst>
          </p:cNvPr>
          <p:cNvSpPr>
            <a:spLocks noGrp="1"/>
          </p:cNvSpPr>
          <p:nvPr/>
        </p:nvSpPr>
        <p:spPr>
          <a:xfrm>
            <a:off x="5800725" y="2276475"/>
            <a:ext cx="438150" cy="209550"/>
          </a:xfrm>
          <a:prstGeom prst="rightArrow">
            <a:avLst/>
          </a:prstGeom>
          <a:solidFill>
            <a:srgbClr val="697386"/>
          </a:solidFill>
          <a:ln w="0">
            <a:noFill/>
          </a:ln>
        </p:spPr>
        <p:txBody>
          <a:bodyPr/>
          <a:lstStyle/>
          <a:p>
            <a:endParaRPr lang="zh-CN" altLang="en-US"/>
          </a:p>
        </p:txBody>
      </p:sp>
      <p:sp>
        <p:nvSpPr>
          <p:cNvPr id="107" name="person-diagram-339">
            <a:extLst>
              <a:ext uri="{FF2B5EF4-FFF2-40B4-BE49-F238E27FC236}">
                <a16:creationId xmlns:a16="http://schemas.microsoft.com/office/drawing/2014/main" id="{E4E309A5-13F8-4E31-8310-7AAABA150BB0}"/>
              </a:ext>
            </a:extLst>
          </p:cNvPr>
          <p:cNvSpPr>
            <a:spLocks noGrp="1"/>
          </p:cNvSpPr>
          <p:nvPr/>
        </p:nvSpPr>
        <p:spPr>
          <a:xfrm>
            <a:off x="6610350" y="2019300"/>
            <a:ext cx="4905375" cy="762000"/>
          </a:xfrm>
          <a:prstGeom prst="rect">
            <a:avLst/>
          </a:prstGeom>
          <a:noFill/>
          <a:ln w="0">
            <a:noFill/>
          </a:ln>
        </p:spPr>
        <p:txBody>
          <a:bodyPr lIns="0" tIns="0" rIns="0" bIns="0" anchor="ctr">
            <a:noAutofit/>
          </a:bodyPr>
          <a:lstStyle>
            <a:defPPr algn="l">
              <a:defRPr sz="1875" b="1">
                <a:solidFill>
                  <a:srgbClr val="1B1D63"/>
                </a:solidFill>
                <a:latin typeface="Arial"/>
                <a:ea typeface="Arial"/>
                <a:cs typeface="Arial"/>
              </a:defRPr>
            </a:defPPr>
          </a:lstStyle>
          <a:p>
            <a:pPr algn="l">
              <a:defRPr sz="1875" b="1">
                <a:solidFill>
                  <a:srgbClr val="1B1D63"/>
                </a:solidFill>
                <a:latin typeface="Arial"/>
                <a:ea typeface="Arial"/>
                <a:cs typeface="Arial"/>
              </a:defRPr>
            </a:pPr>
            <a:r>
              <a:rPr sz="1875" b="1">
                <a:solidFill>
                  <a:srgbClr val="1B1D63"/>
                </a:solidFill>
                <a:latin typeface="Arial"/>
                <a:ea typeface="Arial"/>
                <a:cs typeface="Arial"/>
              </a:rPr>
              <a:t>Where can slot asymmetry enter</a:t>
            </a:r>
          </a:p>
          <a:p>
            <a:pPr algn="l">
              <a:defRPr sz="1875" b="1">
                <a:solidFill>
                  <a:srgbClr val="1B1D63"/>
                </a:solidFill>
                <a:latin typeface="Arial"/>
                <a:ea typeface="Arial"/>
                <a:cs typeface="Arial"/>
              </a:defRPr>
            </a:pPr>
            <a:r>
              <a:rPr sz="1875" b="1">
                <a:solidFill>
                  <a:srgbClr val="1B1D63"/>
                </a:solidFill>
                <a:latin typeface="Arial"/>
                <a:ea typeface="Arial"/>
                <a:cs typeface="Arial"/>
              </a:rPr>
              <a:t>the learned representation?</a:t>
            </a:r>
          </a:p>
        </p:txBody>
      </p:sp>
      <p:sp>
        <p:nvSpPr>
          <p:cNvPr id="108" name="person-diagram-340">
            <a:extLst>
              <a:ext uri="{FF2B5EF4-FFF2-40B4-BE49-F238E27FC236}">
                <a16:creationId xmlns:a16="http://schemas.microsoft.com/office/drawing/2014/main" id="{252750CC-24CE-461A-8454-29D7F4E8F834}"/>
              </a:ext>
            </a:extLst>
          </p:cNvPr>
          <p:cNvSpPr>
            <a:spLocks noGrp="1"/>
          </p:cNvSpPr>
          <p:nvPr/>
        </p:nvSpPr>
        <p:spPr>
          <a:xfrm>
            <a:off x="495300" y="3143250"/>
            <a:ext cx="5114925" cy="1028700"/>
          </a:xfrm>
          <a:prstGeom prst="roundRect">
            <a:avLst>
              <a:gd name="adj" fmla="val 14815"/>
            </a:avLst>
          </a:prstGeom>
          <a:solidFill>
            <a:srgbClr val="E6F6F4"/>
          </a:solidFill>
          <a:ln w="0">
            <a:noFill/>
          </a:ln>
        </p:spPr>
        <p:txBody>
          <a:bodyPr/>
          <a:lstStyle/>
          <a:p>
            <a:endParaRPr lang="zh-CN" altLang="en-US"/>
          </a:p>
        </p:txBody>
      </p:sp>
      <p:sp>
        <p:nvSpPr>
          <p:cNvPr id="109" name="person-diagram-341">
            <a:extLst>
              <a:ext uri="{FF2B5EF4-FFF2-40B4-BE49-F238E27FC236}">
                <a16:creationId xmlns:a16="http://schemas.microsoft.com/office/drawing/2014/main" id="{21AE16A1-412B-4E92-B15B-99666701B2C2}"/>
              </a:ext>
            </a:extLst>
          </p:cNvPr>
          <p:cNvSpPr>
            <a:spLocks noGrp="1"/>
          </p:cNvSpPr>
          <p:nvPr/>
        </p:nvSpPr>
        <p:spPr>
          <a:xfrm>
            <a:off x="733425" y="3305175"/>
            <a:ext cx="4638675" cy="704850"/>
          </a:xfrm>
          <a:prstGeom prst="rect">
            <a:avLst/>
          </a:prstGeom>
          <a:noFill/>
          <a:ln w="0">
            <a:noFill/>
          </a:ln>
        </p:spPr>
        <p:txBody>
          <a:bodyPr lIns="0" tIns="0" rIns="0" bIns="0" anchor="ctr">
            <a:noAutofit/>
          </a:bodyPr>
          <a:lstStyle>
            <a:defPPr algn="l">
              <a:defRPr sz="1725" b="1">
                <a:solidFill>
                  <a:srgbClr val="1B1D63"/>
                </a:solidFill>
                <a:latin typeface="Arial"/>
                <a:ea typeface="Arial"/>
                <a:cs typeface="Arial"/>
              </a:defRPr>
            </a:defPPr>
          </a:lstStyle>
          <a:p>
            <a:pPr algn="l">
              <a:defRPr sz="1725" b="1">
                <a:solidFill>
                  <a:srgbClr val="1B1D63"/>
                </a:solidFill>
                <a:latin typeface="Arial"/>
                <a:ea typeface="Arial"/>
                <a:cs typeface="Arial"/>
              </a:defRPr>
            </a:pPr>
            <a:r>
              <a:rPr sz="1725" b="1">
                <a:solidFill>
                  <a:srgbClr val="1B1D63"/>
                </a:solidFill>
                <a:latin typeface="Arial"/>
                <a:ea typeface="Arial"/>
                <a:cs typeface="Arial"/>
              </a:rPr>
              <a:t>Both models react to internal track breaks</a:t>
            </a:r>
          </a:p>
        </p:txBody>
      </p:sp>
      <p:sp>
        <p:nvSpPr>
          <p:cNvPr id="110" name="person-diagram-342">
            <a:extLst>
              <a:ext uri="{FF2B5EF4-FFF2-40B4-BE49-F238E27FC236}">
                <a16:creationId xmlns:a16="http://schemas.microsoft.com/office/drawing/2014/main" id="{FB518BB6-F0BB-4850-8A27-D08EFC7DA35F}"/>
              </a:ext>
            </a:extLst>
          </p:cNvPr>
          <p:cNvSpPr>
            <a:spLocks noGrp="1"/>
          </p:cNvSpPr>
          <p:nvPr/>
        </p:nvSpPr>
        <p:spPr>
          <a:xfrm>
            <a:off x="5800725" y="3533775"/>
            <a:ext cx="438150" cy="209550"/>
          </a:xfrm>
          <a:prstGeom prst="rightArrow">
            <a:avLst/>
          </a:prstGeom>
          <a:solidFill>
            <a:srgbClr val="697386"/>
          </a:solidFill>
          <a:ln w="0">
            <a:noFill/>
          </a:ln>
        </p:spPr>
        <p:txBody>
          <a:bodyPr/>
          <a:lstStyle/>
          <a:p>
            <a:endParaRPr lang="zh-CN" altLang="en-US"/>
          </a:p>
        </p:txBody>
      </p:sp>
      <p:sp>
        <p:nvSpPr>
          <p:cNvPr id="111" name="person-diagram-343">
            <a:extLst>
              <a:ext uri="{FF2B5EF4-FFF2-40B4-BE49-F238E27FC236}">
                <a16:creationId xmlns:a16="http://schemas.microsoft.com/office/drawing/2014/main" id="{E2CA2A12-A647-4AB7-B7CA-DAE2C886E016}"/>
              </a:ext>
            </a:extLst>
          </p:cNvPr>
          <p:cNvSpPr>
            <a:spLocks noGrp="1"/>
          </p:cNvSpPr>
          <p:nvPr/>
        </p:nvSpPr>
        <p:spPr>
          <a:xfrm>
            <a:off x="6610350" y="3276600"/>
            <a:ext cx="4905375" cy="762000"/>
          </a:xfrm>
          <a:prstGeom prst="rect">
            <a:avLst/>
          </a:prstGeom>
          <a:noFill/>
          <a:ln w="0">
            <a:noFill/>
          </a:ln>
        </p:spPr>
        <p:txBody>
          <a:bodyPr lIns="0" tIns="0" rIns="0" bIns="0" anchor="ctr">
            <a:noAutofit/>
          </a:bodyPr>
          <a:lstStyle>
            <a:defPPr algn="l">
              <a:defRPr sz="1875" b="1">
                <a:solidFill>
                  <a:srgbClr val="1B1D63"/>
                </a:solidFill>
                <a:latin typeface="Arial"/>
                <a:ea typeface="Arial"/>
                <a:cs typeface="Arial"/>
              </a:defRPr>
            </a:defPPr>
          </a:lstStyle>
          <a:p>
            <a:pPr algn="l">
              <a:defRPr sz="1875" b="1">
                <a:solidFill>
                  <a:srgbClr val="1B1D63"/>
                </a:solidFill>
                <a:latin typeface="Arial"/>
                <a:ea typeface="Arial"/>
                <a:cs typeface="Arial"/>
              </a:defRPr>
            </a:pPr>
            <a:r>
              <a:rPr sz="1875" b="1">
                <a:solidFill>
                  <a:srgbClr val="1B1D63"/>
                </a:solidFill>
                <a:latin typeface="Arial"/>
                <a:ea typeface="Arial"/>
                <a:cs typeface="Arial"/>
              </a:rPr>
              <a:t>Do two input slots become</a:t>
            </a:r>
          </a:p>
          <a:p>
            <a:pPr algn="l">
              <a:defRPr sz="1875" b="1">
                <a:solidFill>
                  <a:srgbClr val="1B1D63"/>
                </a:solidFill>
                <a:latin typeface="Arial"/>
                <a:ea typeface="Arial"/>
                <a:cs typeface="Arial"/>
              </a:defRPr>
            </a:pPr>
            <a:r>
              <a:rPr sz="1875" b="1">
                <a:solidFill>
                  <a:srgbClr val="1B1D63"/>
                </a:solidFill>
                <a:latin typeface="Arial"/>
                <a:ea typeface="Arial"/>
                <a:cs typeface="Arial"/>
              </a:rPr>
              <a:t>two persistent person representations?</a:t>
            </a:r>
          </a:p>
        </p:txBody>
      </p:sp>
      <p:sp>
        <p:nvSpPr>
          <p:cNvPr id="112" name="person-diagram-344">
            <a:extLst>
              <a:ext uri="{FF2B5EF4-FFF2-40B4-BE49-F238E27FC236}">
                <a16:creationId xmlns:a16="http://schemas.microsoft.com/office/drawing/2014/main" id="{E83624A8-2DC2-453E-B14D-ED2A58EBBDDE}"/>
              </a:ext>
            </a:extLst>
          </p:cNvPr>
          <p:cNvSpPr>
            <a:spLocks noGrp="1"/>
          </p:cNvSpPr>
          <p:nvPr/>
        </p:nvSpPr>
        <p:spPr>
          <a:xfrm>
            <a:off x="495300" y="4400550"/>
            <a:ext cx="5114925" cy="1028700"/>
          </a:xfrm>
          <a:prstGeom prst="roundRect">
            <a:avLst>
              <a:gd name="adj" fmla="val 14815"/>
            </a:avLst>
          </a:prstGeom>
          <a:solidFill>
            <a:srgbClr val="E9EDF8"/>
          </a:solidFill>
          <a:ln w="0">
            <a:noFill/>
          </a:ln>
        </p:spPr>
        <p:txBody>
          <a:bodyPr/>
          <a:lstStyle/>
          <a:p>
            <a:endParaRPr lang="zh-CN" altLang="en-US"/>
          </a:p>
        </p:txBody>
      </p:sp>
      <p:sp>
        <p:nvSpPr>
          <p:cNvPr id="113" name="person-diagram-345">
            <a:extLst>
              <a:ext uri="{FF2B5EF4-FFF2-40B4-BE49-F238E27FC236}">
                <a16:creationId xmlns:a16="http://schemas.microsoft.com/office/drawing/2014/main" id="{8C9D1EA9-44A6-4338-AC8A-886CCDB1D235}"/>
              </a:ext>
            </a:extLst>
          </p:cNvPr>
          <p:cNvSpPr>
            <a:spLocks noGrp="1"/>
          </p:cNvSpPr>
          <p:nvPr/>
        </p:nvSpPr>
        <p:spPr>
          <a:xfrm>
            <a:off x="733425" y="4562475"/>
            <a:ext cx="4638675" cy="704850"/>
          </a:xfrm>
          <a:prstGeom prst="rect">
            <a:avLst/>
          </a:prstGeom>
          <a:noFill/>
          <a:ln w="0">
            <a:noFill/>
          </a:ln>
        </p:spPr>
        <p:txBody>
          <a:bodyPr lIns="0" tIns="0" rIns="0" bIns="0" anchor="ctr">
            <a:noAutofit/>
          </a:bodyPr>
          <a:lstStyle>
            <a:defPPr algn="l">
              <a:defRPr sz="1725" b="1">
                <a:solidFill>
                  <a:srgbClr val="1B1D63"/>
                </a:solidFill>
                <a:latin typeface="Arial"/>
                <a:ea typeface="Arial"/>
                <a:cs typeface="Arial"/>
              </a:defRPr>
            </a:defPPr>
          </a:lstStyle>
          <a:p>
            <a:pPr algn="l">
              <a:defRPr sz="1725" b="1">
                <a:solidFill>
                  <a:srgbClr val="1B1D63"/>
                </a:solidFill>
                <a:latin typeface="Arial"/>
                <a:ea typeface="Arial"/>
                <a:cs typeface="Arial"/>
              </a:defRPr>
            </a:pPr>
            <a:r>
              <a:rPr sz="1725" b="1">
                <a:solidFill>
                  <a:srgbClr val="1B1D63"/>
                </a:solidFill>
                <a:latin typeface="Arial"/>
                <a:ea typeface="Arial"/>
                <a:cs typeface="Arial"/>
              </a:rPr>
              <a:t>Higher mid-to-late sensitivity</a:t>
            </a:r>
          </a:p>
        </p:txBody>
      </p:sp>
      <p:sp>
        <p:nvSpPr>
          <p:cNvPr id="114" name="person-diagram-346">
            <a:extLst>
              <a:ext uri="{FF2B5EF4-FFF2-40B4-BE49-F238E27FC236}">
                <a16:creationId xmlns:a16="http://schemas.microsoft.com/office/drawing/2014/main" id="{2A53E2EB-073B-4A4E-B147-1189AF0BCBCE}"/>
              </a:ext>
            </a:extLst>
          </p:cNvPr>
          <p:cNvSpPr>
            <a:spLocks noGrp="1"/>
          </p:cNvSpPr>
          <p:nvPr/>
        </p:nvSpPr>
        <p:spPr>
          <a:xfrm>
            <a:off x="5800725" y="4791075"/>
            <a:ext cx="438150" cy="209550"/>
          </a:xfrm>
          <a:prstGeom prst="rightArrow">
            <a:avLst/>
          </a:prstGeom>
          <a:solidFill>
            <a:srgbClr val="697386"/>
          </a:solidFill>
          <a:ln w="0">
            <a:noFill/>
          </a:ln>
        </p:spPr>
        <p:txBody>
          <a:bodyPr/>
          <a:lstStyle/>
          <a:p>
            <a:endParaRPr lang="zh-CN" altLang="en-US"/>
          </a:p>
        </p:txBody>
      </p:sp>
      <p:sp>
        <p:nvSpPr>
          <p:cNvPr id="115" name="person-diagram-347">
            <a:extLst>
              <a:ext uri="{FF2B5EF4-FFF2-40B4-BE49-F238E27FC236}">
                <a16:creationId xmlns:a16="http://schemas.microsoft.com/office/drawing/2014/main" id="{8275F103-1F24-457C-BD32-FB39898EE79F}"/>
              </a:ext>
            </a:extLst>
          </p:cNvPr>
          <p:cNvSpPr>
            <a:spLocks noGrp="1"/>
          </p:cNvSpPr>
          <p:nvPr/>
        </p:nvSpPr>
        <p:spPr>
          <a:xfrm>
            <a:off x="6610350" y="4533900"/>
            <a:ext cx="4905375" cy="762000"/>
          </a:xfrm>
          <a:prstGeom prst="rect">
            <a:avLst/>
          </a:prstGeom>
          <a:noFill/>
          <a:ln w="0">
            <a:noFill/>
          </a:ln>
        </p:spPr>
        <p:txBody>
          <a:bodyPr lIns="0" tIns="0" rIns="0" bIns="0" anchor="ctr">
            <a:noAutofit/>
          </a:bodyPr>
          <a:lstStyle>
            <a:defPPr algn="l">
              <a:defRPr sz="1875" b="1">
                <a:solidFill>
                  <a:srgbClr val="1B1D63"/>
                </a:solidFill>
                <a:latin typeface="Arial"/>
                <a:ea typeface="Arial"/>
                <a:cs typeface="Arial"/>
              </a:defRPr>
            </a:defPPr>
          </a:lstStyle>
          <a:p>
            <a:pPr algn="l">
              <a:defRPr sz="1875" b="1">
                <a:solidFill>
                  <a:srgbClr val="1B1D63"/>
                </a:solidFill>
                <a:latin typeface="Arial"/>
                <a:ea typeface="Arial"/>
                <a:cs typeface="Arial"/>
              </a:defRPr>
            </a:pPr>
            <a:r>
              <a:rPr sz="1875" b="1">
                <a:solidFill>
                  <a:srgbClr val="1B1D63"/>
                </a:solidFill>
                <a:latin typeface="Arial"/>
                <a:ea typeface="Arial"/>
                <a:cs typeface="Arial"/>
              </a:rPr>
              <a:t>How is temporal interaction</a:t>
            </a:r>
          </a:p>
          <a:p>
            <a:pPr algn="l">
              <a:defRPr sz="1875" b="1">
                <a:solidFill>
                  <a:srgbClr val="1B1D63"/>
                </a:solidFill>
                <a:latin typeface="Arial"/>
                <a:ea typeface="Arial"/>
                <a:cs typeface="Arial"/>
              </a:defRPr>
            </a:pPr>
            <a:r>
              <a:rPr sz="1875" b="1">
                <a:solidFill>
                  <a:srgbClr val="1B1D63"/>
                </a:solidFill>
                <a:latin typeface="Arial"/>
                <a:ea typeface="Arial"/>
                <a:cs typeface="Arial"/>
              </a:rPr>
              <a:t>evidence mixed and aggregated?</a:t>
            </a:r>
          </a:p>
        </p:txBody>
      </p:sp>
      <p:sp>
        <p:nvSpPr>
          <p:cNvPr id="116" name="person-diagram-348">
            <a:extLst>
              <a:ext uri="{FF2B5EF4-FFF2-40B4-BE49-F238E27FC236}">
                <a16:creationId xmlns:a16="http://schemas.microsoft.com/office/drawing/2014/main" id="{9DD90AB2-ACEB-4891-A0DA-EFB517337115}"/>
              </a:ext>
            </a:extLst>
          </p:cNvPr>
          <p:cNvSpPr>
            <a:spLocks noGrp="1"/>
          </p:cNvSpPr>
          <p:nvPr/>
        </p:nvSpPr>
        <p:spPr>
          <a:xfrm>
            <a:off x="495300" y="5810250"/>
            <a:ext cx="11220450" cy="495300"/>
          </a:xfrm>
          <a:prstGeom prst="roundRect">
            <a:avLst>
              <a:gd name="adj" fmla="val 30769"/>
            </a:avLst>
          </a:prstGeom>
          <a:solidFill>
            <a:srgbClr val="1B1D63"/>
          </a:solidFill>
          <a:ln w="11430">
            <a:solidFill>
              <a:srgbClr val="1B1D63"/>
            </a:solidFill>
          </a:ln>
        </p:spPr>
        <p:txBody>
          <a:bodyPr/>
          <a:lstStyle/>
          <a:p>
            <a:endParaRPr lang="zh-CN" altLang="en-US"/>
          </a:p>
        </p:txBody>
      </p:sp>
      <p:sp>
        <p:nvSpPr>
          <p:cNvPr id="117" name="person-diagram-349">
            <a:extLst>
              <a:ext uri="{FF2B5EF4-FFF2-40B4-BE49-F238E27FC236}">
                <a16:creationId xmlns:a16="http://schemas.microsoft.com/office/drawing/2014/main" id="{F83375BB-23D2-4641-9FA5-C65FA57D50DC}"/>
              </a:ext>
            </a:extLst>
          </p:cNvPr>
          <p:cNvSpPr>
            <a:spLocks noGrp="1"/>
          </p:cNvSpPr>
          <p:nvPr/>
        </p:nvSpPr>
        <p:spPr>
          <a:xfrm>
            <a:off x="723900" y="5857875"/>
            <a:ext cx="10763250" cy="400050"/>
          </a:xfrm>
          <a:prstGeom prst="rect">
            <a:avLst/>
          </a:prstGeom>
          <a:noFill/>
          <a:ln w="0">
            <a:noFill/>
          </a:ln>
        </p:spPr>
        <p:txBody>
          <a:bodyPr lIns="0" tIns="0" rIns="0" bIns="0" anchor="ctr">
            <a:noAutofit/>
          </a:bodyPr>
          <a:lstStyle>
            <a:defPPr algn="ctr">
              <a:defRPr sz="2025" b="1">
                <a:solidFill>
                  <a:srgbClr val="FFFFFF"/>
                </a:solidFill>
                <a:latin typeface="Arial"/>
                <a:ea typeface="Arial"/>
                <a:cs typeface="Arial"/>
              </a:defRPr>
            </a:defPPr>
          </a:lstStyle>
          <a:p>
            <a:pPr algn="ctr">
              <a:defRPr sz="2025" b="1">
                <a:solidFill>
                  <a:srgbClr val="FFFFFF"/>
                </a:solidFill>
                <a:latin typeface="Arial"/>
                <a:ea typeface="Arial"/>
                <a:cs typeface="Arial"/>
              </a:defRPr>
            </a:pPr>
            <a:r>
              <a:rPr sz="2025" b="1">
                <a:solidFill>
                  <a:srgbClr val="FFFFFF"/>
                </a:solidFill>
                <a:latin typeface="Arial"/>
                <a:ea typeface="Arial"/>
                <a:cs typeface="Arial"/>
              </a:rPr>
              <a:t>The observed failures led us back to the model architecture</a:t>
            </a:r>
          </a:p>
        </p:txBody>
      </p:sp>
    </p:spTree>
    <p:extLst>
      <p:ext uri="{BB962C8B-B14F-4D97-AF65-F5344CB8AC3E}">
        <p14:creationId xmlns:p14="http://schemas.microsoft.com/office/powerpoint/2010/main" val="4579871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F9C14264-6546-5EF7-BBB4-01AD7B14949B}"/>
              </a:ext>
            </a:extLst>
          </p:cNvPr>
          <p:cNvSpPr>
            <a:spLocks noGrp="1"/>
          </p:cNvSpPr>
          <p:nvPr/>
        </p:nvSpPr>
        <p:spPr>
          <a:xfrm>
            <a:off x="0" y="0"/>
            <a:ext cx="152400" cy="6858000"/>
          </a:xfrm>
          <a:prstGeom prst="rect">
            <a:avLst/>
          </a:prstGeom>
          <a:solidFill>
            <a:srgbClr val="E31346"/>
          </a:solidFill>
          <a:ln w="0">
            <a:noFill/>
          </a:ln>
        </p:spPr>
        <p:txBody>
          <a:bodyPr/>
          <a:lstStyle/>
          <a:p>
            <a:endParaRPr lang="zh-CN" altLang="en-US"/>
          </a:p>
        </p:txBody>
      </p:sp>
      <p:sp>
        <p:nvSpPr>
          <p:cNvPr id="2" name="矩形 1">
            <a:extLst>
              <a:ext uri="{FF2B5EF4-FFF2-40B4-BE49-F238E27FC236}">
                <a16:creationId xmlns:a16="http://schemas.microsoft.com/office/drawing/2014/main" id="{950C93FD-985E-5407-9FD6-E7208133778B}"/>
              </a:ext>
            </a:extLst>
          </p:cNvPr>
          <p:cNvSpPr>
            <a:spLocks noGrp="1"/>
          </p:cNvSpPr>
          <p:nvPr/>
        </p:nvSpPr>
        <p:spPr>
          <a:xfrm>
            <a:off x="152400" y="6562725"/>
            <a:ext cx="12039600" cy="295275"/>
          </a:xfrm>
          <a:prstGeom prst="rect">
            <a:avLst/>
          </a:prstGeom>
          <a:solidFill>
            <a:srgbClr val="1B1D63"/>
          </a:solidFill>
          <a:ln w="0">
            <a:noFill/>
          </a:ln>
        </p:spPr>
        <p:txBody>
          <a:bodyPr/>
          <a:lstStyle/>
          <a:p>
            <a:endParaRPr lang="zh-CN" altLang="en-US"/>
          </a:p>
        </p:txBody>
      </p:sp>
      <p:sp>
        <p:nvSpPr>
          <p:cNvPr id="4" name="矩形 3">
            <a:extLst>
              <a:ext uri="{FF2B5EF4-FFF2-40B4-BE49-F238E27FC236}">
                <a16:creationId xmlns:a16="http://schemas.microsoft.com/office/drawing/2014/main" id="{9527B1E5-811D-5E8F-A8C6-06EE5B4CE997}"/>
              </a:ext>
            </a:extLst>
          </p:cNvPr>
          <p:cNvSpPr>
            <a:spLocks noGrp="1"/>
          </p:cNvSpPr>
          <p:nvPr/>
        </p:nvSpPr>
        <p:spPr>
          <a:xfrm>
            <a:off x="495300" y="723900"/>
            <a:ext cx="7239000" cy="219075"/>
          </a:xfrm>
          <a:prstGeom prst="rect">
            <a:avLst/>
          </a:prstGeom>
          <a:noFill/>
          <a:ln w="0">
            <a:noFill/>
          </a:ln>
        </p:spPr>
        <p:txBody>
          <a:bodyPr anchor="ctr">
            <a:normAutofit fontScale="93397" lnSpcReduction="10000"/>
          </a:bodyPr>
          <a:lstStyle/>
          <a:p>
            <a:pPr algn="l">
              <a:defRPr sz="975" b="1">
                <a:solidFill>
                  <a:srgbClr val="E31346"/>
                </a:solidFill>
                <a:latin typeface="Arial"/>
                <a:ea typeface="Arial"/>
                <a:cs typeface="Arial"/>
              </a:defRPr>
            </a:pPr>
            <a:r>
              <a:rPr sz="975" b="1">
                <a:solidFill>
                  <a:srgbClr val="E31346"/>
                </a:solidFill>
                <a:latin typeface="Arial"/>
                <a:ea typeface="Arial"/>
                <a:cs typeface="Arial"/>
              </a:rPr>
              <a:t>EE6008 · HUMAN POSE GROUP PROJECT</a:t>
            </a:r>
          </a:p>
        </p:txBody>
      </p:sp>
      <p:sp>
        <p:nvSpPr>
          <p:cNvPr id="5" name="矩形 4">
            <a:extLst>
              <a:ext uri="{FF2B5EF4-FFF2-40B4-BE49-F238E27FC236}">
                <a16:creationId xmlns:a16="http://schemas.microsoft.com/office/drawing/2014/main" id="{665C04E5-7E82-5452-875B-530C607FBCE8}"/>
              </a:ext>
            </a:extLst>
          </p:cNvPr>
          <p:cNvSpPr>
            <a:spLocks noGrp="1"/>
          </p:cNvSpPr>
          <p:nvPr/>
        </p:nvSpPr>
        <p:spPr>
          <a:xfrm>
            <a:off x="495300" y="1009650"/>
            <a:ext cx="1562100" cy="47625"/>
          </a:xfrm>
          <a:prstGeom prst="rect">
            <a:avLst/>
          </a:prstGeom>
          <a:solidFill>
            <a:srgbClr val="E31346"/>
          </a:solidFill>
          <a:ln w="0">
            <a:noFill/>
          </a:ln>
        </p:spPr>
        <p:txBody>
          <a:bodyPr/>
          <a:lstStyle/>
          <a:p>
            <a:endParaRPr lang="zh-CN" altLang="en-US"/>
          </a:p>
        </p:txBody>
      </p:sp>
      <p:sp>
        <p:nvSpPr>
          <p:cNvPr id="7" name="矩形 6">
            <a:extLst>
              <a:ext uri="{FF2B5EF4-FFF2-40B4-BE49-F238E27FC236}">
                <a16:creationId xmlns:a16="http://schemas.microsoft.com/office/drawing/2014/main" id="{E12A717F-ECA6-5EF1-9A9B-19148316244C}"/>
              </a:ext>
            </a:extLst>
          </p:cNvPr>
          <p:cNvSpPr>
            <a:spLocks noGrp="1"/>
          </p:cNvSpPr>
          <p:nvPr/>
        </p:nvSpPr>
        <p:spPr>
          <a:xfrm>
            <a:off x="495300" y="6591300"/>
            <a:ext cx="2857500" cy="219075"/>
          </a:xfrm>
          <a:prstGeom prst="rect">
            <a:avLst/>
          </a:prstGeom>
          <a:noFill/>
          <a:ln w="0">
            <a:noFill/>
          </a:ln>
        </p:spPr>
        <p:txBody>
          <a:bodyPr anchor="ctr">
            <a:normAutofit/>
          </a:bodyPr>
          <a:lstStyle/>
          <a:p>
            <a:pPr algn="l">
              <a:defRPr sz="750" b="1">
                <a:solidFill>
                  <a:srgbClr val="FFFFFF"/>
                </a:solidFill>
                <a:latin typeface="Arial"/>
                <a:ea typeface="Arial"/>
                <a:cs typeface="Arial"/>
              </a:defRPr>
            </a:pPr>
            <a:r>
              <a:rPr sz="750" b="1">
                <a:solidFill>
                  <a:srgbClr val="FFFFFF"/>
                </a:solidFill>
                <a:latin typeface="Arial"/>
                <a:ea typeface="Arial"/>
                <a:cs typeface="Arial"/>
              </a:rPr>
              <a:t>EE6008 · WEEKLY REPORT</a:t>
            </a:r>
          </a:p>
        </p:txBody>
      </p:sp>
      <p:sp>
        <p:nvSpPr>
          <p:cNvPr id="8" name="矩形 7">
            <a:extLst>
              <a:ext uri="{FF2B5EF4-FFF2-40B4-BE49-F238E27FC236}">
                <a16:creationId xmlns:a16="http://schemas.microsoft.com/office/drawing/2014/main" id="{373681AD-648E-5B05-A587-E03EACF15D30}"/>
              </a:ext>
            </a:extLst>
          </p:cNvPr>
          <p:cNvSpPr>
            <a:spLocks noGrp="1"/>
          </p:cNvSpPr>
          <p:nvPr/>
        </p:nvSpPr>
        <p:spPr>
          <a:xfrm>
            <a:off x="11049000" y="6591300"/>
            <a:ext cx="619125" cy="219075"/>
          </a:xfrm>
          <a:prstGeom prst="rect">
            <a:avLst/>
          </a:prstGeom>
          <a:noFill/>
          <a:ln w="0">
            <a:noFill/>
          </a:ln>
        </p:spPr>
        <p:txBody>
          <a:bodyPr anchor="ctr">
            <a:normAutofit/>
          </a:bodyPr>
          <a:lstStyle/>
          <a:p>
            <a:pPr algn="r">
              <a:defRPr sz="750" b="1">
                <a:solidFill>
                  <a:srgbClr val="FFFFFF"/>
                </a:solidFill>
                <a:latin typeface="Arial"/>
                <a:ea typeface="Arial"/>
                <a:cs typeface="Arial"/>
              </a:defRPr>
            </a:pPr>
            <a:r>
              <a:rPr sz="750" b="1">
                <a:solidFill>
                  <a:srgbClr val="FFFFFF"/>
                </a:solidFill>
                <a:latin typeface="Arial"/>
                <a:ea typeface="Arial"/>
                <a:cs typeface="Arial"/>
              </a:rPr>
              <a:t>06</a:t>
            </a:r>
          </a:p>
        </p:txBody>
      </p:sp>
      <p:sp>
        <p:nvSpPr>
          <p:cNvPr id="100" name="person-diagram-350">
            <a:extLst>
              <a:ext uri="{FF2B5EF4-FFF2-40B4-BE49-F238E27FC236}">
                <a16:creationId xmlns:a16="http://schemas.microsoft.com/office/drawing/2014/main" id="{C7229DBA-1BD4-41F9-967D-CC71E5035AB7}"/>
              </a:ext>
            </a:extLst>
          </p:cNvPr>
          <p:cNvSpPr>
            <a:spLocks noGrp="1"/>
          </p:cNvSpPr>
          <p:nvPr/>
        </p:nvSpPr>
        <p:spPr>
          <a:xfrm>
            <a:off x="590550" y="238125"/>
            <a:ext cx="8524875" cy="476250"/>
          </a:xfrm>
          <a:prstGeom prst="rect">
            <a:avLst/>
          </a:prstGeom>
          <a:noFill/>
          <a:ln w="0">
            <a:noFill/>
          </a:ln>
        </p:spPr>
        <p:txBody>
          <a:bodyPr lIns="0" tIns="0" rIns="0" bIns="0" anchor="ctr">
            <a:noAutofit/>
          </a:bodyPr>
          <a:lstStyle>
            <a:defPPr algn="l">
              <a:defRPr sz="2524" b="1">
                <a:solidFill>
                  <a:srgbClr val="1B1D63"/>
                </a:solidFill>
                <a:latin typeface="Arial"/>
                <a:ea typeface="Arial"/>
                <a:cs typeface="Arial"/>
              </a:defRPr>
            </a:defPPr>
          </a:lstStyle>
          <a:p>
            <a:pPr algn="l">
              <a:defRPr sz="2524" b="1">
                <a:solidFill>
                  <a:srgbClr val="1B1D63"/>
                </a:solidFill>
                <a:latin typeface="Arial"/>
                <a:ea typeface="Arial"/>
                <a:cs typeface="Arial"/>
              </a:defRPr>
            </a:pPr>
            <a:r>
              <a:rPr sz="2524" b="1">
                <a:solidFill>
                  <a:srgbClr val="1B1D63"/>
                </a:solidFill>
                <a:latin typeface="Arial"/>
                <a:ea typeface="Arial"/>
                <a:cs typeface="Arial"/>
              </a:rPr>
              <a:t>CTR-GCN · Where Does the Person Axis Go?</a:t>
            </a:r>
          </a:p>
        </p:txBody>
      </p:sp>
      <p:pic>
        <p:nvPicPr>
          <p:cNvPr id="101" name="图片 100">
            <a:extLst>
              <a:ext uri="{FF2B5EF4-FFF2-40B4-BE49-F238E27FC236}">
                <a16:creationId xmlns:a16="http://schemas.microsoft.com/office/drawing/2014/main" id="{199841ED-E4E5-4EAC-A4B8-E8AE3B3AA80B}"/>
              </a:ext>
            </a:extLst>
          </p:cNvPr>
          <p:cNvPicPr>
            <a:picLocks noChangeAspect="1"/>
          </p:cNvPicPr>
          <p:nvPr/>
        </p:nvPicPr>
        <p:blipFill>
          <a:blip r:embed="rId3"/>
          <a:stretch/>
        </p:blipFill>
        <p:spPr>
          <a:xfrm>
            <a:off x="9696450" y="191381"/>
            <a:ext cx="2038350" cy="731663"/>
          </a:xfrm>
          <a:prstGeom prst="rect">
            <a:avLst/>
          </a:prstGeom>
        </p:spPr>
      </p:pic>
      <p:sp>
        <p:nvSpPr>
          <p:cNvPr id="102" name="person-diagram-351">
            <a:extLst>
              <a:ext uri="{FF2B5EF4-FFF2-40B4-BE49-F238E27FC236}">
                <a16:creationId xmlns:a16="http://schemas.microsoft.com/office/drawing/2014/main" id="{D855C91E-80F2-4883-9F96-34E63FA46B22}"/>
              </a:ext>
            </a:extLst>
          </p:cNvPr>
          <p:cNvSpPr>
            <a:spLocks noGrp="1"/>
          </p:cNvSpPr>
          <p:nvPr/>
        </p:nvSpPr>
        <p:spPr>
          <a:xfrm>
            <a:off x="495300" y="1409700"/>
            <a:ext cx="7000875" cy="552450"/>
          </a:xfrm>
          <a:prstGeom prst="roundRect">
            <a:avLst>
              <a:gd name="adj" fmla="val 27586"/>
            </a:avLst>
          </a:prstGeom>
          <a:solidFill>
            <a:srgbClr val="E9EDF8"/>
          </a:solidFill>
          <a:ln w="0">
            <a:noFill/>
          </a:ln>
        </p:spPr>
        <p:txBody>
          <a:bodyPr/>
          <a:lstStyle/>
          <a:p>
            <a:endParaRPr lang="zh-CN" altLang="en-US"/>
          </a:p>
        </p:txBody>
      </p:sp>
      <p:sp>
        <p:nvSpPr>
          <p:cNvPr id="103" name="person-diagram-352">
            <a:extLst>
              <a:ext uri="{FF2B5EF4-FFF2-40B4-BE49-F238E27FC236}">
                <a16:creationId xmlns:a16="http://schemas.microsoft.com/office/drawing/2014/main" id="{5348B95C-D070-4F3D-9256-8F62376EDF13}"/>
              </a:ext>
            </a:extLst>
          </p:cNvPr>
          <p:cNvSpPr>
            <a:spLocks noGrp="1"/>
          </p:cNvSpPr>
          <p:nvPr/>
        </p:nvSpPr>
        <p:spPr>
          <a:xfrm>
            <a:off x="666750" y="1466850"/>
            <a:ext cx="2809875" cy="438150"/>
          </a:xfrm>
          <a:prstGeom prst="rect">
            <a:avLst/>
          </a:prstGeom>
          <a:noFill/>
          <a:ln w="0">
            <a:noFill/>
          </a:ln>
        </p:spPr>
        <p:txBody>
          <a:bodyPr lIns="0" tIns="0" rIns="0" bIns="0" anchor="ctr">
            <a:noAutofit/>
          </a:bodyPr>
          <a:lstStyle>
            <a:defPPr algn="l">
              <a:defRPr sz="1425" b="1">
                <a:solidFill>
                  <a:srgbClr val="1B1D63"/>
                </a:solidFill>
                <a:latin typeface="Arial"/>
                <a:ea typeface="Arial"/>
                <a:cs typeface="Arial"/>
              </a:defRPr>
            </a:defPPr>
          </a:lstStyle>
          <a:p>
            <a:pPr algn="l">
              <a:defRPr sz="1425" b="1">
                <a:solidFill>
                  <a:srgbClr val="1B1D63"/>
                </a:solidFill>
                <a:latin typeface="Arial"/>
                <a:ea typeface="Arial"/>
                <a:cs typeface="Arial"/>
              </a:defRPr>
            </a:pPr>
            <a:r>
              <a:rPr sz="1425" b="1">
                <a:solidFill>
                  <a:srgbClr val="1B1D63"/>
                </a:solidFill>
                <a:latin typeface="Arial"/>
                <a:ea typeface="Arial"/>
                <a:cs typeface="Arial"/>
              </a:rPr>
              <a:t>Input</a:t>
            </a:r>
          </a:p>
        </p:txBody>
      </p:sp>
      <p:sp>
        <p:nvSpPr>
          <p:cNvPr id="104" name="person-diagram-353">
            <a:extLst>
              <a:ext uri="{FF2B5EF4-FFF2-40B4-BE49-F238E27FC236}">
                <a16:creationId xmlns:a16="http://schemas.microsoft.com/office/drawing/2014/main" id="{78D27D2D-FCA9-4D10-9394-5E51C787DDE6}"/>
              </a:ext>
            </a:extLst>
          </p:cNvPr>
          <p:cNvSpPr>
            <a:spLocks noGrp="1"/>
          </p:cNvSpPr>
          <p:nvPr/>
        </p:nvSpPr>
        <p:spPr>
          <a:xfrm>
            <a:off x="3505200" y="1466850"/>
            <a:ext cx="3829050" cy="438150"/>
          </a:xfrm>
          <a:prstGeom prst="rect">
            <a:avLst/>
          </a:prstGeom>
          <a:noFill/>
          <a:ln w="0">
            <a:noFill/>
          </a:ln>
        </p:spPr>
        <p:txBody>
          <a:bodyPr lIns="0" tIns="0" rIns="0" bIns="0" anchor="ctr">
            <a:noAutofit/>
          </a:bodyPr>
          <a:lstStyle>
            <a:defPPr algn="ctr">
              <a:defRPr sz="1350" b="0">
                <a:solidFill>
                  <a:srgbClr val="2A2E45"/>
                </a:solidFill>
                <a:latin typeface="Arial"/>
                <a:ea typeface="Arial"/>
                <a:cs typeface="Arial"/>
              </a:defRPr>
            </a:defPPr>
          </a:lstStyle>
          <a:p>
            <a:pPr algn="ctr">
              <a:defRPr sz="1350" b="0">
                <a:solidFill>
                  <a:srgbClr val="2A2E45"/>
                </a:solidFill>
                <a:latin typeface="Arial"/>
                <a:ea typeface="Arial"/>
                <a:cs typeface="Arial"/>
              </a:defRPr>
            </a:pPr>
            <a:r>
              <a:rPr sz="1350" b="0">
                <a:solidFill>
                  <a:srgbClr val="2A2E45"/>
                </a:solidFill>
                <a:latin typeface="Arial"/>
                <a:ea typeface="Arial"/>
                <a:cs typeface="Arial"/>
              </a:rPr>
              <a:t>[B, C, T, V, M]</a:t>
            </a:r>
          </a:p>
        </p:txBody>
      </p:sp>
      <p:sp>
        <p:nvSpPr>
          <p:cNvPr id="105" name="person-diagram-354">
            <a:extLst>
              <a:ext uri="{FF2B5EF4-FFF2-40B4-BE49-F238E27FC236}">
                <a16:creationId xmlns:a16="http://schemas.microsoft.com/office/drawing/2014/main" id="{04AE124E-316A-48F1-B7D9-3265A1F2F609}"/>
              </a:ext>
            </a:extLst>
          </p:cNvPr>
          <p:cNvSpPr>
            <a:spLocks noGrp="1"/>
          </p:cNvSpPr>
          <p:nvPr/>
        </p:nvSpPr>
        <p:spPr>
          <a:xfrm>
            <a:off x="3905250" y="1981200"/>
            <a:ext cx="161925" cy="95250"/>
          </a:xfrm>
          <a:prstGeom prst="downArrow">
            <a:avLst/>
          </a:prstGeom>
          <a:solidFill>
            <a:srgbClr val="697386"/>
          </a:solidFill>
          <a:ln w="0">
            <a:noFill/>
          </a:ln>
        </p:spPr>
        <p:txBody>
          <a:bodyPr/>
          <a:lstStyle/>
          <a:p>
            <a:endParaRPr lang="zh-CN" altLang="en-US"/>
          </a:p>
        </p:txBody>
      </p:sp>
      <p:sp>
        <p:nvSpPr>
          <p:cNvPr id="106" name="person-diagram-355">
            <a:extLst>
              <a:ext uri="{FF2B5EF4-FFF2-40B4-BE49-F238E27FC236}">
                <a16:creationId xmlns:a16="http://schemas.microsoft.com/office/drawing/2014/main" id="{B31D003A-2647-4116-B90E-18AF8FBA93C3}"/>
              </a:ext>
            </a:extLst>
          </p:cNvPr>
          <p:cNvSpPr>
            <a:spLocks noGrp="1"/>
          </p:cNvSpPr>
          <p:nvPr/>
        </p:nvSpPr>
        <p:spPr>
          <a:xfrm>
            <a:off x="495300" y="2095500"/>
            <a:ext cx="7000875" cy="552450"/>
          </a:xfrm>
          <a:prstGeom prst="roundRect">
            <a:avLst>
              <a:gd name="adj" fmla="val 27586"/>
            </a:avLst>
          </a:prstGeom>
          <a:solidFill>
            <a:srgbClr val="FBE8EF"/>
          </a:solidFill>
          <a:ln w="0">
            <a:noFill/>
          </a:ln>
        </p:spPr>
        <p:txBody>
          <a:bodyPr/>
          <a:lstStyle/>
          <a:p>
            <a:endParaRPr lang="zh-CN" altLang="en-US"/>
          </a:p>
        </p:txBody>
      </p:sp>
      <p:sp>
        <p:nvSpPr>
          <p:cNvPr id="107" name="person-diagram-356">
            <a:extLst>
              <a:ext uri="{FF2B5EF4-FFF2-40B4-BE49-F238E27FC236}">
                <a16:creationId xmlns:a16="http://schemas.microsoft.com/office/drawing/2014/main" id="{098D043A-B7F1-4827-9EAC-1D39744716C5}"/>
              </a:ext>
            </a:extLst>
          </p:cNvPr>
          <p:cNvSpPr>
            <a:spLocks noGrp="1"/>
          </p:cNvSpPr>
          <p:nvPr/>
        </p:nvSpPr>
        <p:spPr>
          <a:xfrm>
            <a:off x="666750" y="2152650"/>
            <a:ext cx="2809875" cy="438150"/>
          </a:xfrm>
          <a:prstGeom prst="rect">
            <a:avLst/>
          </a:prstGeom>
          <a:noFill/>
          <a:ln w="0">
            <a:noFill/>
          </a:ln>
        </p:spPr>
        <p:txBody>
          <a:bodyPr lIns="0" tIns="0" rIns="0" bIns="0" anchor="ctr">
            <a:noAutofit/>
          </a:bodyPr>
          <a:lstStyle>
            <a:defPPr algn="l">
              <a:defRPr sz="1425" b="1">
                <a:solidFill>
                  <a:srgbClr val="1B1D63"/>
                </a:solidFill>
                <a:latin typeface="Arial"/>
                <a:ea typeface="Arial"/>
                <a:cs typeface="Arial"/>
              </a:defRPr>
            </a:defPPr>
          </a:lstStyle>
          <a:p>
            <a:pPr algn="l">
              <a:defRPr sz="1425" b="1">
                <a:solidFill>
                  <a:srgbClr val="1B1D63"/>
                </a:solidFill>
                <a:latin typeface="Arial"/>
                <a:ea typeface="Arial"/>
                <a:cs typeface="Arial"/>
              </a:defRPr>
            </a:pPr>
            <a:r>
              <a:rPr sz="1425" b="1">
                <a:solidFill>
                  <a:srgbClr val="1B1D63"/>
                </a:solidFill>
                <a:latin typeface="Arial"/>
                <a:ea typeface="Arial"/>
                <a:cs typeface="Arial"/>
              </a:rPr>
              <a:t>Slot-indexed input normalization</a:t>
            </a:r>
          </a:p>
        </p:txBody>
      </p:sp>
      <p:sp>
        <p:nvSpPr>
          <p:cNvPr id="108" name="person-diagram-357">
            <a:extLst>
              <a:ext uri="{FF2B5EF4-FFF2-40B4-BE49-F238E27FC236}">
                <a16:creationId xmlns:a16="http://schemas.microsoft.com/office/drawing/2014/main" id="{FCF96FC2-1C0B-4892-8673-20222F91A032}"/>
              </a:ext>
            </a:extLst>
          </p:cNvPr>
          <p:cNvSpPr>
            <a:spLocks noGrp="1"/>
          </p:cNvSpPr>
          <p:nvPr/>
        </p:nvSpPr>
        <p:spPr>
          <a:xfrm>
            <a:off x="3505200" y="2152650"/>
            <a:ext cx="3829050" cy="438150"/>
          </a:xfrm>
          <a:prstGeom prst="rect">
            <a:avLst/>
          </a:prstGeom>
          <a:noFill/>
          <a:ln w="0">
            <a:noFill/>
          </a:ln>
        </p:spPr>
        <p:txBody>
          <a:bodyPr lIns="0" tIns="0" rIns="0" bIns="0" anchor="ctr">
            <a:noAutofit/>
          </a:bodyPr>
          <a:lstStyle>
            <a:defPPr algn="ctr">
              <a:defRPr sz="1350" b="0">
                <a:solidFill>
                  <a:srgbClr val="2A2E45"/>
                </a:solidFill>
                <a:latin typeface="Arial"/>
                <a:ea typeface="Arial"/>
                <a:cs typeface="Arial"/>
              </a:defRPr>
            </a:defPPr>
          </a:lstStyle>
          <a:p>
            <a:pPr algn="ctr">
              <a:defRPr sz="1350" b="0">
                <a:solidFill>
                  <a:srgbClr val="2A2E45"/>
                </a:solidFill>
                <a:latin typeface="Arial"/>
                <a:ea typeface="Arial"/>
                <a:cs typeface="Arial"/>
              </a:defRPr>
            </a:pPr>
            <a:r>
              <a:rPr sz="1350" b="0">
                <a:solidFill>
                  <a:srgbClr val="2A2E45"/>
                </a:solidFill>
                <a:latin typeface="Arial"/>
                <a:ea typeface="Arial"/>
                <a:cs typeface="Arial"/>
              </a:rPr>
              <a:t>data_bn on [B, M×V×C, T]</a:t>
            </a:r>
          </a:p>
        </p:txBody>
      </p:sp>
      <p:sp>
        <p:nvSpPr>
          <p:cNvPr id="109" name="person-diagram-358">
            <a:extLst>
              <a:ext uri="{FF2B5EF4-FFF2-40B4-BE49-F238E27FC236}">
                <a16:creationId xmlns:a16="http://schemas.microsoft.com/office/drawing/2014/main" id="{576F072F-01AE-434D-897F-8D7B019806B2}"/>
              </a:ext>
            </a:extLst>
          </p:cNvPr>
          <p:cNvSpPr>
            <a:spLocks noGrp="1"/>
          </p:cNvSpPr>
          <p:nvPr/>
        </p:nvSpPr>
        <p:spPr>
          <a:xfrm>
            <a:off x="3905250" y="2667000"/>
            <a:ext cx="161925" cy="95250"/>
          </a:xfrm>
          <a:prstGeom prst="downArrow">
            <a:avLst/>
          </a:prstGeom>
          <a:solidFill>
            <a:srgbClr val="697386"/>
          </a:solidFill>
          <a:ln w="0">
            <a:noFill/>
          </a:ln>
        </p:spPr>
        <p:txBody>
          <a:bodyPr/>
          <a:lstStyle/>
          <a:p>
            <a:endParaRPr lang="zh-CN" altLang="en-US"/>
          </a:p>
        </p:txBody>
      </p:sp>
      <p:sp>
        <p:nvSpPr>
          <p:cNvPr id="110" name="person-diagram-359">
            <a:extLst>
              <a:ext uri="{FF2B5EF4-FFF2-40B4-BE49-F238E27FC236}">
                <a16:creationId xmlns:a16="http://schemas.microsoft.com/office/drawing/2014/main" id="{F0FEB362-A5B6-4326-8A7B-7FEBAA5020C9}"/>
              </a:ext>
            </a:extLst>
          </p:cNvPr>
          <p:cNvSpPr>
            <a:spLocks noGrp="1"/>
          </p:cNvSpPr>
          <p:nvPr/>
        </p:nvSpPr>
        <p:spPr>
          <a:xfrm>
            <a:off x="495300" y="2781300"/>
            <a:ext cx="7000875" cy="552450"/>
          </a:xfrm>
          <a:prstGeom prst="roundRect">
            <a:avLst>
              <a:gd name="adj" fmla="val 27586"/>
            </a:avLst>
          </a:prstGeom>
          <a:solidFill>
            <a:srgbClr val="E9EDF8"/>
          </a:solidFill>
          <a:ln w="0">
            <a:noFill/>
          </a:ln>
        </p:spPr>
        <p:txBody>
          <a:bodyPr/>
          <a:lstStyle/>
          <a:p>
            <a:endParaRPr lang="zh-CN" altLang="en-US"/>
          </a:p>
        </p:txBody>
      </p:sp>
      <p:sp>
        <p:nvSpPr>
          <p:cNvPr id="111" name="person-diagram-360">
            <a:extLst>
              <a:ext uri="{FF2B5EF4-FFF2-40B4-BE49-F238E27FC236}">
                <a16:creationId xmlns:a16="http://schemas.microsoft.com/office/drawing/2014/main" id="{4115C686-74DD-40CF-9E59-DFB50E840674}"/>
              </a:ext>
            </a:extLst>
          </p:cNvPr>
          <p:cNvSpPr>
            <a:spLocks noGrp="1"/>
          </p:cNvSpPr>
          <p:nvPr/>
        </p:nvSpPr>
        <p:spPr>
          <a:xfrm>
            <a:off x="666750" y="2838450"/>
            <a:ext cx="2809875" cy="438150"/>
          </a:xfrm>
          <a:prstGeom prst="rect">
            <a:avLst/>
          </a:prstGeom>
          <a:noFill/>
          <a:ln w="0">
            <a:noFill/>
          </a:ln>
        </p:spPr>
        <p:txBody>
          <a:bodyPr lIns="0" tIns="0" rIns="0" bIns="0" anchor="ctr">
            <a:noAutofit/>
          </a:bodyPr>
          <a:lstStyle>
            <a:defPPr algn="l">
              <a:defRPr sz="1425" b="1">
                <a:solidFill>
                  <a:srgbClr val="1B1D63"/>
                </a:solidFill>
                <a:latin typeface="Arial"/>
                <a:ea typeface="Arial"/>
                <a:cs typeface="Arial"/>
              </a:defRPr>
            </a:defPPr>
          </a:lstStyle>
          <a:p>
            <a:pPr algn="l">
              <a:defRPr sz="1425" b="1">
                <a:solidFill>
                  <a:srgbClr val="1B1D63"/>
                </a:solidFill>
                <a:latin typeface="Arial"/>
                <a:ea typeface="Arial"/>
                <a:cs typeface="Arial"/>
              </a:defRPr>
            </a:pPr>
            <a:r>
              <a:rPr sz="1425" b="1">
                <a:solidFill>
                  <a:srgbClr val="1B1D63"/>
                </a:solidFill>
                <a:latin typeface="Arial"/>
                <a:ea typeface="Arial"/>
                <a:cs typeface="Arial"/>
              </a:rPr>
              <a:t>Shared graph / temporal backbone</a:t>
            </a:r>
          </a:p>
        </p:txBody>
      </p:sp>
      <p:sp>
        <p:nvSpPr>
          <p:cNvPr id="112" name="person-diagram-361">
            <a:extLst>
              <a:ext uri="{FF2B5EF4-FFF2-40B4-BE49-F238E27FC236}">
                <a16:creationId xmlns:a16="http://schemas.microsoft.com/office/drawing/2014/main" id="{CC3BBA99-990A-4781-B742-A009D760C284}"/>
              </a:ext>
            </a:extLst>
          </p:cNvPr>
          <p:cNvSpPr>
            <a:spLocks noGrp="1"/>
          </p:cNvSpPr>
          <p:nvPr/>
        </p:nvSpPr>
        <p:spPr>
          <a:xfrm>
            <a:off x="3505200" y="2838450"/>
            <a:ext cx="3829050" cy="438150"/>
          </a:xfrm>
          <a:prstGeom prst="rect">
            <a:avLst/>
          </a:prstGeom>
          <a:noFill/>
          <a:ln w="0">
            <a:noFill/>
          </a:ln>
        </p:spPr>
        <p:txBody>
          <a:bodyPr lIns="0" tIns="0" rIns="0" bIns="0" anchor="ctr">
            <a:noAutofit/>
          </a:bodyPr>
          <a:lstStyle>
            <a:defPPr algn="ctr">
              <a:defRPr sz="1350" b="0">
                <a:solidFill>
                  <a:srgbClr val="2A2E45"/>
                </a:solidFill>
                <a:latin typeface="Arial"/>
                <a:ea typeface="Arial"/>
                <a:cs typeface="Arial"/>
              </a:defRPr>
            </a:defPPr>
          </a:lstStyle>
          <a:p>
            <a:pPr algn="ctr">
              <a:defRPr sz="1350" b="0">
                <a:solidFill>
                  <a:srgbClr val="2A2E45"/>
                </a:solidFill>
                <a:latin typeface="Arial"/>
                <a:ea typeface="Arial"/>
                <a:cs typeface="Arial"/>
              </a:defRPr>
            </a:pPr>
            <a:r>
              <a:rPr sz="1350" b="0">
                <a:solidFill>
                  <a:srgbClr val="2A2E45"/>
                </a:solidFill>
                <a:latin typeface="Arial"/>
                <a:ea typeface="Arial"/>
                <a:cs typeface="Arial"/>
              </a:rPr>
              <a:t>[B×M, C, T, V] → [B×M, C′, T′, V]</a:t>
            </a:r>
          </a:p>
        </p:txBody>
      </p:sp>
      <p:sp>
        <p:nvSpPr>
          <p:cNvPr id="113" name="person-diagram-362">
            <a:extLst>
              <a:ext uri="{FF2B5EF4-FFF2-40B4-BE49-F238E27FC236}">
                <a16:creationId xmlns:a16="http://schemas.microsoft.com/office/drawing/2014/main" id="{1F77A68D-5770-4C84-BFA8-D9B599901A79}"/>
              </a:ext>
            </a:extLst>
          </p:cNvPr>
          <p:cNvSpPr>
            <a:spLocks noGrp="1"/>
          </p:cNvSpPr>
          <p:nvPr/>
        </p:nvSpPr>
        <p:spPr>
          <a:xfrm>
            <a:off x="3905250" y="3352800"/>
            <a:ext cx="161925" cy="95250"/>
          </a:xfrm>
          <a:prstGeom prst="downArrow">
            <a:avLst/>
          </a:prstGeom>
          <a:solidFill>
            <a:srgbClr val="697386"/>
          </a:solidFill>
          <a:ln w="0">
            <a:noFill/>
          </a:ln>
        </p:spPr>
        <p:txBody>
          <a:bodyPr/>
          <a:lstStyle/>
          <a:p>
            <a:endParaRPr lang="zh-CN" altLang="en-US"/>
          </a:p>
        </p:txBody>
      </p:sp>
      <p:sp>
        <p:nvSpPr>
          <p:cNvPr id="114" name="person-diagram-363">
            <a:extLst>
              <a:ext uri="{FF2B5EF4-FFF2-40B4-BE49-F238E27FC236}">
                <a16:creationId xmlns:a16="http://schemas.microsoft.com/office/drawing/2014/main" id="{814C60E4-98A0-43C9-BEB2-97EDD8F04977}"/>
              </a:ext>
            </a:extLst>
          </p:cNvPr>
          <p:cNvSpPr>
            <a:spLocks noGrp="1"/>
          </p:cNvSpPr>
          <p:nvPr/>
        </p:nvSpPr>
        <p:spPr>
          <a:xfrm>
            <a:off x="495300" y="3467100"/>
            <a:ext cx="7000875" cy="552450"/>
          </a:xfrm>
          <a:prstGeom prst="roundRect">
            <a:avLst>
              <a:gd name="adj" fmla="val 27586"/>
            </a:avLst>
          </a:prstGeom>
          <a:solidFill>
            <a:srgbClr val="E9EDF8"/>
          </a:solidFill>
          <a:ln w="0">
            <a:noFill/>
          </a:ln>
        </p:spPr>
        <p:txBody>
          <a:bodyPr/>
          <a:lstStyle/>
          <a:p>
            <a:endParaRPr lang="zh-CN" altLang="en-US"/>
          </a:p>
        </p:txBody>
      </p:sp>
      <p:sp>
        <p:nvSpPr>
          <p:cNvPr id="115" name="person-diagram-364">
            <a:extLst>
              <a:ext uri="{FF2B5EF4-FFF2-40B4-BE49-F238E27FC236}">
                <a16:creationId xmlns:a16="http://schemas.microsoft.com/office/drawing/2014/main" id="{67A27FC2-2EA0-492F-ABFD-569442D83166}"/>
              </a:ext>
            </a:extLst>
          </p:cNvPr>
          <p:cNvSpPr>
            <a:spLocks noGrp="1"/>
          </p:cNvSpPr>
          <p:nvPr/>
        </p:nvSpPr>
        <p:spPr>
          <a:xfrm>
            <a:off x="666750" y="3524250"/>
            <a:ext cx="2809875" cy="438150"/>
          </a:xfrm>
          <a:prstGeom prst="rect">
            <a:avLst/>
          </a:prstGeom>
          <a:noFill/>
          <a:ln w="0">
            <a:noFill/>
          </a:ln>
        </p:spPr>
        <p:txBody>
          <a:bodyPr lIns="0" tIns="0" rIns="0" bIns="0" anchor="ctr">
            <a:noAutofit/>
          </a:bodyPr>
          <a:lstStyle>
            <a:defPPr algn="l">
              <a:defRPr sz="1425" b="1">
                <a:solidFill>
                  <a:srgbClr val="1B1D63"/>
                </a:solidFill>
                <a:latin typeface="Arial"/>
                <a:ea typeface="Arial"/>
                <a:cs typeface="Arial"/>
              </a:defRPr>
            </a:defPPr>
          </a:lstStyle>
          <a:p>
            <a:pPr algn="l">
              <a:defRPr sz="1425" b="1">
                <a:solidFill>
                  <a:srgbClr val="1B1D63"/>
                </a:solidFill>
                <a:latin typeface="Arial"/>
                <a:ea typeface="Arial"/>
                <a:cs typeface="Arial"/>
              </a:defRPr>
            </a:pPr>
            <a:r>
              <a:rPr sz="1425" b="1">
                <a:solidFill>
                  <a:srgbClr val="1B1D63"/>
                </a:solidFill>
                <a:latin typeface="Arial"/>
                <a:ea typeface="Arial"/>
                <a:cs typeface="Arial"/>
              </a:rPr>
              <a:t>Restore person axis</a:t>
            </a:r>
          </a:p>
        </p:txBody>
      </p:sp>
      <p:sp>
        <p:nvSpPr>
          <p:cNvPr id="116" name="person-diagram-365">
            <a:extLst>
              <a:ext uri="{FF2B5EF4-FFF2-40B4-BE49-F238E27FC236}">
                <a16:creationId xmlns:a16="http://schemas.microsoft.com/office/drawing/2014/main" id="{6D863C27-D299-4BD7-B741-A853A070243A}"/>
              </a:ext>
            </a:extLst>
          </p:cNvPr>
          <p:cNvSpPr>
            <a:spLocks noGrp="1"/>
          </p:cNvSpPr>
          <p:nvPr/>
        </p:nvSpPr>
        <p:spPr>
          <a:xfrm>
            <a:off x="3505200" y="3524250"/>
            <a:ext cx="3829050" cy="438150"/>
          </a:xfrm>
          <a:prstGeom prst="rect">
            <a:avLst/>
          </a:prstGeom>
          <a:noFill/>
          <a:ln w="0">
            <a:noFill/>
          </a:ln>
        </p:spPr>
        <p:txBody>
          <a:bodyPr lIns="0" tIns="0" rIns="0" bIns="0" anchor="ctr">
            <a:noAutofit/>
          </a:bodyPr>
          <a:lstStyle>
            <a:defPPr algn="ctr">
              <a:defRPr sz="1350" b="0">
                <a:solidFill>
                  <a:srgbClr val="2A2E45"/>
                </a:solidFill>
                <a:latin typeface="Arial"/>
                <a:ea typeface="Arial"/>
                <a:cs typeface="Arial"/>
              </a:defRPr>
            </a:defPPr>
          </a:lstStyle>
          <a:p>
            <a:pPr algn="ctr">
              <a:defRPr sz="1350" b="0">
                <a:solidFill>
                  <a:srgbClr val="2A2E45"/>
                </a:solidFill>
                <a:latin typeface="Arial"/>
                <a:ea typeface="Arial"/>
                <a:cs typeface="Arial"/>
              </a:defRPr>
            </a:pPr>
            <a:r>
              <a:rPr sz="1350" b="0">
                <a:solidFill>
                  <a:srgbClr val="2A2E45"/>
                </a:solidFill>
                <a:latin typeface="Arial"/>
                <a:ea typeface="Arial"/>
                <a:cs typeface="Arial"/>
              </a:rPr>
              <a:t>[B, M, C′, T′×V]</a:t>
            </a:r>
          </a:p>
        </p:txBody>
      </p:sp>
      <p:sp>
        <p:nvSpPr>
          <p:cNvPr id="117" name="person-diagram-366">
            <a:extLst>
              <a:ext uri="{FF2B5EF4-FFF2-40B4-BE49-F238E27FC236}">
                <a16:creationId xmlns:a16="http://schemas.microsoft.com/office/drawing/2014/main" id="{1334965E-9725-4837-BE8B-0E4160089992}"/>
              </a:ext>
            </a:extLst>
          </p:cNvPr>
          <p:cNvSpPr>
            <a:spLocks noGrp="1"/>
          </p:cNvSpPr>
          <p:nvPr/>
        </p:nvSpPr>
        <p:spPr>
          <a:xfrm>
            <a:off x="3905250" y="4038600"/>
            <a:ext cx="161925" cy="95250"/>
          </a:xfrm>
          <a:prstGeom prst="downArrow">
            <a:avLst/>
          </a:prstGeom>
          <a:solidFill>
            <a:srgbClr val="697386"/>
          </a:solidFill>
          <a:ln w="0">
            <a:noFill/>
          </a:ln>
        </p:spPr>
        <p:txBody>
          <a:bodyPr/>
          <a:lstStyle/>
          <a:p>
            <a:endParaRPr lang="zh-CN" altLang="en-US"/>
          </a:p>
        </p:txBody>
      </p:sp>
      <p:sp>
        <p:nvSpPr>
          <p:cNvPr id="118" name="person-diagram-367">
            <a:extLst>
              <a:ext uri="{FF2B5EF4-FFF2-40B4-BE49-F238E27FC236}">
                <a16:creationId xmlns:a16="http://schemas.microsoft.com/office/drawing/2014/main" id="{7340A051-97BD-4F29-BCE8-9C050DB1F606}"/>
              </a:ext>
            </a:extLst>
          </p:cNvPr>
          <p:cNvSpPr>
            <a:spLocks noGrp="1"/>
          </p:cNvSpPr>
          <p:nvPr/>
        </p:nvSpPr>
        <p:spPr>
          <a:xfrm>
            <a:off x="495300" y="4152900"/>
            <a:ext cx="7000875" cy="552450"/>
          </a:xfrm>
          <a:prstGeom prst="roundRect">
            <a:avLst>
              <a:gd name="adj" fmla="val 27586"/>
            </a:avLst>
          </a:prstGeom>
          <a:solidFill>
            <a:srgbClr val="E6F6F4"/>
          </a:solidFill>
          <a:ln w="0">
            <a:noFill/>
          </a:ln>
        </p:spPr>
        <p:txBody>
          <a:bodyPr/>
          <a:lstStyle/>
          <a:p>
            <a:endParaRPr lang="zh-CN" altLang="en-US"/>
          </a:p>
        </p:txBody>
      </p:sp>
      <p:sp>
        <p:nvSpPr>
          <p:cNvPr id="119" name="person-diagram-368">
            <a:extLst>
              <a:ext uri="{FF2B5EF4-FFF2-40B4-BE49-F238E27FC236}">
                <a16:creationId xmlns:a16="http://schemas.microsoft.com/office/drawing/2014/main" id="{FB886B24-B1B1-43B4-8E27-4CDC7AB99CB2}"/>
              </a:ext>
            </a:extLst>
          </p:cNvPr>
          <p:cNvSpPr>
            <a:spLocks noGrp="1"/>
          </p:cNvSpPr>
          <p:nvPr/>
        </p:nvSpPr>
        <p:spPr>
          <a:xfrm>
            <a:off x="666750" y="4210050"/>
            <a:ext cx="2809875" cy="438150"/>
          </a:xfrm>
          <a:prstGeom prst="rect">
            <a:avLst/>
          </a:prstGeom>
          <a:noFill/>
          <a:ln w="0">
            <a:noFill/>
          </a:ln>
        </p:spPr>
        <p:txBody>
          <a:bodyPr lIns="0" tIns="0" rIns="0" bIns="0" anchor="ctr">
            <a:noAutofit/>
          </a:bodyPr>
          <a:lstStyle>
            <a:defPPr algn="l">
              <a:defRPr sz="1425" b="1">
                <a:solidFill>
                  <a:srgbClr val="1B1D63"/>
                </a:solidFill>
                <a:latin typeface="Arial"/>
                <a:ea typeface="Arial"/>
                <a:cs typeface="Arial"/>
              </a:defRPr>
            </a:defPPr>
          </a:lstStyle>
          <a:p>
            <a:pPr algn="l">
              <a:defRPr sz="1425" b="1">
                <a:solidFill>
                  <a:srgbClr val="1B1D63"/>
                </a:solidFill>
                <a:latin typeface="Arial"/>
                <a:ea typeface="Arial"/>
                <a:cs typeface="Arial"/>
              </a:defRPr>
            </a:pPr>
            <a:r>
              <a:rPr sz="1425" b="1">
                <a:solidFill>
                  <a:srgbClr val="1B1D63"/>
                </a:solidFill>
                <a:latin typeface="Arial"/>
                <a:ea typeface="Arial"/>
                <a:cs typeface="Arial"/>
              </a:rPr>
              <a:t>Spatial / temporal mean</a:t>
            </a:r>
          </a:p>
        </p:txBody>
      </p:sp>
      <p:sp>
        <p:nvSpPr>
          <p:cNvPr id="120" name="person-diagram-369">
            <a:extLst>
              <a:ext uri="{FF2B5EF4-FFF2-40B4-BE49-F238E27FC236}">
                <a16:creationId xmlns:a16="http://schemas.microsoft.com/office/drawing/2014/main" id="{26BE3C9E-E712-4B8F-99F6-DB49CE7252C2}"/>
              </a:ext>
            </a:extLst>
          </p:cNvPr>
          <p:cNvSpPr>
            <a:spLocks noGrp="1"/>
          </p:cNvSpPr>
          <p:nvPr/>
        </p:nvSpPr>
        <p:spPr>
          <a:xfrm>
            <a:off x="3505200" y="4210050"/>
            <a:ext cx="3829050" cy="438150"/>
          </a:xfrm>
          <a:prstGeom prst="rect">
            <a:avLst/>
          </a:prstGeom>
          <a:noFill/>
          <a:ln w="0">
            <a:noFill/>
          </a:ln>
        </p:spPr>
        <p:txBody>
          <a:bodyPr lIns="0" tIns="0" rIns="0" bIns="0" anchor="ctr">
            <a:noAutofit/>
          </a:bodyPr>
          <a:lstStyle>
            <a:defPPr algn="ctr">
              <a:defRPr sz="1350" b="0">
                <a:solidFill>
                  <a:srgbClr val="2A2E45"/>
                </a:solidFill>
                <a:latin typeface="Arial"/>
                <a:ea typeface="Arial"/>
                <a:cs typeface="Arial"/>
              </a:defRPr>
            </a:defPPr>
          </a:lstStyle>
          <a:p>
            <a:pPr algn="ctr">
              <a:defRPr sz="1350" b="0">
                <a:solidFill>
                  <a:srgbClr val="2A2E45"/>
                </a:solidFill>
                <a:latin typeface="Arial"/>
                <a:ea typeface="Arial"/>
                <a:cs typeface="Arial"/>
              </a:defRPr>
            </a:pPr>
            <a:r>
              <a:rPr sz="1350" b="0">
                <a:solidFill>
                  <a:srgbClr val="2A2E45"/>
                </a:solidFill>
                <a:latin typeface="Arial"/>
                <a:ea typeface="Arial"/>
                <a:cs typeface="Arial"/>
              </a:rPr>
              <a:t>mean(3) → [B, M, C′]</a:t>
            </a:r>
          </a:p>
        </p:txBody>
      </p:sp>
      <p:sp>
        <p:nvSpPr>
          <p:cNvPr id="121" name="person-diagram-370">
            <a:extLst>
              <a:ext uri="{FF2B5EF4-FFF2-40B4-BE49-F238E27FC236}">
                <a16:creationId xmlns:a16="http://schemas.microsoft.com/office/drawing/2014/main" id="{17F29042-B2F3-4120-ABA5-FB421057C15A}"/>
              </a:ext>
            </a:extLst>
          </p:cNvPr>
          <p:cNvSpPr>
            <a:spLocks noGrp="1"/>
          </p:cNvSpPr>
          <p:nvPr/>
        </p:nvSpPr>
        <p:spPr>
          <a:xfrm>
            <a:off x="3905250" y="4724400"/>
            <a:ext cx="161925" cy="95250"/>
          </a:xfrm>
          <a:prstGeom prst="downArrow">
            <a:avLst/>
          </a:prstGeom>
          <a:solidFill>
            <a:srgbClr val="697386"/>
          </a:solidFill>
          <a:ln w="0">
            <a:noFill/>
          </a:ln>
        </p:spPr>
        <p:txBody>
          <a:bodyPr/>
          <a:lstStyle/>
          <a:p>
            <a:endParaRPr lang="zh-CN" altLang="en-US"/>
          </a:p>
        </p:txBody>
      </p:sp>
      <p:sp>
        <p:nvSpPr>
          <p:cNvPr id="122" name="person-diagram-371">
            <a:extLst>
              <a:ext uri="{FF2B5EF4-FFF2-40B4-BE49-F238E27FC236}">
                <a16:creationId xmlns:a16="http://schemas.microsoft.com/office/drawing/2014/main" id="{AC324371-7364-467B-91AA-84F3C494F9A7}"/>
              </a:ext>
            </a:extLst>
          </p:cNvPr>
          <p:cNvSpPr>
            <a:spLocks noGrp="1"/>
          </p:cNvSpPr>
          <p:nvPr/>
        </p:nvSpPr>
        <p:spPr>
          <a:xfrm>
            <a:off x="495300" y="4838700"/>
            <a:ext cx="7000875" cy="552450"/>
          </a:xfrm>
          <a:prstGeom prst="roundRect">
            <a:avLst>
              <a:gd name="adj" fmla="val 27586"/>
            </a:avLst>
          </a:prstGeom>
          <a:solidFill>
            <a:srgbClr val="FBE8EF"/>
          </a:solidFill>
          <a:ln w="0">
            <a:noFill/>
          </a:ln>
        </p:spPr>
        <p:txBody>
          <a:bodyPr/>
          <a:lstStyle/>
          <a:p>
            <a:endParaRPr lang="zh-CN" altLang="en-US"/>
          </a:p>
        </p:txBody>
      </p:sp>
      <p:sp>
        <p:nvSpPr>
          <p:cNvPr id="123" name="person-diagram-372">
            <a:extLst>
              <a:ext uri="{FF2B5EF4-FFF2-40B4-BE49-F238E27FC236}">
                <a16:creationId xmlns:a16="http://schemas.microsoft.com/office/drawing/2014/main" id="{4D9EECBC-DA1E-4A37-98FB-2FFC72D490F2}"/>
              </a:ext>
            </a:extLst>
          </p:cNvPr>
          <p:cNvSpPr>
            <a:spLocks noGrp="1"/>
          </p:cNvSpPr>
          <p:nvPr/>
        </p:nvSpPr>
        <p:spPr>
          <a:xfrm>
            <a:off x="666750" y="4895850"/>
            <a:ext cx="2809875" cy="438150"/>
          </a:xfrm>
          <a:prstGeom prst="rect">
            <a:avLst/>
          </a:prstGeom>
          <a:noFill/>
          <a:ln w="0">
            <a:noFill/>
          </a:ln>
        </p:spPr>
        <p:txBody>
          <a:bodyPr lIns="0" tIns="0" rIns="0" bIns="0" anchor="ctr">
            <a:noAutofit/>
          </a:bodyPr>
          <a:lstStyle>
            <a:defPPr algn="l">
              <a:defRPr sz="1425" b="1">
                <a:solidFill>
                  <a:srgbClr val="1B1D63"/>
                </a:solidFill>
                <a:latin typeface="Arial"/>
                <a:ea typeface="Arial"/>
                <a:cs typeface="Arial"/>
              </a:defRPr>
            </a:defPPr>
          </a:lstStyle>
          <a:p>
            <a:pPr algn="l">
              <a:defRPr sz="1425" b="1">
                <a:solidFill>
                  <a:srgbClr val="1B1D63"/>
                </a:solidFill>
                <a:latin typeface="Arial"/>
                <a:ea typeface="Arial"/>
                <a:cs typeface="Arial"/>
              </a:defRPr>
            </a:pPr>
            <a:r>
              <a:rPr sz="1425" b="1">
                <a:solidFill>
                  <a:srgbClr val="1B1D63"/>
                </a:solidFill>
                <a:latin typeface="Arial"/>
                <a:ea typeface="Arial"/>
                <a:cs typeface="Arial"/>
              </a:rPr>
              <a:t>Person mean → classifier</a:t>
            </a:r>
          </a:p>
        </p:txBody>
      </p:sp>
      <p:sp>
        <p:nvSpPr>
          <p:cNvPr id="124" name="person-diagram-373">
            <a:extLst>
              <a:ext uri="{FF2B5EF4-FFF2-40B4-BE49-F238E27FC236}">
                <a16:creationId xmlns:a16="http://schemas.microsoft.com/office/drawing/2014/main" id="{EEA1C3DA-E108-45A8-8119-357BB67ABADA}"/>
              </a:ext>
            </a:extLst>
          </p:cNvPr>
          <p:cNvSpPr>
            <a:spLocks noGrp="1"/>
          </p:cNvSpPr>
          <p:nvPr/>
        </p:nvSpPr>
        <p:spPr>
          <a:xfrm>
            <a:off x="3505200" y="4895850"/>
            <a:ext cx="3829050" cy="438150"/>
          </a:xfrm>
          <a:prstGeom prst="rect">
            <a:avLst/>
          </a:prstGeom>
          <a:noFill/>
          <a:ln w="0">
            <a:noFill/>
          </a:ln>
        </p:spPr>
        <p:txBody>
          <a:bodyPr lIns="0" tIns="0" rIns="0" bIns="0" anchor="ctr">
            <a:noAutofit/>
          </a:bodyPr>
          <a:lstStyle>
            <a:defPPr algn="ctr">
              <a:defRPr sz="1350" b="0">
                <a:solidFill>
                  <a:srgbClr val="2A2E45"/>
                </a:solidFill>
                <a:latin typeface="Arial"/>
                <a:ea typeface="Arial"/>
                <a:cs typeface="Arial"/>
              </a:defRPr>
            </a:defPPr>
          </a:lstStyle>
          <a:p>
            <a:pPr algn="ctr">
              <a:defRPr sz="1350" b="0">
                <a:solidFill>
                  <a:srgbClr val="2A2E45"/>
                </a:solidFill>
                <a:latin typeface="Arial"/>
                <a:ea typeface="Arial"/>
                <a:cs typeface="Arial"/>
              </a:defRPr>
            </a:pPr>
            <a:r>
              <a:rPr sz="1350" b="0">
                <a:solidFill>
                  <a:srgbClr val="2A2E45"/>
                </a:solidFill>
                <a:latin typeface="Arial"/>
                <a:ea typeface="Arial"/>
                <a:cs typeface="Arial"/>
              </a:rPr>
              <a:t>mean(1) → [B, C′] → fc</a:t>
            </a:r>
          </a:p>
        </p:txBody>
      </p:sp>
      <p:sp>
        <p:nvSpPr>
          <p:cNvPr id="125" name="person-diagram-374">
            <a:extLst>
              <a:ext uri="{FF2B5EF4-FFF2-40B4-BE49-F238E27FC236}">
                <a16:creationId xmlns:a16="http://schemas.microsoft.com/office/drawing/2014/main" id="{14A4152E-A1D5-42DE-8775-7ABED2B7149F}"/>
              </a:ext>
            </a:extLst>
          </p:cNvPr>
          <p:cNvSpPr>
            <a:spLocks noGrp="1"/>
          </p:cNvSpPr>
          <p:nvPr/>
        </p:nvSpPr>
        <p:spPr>
          <a:xfrm>
            <a:off x="7943850" y="1552575"/>
            <a:ext cx="3571875" cy="247650"/>
          </a:xfrm>
          <a:prstGeom prst="rect">
            <a:avLst/>
          </a:prstGeom>
          <a:noFill/>
          <a:ln w="0">
            <a:noFill/>
          </a:ln>
        </p:spPr>
        <p:txBody>
          <a:bodyPr lIns="0" tIns="0" rIns="0" bIns="0" anchor="ctr">
            <a:noAutofit/>
          </a:bodyPr>
          <a:lstStyle>
            <a:defPPr algn="l">
              <a:defRPr sz="1050" b="1">
                <a:solidFill>
                  <a:srgbClr val="E31346"/>
                </a:solidFill>
                <a:latin typeface="Arial"/>
                <a:ea typeface="Arial"/>
                <a:cs typeface="Arial"/>
              </a:defRPr>
            </a:defPPr>
          </a:lstStyle>
          <a:p>
            <a:pPr algn="l">
              <a:defRPr sz="1050" b="1">
                <a:solidFill>
                  <a:srgbClr val="E31346"/>
                </a:solidFill>
                <a:latin typeface="Arial"/>
                <a:ea typeface="Arial"/>
                <a:cs typeface="Arial"/>
              </a:defRPr>
            </a:pPr>
            <a:r>
              <a:rPr sz="1050" b="1">
                <a:solidFill>
                  <a:srgbClr val="E31346"/>
                </a:solidFill>
                <a:latin typeface="Arial"/>
                <a:ea typeface="Arial"/>
                <a:cs typeface="Arial"/>
              </a:rPr>
              <a:t>FINAL PERSON AGGREGATION</a:t>
            </a:r>
          </a:p>
        </p:txBody>
      </p:sp>
      <p:sp>
        <p:nvSpPr>
          <p:cNvPr id="126" name="person-diagram-375">
            <a:extLst>
              <a:ext uri="{FF2B5EF4-FFF2-40B4-BE49-F238E27FC236}">
                <a16:creationId xmlns:a16="http://schemas.microsoft.com/office/drawing/2014/main" id="{337E46B1-88E0-4AD7-AB5A-857A9EB522C5}"/>
              </a:ext>
            </a:extLst>
          </p:cNvPr>
          <p:cNvSpPr>
            <a:spLocks noGrp="1"/>
          </p:cNvSpPr>
          <p:nvPr/>
        </p:nvSpPr>
        <p:spPr>
          <a:xfrm>
            <a:off x="7943850" y="2095500"/>
            <a:ext cx="1352550" cy="600075"/>
          </a:xfrm>
          <a:prstGeom prst="roundRect">
            <a:avLst>
              <a:gd name="adj" fmla="val 25397"/>
            </a:avLst>
          </a:prstGeom>
          <a:solidFill>
            <a:srgbClr val="E9EDF8"/>
          </a:solidFill>
          <a:ln w="0">
            <a:noFill/>
          </a:ln>
        </p:spPr>
        <p:txBody>
          <a:bodyPr/>
          <a:lstStyle/>
          <a:p>
            <a:endParaRPr lang="zh-CN" altLang="en-US"/>
          </a:p>
        </p:txBody>
      </p:sp>
      <p:sp>
        <p:nvSpPr>
          <p:cNvPr id="127" name="person-diagram-376">
            <a:extLst>
              <a:ext uri="{FF2B5EF4-FFF2-40B4-BE49-F238E27FC236}">
                <a16:creationId xmlns:a16="http://schemas.microsoft.com/office/drawing/2014/main" id="{83EB2982-9176-4C93-BF4E-BF68C6DAD947}"/>
              </a:ext>
            </a:extLst>
          </p:cNvPr>
          <p:cNvSpPr>
            <a:spLocks noGrp="1"/>
          </p:cNvSpPr>
          <p:nvPr/>
        </p:nvSpPr>
        <p:spPr>
          <a:xfrm>
            <a:off x="8077200" y="2152650"/>
            <a:ext cx="1085850" cy="485775"/>
          </a:xfrm>
          <a:prstGeom prst="rect">
            <a:avLst/>
          </a:prstGeom>
          <a:noFill/>
          <a:ln w="0">
            <a:noFill/>
          </a:ln>
        </p:spPr>
        <p:txBody>
          <a:bodyPr lIns="0" tIns="0" rIns="0" bIns="0" anchor="ctr">
            <a:noAutofit/>
          </a:bodyPr>
          <a:lstStyle>
            <a:defPPr algn="ctr">
              <a:defRPr sz="2175" b="1">
                <a:solidFill>
                  <a:srgbClr val="1B1D63"/>
                </a:solidFill>
                <a:latin typeface="Arial"/>
                <a:ea typeface="Arial"/>
                <a:cs typeface="Arial"/>
              </a:defRPr>
            </a:defPPr>
          </a:lstStyle>
          <a:p>
            <a:pPr algn="ctr">
              <a:defRPr sz="2175" b="1">
                <a:solidFill>
                  <a:srgbClr val="1B1D63"/>
                </a:solidFill>
                <a:latin typeface="Arial"/>
                <a:ea typeface="Arial"/>
                <a:cs typeface="Arial"/>
              </a:defRPr>
            </a:pPr>
            <a:r>
              <a:rPr sz="2175" b="1">
                <a:solidFill>
                  <a:srgbClr val="1B1D63"/>
                </a:solidFill>
                <a:latin typeface="Arial"/>
                <a:ea typeface="Arial"/>
                <a:cs typeface="Arial"/>
              </a:rPr>
              <a:t>F_A</a:t>
            </a:r>
          </a:p>
        </p:txBody>
      </p:sp>
      <p:sp>
        <p:nvSpPr>
          <p:cNvPr id="128" name="person-diagram-377">
            <a:extLst>
              <a:ext uri="{FF2B5EF4-FFF2-40B4-BE49-F238E27FC236}">
                <a16:creationId xmlns:a16="http://schemas.microsoft.com/office/drawing/2014/main" id="{D456DAB2-2EAE-4461-AA01-1D1AD1B05849}"/>
              </a:ext>
            </a:extLst>
          </p:cNvPr>
          <p:cNvSpPr>
            <a:spLocks noGrp="1"/>
          </p:cNvSpPr>
          <p:nvPr/>
        </p:nvSpPr>
        <p:spPr>
          <a:xfrm>
            <a:off x="7943850" y="3095625"/>
            <a:ext cx="1352550" cy="600075"/>
          </a:xfrm>
          <a:prstGeom prst="roundRect">
            <a:avLst>
              <a:gd name="adj" fmla="val 25397"/>
            </a:avLst>
          </a:prstGeom>
          <a:solidFill>
            <a:srgbClr val="E6F6F4"/>
          </a:solidFill>
          <a:ln w="0">
            <a:noFill/>
          </a:ln>
        </p:spPr>
        <p:txBody>
          <a:bodyPr/>
          <a:lstStyle/>
          <a:p>
            <a:endParaRPr lang="zh-CN" altLang="en-US"/>
          </a:p>
        </p:txBody>
      </p:sp>
      <p:sp>
        <p:nvSpPr>
          <p:cNvPr id="129" name="person-diagram-378">
            <a:extLst>
              <a:ext uri="{FF2B5EF4-FFF2-40B4-BE49-F238E27FC236}">
                <a16:creationId xmlns:a16="http://schemas.microsoft.com/office/drawing/2014/main" id="{AB4B999D-8AA8-4FF9-9565-38DE60447A47}"/>
              </a:ext>
            </a:extLst>
          </p:cNvPr>
          <p:cNvSpPr>
            <a:spLocks noGrp="1"/>
          </p:cNvSpPr>
          <p:nvPr/>
        </p:nvSpPr>
        <p:spPr>
          <a:xfrm>
            <a:off x="8077200" y="3152775"/>
            <a:ext cx="1085850" cy="485775"/>
          </a:xfrm>
          <a:prstGeom prst="rect">
            <a:avLst/>
          </a:prstGeom>
          <a:noFill/>
          <a:ln w="0">
            <a:noFill/>
          </a:ln>
        </p:spPr>
        <p:txBody>
          <a:bodyPr lIns="0" tIns="0" rIns="0" bIns="0" anchor="ctr">
            <a:noAutofit/>
          </a:bodyPr>
          <a:lstStyle>
            <a:defPPr algn="ctr">
              <a:defRPr sz="2175" b="1">
                <a:solidFill>
                  <a:srgbClr val="38AFA2"/>
                </a:solidFill>
                <a:latin typeface="Arial"/>
                <a:ea typeface="Arial"/>
                <a:cs typeface="Arial"/>
              </a:defRPr>
            </a:defPPr>
          </a:lstStyle>
          <a:p>
            <a:pPr algn="ctr">
              <a:defRPr sz="2175" b="1">
                <a:solidFill>
                  <a:srgbClr val="38AFA2"/>
                </a:solidFill>
                <a:latin typeface="Arial"/>
                <a:ea typeface="Arial"/>
                <a:cs typeface="Arial"/>
              </a:defRPr>
            </a:pPr>
            <a:r>
              <a:rPr sz="2175" b="1">
                <a:solidFill>
                  <a:srgbClr val="38AFA2"/>
                </a:solidFill>
                <a:latin typeface="Arial"/>
                <a:ea typeface="Arial"/>
                <a:cs typeface="Arial"/>
              </a:rPr>
              <a:t>F_B</a:t>
            </a:r>
          </a:p>
        </p:txBody>
      </p:sp>
      <p:sp>
        <p:nvSpPr>
          <p:cNvPr id="130" name="diagram-line-379">
            <a:extLst>
              <a:ext uri="{FF2B5EF4-FFF2-40B4-BE49-F238E27FC236}">
                <a16:creationId xmlns:a16="http://schemas.microsoft.com/office/drawing/2014/main" id="{0E8DE852-4335-4123-BEEE-510F00079625}"/>
              </a:ext>
            </a:extLst>
          </p:cNvPr>
          <p:cNvSpPr>
            <a:spLocks noGrp="1"/>
          </p:cNvSpPr>
          <p:nvPr/>
        </p:nvSpPr>
        <p:spPr>
          <a:xfrm>
            <a:off x="9296400" y="2390775"/>
            <a:ext cx="228600" cy="953"/>
          </a:xfrm>
          <a:prstGeom prst="line">
            <a:avLst/>
          </a:prstGeom>
          <a:noFill/>
          <a:ln w="19050">
            <a:solidFill>
              <a:srgbClr val="1B1D63"/>
            </a:solidFill>
          </a:ln>
        </p:spPr>
        <p:txBody>
          <a:bodyPr/>
          <a:lstStyle/>
          <a:p>
            <a:endParaRPr lang="zh-CN" altLang="en-US"/>
          </a:p>
        </p:txBody>
      </p:sp>
      <p:sp>
        <p:nvSpPr>
          <p:cNvPr id="131" name="diagram-line-380">
            <a:extLst>
              <a:ext uri="{FF2B5EF4-FFF2-40B4-BE49-F238E27FC236}">
                <a16:creationId xmlns:a16="http://schemas.microsoft.com/office/drawing/2014/main" id="{2B786AE0-5148-4FC8-9425-35C00D328114}"/>
              </a:ext>
            </a:extLst>
          </p:cNvPr>
          <p:cNvSpPr>
            <a:spLocks noGrp="1"/>
          </p:cNvSpPr>
          <p:nvPr/>
        </p:nvSpPr>
        <p:spPr>
          <a:xfrm>
            <a:off x="9525000" y="2390775"/>
            <a:ext cx="953" cy="1009650"/>
          </a:xfrm>
          <a:prstGeom prst="line">
            <a:avLst/>
          </a:prstGeom>
          <a:noFill/>
          <a:ln w="19050">
            <a:solidFill>
              <a:srgbClr val="1B1D63"/>
            </a:solidFill>
          </a:ln>
        </p:spPr>
        <p:txBody>
          <a:bodyPr/>
          <a:lstStyle/>
          <a:p>
            <a:endParaRPr lang="zh-CN" altLang="en-US"/>
          </a:p>
        </p:txBody>
      </p:sp>
      <p:sp>
        <p:nvSpPr>
          <p:cNvPr id="132" name="diagram-line-381">
            <a:extLst>
              <a:ext uri="{FF2B5EF4-FFF2-40B4-BE49-F238E27FC236}">
                <a16:creationId xmlns:a16="http://schemas.microsoft.com/office/drawing/2014/main" id="{6B61A142-4052-4046-88C6-AAD299A31784}"/>
              </a:ext>
            </a:extLst>
          </p:cNvPr>
          <p:cNvSpPr>
            <a:spLocks noGrp="1"/>
          </p:cNvSpPr>
          <p:nvPr/>
        </p:nvSpPr>
        <p:spPr>
          <a:xfrm>
            <a:off x="9296400" y="3400425"/>
            <a:ext cx="228600" cy="953"/>
          </a:xfrm>
          <a:prstGeom prst="line">
            <a:avLst/>
          </a:prstGeom>
          <a:noFill/>
          <a:ln w="19050">
            <a:solidFill>
              <a:srgbClr val="38AFA2"/>
            </a:solidFill>
          </a:ln>
        </p:spPr>
        <p:txBody>
          <a:bodyPr/>
          <a:lstStyle/>
          <a:p>
            <a:endParaRPr lang="zh-CN" altLang="en-US"/>
          </a:p>
        </p:txBody>
      </p:sp>
      <p:sp>
        <p:nvSpPr>
          <p:cNvPr id="133" name="person-diagram-382">
            <a:extLst>
              <a:ext uri="{FF2B5EF4-FFF2-40B4-BE49-F238E27FC236}">
                <a16:creationId xmlns:a16="http://schemas.microsoft.com/office/drawing/2014/main" id="{F32CD09D-98B8-4C87-A852-14B4F5F313E1}"/>
              </a:ext>
            </a:extLst>
          </p:cNvPr>
          <p:cNvSpPr>
            <a:spLocks noGrp="1"/>
          </p:cNvSpPr>
          <p:nvPr/>
        </p:nvSpPr>
        <p:spPr>
          <a:xfrm>
            <a:off x="9525000" y="2781300"/>
            <a:ext cx="371475" cy="190500"/>
          </a:xfrm>
          <a:prstGeom prst="rightArrow">
            <a:avLst/>
          </a:prstGeom>
          <a:solidFill>
            <a:srgbClr val="697386"/>
          </a:solidFill>
          <a:ln w="0">
            <a:noFill/>
          </a:ln>
        </p:spPr>
        <p:txBody>
          <a:bodyPr/>
          <a:lstStyle/>
          <a:p>
            <a:endParaRPr lang="zh-CN" altLang="en-US"/>
          </a:p>
        </p:txBody>
      </p:sp>
      <p:sp>
        <p:nvSpPr>
          <p:cNvPr id="134" name="person-diagram-383">
            <a:extLst>
              <a:ext uri="{FF2B5EF4-FFF2-40B4-BE49-F238E27FC236}">
                <a16:creationId xmlns:a16="http://schemas.microsoft.com/office/drawing/2014/main" id="{6C983F2F-8C3F-458F-9BCA-28C4CC268A41}"/>
              </a:ext>
            </a:extLst>
          </p:cNvPr>
          <p:cNvSpPr>
            <a:spLocks noGrp="1"/>
          </p:cNvSpPr>
          <p:nvPr/>
        </p:nvSpPr>
        <p:spPr>
          <a:xfrm>
            <a:off x="9991725" y="2628900"/>
            <a:ext cx="1562100" cy="552450"/>
          </a:xfrm>
          <a:prstGeom prst="roundRect">
            <a:avLst>
              <a:gd name="adj" fmla="val 27586"/>
            </a:avLst>
          </a:prstGeom>
          <a:solidFill>
            <a:srgbClr val="FBE8EF"/>
          </a:solidFill>
          <a:ln w="0">
            <a:noFill/>
          </a:ln>
        </p:spPr>
        <p:txBody>
          <a:bodyPr/>
          <a:lstStyle/>
          <a:p>
            <a:endParaRPr lang="zh-CN" altLang="en-US"/>
          </a:p>
        </p:txBody>
      </p:sp>
      <p:sp>
        <p:nvSpPr>
          <p:cNvPr id="135" name="person-diagram-384">
            <a:extLst>
              <a:ext uri="{FF2B5EF4-FFF2-40B4-BE49-F238E27FC236}">
                <a16:creationId xmlns:a16="http://schemas.microsoft.com/office/drawing/2014/main" id="{43B08033-8140-425A-B090-5562F2DB1E32}"/>
              </a:ext>
            </a:extLst>
          </p:cNvPr>
          <p:cNvSpPr>
            <a:spLocks noGrp="1"/>
          </p:cNvSpPr>
          <p:nvPr/>
        </p:nvSpPr>
        <p:spPr>
          <a:xfrm>
            <a:off x="10125075" y="2686050"/>
            <a:ext cx="1295400" cy="438150"/>
          </a:xfrm>
          <a:prstGeom prst="rect">
            <a:avLst/>
          </a:prstGeom>
          <a:noFill/>
          <a:ln w="0">
            <a:noFill/>
          </a:ln>
        </p:spPr>
        <p:txBody>
          <a:bodyPr lIns="0" tIns="0" rIns="0" bIns="0" anchor="ctr">
            <a:noAutofit/>
          </a:bodyPr>
          <a:lstStyle>
            <a:defPPr algn="ctr">
              <a:defRPr sz="1950" b="1">
                <a:solidFill>
                  <a:srgbClr val="E31346"/>
                </a:solidFill>
                <a:latin typeface="Arial"/>
                <a:ea typeface="Arial"/>
                <a:cs typeface="Arial"/>
              </a:defRPr>
            </a:defPPr>
          </a:lstStyle>
          <a:p>
            <a:pPr algn="ctr">
              <a:defRPr sz="1950" b="1">
                <a:solidFill>
                  <a:srgbClr val="E31346"/>
                </a:solidFill>
                <a:latin typeface="Arial"/>
                <a:ea typeface="Arial"/>
                <a:cs typeface="Arial"/>
              </a:defRPr>
            </a:pPr>
            <a:r>
              <a:rPr sz="1950" b="1">
                <a:solidFill>
                  <a:srgbClr val="E31346"/>
                </a:solidFill>
                <a:latin typeface="Arial"/>
                <a:ea typeface="Arial"/>
                <a:cs typeface="Arial"/>
              </a:rPr>
              <a:t>Mean</a:t>
            </a:r>
          </a:p>
        </p:txBody>
      </p:sp>
      <p:sp>
        <p:nvSpPr>
          <p:cNvPr id="136" name="person-diagram-385">
            <a:extLst>
              <a:ext uri="{FF2B5EF4-FFF2-40B4-BE49-F238E27FC236}">
                <a16:creationId xmlns:a16="http://schemas.microsoft.com/office/drawing/2014/main" id="{35F2C099-184F-4D77-B10E-68867DF41309}"/>
              </a:ext>
            </a:extLst>
          </p:cNvPr>
          <p:cNvSpPr>
            <a:spLocks noGrp="1"/>
          </p:cNvSpPr>
          <p:nvPr/>
        </p:nvSpPr>
        <p:spPr>
          <a:xfrm>
            <a:off x="10658475" y="3286125"/>
            <a:ext cx="180975" cy="285750"/>
          </a:xfrm>
          <a:prstGeom prst="downArrow">
            <a:avLst/>
          </a:prstGeom>
          <a:solidFill>
            <a:srgbClr val="697386"/>
          </a:solidFill>
          <a:ln w="0">
            <a:noFill/>
          </a:ln>
        </p:spPr>
        <p:txBody>
          <a:bodyPr/>
          <a:lstStyle/>
          <a:p>
            <a:endParaRPr lang="zh-CN" altLang="en-US"/>
          </a:p>
        </p:txBody>
      </p:sp>
      <p:sp>
        <p:nvSpPr>
          <p:cNvPr id="137" name="person-diagram-386">
            <a:extLst>
              <a:ext uri="{FF2B5EF4-FFF2-40B4-BE49-F238E27FC236}">
                <a16:creationId xmlns:a16="http://schemas.microsoft.com/office/drawing/2014/main" id="{9D79E7AF-7CE1-46B3-A2FE-094C390EBDFA}"/>
              </a:ext>
            </a:extLst>
          </p:cNvPr>
          <p:cNvSpPr>
            <a:spLocks noGrp="1"/>
          </p:cNvSpPr>
          <p:nvPr/>
        </p:nvSpPr>
        <p:spPr>
          <a:xfrm>
            <a:off x="9629775" y="3695700"/>
            <a:ext cx="1924050" cy="561975"/>
          </a:xfrm>
          <a:prstGeom prst="roundRect">
            <a:avLst>
              <a:gd name="adj" fmla="val 27119"/>
            </a:avLst>
          </a:prstGeom>
          <a:solidFill>
            <a:srgbClr val="E9EDF8"/>
          </a:solidFill>
          <a:ln w="0">
            <a:noFill/>
          </a:ln>
        </p:spPr>
        <p:txBody>
          <a:bodyPr/>
          <a:lstStyle/>
          <a:p>
            <a:endParaRPr lang="zh-CN" altLang="en-US"/>
          </a:p>
        </p:txBody>
      </p:sp>
      <p:sp>
        <p:nvSpPr>
          <p:cNvPr id="138" name="person-diagram-387">
            <a:extLst>
              <a:ext uri="{FF2B5EF4-FFF2-40B4-BE49-F238E27FC236}">
                <a16:creationId xmlns:a16="http://schemas.microsoft.com/office/drawing/2014/main" id="{45B2E9DD-01CB-4B50-96EE-1A9E2E686BC1}"/>
              </a:ext>
            </a:extLst>
          </p:cNvPr>
          <p:cNvSpPr>
            <a:spLocks noGrp="1"/>
          </p:cNvSpPr>
          <p:nvPr/>
        </p:nvSpPr>
        <p:spPr>
          <a:xfrm>
            <a:off x="9763125" y="3752850"/>
            <a:ext cx="1657350" cy="447675"/>
          </a:xfrm>
          <a:prstGeom prst="rect">
            <a:avLst/>
          </a:prstGeom>
          <a:noFill/>
          <a:ln w="0">
            <a:noFill/>
          </a:ln>
        </p:spPr>
        <p:txBody>
          <a:bodyPr lIns="0" tIns="0" rIns="0" bIns="0" anchor="ctr">
            <a:noAutofit/>
          </a:bodyPr>
          <a:lstStyle>
            <a:defPPr algn="ctr">
              <a:defRPr sz="1725" b="1">
                <a:solidFill>
                  <a:srgbClr val="1B1D63"/>
                </a:solidFill>
                <a:latin typeface="Arial"/>
                <a:ea typeface="Arial"/>
                <a:cs typeface="Arial"/>
              </a:defRPr>
            </a:defPPr>
          </a:lstStyle>
          <a:p>
            <a:pPr algn="ctr">
              <a:defRPr sz="1725" b="1">
                <a:solidFill>
                  <a:srgbClr val="1B1D63"/>
                </a:solidFill>
                <a:latin typeface="Arial"/>
                <a:ea typeface="Arial"/>
                <a:cs typeface="Arial"/>
              </a:defRPr>
            </a:pPr>
            <a:r>
              <a:rPr sz="1725" b="1">
                <a:solidFill>
                  <a:srgbClr val="1B1D63"/>
                </a:solidFill>
                <a:latin typeface="Arial"/>
                <a:ea typeface="Arial"/>
                <a:cs typeface="Arial"/>
              </a:rPr>
              <a:t>One vector F</a:t>
            </a:r>
          </a:p>
        </p:txBody>
      </p:sp>
      <p:sp>
        <p:nvSpPr>
          <p:cNvPr id="139" name="person-diagram-388">
            <a:extLst>
              <a:ext uri="{FF2B5EF4-FFF2-40B4-BE49-F238E27FC236}">
                <a16:creationId xmlns:a16="http://schemas.microsoft.com/office/drawing/2014/main" id="{424F2920-4508-4BAB-9E37-505185FB1FA3}"/>
              </a:ext>
            </a:extLst>
          </p:cNvPr>
          <p:cNvSpPr>
            <a:spLocks noGrp="1"/>
          </p:cNvSpPr>
          <p:nvPr/>
        </p:nvSpPr>
        <p:spPr>
          <a:xfrm>
            <a:off x="7943850" y="4562475"/>
            <a:ext cx="3619500" cy="771525"/>
          </a:xfrm>
          <a:prstGeom prst="rect">
            <a:avLst/>
          </a:prstGeom>
          <a:noFill/>
          <a:ln w="0">
            <a:noFill/>
          </a:ln>
        </p:spPr>
        <p:txBody>
          <a:bodyPr lIns="0" tIns="0" rIns="0" bIns="0" anchor="ctr">
            <a:noAutofit/>
          </a:bodyPr>
          <a:lstStyle>
            <a:defPPr algn="l">
              <a:defRPr sz="1725" b="1">
                <a:solidFill>
                  <a:srgbClr val="1B1D63"/>
                </a:solidFill>
                <a:latin typeface="Arial"/>
                <a:ea typeface="Arial"/>
                <a:cs typeface="Arial"/>
              </a:defRPr>
            </a:defPPr>
          </a:lstStyle>
          <a:p>
            <a:pPr algn="l">
              <a:defRPr sz="1725" b="1">
                <a:solidFill>
                  <a:srgbClr val="1B1D63"/>
                </a:solidFill>
                <a:latin typeface="Arial"/>
                <a:ea typeface="Arial"/>
                <a:cs typeface="Arial"/>
              </a:defRPr>
            </a:pPr>
            <a:r>
              <a:rPr sz="1725" b="1">
                <a:solidFill>
                  <a:srgbClr val="1B1D63"/>
                </a:solidFill>
                <a:latin typeface="Arial"/>
                <a:ea typeface="Arial"/>
                <a:cs typeface="Arial"/>
              </a:rPr>
              <a:t>How much person-specific information</a:t>
            </a:r>
          </a:p>
          <a:p>
            <a:pPr algn="l">
              <a:defRPr sz="1725" b="1">
                <a:solidFill>
                  <a:srgbClr val="1B1D63"/>
                </a:solidFill>
                <a:latin typeface="Arial"/>
                <a:ea typeface="Arial"/>
                <a:cs typeface="Arial"/>
              </a:defRPr>
            </a:pPr>
            <a:r>
              <a:rPr sz="1725" b="1">
                <a:solidFill>
                  <a:srgbClr val="1B1D63"/>
                </a:solidFill>
                <a:latin typeface="Arial"/>
                <a:ea typeface="Arial"/>
                <a:cs typeface="Arial"/>
              </a:rPr>
              <a:t>survives before aggregation?</a:t>
            </a:r>
          </a:p>
        </p:txBody>
      </p:sp>
      <p:sp>
        <p:nvSpPr>
          <p:cNvPr id="140" name="person-diagram-389">
            <a:extLst>
              <a:ext uri="{FF2B5EF4-FFF2-40B4-BE49-F238E27FC236}">
                <a16:creationId xmlns:a16="http://schemas.microsoft.com/office/drawing/2014/main" id="{7E6C2A36-1998-4F78-8AAB-E2994066A46E}"/>
              </a:ext>
            </a:extLst>
          </p:cNvPr>
          <p:cNvSpPr>
            <a:spLocks noGrp="1"/>
          </p:cNvSpPr>
          <p:nvPr/>
        </p:nvSpPr>
        <p:spPr>
          <a:xfrm>
            <a:off x="495300" y="5810250"/>
            <a:ext cx="11220450" cy="495300"/>
          </a:xfrm>
          <a:prstGeom prst="roundRect">
            <a:avLst>
              <a:gd name="adj" fmla="val 30769"/>
            </a:avLst>
          </a:prstGeom>
          <a:solidFill>
            <a:srgbClr val="1B1D63"/>
          </a:solidFill>
          <a:ln w="11430">
            <a:solidFill>
              <a:srgbClr val="1B1D63"/>
            </a:solidFill>
          </a:ln>
        </p:spPr>
        <p:txBody>
          <a:bodyPr/>
          <a:lstStyle/>
          <a:p>
            <a:endParaRPr lang="zh-CN" altLang="en-US"/>
          </a:p>
        </p:txBody>
      </p:sp>
      <p:sp>
        <p:nvSpPr>
          <p:cNvPr id="141" name="person-diagram-390">
            <a:extLst>
              <a:ext uri="{FF2B5EF4-FFF2-40B4-BE49-F238E27FC236}">
                <a16:creationId xmlns:a16="http://schemas.microsoft.com/office/drawing/2014/main" id="{62405CB5-EECD-4D4C-8FC7-2BB37DB992A7}"/>
              </a:ext>
            </a:extLst>
          </p:cNvPr>
          <p:cNvSpPr>
            <a:spLocks noGrp="1"/>
          </p:cNvSpPr>
          <p:nvPr/>
        </p:nvSpPr>
        <p:spPr>
          <a:xfrm>
            <a:off x="723900" y="5857875"/>
            <a:ext cx="10763250" cy="400050"/>
          </a:xfrm>
          <a:prstGeom prst="rect">
            <a:avLst/>
          </a:prstGeom>
          <a:noFill/>
          <a:ln w="0">
            <a:noFill/>
          </a:ln>
        </p:spPr>
        <p:txBody>
          <a:bodyPr lIns="0" tIns="0" rIns="0" bIns="0" anchor="ctr">
            <a:noAutofit/>
          </a:bodyPr>
          <a:lstStyle>
            <a:defPPr algn="ctr">
              <a:defRPr sz="1875" b="1">
                <a:solidFill>
                  <a:srgbClr val="FFFFFF"/>
                </a:solidFill>
                <a:latin typeface="Arial"/>
                <a:ea typeface="Arial"/>
                <a:cs typeface="Arial"/>
              </a:defRPr>
            </a:defPPr>
          </a:lstStyle>
          <a:p>
            <a:pPr algn="ctr">
              <a:defRPr sz="1875" b="1">
                <a:solidFill>
                  <a:srgbClr val="FFFFFF"/>
                </a:solidFill>
                <a:latin typeface="Arial"/>
                <a:ea typeface="Arial"/>
                <a:cs typeface="Arial"/>
              </a:defRPr>
            </a:pPr>
            <a:r>
              <a:rPr sz="1875" b="1">
                <a:solidFill>
                  <a:srgbClr val="FFFFFF"/>
                </a:solidFill>
                <a:latin typeface="Arial"/>
                <a:ea typeface="Arial"/>
                <a:cs typeface="Arial"/>
              </a:rPr>
              <a:t>Person features are encoded separately, then explicitly averaged</a:t>
            </a:r>
          </a:p>
        </p:txBody>
      </p:sp>
    </p:spTree>
    <p:extLst>
      <p:ext uri="{BB962C8B-B14F-4D97-AF65-F5344CB8AC3E}">
        <p14:creationId xmlns:p14="http://schemas.microsoft.com/office/powerpoint/2010/main" val="4579871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6020B9DB-5032-5050-9494-533E96696BF9}"/>
              </a:ext>
            </a:extLst>
          </p:cNvPr>
          <p:cNvSpPr>
            <a:spLocks noGrp="1"/>
          </p:cNvSpPr>
          <p:nvPr/>
        </p:nvSpPr>
        <p:spPr>
          <a:xfrm>
            <a:off x="0" y="0"/>
            <a:ext cx="152400" cy="6858000"/>
          </a:xfrm>
          <a:prstGeom prst="rect">
            <a:avLst/>
          </a:prstGeom>
          <a:solidFill>
            <a:srgbClr val="E31346"/>
          </a:solidFill>
          <a:ln w="0">
            <a:noFill/>
          </a:ln>
        </p:spPr>
        <p:txBody>
          <a:bodyPr/>
          <a:lstStyle/>
          <a:p>
            <a:endParaRPr lang="zh-CN" altLang="en-US"/>
          </a:p>
        </p:txBody>
      </p:sp>
      <p:sp>
        <p:nvSpPr>
          <p:cNvPr id="2" name="矩形 1">
            <a:extLst>
              <a:ext uri="{FF2B5EF4-FFF2-40B4-BE49-F238E27FC236}">
                <a16:creationId xmlns:a16="http://schemas.microsoft.com/office/drawing/2014/main" id="{6DE7D3B9-B069-533A-A723-FD658DCEEAD7}"/>
              </a:ext>
            </a:extLst>
          </p:cNvPr>
          <p:cNvSpPr>
            <a:spLocks noGrp="1"/>
          </p:cNvSpPr>
          <p:nvPr/>
        </p:nvSpPr>
        <p:spPr>
          <a:xfrm>
            <a:off x="152400" y="6562725"/>
            <a:ext cx="12039600" cy="295275"/>
          </a:xfrm>
          <a:prstGeom prst="rect">
            <a:avLst/>
          </a:prstGeom>
          <a:solidFill>
            <a:srgbClr val="1B1D63"/>
          </a:solidFill>
          <a:ln w="0">
            <a:noFill/>
          </a:ln>
        </p:spPr>
        <p:txBody>
          <a:bodyPr/>
          <a:lstStyle/>
          <a:p>
            <a:endParaRPr lang="zh-CN" altLang="en-US"/>
          </a:p>
        </p:txBody>
      </p:sp>
      <p:sp>
        <p:nvSpPr>
          <p:cNvPr id="4" name="矩形 3">
            <a:extLst>
              <a:ext uri="{FF2B5EF4-FFF2-40B4-BE49-F238E27FC236}">
                <a16:creationId xmlns:a16="http://schemas.microsoft.com/office/drawing/2014/main" id="{1B009583-FF24-5DAF-B78E-9445CBF6CED1}"/>
              </a:ext>
            </a:extLst>
          </p:cNvPr>
          <p:cNvSpPr>
            <a:spLocks noGrp="1"/>
          </p:cNvSpPr>
          <p:nvPr/>
        </p:nvSpPr>
        <p:spPr>
          <a:xfrm>
            <a:off x="495300" y="723900"/>
            <a:ext cx="7239000" cy="219075"/>
          </a:xfrm>
          <a:prstGeom prst="rect">
            <a:avLst/>
          </a:prstGeom>
          <a:noFill/>
          <a:ln w="0">
            <a:noFill/>
          </a:ln>
        </p:spPr>
        <p:txBody>
          <a:bodyPr anchor="ctr">
            <a:normAutofit fontScale="93397" lnSpcReduction="10000"/>
          </a:bodyPr>
          <a:lstStyle/>
          <a:p>
            <a:pPr algn="l">
              <a:defRPr sz="975" b="1">
                <a:solidFill>
                  <a:srgbClr val="E31346"/>
                </a:solidFill>
                <a:latin typeface="Arial"/>
                <a:ea typeface="Arial"/>
                <a:cs typeface="Arial"/>
              </a:defRPr>
            </a:pPr>
            <a:r>
              <a:rPr sz="975" b="1">
                <a:solidFill>
                  <a:srgbClr val="E31346"/>
                </a:solidFill>
                <a:latin typeface="Arial"/>
                <a:ea typeface="Arial"/>
                <a:cs typeface="Arial"/>
              </a:rPr>
              <a:t>EE6008 · HUMAN POSE GROUP PROJECT</a:t>
            </a:r>
          </a:p>
        </p:txBody>
      </p:sp>
      <p:sp>
        <p:nvSpPr>
          <p:cNvPr id="5" name="矩形 4">
            <a:extLst>
              <a:ext uri="{FF2B5EF4-FFF2-40B4-BE49-F238E27FC236}">
                <a16:creationId xmlns:a16="http://schemas.microsoft.com/office/drawing/2014/main" id="{739629AB-40F3-5666-8633-3A4FB67E6480}"/>
              </a:ext>
            </a:extLst>
          </p:cNvPr>
          <p:cNvSpPr>
            <a:spLocks noGrp="1"/>
          </p:cNvSpPr>
          <p:nvPr/>
        </p:nvSpPr>
        <p:spPr>
          <a:xfrm>
            <a:off x="495300" y="1009650"/>
            <a:ext cx="1562100" cy="47625"/>
          </a:xfrm>
          <a:prstGeom prst="rect">
            <a:avLst/>
          </a:prstGeom>
          <a:solidFill>
            <a:srgbClr val="E31346"/>
          </a:solidFill>
          <a:ln w="0">
            <a:noFill/>
          </a:ln>
        </p:spPr>
        <p:txBody>
          <a:bodyPr/>
          <a:lstStyle/>
          <a:p>
            <a:endParaRPr lang="zh-CN" altLang="en-US"/>
          </a:p>
        </p:txBody>
      </p:sp>
      <p:sp>
        <p:nvSpPr>
          <p:cNvPr id="7" name="矩形 6">
            <a:extLst>
              <a:ext uri="{FF2B5EF4-FFF2-40B4-BE49-F238E27FC236}">
                <a16:creationId xmlns:a16="http://schemas.microsoft.com/office/drawing/2014/main" id="{FFE571FA-3B6E-5D6D-8768-2A05174090BD}"/>
              </a:ext>
            </a:extLst>
          </p:cNvPr>
          <p:cNvSpPr>
            <a:spLocks noGrp="1"/>
          </p:cNvSpPr>
          <p:nvPr/>
        </p:nvSpPr>
        <p:spPr>
          <a:xfrm>
            <a:off x="495300" y="6591300"/>
            <a:ext cx="2857500" cy="219075"/>
          </a:xfrm>
          <a:prstGeom prst="rect">
            <a:avLst/>
          </a:prstGeom>
          <a:noFill/>
          <a:ln w="0">
            <a:noFill/>
          </a:ln>
        </p:spPr>
        <p:txBody>
          <a:bodyPr anchor="ctr">
            <a:normAutofit/>
          </a:bodyPr>
          <a:lstStyle/>
          <a:p>
            <a:pPr algn="l">
              <a:defRPr sz="750" b="1">
                <a:solidFill>
                  <a:srgbClr val="FFFFFF"/>
                </a:solidFill>
                <a:latin typeface="Arial"/>
                <a:ea typeface="Arial"/>
                <a:cs typeface="Arial"/>
              </a:defRPr>
            </a:pPr>
            <a:r>
              <a:rPr sz="750" b="1">
                <a:solidFill>
                  <a:srgbClr val="FFFFFF"/>
                </a:solidFill>
                <a:latin typeface="Arial"/>
                <a:ea typeface="Arial"/>
                <a:cs typeface="Arial"/>
              </a:rPr>
              <a:t>EE6008 · WEEKLY REPORT</a:t>
            </a:r>
          </a:p>
        </p:txBody>
      </p:sp>
      <p:sp>
        <p:nvSpPr>
          <p:cNvPr id="8" name="矩形 7">
            <a:extLst>
              <a:ext uri="{FF2B5EF4-FFF2-40B4-BE49-F238E27FC236}">
                <a16:creationId xmlns:a16="http://schemas.microsoft.com/office/drawing/2014/main" id="{F9079B42-CCCC-54F2-ABB4-6A861CD3BBFC}"/>
              </a:ext>
            </a:extLst>
          </p:cNvPr>
          <p:cNvSpPr>
            <a:spLocks noGrp="1"/>
          </p:cNvSpPr>
          <p:nvPr/>
        </p:nvSpPr>
        <p:spPr>
          <a:xfrm>
            <a:off x="11049000" y="6591300"/>
            <a:ext cx="619125" cy="219075"/>
          </a:xfrm>
          <a:prstGeom prst="rect">
            <a:avLst/>
          </a:prstGeom>
          <a:noFill/>
          <a:ln w="0">
            <a:noFill/>
          </a:ln>
        </p:spPr>
        <p:txBody>
          <a:bodyPr anchor="ctr">
            <a:normAutofit/>
          </a:bodyPr>
          <a:lstStyle/>
          <a:p>
            <a:pPr algn="r">
              <a:defRPr sz="750" b="1">
                <a:solidFill>
                  <a:srgbClr val="FFFFFF"/>
                </a:solidFill>
                <a:latin typeface="Arial"/>
                <a:ea typeface="Arial"/>
                <a:cs typeface="Arial"/>
              </a:defRPr>
            </a:pPr>
            <a:r>
              <a:rPr sz="750" b="1">
                <a:solidFill>
                  <a:srgbClr val="FFFFFF"/>
                </a:solidFill>
                <a:latin typeface="Arial"/>
                <a:ea typeface="Arial"/>
                <a:cs typeface="Arial"/>
              </a:rPr>
              <a:t>07</a:t>
            </a:r>
          </a:p>
        </p:txBody>
      </p:sp>
      <p:sp>
        <p:nvSpPr>
          <p:cNvPr id="100" name="person-diagram-391">
            <a:extLst>
              <a:ext uri="{FF2B5EF4-FFF2-40B4-BE49-F238E27FC236}">
                <a16:creationId xmlns:a16="http://schemas.microsoft.com/office/drawing/2014/main" id="{2277C13B-4AC3-4CFA-A546-6A6EB763C526}"/>
              </a:ext>
            </a:extLst>
          </p:cNvPr>
          <p:cNvSpPr>
            <a:spLocks noGrp="1"/>
          </p:cNvSpPr>
          <p:nvPr/>
        </p:nvSpPr>
        <p:spPr>
          <a:xfrm>
            <a:off x="590550" y="238125"/>
            <a:ext cx="8524875" cy="476250"/>
          </a:xfrm>
          <a:prstGeom prst="rect">
            <a:avLst/>
          </a:prstGeom>
          <a:noFill/>
          <a:ln w="0">
            <a:noFill/>
          </a:ln>
        </p:spPr>
        <p:txBody>
          <a:bodyPr lIns="0" tIns="0" rIns="0" bIns="0" anchor="ctr">
            <a:noAutofit/>
          </a:bodyPr>
          <a:lstStyle>
            <a:defPPr algn="l">
              <a:defRPr sz="2524" b="1">
                <a:solidFill>
                  <a:srgbClr val="1B1D63"/>
                </a:solidFill>
                <a:latin typeface="Arial"/>
                <a:ea typeface="Arial"/>
                <a:cs typeface="Arial"/>
              </a:defRPr>
            </a:defPPr>
          </a:lstStyle>
          <a:p>
            <a:pPr algn="l">
              <a:defRPr sz="2524" b="1">
                <a:solidFill>
                  <a:srgbClr val="1B1D63"/>
                </a:solidFill>
                <a:latin typeface="Arial"/>
                <a:ea typeface="Arial"/>
                <a:cs typeface="Arial"/>
              </a:defRPr>
            </a:pPr>
            <a:r>
              <a:rPr sz="2524" b="1">
                <a:solidFill>
                  <a:srgbClr val="1B1D63"/>
                </a:solidFill>
                <a:latin typeface="Arial"/>
                <a:ea typeface="Arial"/>
                <a:cs typeface="Arial"/>
              </a:rPr>
              <a:t>CTR-GCN · Symmetric Pooling, Sensitive Pipeline</a:t>
            </a:r>
          </a:p>
        </p:txBody>
      </p:sp>
      <p:pic>
        <p:nvPicPr>
          <p:cNvPr id="101" name="图片 100">
            <a:extLst>
              <a:ext uri="{FF2B5EF4-FFF2-40B4-BE49-F238E27FC236}">
                <a16:creationId xmlns:a16="http://schemas.microsoft.com/office/drawing/2014/main" id="{37F247D1-97C0-4F29-93F9-FDBE3F835736}"/>
              </a:ext>
            </a:extLst>
          </p:cNvPr>
          <p:cNvPicPr>
            <a:picLocks noChangeAspect="1"/>
          </p:cNvPicPr>
          <p:nvPr/>
        </p:nvPicPr>
        <p:blipFill>
          <a:blip r:embed="rId3"/>
          <a:stretch/>
        </p:blipFill>
        <p:spPr>
          <a:xfrm>
            <a:off x="9696450" y="191381"/>
            <a:ext cx="2038350" cy="731663"/>
          </a:xfrm>
          <a:prstGeom prst="rect">
            <a:avLst/>
          </a:prstGeom>
        </p:spPr>
      </p:pic>
      <p:sp>
        <p:nvSpPr>
          <p:cNvPr id="102" name="person-diagram-392">
            <a:extLst>
              <a:ext uri="{FF2B5EF4-FFF2-40B4-BE49-F238E27FC236}">
                <a16:creationId xmlns:a16="http://schemas.microsoft.com/office/drawing/2014/main" id="{0D2503A6-808E-40D0-AB1A-41CB293DE2E3}"/>
              </a:ext>
            </a:extLst>
          </p:cNvPr>
          <p:cNvSpPr>
            <a:spLocks noGrp="1"/>
          </p:cNvSpPr>
          <p:nvPr/>
        </p:nvSpPr>
        <p:spPr>
          <a:xfrm>
            <a:off x="495300" y="1438275"/>
            <a:ext cx="5343525" cy="2476500"/>
          </a:xfrm>
          <a:prstGeom prst="roundRect">
            <a:avLst>
              <a:gd name="adj" fmla="val 6154"/>
            </a:avLst>
          </a:prstGeom>
          <a:solidFill>
            <a:srgbClr val="E9EDF8"/>
          </a:solidFill>
          <a:ln w="0">
            <a:noFill/>
          </a:ln>
        </p:spPr>
        <p:txBody>
          <a:bodyPr/>
          <a:lstStyle/>
          <a:p>
            <a:endParaRPr lang="zh-CN" altLang="en-US"/>
          </a:p>
        </p:txBody>
      </p:sp>
      <p:sp>
        <p:nvSpPr>
          <p:cNvPr id="103" name="person-diagram-393">
            <a:extLst>
              <a:ext uri="{FF2B5EF4-FFF2-40B4-BE49-F238E27FC236}">
                <a16:creationId xmlns:a16="http://schemas.microsoft.com/office/drawing/2014/main" id="{56CFAFF9-281E-4DEB-9085-1015D6A6BC5C}"/>
              </a:ext>
            </a:extLst>
          </p:cNvPr>
          <p:cNvSpPr>
            <a:spLocks noGrp="1"/>
          </p:cNvSpPr>
          <p:nvPr/>
        </p:nvSpPr>
        <p:spPr>
          <a:xfrm>
            <a:off x="723900" y="1619250"/>
            <a:ext cx="4762500" cy="247650"/>
          </a:xfrm>
          <a:prstGeom prst="rect">
            <a:avLst/>
          </a:prstGeom>
          <a:noFill/>
          <a:ln w="0">
            <a:noFill/>
          </a:ln>
        </p:spPr>
        <p:txBody>
          <a:bodyPr lIns="0" tIns="0" rIns="0" bIns="0" anchor="ctr">
            <a:noAutofit/>
          </a:bodyPr>
          <a:lstStyle>
            <a:defPPr algn="l">
              <a:defRPr sz="1050" b="1">
                <a:solidFill>
                  <a:srgbClr val="E31346"/>
                </a:solidFill>
                <a:latin typeface="Arial"/>
                <a:ea typeface="Arial"/>
                <a:cs typeface="Arial"/>
              </a:defRPr>
            </a:defPPr>
          </a:lstStyle>
          <a:p>
            <a:pPr algn="l">
              <a:defRPr sz="1050" b="1">
                <a:solidFill>
                  <a:srgbClr val="E31346"/>
                </a:solidFill>
                <a:latin typeface="Arial"/>
                <a:ea typeface="Arial"/>
                <a:cs typeface="Arial"/>
              </a:defRPr>
            </a:pPr>
            <a:r>
              <a:rPr sz="1050" b="1">
                <a:solidFill>
                  <a:srgbClr val="E31346"/>
                </a:solidFill>
                <a:latin typeface="Arial"/>
                <a:ea typeface="Arial"/>
                <a:cs typeface="Arial"/>
              </a:rPr>
              <a:t>ARCHITECTURE</a:t>
            </a:r>
          </a:p>
        </p:txBody>
      </p:sp>
      <p:sp>
        <p:nvSpPr>
          <p:cNvPr id="104" name="person-diagram-394">
            <a:extLst>
              <a:ext uri="{FF2B5EF4-FFF2-40B4-BE49-F238E27FC236}">
                <a16:creationId xmlns:a16="http://schemas.microsoft.com/office/drawing/2014/main" id="{F4148EA7-1AF4-4F7C-8D4F-9C1159F622F2}"/>
              </a:ext>
            </a:extLst>
          </p:cNvPr>
          <p:cNvSpPr>
            <a:spLocks noGrp="1"/>
          </p:cNvSpPr>
          <p:nvPr/>
        </p:nvSpPr>
        <p:spPr>
          <a:xfrm>
            <a:off x="733425" y="2162175"/>
            <a:ext cx="1181100" cy="581025"/>
          </a:xfrm>
          <a:prstGeom prst="roundRect">
            <a:avLst>
              <a:gd name="adj" fmla="val 26230"/>
            </a:avLst>
          </a:prstGeom>
          <a:solidFill>
            <a:srgbClr val="FFFFFF"/>
          </a:solidFill>
          <a:ln w="0">
            <a:noFill/>
          </a:ln>
        </p:spPr>
        <p:txBody>
          <a:bodyPr/>
          <a:lstStyle/>
          <a:p>
            <a:endParaRPr lang="zh-CN" altLang="en-US"/>
          </a:p>
        </p:txBody>
      </p:sp>
      <p:sp>
        <p:nvSpPr>
          <p:cNvPr id="105" name="person-diagram-395">
            <a:extLst>
              <a:ext uri="{FF2B5EF4-FFF2-40B4-BE49-F238E27FC236}">
                <a16:creationId xmlns:a16="http://schemas.microsoft.com/office/drawing/2014/main" id="{06BDEA19-9683-41B8-AC73-623310265461}"/>
              </a:ext>
            </a:extLst>
          </p:cNvPr>
          <p:cNvSpPr>
            <a:spLocks noGrp="1"/>
          </p:cNvSpPr>
          <p:nvPr/>
        </p:nvSpPr>
        <p:spPr>
          <a:xfrm>
            <a:off x="866775" y="2219325"/>
            <a:ext cx="914400" cy="466725"/>
          </a:xfrm>
          <a:prstGeom prst="rect">
            <a:avLst/>
          </a:prstGeom>
          <a:noFill/>
          <a:ln w="0">
            <a:noFill/>
          </a:ln>
        </p:spPr>
        <p:txBody>
          <a:bodyPr lIns="0" tIns="0" rIns="0" bIns="0" anchor="ctr">
            <a:noAutofit/>
          </a:bodyPr>
          <a:lstStyle>
            <a:defPPr algn="ctr">
              <a:defRPr sz="2100" b="1">
                <a:solidFill>
                  <a:srgbClr val="1B1D63"/>
                </a:solidFill>
                <a:latin typeface="Arial"/>
                <a:ea typeface="Arial"/>
                <a:cs typeface="Arial"/>
              </a:defRPr>
            </a:defPPr>
          </a:lstStyle>
          <a:p>
            <a:pPr algn="ctr">
              <a:defRPr sz="2100" b="1">
                <a:solidFill>
                  <a:srgbClr val="1B1D63"/>
                </a:solidFill>
                <a:latin typeface="Arial"/>
                <a:ea typeface="Arial"/>
                <a:cs typeface="Arial"/>
              </a:defRPr>
            </a:pPr>
            <a:r>
              <a:rPr sz="2100" b="1">
                <a:solidFill>
                  <a:srgbClr val="1B1D63"/>
                </a:solidFill>
                <a:latin typeface="Arial"/>
                <a:ea typeface="Arial"/>
                <a:cs typeface="Arial"/>
              </a:rPr>
              <a:t>F_A</a:t>
            </a:r>
          </a:p>
        </p:txBody>
      </p:sp>
      <p:sp>
        <p:nvSpPr>
          <p:cNvPr id="106" name="person-diagram-396">
            <a:extLst>
              <a:ext uri="{FF2B5EF4-FFF2-40B4-BE49-F238E27FC236}">
                <a16:creationId xmlns:a16="http://schemas.microsoft.com/office/drawing/2014/main" id="{89A6482D-0B18-4DF3-8024-CD48C58998DF}"/>
              </a:ext>
            </a:extLst>
          </p:cNvPr>
          <p:cNvSpPr>
            <a:spLocks noGrp="1"/>
          </p:cNvSpPr>
          <p:nvPr/>
        </p:nvSpPr>
        <p:spPr>
          <a:xfrm>
            <a:off x="733425" y="3009900"/>
            <a:ext cx="1181100" cy="581025"/>
          </a:xfrm>
          <a:prstGeom prst="roundRect">
            <a:avLst>
              <a:gd name="adj" fmla="val 26230"/>
            </a:avLst>
          </a:prstGeom>
          <a:solidFill>
            <a:srgbClr val="E6F6F4"/>
          </a:solidFill>
          <a:ln w="0">
            <a:noFill/>
          </a:ln>
        </p:spPr>
        <p:txBody>
          <a:bodyPr/>
          <a:lstStyle/>
          <a:p>
            <a:endParaRPr lang="zh-CN" altLang="en-US"/>
          </a:p>
        </p:txBody>
      </p:sp>
      <p:sp>
        <p:nvSpPr>
          <p:cNvPr id="107" name="person-diagram-397">
            <a:extLst>
              <a:ext uri="{FF2B5EF4-FFF2-40B4-BE49-F238E27FC236}">
                <a16:creationId xmlns:a16="http://schemas.microsoft.com/office/drawing/2014/main" id="{31A8DF31-DD63-4024-972A-6F9FB51FD635}"/>
              </a:ext>
            </a:extLst>
          </p:cNvPr>
          <p:cNvSpPr>
            <a:spLocks noGrp="1"/>
          </p:cNvSpPr>
          <p:nvPr/>
        </p:nvSpPr>
        <p:spPr>
          <a:xfrm>
            <a:off x="866775" y="3067050"/>
            <a:ext cx="914400" cy="466725"/>
          </a:xfrm>
          <a:prstGeom prst="rect">
            <a:avLst/>
          </a:prstGeom>
          <a:noFill/>
          <a:ln w="0">
            <a:noFill/>
          </a:ln>
        </p:spPr>
        <p:txBody>
          <a:bodyPr lIns="0" tIns="0" rIns="0" bIns="0" anchor="ctr">
            <a:noAutofit/>
          </a:bodyPr>
          <a:lstStyle>
            <a:defPPr algn="ctr">
              <a:defRPr sz="2100" b="1">
                <a:solidFill>
                  <a:srgbClr val="38AFA2"/>
                </a:solidFill>
                <a:latin typeface="Arial"/>
                <a:ea typeface="Arial"/>
                <a:cs typeface="Arial"/>
              </a:defRPr>
            </a:defPPr>
          </a:lstStyle>
          <a:p>
            <a:pPr algn="ctr">
              <a:defRPr sz="2100" b="1">
                <a:solidFill>
                  <a:srgbClr val="38AFA2"/>
                </a:solidFill>
                <a:latin typeface="Arial"/>
                <a:ea typeface="Arial"/>
                <a:cs typeface="Arial"/>
              </a:defRPr>
            </a:pPr>
            <a:r>
              <a:rPr sz="2100" b="1">
                <a:solidFill>
                  <a:srgbClr val="38AFA2"/>
                </a:solidFill>
                <a:latin typeface="Arial"/>
                <a:ea typeface="Arial"/>
                <a:cs typeface="Arial"/>
              </a:rPr>
              <a:t>F_B</a:t>
            </a:r>
          </a:p>
        </p:txBody>
      </p:sp>
      <p:sp>
        <p:nvSpPr>
          <p:cNvPr id="108" name="diagram-line-398">
            <a:extLst>
              <a:ext uri="{FF2B5EF4-FFF2-40B4-BE49-F238E27FC236}">
                <a16:creationId xmlns:a16="http://schemas.microsoft.com/office/drawing/2014/main" id="{E813EA42-43CC-40F4-872D-BDF1256D51C4}"/>
              </a:ext>
            </a:extLst>
          </p:cNvPr>
          <p:cNvSpPr>
            <a:spLocks noGrp="1"/>
          </p:cNvSpPr>
          <p:nvPr/>
        </p:nvSpPr>
        <p:spPr>
          <a:xfrm>
            <a:off x="1914525" y="2447925"/>
            <a:ext cx="333375" cy="953"/>
          </a:xfrm>
          <a:prstGeom prst="line">
            <a:avLst/>
          </a:prstGeom>
          <a:noFill/>
          <a:ln w="19050">
            <a:solidFill>
              <a:srgbClr val="1B1D63"/>
            </a:solidFill>
          </a:ln>
        </p:spPr>
        <p:txBody>
          <a:bodyPr/>
          <a:lstStyle/>
          <a:p>
            <a:endParaRPr lang="zh-CN" altLang="en-US"/>
          </a:p>
        </p:txBody>
      </p:sp>
      <p:sp>
        <p:nvSpPr>
          <p:cNvPr id="109" name="diagram-line-399">
            <a:extLst>
              <a:ext uri="{FF2B5EF4-FFF2-40B4-BE49-F238E27FC236}">
                <a16:creationId xmlns:a16="http://schemas.microsoft.com/office/drawing/2014/main" id="{1D92AB74-CF52-405A-A3DF-BB1BFF1E974F}"/>
              </a:ext>
            </a:extLst>
          </p:cNvPr>
          <p:cNvSpPr>
            <a:spLocks noGrp="1"/>
          </p:cNvSpPr>
          <p:nvPr/>
        </p:nvSpPr>
        <p:spPr>
          <a:xfrm>
            <a:off x="1914525" y="3295650"/>
            <a:ext cx="333375" cy="953"/>
          </a:xfrm>
          <a:prstGeom prst="line">
            <a:avLst/>
          </a:prstGeom>
          <a:noFill/>
          <a:ln w="19050">
            <a:solidFill>
              <a:srgbClr val="38AFA2"/>
            </a:solidFill>
          </a:ln>
        </p:spPr>
        <p:txBody>
          <a:bodyPr/>
          <a:lstStyle/>
          <a:p>
            <a:endParaRPr lang="zh-CN" altLang="en-US"/>
          </a:p>
        </p:txBody>
      </p:sp>
      <p:sp>
        <p:nvSpPr>
          <p:cNvPr id="110" name="diagram-line-400">
            <a:extLst>
              <a:ext uri="{FF2B5EF4-FFF2-40B4-BE49-F238E27FC236}">
                <a16:creationId xmlns:a16="http://schemas.microsoft.com/office/drawing/2014/main" id="{60C58A78-96B5-423A-8C8E-35B3977127EF}"/>
              </a:ext>
            </a:extLst>
          </p:cNvPr>
          <p:cNvSpPr>
            <a:spLocks noGrp="1"/>
          </p:cNvSpPr>
          <p:nvPr/>
        </p:nvSpPr>
        <p:spPr>
          <a:xfrm>
            <a:off x="2247900" y="2447925"/>
            <a:ext cx="953" cy="847725"/>
          </a:xfrm>
          <a:prstGeom prst="line">
            <a:avLst/>
          </a:prstGeom>
          <a:noFill/>
          <a:ln w="19050">
            <a:solidFill>
              <a:srgbClr val="697386"/>
            </a:solidFill>
          </a:ln>
        </p:spPr>
        <p:txBody>
          <a:bodyPr/>
          <a:lstStyle/>
          <a:p>
            <a:endParaRPr lang="zh-CN" altLang="en-US"/>
          </a:p>
        </p:txBody>
      </p:sp>
      <p:sp>
        <p:nvSpPr>
          <p:cNvPr id="111" name="person-diagram-401">
            <a:extLst>
              <a:ext uri="{FF2B5EF4-FFF2-40B4-BE49-F238E27FC236}">
                <a16:creationId xmlns:a16="http://schemas.microsoft.com/office/drawing/2014/main" id="{CAB97555-AA1C-4647-8C98-936AB767C3B9}"/>
              </a:ext>
            </a:extLst>
          </p:cNvPr>
          <p:cNvSpPr>
            <a:spLocks noGrp="1"/>
          </p:cNvSpPr>
          <p:nvPr/>
        </p:nvSpPr>
        <p:spPr>
          <a:xfrm>
            <a:off x="2247900" y="2800350"/>
            <a:ext cx="352425" cy="161925"/>
          </a:xfrm>
          <a:prstGeom prst="rightArrow">
            <a:avLst/>
          </a:prstGeom>
          <a:solidFill>
            <a:srgbClr val="697386"/>
          </a:solidFill>
          <a:ln w="0">
            <a:noFill/>
          </a:ln>
        </p:spPr>
        <p:txBody>
          <a:bodyPr/>
          <a:lstStyle/>
          <a:p>
            <a:endParaRPr lang="zh-CN" altLang="en-US"/>
          </a:p>
        </p:txBody>
      </p:sp>
      <p:sp>
        <p:nvSpPr>
          <p:cNvPr id="112" name="person-diagram-402">
            <a:extLst>
              <a:ext uri="{FF2B5EF4-FFF2-40B4-BE49-F238E27FC236}">
                <a16:creationId xmlns:a16="http://schemas.microsoft.com/office/drawing/2014/main" id="{DADA9514-BBA0-45F9-AE2B-DF0D5F7472AB}"/>
              </a:ext>
            </a:extLst>
          </p:cNvPr>
          <p:cNvSpPr>
            <a:spLocks noGrp="1"/>
          </p:cNvSpPr>
          <p:nvPr/>
        </p:nvSpPr>
        <p:spPr>
          <a:xfrm>
            <a:off x="2705100" y="2590800"/>
            <a:ext cx="1714500" cy="542925"/>
          </a:xfrm>
          <a:prstGeom prst="roundRect">
            <a:avLst>
              <a:gd name="adj" fmla="val 28070"/>
            </a:avLst>
          </a:prstGeom>
          <a:solidFill>
            <a:srgbClr val="FFFFFF"/>
          </a:solidFill>
          <a:ln w="0">
            <a:noFill/>
          </a:ln>
        </p:spPr>
        <p:txBody>
          <a:bodyPr/>
          <a:lstStyle/>
          <a:p>
            <a:endParaRPr lang="zh-CN" altLang="en-US"/>
          </a:p>
        </p:txBody>
      </p:sp>
      <p:sp>
        <p:nvSpPr>
          <p:cNvPr id="113" name="person-diagram-403">
            <a:extLst>
              <a:ext uri="{FF2B5EF4-FFF2-40B4-BE49-F238E27FC236}">
                <a16:creationId xmlns:a16="http://schemas.microsoft.com/office/drawing/2014/main" id="{3B1F397F-DB50-45CB-A3F6-C84E54614894}"/>
              </a:ext>
            </a:extLst>
          </p:cNvPr>
          <p:cNvSpPr>
            <a:spLocks noGrp="1"/>
          </p:cNvSpPr>
          <p:nvPr/>
        </p:nvSpPr>
        <p:spPr>
          <a:xfrm>
            <a:off x="2838450" y="2647950"/>
            <a:ext cx="1447800" cy="428625"/>
          </a:xfrm>
          <a:prstGeom prst="rect">
            <a:avLst/>
          </a:prstGeom>
          <a:noFill/>
          <a:ln w="0">
            <a:noFill/>
          </a:ln>
        </p:spPr>
        <p:txBody>
          <a:bodyPr lIns="0" tIns="0" rIns="0" bIns="0" anchor="ctr">
            <a:noAutofit/>
          </a:bodyPr>
          <a:lstStyle>
            <a:defPPr algn="ctr">
              <a:defRPr sz="1800" b="1">
                <a:solidFill>
                  <a:srgbClr val="1B1D63"/>
                </a:solidFill>
                <a:latin typeface="Arial"/>
                <a:ea typeface="Arial"/>
                <a:cs typeface="Arial"/>
              </a:defRPr>
            </a:defPPr>
          </a:lstStyle>
          <a:p>
            <a:pPr algn="ctr">
              <a:defRPr sz="1800" b="1">
                <a:solidFill>
                  <a:srgbClr val="1B1D63"/>
                </a:solidFill>
                <a:latin typeface="Arial"/>
                <a:ea typeface="Arial"/>
                <a:cs typeface="Arial"/>
              </a:defRPr>
            </a:pPr>
            <a:r>
              <a:rPr sz="1800" b="1">
                <a:solidFill>
                  <a:srgbClr val="1B1D63"/>
                </a:solidFill>
                <a:latin typeface="Arial"/>
                <a:ea typeface="Arial"/>
                <a:cs typeface="Arial"/>
              </a:rPr>
              <a:t>mean(M)</a:t>
            </a:r>
          </a:p>
        </p:txBody>
      </p:sp>
      <p:sp>
        <p:nvSpPr>
          <p:cNvPr id="114" name="person-diagram-404">
            <a:extLst>
              <a:ext uri="{FF2B5EF4-FFF2-40B4-BE49-F238E27FC236}">
                <a16:creationId xmlns:a16="http://schemas.microsoft.com/office/drawing/2014/main" id="{FE397526-C817-47AA-8F61-82B1655CCF7B}"/>
              </a:ext>
            </a:extLst>
          </p:cNvPr>
          <p:cNvSpPr>
            <a:spLocks noGrp="1"/>
          </p:cNvSpPr>
          <p:nvPr/>
        </p:nvSpPr>
        <p:spPr>
          <a:xfrm>
            <a:off x="4505325" y="2762250"/>
            <a:ext cx="342900" cy="171450"/>
          </a:xfrm>
          <a:prstGeom prst="rightArrow">
            <a:avLst/>
          </a:prstGeom>
          <a:solidFill>
            <a:srgbClr val="697386"/>
          </a:solidFill>
          <a:ln w="0">
            <a:noFill/>
          </a:ln>
        </p:spPr>
        <p:txBody>
          <a:bodyPr/>
          <a:lstStyle/>
          <a:p>
            <a:endParaRPr lang="zh-CN" altLang="en-US"/>
          </a:p>
        </p:txBody>
      </p:sp>
      <p:sp>
        <p:nvSpPr>
          <p:cNvPr id="115" name="person-diagram-405">
            <a:extLst>
              <a:ext uri="{FF2B5EF4-FFF2-40B4-BE49-F238E27FC236}">
                <a16:creationId xmlns:a16="http://schemas.microsoft.com/office/drawing/2014/main" id="{5C48F247-9C39-4E2E-8720-CB78FEEC841D}"/>
              </a:ext>
            </a:extLst>
          </p:cNvPr>
          <p:cNvSpPr>
            <a:spLocks noGrp="1"/>
          </p:cNvSpPr>
          <p:nvPr/>
        </p:nvSpPr>
        <p:spPr>
          <a:xfrm>
            <a:off x="5000625" y="2657475"/>
            <a:ext cx="600075" cy="390525"/>
          </a:xfrm>
          <a:prstGeom prst="rect">
            <a:avLst/>
          </a:prstGeom>
          <a:noFill/>
          <a:ln w="0">
            <a:noFill/>
          </a:ln>
        </p:spPr>
        <p:txBody>
          <a:bodyPr lIns="0" tIns="0" rIns="0" bIns="0" anchor="ctr">
            <a:noAutofit/>
          </a:bodyPr>
          <a:lstStyle>
            <a:defPPr algn="l">
              <a:defRPr sz="1800" b="1">
                <a:solidFill>
                  <a:srgbClr val="1B1D63"/>
                </a:solidFill>
                <a:latin typeface="Arial"/>
                <a:ea typeface="Arial"/>
                <a:cs typeface="Arial"/>
              </a:defRPr>
            </a:defPPr>
          </a:lstStyle>
          <a:p>
            <a:pPr algn="l">
              <a:defRPr sz="1800" b="1">
                <a:solidFill>
                  <a:srgbClr val="1B1D63"/>
                </a:solidFill>
                <a:latin typeface="Arial"/>
                <a:ea typeface="Arial"/>
                <a:cs typeface="Arial"/>
              </a:defRPr>
            </a:pPr>
            <a:r>
              <a:rPr sz="1800" b="1">
                <a:solidFill>
                  <a:srgbClr val="1B1D63"/>
                </a:solidFill>
                <a:latin typeface="Arial"/>
                <a:ea typeface="Arial"/>
                <a:cs typeface="Arial"/>
              </a:rPr>
              <a:t>fc</a:t>
            </a:r>
          </a:p>
        </p:txBody>
      </p:sp>
      <p:sp>
        <p:nvSpPr>
          <p:cNvPr id="116" name="person-diagram-406">
            <a:extLst>
              <a:ext uri="{FF2B5EF4-FFF2-40B4-BE49-F238E27FC236}">
                <a16:creationId xmlns:a16="http://schemas.microsoft.com/office/drawing/2014/main" id="{F06CE2F1-49B0-48E5-8A09-1BF5DEE40B36}"/>
              </a:ext>
            </a:extLst>
          </p:cNvPr>
          <p:cNvSpPr>
            <a:spLocks noGrp="1"/>
          </p:cNvSpPr>
          <p:nvPr/>
        </p:nvSpPr>
        <p:spPr>
          <a:xfrm>
            <a:off x="742950" y="3514725"/>
            <a:ext cx="4762500" cy="285750"/>
          </a:xfrm>
          <a:prstGeom prst="rect">
            <a:avLst/>
          </a:prstGeom>
          <a:noFill/>
          <a:ln w="0">
            <a:noFill/>
          </a:ln>
        </p:spPr>
        <p:txBody>
          <a:bodyPr lIns="0" tIns="0" rIns="0" bIns="0" anchor="ctr">
            <a:noAutofit/>
          </a:bodyPr>
          <a:lstStyle>
            <a:defPPr algn="ctr">
              <a:defRPr sz="1650" b="1">
                <a:solidFill>
                  <a:srgbClr val="1B1D63"/>
                </a:solidFill>
                <a:latin typeface="Arial"/>
                <a:ea typeface="Arial"/>
                <a:cs typeface="Arial"/>
              </a:defRPr>
            </a:defPPr>
          </a:lstStyle>
          <a:p>
            <a:pPr algn="ctr">
              <a:defRPr sz="1650" b="1">
                <a:solidFill>
                  <a:srgbClr val="1B1D63"/>
                </a:solidFill>
                <a:latin typeface="Arial"/>
                <a:ea typeface="Arial"/>
                <a:cs typeface="Arial"/>
              </a:defRPr>
            </a:pPr>
            <a:r>
              <a:rPr sz="1650" b="1">
                <a:solidFill>
                  <a:srgbClr val="1B1D63"/>
                </a:solidFill>
                <a:latin typeface="Arial"/>
                <a:ea typeface="Arial"/>
                <a:cs typeface="Arial"/>
              </a:rPr>
              <a:t>mean(A, B) = mean(B, A)</a:t>
            </a:r>
          </a:p>
        </p:txBody>
      </p:sp>
      <p:sp>
        <p:nvSpPr>
          <p:cNvPr id="117" name="person-diagram-407">
            <a:extLst>
              <a:ext uri="{FF2B5EF4-FFF2-40B4-BE49-F238E27FC236}">
                <a16:creationId xmlns:a16="http://schemas.microsoft.com/office/drawing/2014/main" id="{C61249BC-9F72-4321-822B-962F14223C43}"/>
              </a:ext>
            </a:extLst>
          </p:cNvPr>
          <p:cNvSpPr>
            <a:spLocks noGrp="1"/>
          </p:cNvSpPr>
          <p:nvPr/>
        </p:nvSpPr>
        <p:spPr>
          <a:xfrm>
            <a:off x="6115050" y="1438275"/>
            <a:ext cx="5600700" cy="2476500"/>
          </a:xfrm>
          <a:prstGeom prst="roundRect">
            <a:avLst>
              <a:gd name="adj" fmla="val 6154"/>
            </a:avLst>
          </a:prstGeom>
          <a:solidFill>
            <a:srgbClr val="FBE8EF"/>
          </a:solidFill>
          <a:ln w="0">
            <a:noFill/>
          </a:ln>
        </p:spPr>
        <p:txBody>
          <a:bodyPr/>
          <a:lstStyle/>
          <a:p>
            <a:endParaRPr lang="zh-CN" altLang="en-US"/>
          </a:p>
        </p:txBody>
      </p:sp>
      <p:sp>
        <p:nvSpPr>
          <p:cNvPr id="118" name="person-diagram-408">
            <a:extLst>
              <a:ext uri="{FF2B5EF4-FFF2-40B4-BE49-F238E27FC236}">
                <a16:creationId xmlns:a16="http://schemas.microsoft.com/office/drawing/2014/main" id="{ED4DDAC6-AC17-46A1-A8A3-E04A12C5DB9B}"/>
              </a:ext>
            </a:extLst>
          </p:cNvPr>
          <p:cNvSpPr>
            <a:spLocks noGrp="1"/>
          </p:cNvSpPr>
          <p:nvPr/>
        </p:nvSpPr>
        <p:spPr>
          <a:xfrm>
            <a:off x="6353175" y="1619250"/>
            <a:ext cx="5114925" cy="247650"/>
          </a:xfrm>
          <a:prstGeom prst="rect">
            <a:avLst/>
          </a:prstGeom>
          <a:noFill/>
          <a:ln w="0">
            <a:noFill/>
          </a:ln>
        </p:spPr>
        <p:txBody>
          <a:bodyPr lIns="0" tIns="0" rIns="0" bIns="0" anchor="ctr">
            <a:noAutofit/>
          </a:bodyPr>
          <a:lstStyle>
            <a:defPPr algn="l">
              <a:defRPr sz="1050" b="1">
                <a:solidFill>
                  <a:srgbClr val="E31346"/>
                </a:solidFill>
                <a:latin typeface="Arial"/>
                <a:ea typeface="Arial"/>
                <a:cs typeface="Arial"/>
              </a:defRPr>
            </a:defPPr>
          </a:lstStyle>
          <a:p>
            <a:pPr algn="l">
              <a:defRPr sz="1050" b="1">
                <a:solidFill>
                  <a:srgbClr val="E31346"/>
                </a:solidFill>
                <a:latin typeface="Arial"/>
                <a:ea typeface="Arial"/>
                <a:cs typeface="Arial"/>
              </a:defRPr>
            </a:pPr>
            <a:r>
              <a:rPr sz="1050" b="1">
                <a:solidFill>
                  <a:srgbClr val="E31346"/>
                </a:solidFill>
                <a:latin typeface="Arial"/>
                <a:ea typeface="Arial"/>
                <a:cs typeface="Arial"/>
              </a:rPr>
              <a:t>EXPERIMENT</a:t>
            </a:r>
          </a:p>
        </p:txBody>
      </p:sp>
      <p:sp>
        <p:nvSpPr>
          <p:cNvPr id="119" name="person-diagram-409">
            <a:extLst>
              <a:ext uri="{FF2B5EF4-FFF2-40B4-BE49-F238E27FC236}">
                <a16:creationId xmlns:a16="http://schemas.microsoft.com/office/drawing/2014/main" id="{0F12CFF0-8907-4F8A-80DD-88500A790537}"/>
              </a:ext>
            </a:extLst>
          </p:cNvPr>
          <p:cNvSpPr>
            <a:spLocks noGrp="1"/>
          </p:cNvSpPr>
          <p:nvPr/>
        </p:nvSpPr>
        <p:spPr>
          <a:xfrm>
            <a:off x="6353175" y="2124075"/>
            <a:ext cx="5114925" cy="390525"/>
          </a:xfrm>
          <a:prstGeom prst="rect">
            <a:avLst/>
          </a:prstGeom>
          <a:noFill/>
          <a:ln w="0">
            <a:noFill/>
          </a:ln>
        </p:spPr>
        <p:txBody>
          <a:bodyPr lIns="0" tIns="0" rIns="0" bIns="0" anchor="ctr">
            <a:noAutofit/>
          </a:bodyPr>
          <a:lstStyle>
            <a:defPPr algn="l">
              <a:defRPr sz="1950" b="1">
                <a:solidFill>
                  <a:srgbClr val="1B1D63"/>
                </a:solidFill>
                <a:latin typeface="Arial"/>
                <a:ea typeface="Arial"/>
                <a:cs typeface="Arial"/>
              </a:defRPr>
            </a:defPPr>
          </a:lstStyle>
          <a:p>
            <a:pPr algn="l">
              <a:defRPr sz="1950" b="1">
                <a:solidFill>
                  <a:srgbClr val="1B1D63"/>
                </a:solidFill>
                <a:latin typeface="Arial"/>
                <a:ea typeface="Arial"/>
                <a:cs typeface="Arial"/>
              </a:defRPr>
            </a:pPr>
            <a:r>
              <a:rPr sz="1950" b="1">
                <a:solidFill>
                  <a:srgbClr val="1B1D63"/>
                </a:solidFill>
                <a:latin typeface="Arial"/>
                <a:ea typeface="Arial"/>
                <a:cs typeface="Arial"/>
              </a:rPr>
              <a:t>Whole-clip Joint swap</a:t>
            </a:r>
          </a:p>
        </p:txBody>
      </p:sp>
      <p:sp>
        <p:nvSpPr>
          <p:cNvPr id="120" name="person-diagram-410">
            <a:extLst>
              <a:ext uri="{FF2B5EF4-FFF2-40B4-BE49-F238E27FC236}">
                <a16:creationId xmlns:a16="http://schemas.microsoft.com/office/drawing/2014/main" id="{364E39D3-8ECC-45EB-A115-546A53A7A940}"/>
              </a:ext>
            </a:extLst>
          </p:cNvPr>
          <p:cNvSpPr>
            <a:spLocks noGrp="1"/>
          </p:cNvSpPr>
          <p:nvPr/>
        </p:nvSpPr>
        <p:spPr>
          <a:xfrm>
            <a:off x="6353175" y="2619375"/>
            <a:ext cx="5114925" cy="619125"/>
          </a:xfrm>
          <a:prstGeom prst="rect">
            <a:avLst/>
          </a:prstGeom>
          <a:noFill/>
          <a:ln w="0">
            <a:noFill/>
          </a:ln>
        </p:spPr>
        <p:txBody>
          <a:bodyPr lIns="0" tIns="0" rIns="0" bIns="0" anchor="ctr">
            <a:noAutofit/>
          </a:bodyPr>
          <a:lstStyle>
            <a:defPPr algn="l">
              <a:defRPr sz="3450" b="1">
                <a:solidFill>
                  <a:srgbClr val="E31346"/>
                </a:solidFill>
                <a:latin typeface="Arial"/>
                <a:ea typeface="Arial"/>
                <a:cs typeface="Arial"/>
              </a:defRPr>
            </a:defPPr>
          </a:lstStyle>
          <a:p>
            <a:pPr algn="l">
              <a:defRPr sz="3450" b="1">
                <a:solidFill>
                  <a:srgbClr val="E31346"/>
                </a:solidFill>
                <a:latin typeface="Arial"/>
                <a:ea typeface="Arial"/>
                <a:cs typeface="Arial"/>
              </a:defRPr>
            </a:pPr>
            <a:r>
              <a:rPr sz="3450" b="1">
                <a:solidFill>
                  <a:srgbClr val="E31346"/>
                </a:solidFill>
                <a:latin typeface="Arial"/>
                <a:ea typeface="Arial"/>
                <a:cs typeface="Arial"/>
              </a:rPr>
              <a:t>−8.76 pp</a:t>
            </a:r>
          </a:p>
        </p:txBody>
      </p:sp>
      <p:sp>
        <p:nvSpPr>
          <p:cNvPr id="121" name="person-diagram-411">
            <a:extLst>
              <a:ext uri="{FF2B5EF4-FFF2-40B4-BE49-F238E27FC236}">
                <a16:creationId xmlns:a16="http://schemas.microsoft.com/office/drawing/2014/main" id="{D6AAA151-8D76-4404-A8ED-A7F49538D214}"/>
              </a:ext>
            </a:extLst>
          </p:cNvPr>
          <p:cNvSpPr>
            <a:spLocks noGrp="1"/>
          </p:cNvSpPr>
          <p:nvPr/>
        </p:nvSpPr>
        <p:spPr>
          <a:xfrm>
            <a:off x="6353175" y="3352800"/>
            <a:ext cx="5010150" cy="419100"/>
          </a:xfrm>
          <a:prstGeom prst="rect">
            <a:avLst/>
          </a:prstGeom>
          <a:noFill/>
          <a:ln w="0">
            <a:noFill/>
          </a:ln>
        </p:spPr>
        <p:txBody>
          <a:bodyPr lIns="0" tIns="0" rIns="0" bIns="0" anchor="ctr">
            <a:noAutofit/>
          </a:bodyPr>
          <a:lstStyle>
            <a:defPPr algn="l">
              <a:defRPr sz="1500" b="0">
                <a:solidFill>
                  <a:srgbClr val="2A2E45"/>
                </a:solidFill>
                <a:latin typeface="Arial"/>
                <a:ea typeface="Arial"/>
                <a:cs typeface="Arial"/>
              </a:defRPr>
            </a:defPPr>
          </a:lstStyle>
          <a:p>
            <a:pPr algn="l">
              <a:defRPr sz="1500" b="0">
                <a:solidFill>
                  <a:srgbClr val="2A2E45"/>
                </a:solidFill>
                <a:latin typeface="Arial"/>
                <a:ea typeface="Arial"/>
                <a:cs typeface="Arial"/>
              </a:defRPr>
            </a:pPr>
            <a:r>
              <a:rPr sz="1500" b="0">
                <a:solidFill>
                  <a:srgbClr val="2A2E45"/>
                </a:solidFill>
                <a:latin typeface="Arial"/>
                <a:ea typeface="Arial"/>
                <a:cs typeface="Arial"/>
              </a:rPr>
              <a:t>Where does asymmetry enter before the final mean?</a:t>
            </a:r>
          </a:p>
        </p:txBody>
      </p:sp>
      <p:sp>
        <p:nvSpPr>
          <p:cNvPr id="122" name="person-diagram-412">
            <a:extLst>
              <a:ext uri="{FF2B5EF4-FFF2-40B4-BE49-F238E27FC236}">
                <a16:creationId xmlns:a16="http://schemas.microsoft.com/office/drawing/2014/main" id="{9D4548B5-84C6-4F53-8CCC-C4A92A122DC9}"/>
              </a:ext>
            </a:extLst>
          </p:cNvPr>
          <p:cNvSpPr>
            <a:spLocks noGrp="1"/>
          </p:cNvSpPr>
          <p:nvPr/>
        </p:nvSpPr>
        <p:spPr>
          <a:xfrm>
            <a:off x="495300" y="4229100"/>
            <a:ext cx="3228975" cy="314325"/>
          </a:xfrm>
          <a:prstGeom prst="rect">
            <a:avLst/>
          </a:prstGeom>
          <a:noFill/>
          <a:ln w="0">
            <a:noFill/>
          </a:ln>
        </p:spPr>
        <p:txBody>
          <a:bodyPr lIns="0" tIns="0" rIns="0" bIns="0" anchor="ctr">
            <a:noAutofit/>
          </a:bodyPr>
          <a:lstStyle>
            <a:defPPr algn="l">
              <a:defRPr sz="1875" b="1">
                <a:solidFill>
                  <a:srgbClr val="1B1D63"/>
                </a:solidFill>
                <a:latin typeface="Arial"/>
                <a:ea typeface="Arial"/>
                <a:cs typeface="Arial"/>
              </a:defRPr>
            </a:defPPr>
          </a:lstStyle>
          <a:p>
            <a:pPr algn="l">
              <a:defRPr sz="1875" b="1">
                <a:solidFill>
                  <a:srgbClr val="1B1D63"/>
                </a:solidFill>
                <a:latin typeface="Arial"/>
                <a:ea typeface="Arial"/>
                <a:cs typeface="Arial"/>
              </a:defRPr>
            </a:pPr>
            <a:r>
              <a:rPr sz="1875" b="1">
                <a:solidFill>
                  <a:srgbClr val="1B1D63"/>
                </a:solidFill>
                <a:latin typeface="Arial"/>
                <a:ea typeface="Arial"/>
                <a:cs typeface="Arial"/>
              </a:rPr>
              <a:t>Inspect before pooling:</a:t>
            </a:r>
          </a:p>
        </p:txBody>
      </p:sp>
      <p:sp>
        <p:nvSpPr>
          <p:cNvPr id="123" name="person-diagram-413">
            <a:extLst>
              <a:ext uri="{FF2B5EF4-FFF2-40B4-BE49-F238E27FC236}">
                <a16:creationId xmlns:a16="http://schemas.microsoft.com/office/drawing/2014/main" id="{52AF7DE8-590F-4984-B284-34FD09A297E1}"/>
              </a:ext>
            </a:extLst>
          </p:cNvPr>
          <p:cNvSpPr>
            <a:spLocks noGrp="1"/>
          </p:cNvSpPr>
          <p:nvPr/>
        </p:nvSpPr>
        <p:spPr>
          <a:xfrm>
            <a:off x="3552825" y="4210050"/>
            <a:ext cx="8162925" cy="342900"/>
          </a:xfrm>
          <a:prstGeom prst="rect">
            <a:avLst/>
          </a:prstGeom>
          <a:noFill/>
          <a:ln w="0">
            <a:noFill/>
          </a:ln>
        </p:spPr>
        <p:txBody>
          <a:bodyPr lIns="0" tIns="0" rIns="0" bIns="0" anchor="ctr">
            <a:noAutofit/>
          </a:bodyPr>
          <a:lstStyle>
            <a:defPPr algn="l">
              <a:defRPr sz="1725" b="1">
                <a:solidFill>
                  <a:srgbClr val="1B1D63"/>
                </a:solidFill>
                <a:latin typeface="Arial"/>
                <a:ea typeface="Arial"/>
                <a:cs typeface="Arial"/>
              </a:defRPr>
            </a:defPPr>
          </a:lstStyle>
          <a:p>
            <a:pPr algn="l">
              <a:defRPr sz="1725" b="1">
                <a:solidFill>
                  <a:srgbClr val="1B1D63"/>
                </a:solidFill>
                <a:latin typeface="Arial"/>
                <a:ea typeface="Arial"/>
                <a:cs typeface="Arial"/>
              </a:defRPr>
            </a:pPr>
            <a:r>
              <a:rPr sz="1725" b="1">
                <a:solidFill>
                  <a:srgbClr val="1B1D63"/>
                </a:solidFill>
                <a:latin typeface="Arial"/>
                <a:ea typeface="Arial"/>
                <a:cs typeface="Arial"/>
              </a:rPr>
              <a:t>slot-indexed data_bn → shared backbone → person features</a:t>
            </a:r>
          </a:p>
        </p:txBody>
      </p:sp>
      <p:sp>
        <p:nvSpPr>
          <p:cNvPr id="124" name="person-diagram-414">
            <a:extLst>
              <a:ext uri="{FF2B5EF4-FFF2-40B4-BE49-F238E27FC236}">
                <a16:creationId xmlns:a16="http://schemas.microsoft.com/office/drawing/2014/main" id="{1CB7377D-9E91-481C-9B09-1ECCBA5A900F}"/>
              </a:ext>
            </a:extLst>
          </p:cNvPr>
          <p:cNvSpPr>
            <a:spLocks noGrp="1"/>
          </p:cNvSpPr>
          <p:nvPr/>
        </p:nvSpPr>
        <p:spPr>
          <a:xfrm>
            <a:off x="495300" y="4686300"/>
            <a:ext cx="11220450" cy="247650"/>
          </a:xfrm>
          <a:prstGeom prst="rect">
            <a:avLst/>
          </a:prstGeom>
          <a:noFill/>
          <a:ln w="0">
            <a:noFill/>
          </a:ln>
        </p:spPr>
        <p:txBody>
          <a:bodyPr lIns="0" tIns="0" rIns="0" bIns="0" anchor="ctr">
            <a:noAutofit/>
          </a:bodyPr>
          <a:lstStyle>
            <a:defPPr algn="l">
              <a:defRPr sz="1350" b="0">
                <a:solidFill>
                  <a:srgbClr val="697386"/>
                </a:solidFill>
                <a:latin typeface="Arial"/>
                <a:ea typeface="Arial"/>
                <a:cs typeface="Arial"/>
              </a:defRPr>
            </a:defPPr>
          </a:lstStyle>
          <a:p>
            <a:pPr algn="l">
              <a:defRPr sz="1350" b="0">
                <a:solidFill>
                  <a:srgbClr val="697386"/>
                </a:solidFill>
                <a:latin typeface="Arial"/>
                <a:ea typeface="Arial"/>
                <a:cs typeface="Arial"/>
              </a:defRPr>
            </a:pPr>
            <a:r>
              <a:rPr sz="1350" b="0">
                <a:solidFill>
                  <a:srgbClr val="697386"/>
                </a:solidFill>
                <a:latin typeface="Arial"/>
                <a:ea typeface="Arial"/>
                <a:cs typeface="Arial"/>
              </a:rPr>
              <a:t>Candidate mechanism to test · normalization is not constrained to be slot-symmetric</a:t>
            </a:r>
          </a:p>
        </p:txBody>
      </p:sp>
      <p:sp>
        <p:nvSpPr>
          <p:cNvPr id="125" name="person-diagram-415">
            <a:extLst>
              <a:ext uri="{FF2B5EF4-FFF2-40B4-BE49-F238E27FC236}">
                <a16:creationId xmlns:a16="http://schemas.microsoft.com/office/drawing/2014/main" id="{C8EF2762-3651-45FE-95E3-F4BCBFBD7412}"/>
              </a:ext>
            </a:extLst>
          </p:cNvPr>
          <p:cNvSpPr>
            <a:spLocks noGrp="1"/>
          </p:cNvSpPr>
          <p:nvPr/>
        </p:nvSpPr>
        <p:spPr>
          <a:xfrm>
            <a:off x="495300" y="5200650"/>
            <a:ext cx="5362575" cy="314325"/>
          </a:xfrm>
          <a:prstGeom prst="rect">
            <a:avLst/>
          </a:prstGeom>
          <a:noFill/>
          <a:ln w="0">
            <a:noFill/>
          </a:ln>
        </p:spPr>
        <p:txBody>
          <a:bodyPr lIns="0" tIns="0" rIns="0" bIns="0" anchor="ctr">
            <a:noAutofit/>
          </a:bodyPr>
          <a:lstStyle>
            <a:defPPr algn="l">
              <a:defRPr sz="1575" b="0">
                <a:solidFill>
                  <a:srgbClr val="697386"/>
                </a:solidFill>
                <a:latin typeface="Arial"/>
                <a:ea typeface="Arial"/>
                <a:cs typeface="Arial"/>
              </a:defRPr>
            </a:defPPr>
          </a:lstStyle>
          <a:p>
            <a:pPr algn="l">
              <a:defRPr sz="1575" b="0">
                <a:solidFill>
                  <a:srgbClr val="697386"/>
                </a:solidFill>
                <a:latin typeface="Arial"/>
                <a:ea typeface="Arial"/>
                <a:cs typeface="Arial"/>
              </a:defRPr>
            </a:pPr>
            <a:r>
              <a:rPr sz="1575" b="0">
                <a:solidFill>
                  <a:srgbClr val="697386"/>
                </a:solidFill>
                <a:latin typeface="Arial"/>
                <a:ea typeface="Arial"/>
                <a:cs typeface="Arial"/>
              </a:rPr>
              <a:t>Current: separate encoding → mean</a:t>
            </a:r>
          </a:p>
        </p:txBody>
      </p:sp>
      <p:sp>
        <p:nvSpPr>
          <p:cNvPr id="126" name="person-diagram-416">
            <a:extLst>
              <a:ext uri="{FF2B5EF4-FFF2-40B4-BE49-F238E27FC236}">
                <a16:creationId xmlns:a16="http://schemas.microsoft.com/office/drawing/2014/main" id="{DE28AA3B-E223-4C9E-A328-9EBD475951B2}"/>
              </a:ext>
            </a:extLst>
          </p:cNvPr>
          <p:cNvSpPr>
            <a:spLocks noGrp="1"/>
          </p:cNvSpPr>
          <p:nvPr/>
        </p:nvSpPr>
        <p:spPr>
          <a:xfrm>
            <a:off x="6238875" y="5200650"/>
            <a:ext cx="5476875" cy="314325"/>
          </a:xfrm>
          <a:prstGeom prst="rect">
            <a:avLst/>
          </a:prstGeom>
          <a:noFill/>
          <a:ln w="0">
            <a:noFill/>
          </a:ln>
        </p:spPr>
        <p:txBody>
          <a:bodyPr lIns="0" tIns="0" rIns="0" bIns="0" anchor="ctr">
            <a:noAutofit/>
          </a:bodyPr>
          <a:lstStyle>
            <a:defPPr algn="l">
              <a:defRPr sz="1575" b="1">
                <a:solidFill>
                  <a:srgbClr val="E31346"/>
                </a:solidFill>
                <a:latin typeface="Arial"/>
                <a:ea typeface="Arial"/>
                <a:cs typeface="Arial"/>
              </a:defRPr>
            </a:defPPr>
          </a:lstStyle>
          <a:p>
            <a:pPr algn="l">
              <a:defRPr sz="1575" b="1">
                <a:solidFill>
                  <a:srgbClr val="E31346"/>
                </a:solidFill>
                <a:latin typeface="Arial"/>
                <a:ea typeface="Arial"/>
                <a:cs typeface="Arial"/>
              </a:defRPr>
            </a:pPr>
            <a:r>
              <a:rPr sz="1575" b="1">
                <a:solidFill>
                  <a:srgbClr val="E31346"/>
                </a:solidFill>
                <a:latin typeface="Arial"/>
                <a:ea typeface="Arial"/>
                <a:cs typeface="Arial"/>
              </a:rPr>
              <a:t>Candidate: person features → relation → fusion</a:t>
            </a:r>
          </a:p>
        </p:txBody>
      </p:sp>
      <p:sp>
        <p:nvSpPr>
          <p:cNvPr id="127" name="person-diagram-417">
            <a:extLst>
              <a:ext uri="{FF2B5EF4-FFF2-40B4-BE49-F238E27FC236}">
                <a16:creationId xmlns:a16="http://schemas.microsoft.com/office/drawing/2014/main" id="{EECED7A4-390E-4752-8ABE-3A9C1D3BC82B}"/>
              </a:ext>
            </a:extLst>
          </p:cNvPr>
          <p:cNvSpPr>
            <a:spLocks noGrp="1"/>
          </p:cNvSpPr>
          <p:nvPr/>
        </p:nvSpPr>
        <p:spPr>
          <a:xfrm>
            <a:off x="495300" y="5810250"/>
            <a:ext cx="11220450" cy="495300"/>
          </a:xfrm>
          <a:prstGeom prst="roundRect">
            <a:avLst>
              <a:gd name="adj" fmla="val 30769"/>
            </a:avLst>
          </a:prstGeom>
          <a:solidFill>
            <a:srgbClr val="1B1D63"/>
          </a:solidFill>
          <a:ln w="11430">
            <a:solidFill>
              <a:srgbClr val="1B1D63"/>
            </a:solidFill>
          </a:ln>
        </p:spPr>
        <p:txBody>
          <a:bodyPr/>
          <a:lstStyle/>
          <a:p>
            <a:endParaRPr lang="zh-CN" altLang="en-US"/>
          </a:p>
        </p:txBody>
      </p:sp>
      <p:sp>
        <p:nvSpPr>
          <p:cNvPr id="128" name="person-diagram-418">
            <a:extLst>
              <a:ext uri="{FF2B5EF4-FFF2-40B4-BE49-F238E27FC236}">
                <a16:creationId xmlns:a16="http://schemas.microsoft.com/office/drawing/2014/main" id="{002D7CD3-04E1-4A2D-9544-92C6355B88C3}"/>
              </a:ext>
            </a:extLst>
          </p:cNvPr>
          <p:cNvSpPr>
            <a:spLocks noGrp="1"/>
          </p:cNvSpPr>
          <p:nvPr/>
        </p:nvSpPr>
        <p:spPr>
          <a:xfrm>
            <a:off x="723900" y="5857875"/>
            <a:ext cx="10763250" cy="400050"/>
          </a:xfrm>
          <a:prstGeom prst="rect">
            <a:avLst/>
          </a:prstGeom>
          <a:noFill/>
          <a:ln w="0">
            <a:noFill/>
          </a:ln>
        </p:spPr>
        <p:txBody>
          <a:bodyPr lIns="0" tIns="0" rIns="0" bIns="0" anchor="ctr">
            <a:noAutofit/>
          </a:bodyP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Symmetric pooling alone does not guarantee a symmetric trained pipeline</a:t>
            </a:r>
          </a:p>
        </p:txBody>
      </p:sp>
    </p:spTree>
    <p:extLst>
      <p:ext uri="{BB962C8B-B14F-4D97-AF65-F5344CB8AC3E}">
        <p14:creationId xmlns:p14="http://schemas.microsoft.com/office/powerpoint/2010/main" val="4579871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68D9FA4F-B20E-529C-8DD2-ED27911331EC}"/>
              </a:ext>
            </a:extLst>
          </p:cNvPr>
          <p:cNvSpPr>
            <a:spLocks noGrp="1"/>
          </p:cNvSpPr>
          <p:nvPr/>
        </p:nvSpPr>
        <p:spPr>
          <a:xfrm>
            <a:off x="0" y="0"/>
            <a:ext cx="152400" cy="6858000"/>
          </a:xfrm>
          <a:prstGeom prst="rect">
            <a:avLst/>
          </a:prstGeom>
          <a:solidFill>
            <a:srgbClr val="E31346"/>
          </a:solidFill>
          <a:ln w="0">
            <a:noFill/>
          </a:ln>
        </p:spPr>
        <p:txBody>
          <a:bodyPr/>
          <a:lstStyle/>
          <a:p>
            <a:endParaRPr lang="zh-CN" altLang="en-US"/>
          </a:p>
        </p:txBody>
      </p:sp>
      <p:sp>
        <p:nvSpPr>
          <p:cNvPr id="2" name="矩形 1">
            <a:extLst>
              <a:ext uri="{FF2B5EF4-FFF2-40B4-BE49-F238E27FC236}">
                <a16:creationId xmlns:a16="http://schemas.microsoft.com/office/drawing/2014/main" id="{3C51FE4C-928A-5548-B34C-550E86EEB8A9}"/>
              </a:ext>
            </a:extLst>
          </p:cNvPr>
          <p:cNvSpPr>
            <a:spLocks noGrp="1"/>
          </p:cNvSpPr>
          <p:nvPr/>
        </p:nvSpPr>
        <p:spPr>
          <a:xfrm>
            <a:off x="152400" y="6562725"/>
            <a:ext cx="12039600" cy="295275"/>
          </a:xfrm>
          <a:prstGeom prst="rect">
            <a:avLst/>
          </a:prstGeom>
          <a:solidFill>
            <a:srgbClr val="1B1D63"/>
          </a:solidFill>
          <a:ln w="0">
            <a:noFill/>
          </a:ln>
        </p:spPr>
        <p:txBody>
          <a:bodyPr/>
          <a:lstStyle/>
          <a:p>
            <a:endParaRPr lang="zh-CN" altLang="en-US"/>
          </a:p>
        </p:txBody>
      </p:sp>
      <p:sp>
        <p:nvSpPr>
          <p:cNvPr id="4" name="矩形 3">
            <a:extLst>
              <a:ext uri="{FF2B5EF4-FFF2-40B4-BE49-F238E27FC236}">
                <a16:creationId xmlns:a16="http://schemas.microsoft.com/office/drawing/2014/main" id="{B45D5499-0E6C-5040-9070-E82D4EE4AEF4}"/>
              </a:ext>
            </a:extLst>
          </p:cNvPr>
          <p:cNvSpPr>
            <a:spLocks noGrp="1"/>
          </p:cNvSpPr>
          <p:nvPr/>
        </p:nvSpPr>
        <p:spPr>
          <a:xfrm>
            <a:off x="495300" y="723900"/>
            <a:ext cx="7239000" cy="219075"/>
          </a:xfrm>
          <a:prstGeom prst="rect">
            <a:avLst/>
          </a:prstGeom>
          <a:noFill/>
          <a:ln w="0">
            <a:noFill/>
          </a:ln>
        </p:spPr>
        <p:txBody>
          <a:bodyPr anchor="ctr">
            <a:normAutofit fontScale="93397" lnSpcReduction="10000"/>
          </a:bodyPr>
          <a:lstStyle/>
          <a:p>
            <a:pPr algn="l">
              <a:defRPr sz="975" b="1">
                <a:solidFill>
                  <a:srgbClr val="E31346"/>
                </a:solidFill>
                <a:latin typeface="Arial"/>
                <a:ea typeface="Arial"/>
                <a:cs typeface="Arial"/>
              </a:defRPr>
            </a:pPr>
            <a:r>
              <a:rPr sz="975" b="1">
                <a:solidFill>
                  <a:srgbClr val="E31346"/>
                </a:solidFill>
                <a:latin typeface="Arial"/>
                <a:ea typeface="Arial"/>
                <a:cs typeface="Arial"/>
              </a:rPr>
              <a:t>EE6008 · HUMAN POSE GROUP PROJECT</a:t>
            </a:r>
          </a:p>
        </p:txBody>
      </p:sp>
      <p:sp>
        <p:nvSpPr>
          <p:cNvPr id="5" name="矩形 4">
            <a:extLst>
              <a:ext uri="{FF2B5EF4-FFF2-40B4-BE49-F238E27FC236}">
                <a16:creationId xmlns:a16="http://schemas.microsoft.com/office/drawing/2014/main" id="{7CEA9490-20E9-5B1C-97DF-97288919DF64}"/>
              </a:ext>
            </a:extLst>
          </p:cNvPr>
          <p:cNvSpPr>
            <a:spLocks noGrp="1"/>
          </p:cNvSpPr>
          <p:nvPr/>
        </p:nvSpPr>
        <p:spPr>
          <a:xfrm>
            <a:off x="495300" y="1009650"/>
            <a:ext cx="1562100" cy="47625"/>
          </a:xfrm>
          <a:prstGeom prst="rect">
            <a:avLst/>
          </a:prstGeom>
          <a:solidFill>
            <a:srgbClr val="E31346"/>
          </a:solidFill>
          <a:ln w="0">
            <a:noFill/>
          </a:ln>
        </p:spPr>
        <p:txBody>
          <a:bodyPr/>
          <a:lstStyle/>
          <a:p>
            <a:endParaRPr lang="zh-CN" altLang="en-US"/>
          </a:p>
        </p:txBody>
      </p:sp>
      <p:sp>
        <p:nvSpPr>
          <p:cNvPr id="7" name="矩形 6">
            <a:extLst>
              <a:ext uri="{FF2B5EF4-FFF2-40B4-BE49-F238E27FC236}">
                <a16:creationId xmlns:a16="http://schemas.microsoft.com/office/drawing/2014/main" id="{E09E483A-756A-5450-86F3-DD6AA57D57F4}"/>
              </a:ext>
            </a:extLst>
          </p:cNvPr>
          <p:cNvSpPr>
            <a:spLocks noGrp="1"/>
          </p:cNvSpPr>
          <p:nvPr/>
        </p:nvSpPr>
        <p:spPr>
          <a:xfrm>
            <a:off x="495300" y="6591300"/>
            <a:ext cx="2857500" cy="219075"/>
          </a:xfrm>
          <a:prstGeom prst="rect">
            <a:avLst/>
          </a:prstGeom>
          <a:noFill/>
          <a:ln w="0">
            <a:noFill/>
          </a:ln>
        </p:spPr>
        <p:txBody>
          <a:bodyPr anchor="ctr">
            <a:normAutofit/>
          </a:bodyPr>
          <a:lstStyle/>
          <a:p>
            <a:pPr algn="l">
              <a:defRPr sz="750" b="1">
                <a:solidFill>
                  <a:srgbClr val="FFFFFF"/>
                </a:solidFill>
                <a:latin typeface="Arial"/>
                <a:ea typeface="Arial"/>
                <a:cs typeface="Arial"/>
              </a:defRPr>
            </a:pPr>
            <a:r>
              <a:rPr sz="750" b="1">
                <a:solidFill>
                  <a:srgbClr val="FFFFFF"/>
                </a:solidFill>
                <a:latin typeface="Arial"/>
                <a:ea typeface="Arial"/>
                <a:cs typeface="Arial"/>
              </a:rPr>
              <a:t>EE6008 · WEEKLY REPORT</a:t>
            </a:r>
          </a:p>
        </p:txBody>
      </p:sp>
      <p:sp>
        <p:nvSpPr>
          <p:cNvPr id="8" name="矩形 7">
            <a:extLst>
              <a:ext uri="{FF2B5EF4-FFF2-40B4-BE49-F238E27FC236}">
                <a16:creationId xmlns:a16="http://schemas.microsoft.com/office/drawing/2014/main" id="{1BFC4861-C3A3-51FC-88D5-662842F8DB0E}"/>
              </a:ext>
            </a:extLst>
          </p:cNvPr>
          <p:cNvSpPr>
            <a:spLocks noGrp="1"/>
          </p:cNvSpPr>
          <p:nvPr/>
        </p:nvSpPr>
        <p:spPr>
          <a:xfrm>
            <a:off x="11049000" y="6591300"/>
            <a:ext cx="619125" cy="219075"/>
          </a:xfrm>
          <a:prstGeom prst="rect">
            <a:avLst/>
          </a:prstGeom>
          <a:noFill/>
          <a:ln w="0">
            <a:noFill/>
          </a:ln>
        </p:spPr>
        <p:txBody>
          <a:bodyPr anchor="ctr">
            <a:normAutofit/>
          </a:bodyPr>
          <a:lstStyle/>
          <a:p>
            <a:pPr algn="r">
              <a:defRPr sz="750" b="1">
                <a:solidFill>
                  <a:srgbClr val="FFFFFF"/>
                </a:solidFill>
                <a:latin typeface="Arial"/>
                <a:ea typeface="Arial"/>
                <a:cs typeface="Arial"/>
              </a:defRPr>
            </a:pPr>
            <a:r>
              <a:rPr sz="750" b="1">
                <a:solidFill>
                  <a:srgbClr val="FFFFFF"/>
                </a:solidFill>
                <a:latin typeface="Arial"/>
                <a:ea typeface="Arial"/>
                <a:cs typeface="Arial"/>
              </a:rPr>
              <a:t>08</a:t>
            </a:r>
          </a:p>
        </p:txBody>
      </p:sp>
      <p:sp>
        <p:nvSpPr>
          <p:cNvPr id="100" name="person-diagram-419">
            <a:extLst>
              <a:ext uri="{FF2B5EF4-FFF2-40B4-BE49-F238E27FC236}">
                <a16:creationId xmlns:a16="http://schemas.microsoft.com/office/drawing/2014/main" id="{732D41C1-9D59-471B-B938-9C3DAF97D875}"/>
              </a:ext>
            </a:extLst>
          </p:cNvPr>
          <p:cNvSpPr>
            <a:spLocks noGrp="1"/>
          </p:cNvSpPr>
          <p:nvPr/>
        </p:nvSpPr>
        <p:spPr>
          <a:xfrm>
            <a:off x="590550" y="238125"/>
            <a:ext cx="8524875" cy="476250"/>
          </a:xfrm>
          <a:prstGeom prst="rect">
            <a:avLst/>
          </a:prstGeom>
          <a:noFill/>
          <a:ln w="0">
            <a:noFill/>
          </a:ln>
        </p:spPr>
        <p:txBody>
          <a:bodyPr lIns="0" tIns="0" rIns="0" bIns="0" anchor="ctr">
            <a:noAutofit/>
          </a:bodyPr>
          <a:lstStyle>
            <a:defPPr algn="l">
              <a:defRPr sz="2524" b="1">
                <a:solidFill>
                  <a:srgbClr val="1B1D63"/>
                </a:solidFill>
                <a:latin typeface="Arial"/>
                <a:ea typeface="Arial"/>
                <a:cs typeface="Arial"/>
              </a:defRPr>
            </a:defPPr>
          </a:lstStyle>
          <a:p>
            <a:pPr algn="l">
              <a:defRPr sz="2524" b="1">
                <a:solidFill>
                  <a:srgbClr val="1B1D63"/>
                </a:solidFill>
                <a:latin typeface="Arial"/>
                <a:ea typeface="Arial"/>
                <a:cs typeface="Arial"/>
              </a:defRPr>
            </a:pPr>
            <a:r>
              <a:rPr sz="2524" b="1">
                <a:solidFill>
                  <a:srgbClr val="1B1D63"/>
                </a:solidFill>
                <a:latin typeface="Arial"/>
                <a:ea typeface="Arial"/>
                <a:cs typeface="Arial"/>
              </a:rPr>
              <a:t>SkateFormer · Person Information Flow</a:t>
            </a:r>
          </a:p>
        </p:txBody>
      </p:sp>
      <p:pic>
        <p:nvPicPr>
          <p:cNvPr id="101" name="图片 100">
            <a:extLst>
              <a:ext uri="{FF2B5EF4-FFF2-40B4-BE49-F238E27FC236}">
                <a16:creationId xmlns:a16="http://schemas.microsoft.com/office/drawing/2014/main" id="{C1A6C0C8-E107-4913-84FB-9C8B6B8FC8EE}"/>
              </a:ext>
            </a:extLst>
          </p:cNvPr>
          <p:cNvPicPr>
            <a:picLocks noChangeAspect="1"/>
          </p:cNvPicPr>
          <p:nvPr/>
        </p:nvPicPr>
        <p:blipFill>
          <a:blip r:embed="rId3"/>
          <a:stretch/>
        </p:blipFill>
        <p:spPr>
          <a:xfrm>
            <a:off x="9696450" y="191381"/>
            <a:ext cx="2038350" cy="731663"/>
          </a:xfrm>
          <a:prstGeom prst="rect">
            <a:avLst/>
          </a:prstGeom>
        </p:spPr>
      </p:pic>
      <p:sp>
        <p:nvSpPr>
          <p:cNvPr id="102" name="person-diagram-420">
            <a:extLst>
              <a:ext uri="{FF2B5EF4-FFF2-40B4-BE49-F238E27FC236}">
                <a16:creationId xmlns:a16="http://schemas.microsoft.com/office/drawing/2014/main" id="{550CB59A-9AAE-41FC-94E8-A27336DECF0D}"/>
              </a:ext>
            </a:extLst>
          </p:cNvPr>
          <p:cNvSpPr>
            <a:spLocks noGrp="1"/>
          </p:cNvSpPr>
          <p:nvPr/>
        </p:nvSpPr>
        <p:spPr>
          <a:xfrm>
            <a:off x="495300" y="1466850"/>
            <a:ext cx="7010400" cy="590550"/>
          </a:xfrm>
          <a:prstGeom prst="roundRect">
            <a:avLst>
              <a:gd name="adj" fmla="val 25806"/>
            </a:avLst>
          </a:prstGeom>
          <a:solidFill>
            <a:srgbClr val="E9EDF8"/>
          </a:solidFill>
          <a:ln w="0">
            <a:noFill/>
          </a:ln>
        </p:spPr>
        <p:txBody>
          <a:bodyPr/>
          <a:lstStyle/>
          <a:p>
            <a:endParaRPr lang="zh-CN" altLang="en-US"/>
          </a:p>
        </p:txBody>
      </p:sp>
      <p:sp>
        <p:nvSpPr>
          <p:cNvPr id="103" name="person-diagram-421">
            <a:extLst>
              <a:ext uri="{FF2B5EF4-FFF2-40B4-BE49-F238E27FC236}">
                <a16:creationId xmlns:a16="http://schemas.microsoft.com/office/drawing/2014/main" id="{D6EE44CA-21D0-4F64-9F98-DC1555B9BB22}"/>
              </a:ext>
            </a:extLst>
          </p:cNvPr>
          <p:cNvSpPr>
            <a:spLocks noGrp="1"/>
          </p:cNvSpPr>
          <p:nvPr/>
        </p:nvSpPr>
        <p:spPr>
          <a:xfrm>
            <a:off x="657225" y="1543050"/>
            <a:ext cx="3209925" cy="438150"/>
          </a:xfrm>
          <a:prstGeom prst="rect">
            <a:avLst/>
          </a:prstGeom>
          <a:noFill/>
          <a:ln w="0">
            <a:noFill/>
          </a:ln>
        </p:spPr>
        <p:txBody>
          <a:bodyPr lIns="0" tIns="0" rIns="0" bIns="0" anchor="ctr">
            <a:noAutofit/>
          </a:bodyPr>
          <a:lstStyle>
            <a:defPPr algn="l">
              <a:defRPr sz="1388" b="1">
                <a:solidFill>
                  <a:srgbClr val="1B1D63"/>
                </a:solidFill>
                <a:latin typeface="Arial"/>
                <a:ea typeface="Arial"/>
                <a:cs typeface="Arial"/>
              </a:defRPr>
            </a:defPPr>
          </a:lstStyle>
          <a:p>
            <a:pPr algn="l">
              <a:defRPr sz="1388" b="1">
                <a:solidFill>
                  <a:srgbClr val="1B1D63"/>
                </a:solidFill>
                <a:latin typeface="Arial"/>
                <a:ea typeface="Arial"/>
                <a:cs typeface="Arial"/>
              </a:defRPr>
            </a:pPr>
            <a:r>
              <a:rPr sz="1388" b="1">
                <a:solidFill>
                  <a:srgbClr val="1B1D63"/>
                </a:solidFill>
                <a:latin typeface="Arial"/>
                <a:ea typeface="Arial"/>
                <a:cs typeface="Arial"/>
              </a:rPr>
              <a:t>Feeder → input</a:t>
            </a:r>
          </a:p>
        </p:txBody>
      </p:sp>
      <p:sp>
        <p:nvSpPr>
          <p:cNvPr id="104" name="person-diagram-422">
            <a:extLst>
              <a:ext uri="{FF2B5EF4-FFF2-40B4-BE49-F238E27FC236}">
                <a16:creationId xmlns:a16="http://schemas.microsoft.com/office/drawing/2014/main" id="{8E883D15-5760-4665-80B9-BA6AF9C3C245}"/>
              </a:ext>
            </a:extLst>
          </p:cNvPr>
          <p:cNvSpPr>
            <a:spLocks noGrp="1"/>
          </p:cNvSpPr>
          <p:nvPr/>
        </p:nvSpPr>
        <p:spPr>
          <a:xfrm>
            <a:off x="3933825" y="1543050"/>
            <a:ext cx="3371850" cy="438150"/>
          </a:xfrm>
          <a:prstGeom prst="rect">
            <a:avLst/>
          </a:prstGeom>
          <a:noFill/>
          <a:ln w="0">
            <a:noFill/>
          </a:ln>
        </p:spPr>
        <p:txBody>
          <a:bodyPr lIns="0" tIns="0" rIns="0" bIns="0" anchor="ctr">
            <a:noAutofit/>
          </a:bodyPr>
          <a:lstStyle>
            <a:defPPr algn="ctr">
              <a:defRPr sz="1350" b="0">
                <a:solidFill>
                  <a:srgbClr val="2A2E45"/>
                </a:solidFill>
                <a:latin typeface="Arial"/>
                <a:ea typeface="Arial"/>
                <a:cs typeface="Arial"/>
              </a:defRPr>
            </a:defPPr>
          </a:lstStyle>
          <a:p>
            <a:pPr algn="ctr">
              <a:defRPr sz="1350" b="0">
                <a:solidFill>
                  <a:srgbClr val="2A2E45"/>
                </a:solidFill>
                <a:latin typeface="Arial"/>
                <a:ea typeface="Arial"/>
                <a:cs typeface="Arial"/>
              </a:defRPr>
            </a:pPr>
            <a:r>
              <a:rPr sz="1350" b="0">
                <a:solidFill>
                  <a:srgbClr val="2A2E45"/>
                </a:solidFill>
                <a:latin typeface="Arial"/>
                <a:ea typeface="Arial"/>
                <a:cs typeface="Arial"/>
              </a:rPr>
              <a:t>[B, 3, 64, 24, 2]</a:t>
            </a:r>
          </a:p>
        </p:txBody>
      </p:sp>
      <p:sp>
        <p:nvSpPr>
          <p:cNvPr id="105" name="person-diagram-423">
            <a:extLst>
              <a:ext uri="{FF2B5EF4-FFF2-40B4-BE49-F238E27FC236}">
                <a16:creationId xmlns:a16="http://schemas.microsoft.com/office/drawing/2014/main" id="{4868407C-0E8D-4856-82B2-566538CBB1E8}"/>
              </a:ext>
            </a:extLst>
          </p:cNvPr>
          <p:cNvSpPr>
            <a:spLocks noGrp="1"/>
          </p:cNvSpPr>
          <p:nvPr/>
        </p:nvSpPr>
        <p:spPr>
          <a:xfrm>
            <a:off x="3914775" y="2076450"/>
            <a:ext cx="161925" cy="104775"/>
          </a:xfrm>
          <a:prstGeom prst="downArrow">
            <a:avLst/>
          </a:prstGeom>
          <a:solidFill>
            <a:srgbClr val="697386"/>
          </a:solidFill>
          <a:ln w="0">
            <a:noFill/>
          </a:ln>
        </p:spPr>
        <p:txBody>
          <a:bodyPr/>
          <a:lstStyle/>
          <a:p>
            <a:endParaRPr lang="zh-CN" altLang="en-US"/>
          </a:p>
        </p:txBody>
      </p:sp>
      <p:sp>
        <p:nvSpPr>
          <p:cNvPr id="106" name="person-diagram-424">
            <a:extLst>
              <a:ext uri="{FF2B5EF4-FFF2-40B4-BE49-F238E27FC236}">
                <a16:creationId xmlns:a16="http://schemas.microsoft.com/office/drawing/2014/main" id="{FE9E1682-C73E-48E7-B4F0-88D412C8547F}"/>
              </a:ext>
            </a:extLst>
          </p:cNvPr>
          <p:cNvSpPr>
            <a:spLocks noGrp="1"/>
          </p:cNvSpPr>
          <p:nvPr/>
        </p:nvSpPr>
        <p:spPr>
          <a:xfrm>
            <a:off x="495300" y="2200275"/>
            <a:ext cx="7010400" cy="590550"/>
          </a:xfrm>
          <a:prstGeom prst="roundRect">
            <a:avLst>
              <a:gd name="adj" fmla="val 25806"/>
            </a:avLst>
          </a:prstGeom>
          <a:solidFill>
            <a:srgbClr val="FBE8EF"/>
          </a:solidFill>
          <a:ln w="0">
            <a:noFill/>
          </a:ln>
        </p:spPr>
        <p:txBody>
          <a:bodyPr/>
          <a:lstStyle/>
          <a:p>
            <a:endParaRPr lang="zh-CN" altLang="en-US"/>
          </a:p>
        </p:txBody>
      </p:sp>
      <p:sp>
        <p:nvSpPr>
          <p:cNvPr id="107" name="person-diagram-425">
            <a:extLst>
              <a:ext uri="{FF2B5EF4-FFF2-40B4-BE49-F238E27FC236}">
                <a16:creationId xmlns:a16="http://schemas.microsoft.com/office/drawing/2014/main" id="{E1979FE6-9842-4057-B3D0-C7A75B96BC9F}"/>
              </a:ext>
            </a:extLst>
          </p:cNvPr>
          <p:cNvSpPr>
            <a:spLocks noGrp="1"/>
          </p:cNvSpPr>
          <p:nvPr/>
        </p:nvSpPr>
        <p:spPr>
          <a:xfrm>
            <a:off x="657225" y="2276475"/>
            <a:ext cx="3209925" cy="438150"/>
          </a:xfrm>
          <a:prstGeom prst="rect">
            <a:avLst/>
          </a:prstGeom>
          <a:noFill/>
          <a:ln w="0">
            <a:noFill/>
          </a:ln>
        </p:spPr>
        <p:txBody>
          <a:bodyPr lIns="0" tIns="0" rIns="0" bIns="0" anchor="ctr">
            <a:noAutofit/>
          </a:bodyPr>
          <a:lstStyle>
            <a:defPPr algn="l">
              <a:defRPr sz="1388" b="1">
                <a:solidFill>
                  <a:srgbClr val="1B1D63"/>
                </a:solidFill>
                <a:latin typeface="Arial"/>
                <a:ea typeface="Arial"/>
                <a:cs typeface="Arial"/>
              </a:defRPr>
            </a:defPPr>
          </a:lstStyle>
          <a:p>
            <a:pPr algn="l">
              <a:defRPr sz="1388" b="1">
                <a:solidFill>
                  <a:srgbClr val="1B1D63"/>
                </a:solidFill>
                <a:latin typeface="Arial"/>
                <a:ea typeface="Arial"/>
                <a:cs typeface="Arial"/>
              </a:defRPr>
            </a:pPr>
            <a:r>
              <a:rPr sz="1388" b="1">
                <a:solidFill>
                  <a:srgbClr val="1B1D63"/>
                </a:solidFill>
                <a:latin typeface="Arial"/>
                <a:ea typeface="Arial"/>
                <a:cs typeface="Arial"/>
              </a:rPr>
              <a:t>Merge person + joint</a:t>
            </a:r>
          </a:p>
        </p:txBody>
      </p:sp>
      <p:sp>
        <p:nvSpPr>
          <p:cNvPr id="108" name="person-diagram-426">
            <a:extLst>
              <a:ext uri="{FF2B5EF4-FFF2-40B4-BE49-F238E27FC236}">
                <a16:creationId xmlns:a16="http://schemas.microsoft.com/office/drawing/2014/main" id="{3D33EF76-10AD-45A5-B7EA-A894931F7D21}"/>
              </a:ext>
            </a:extLst>
          </p:cNvPr>
          <p:cNvSpPr>
            <a:spLocks noGrp="1"/>
          </p:cNvSpPr>
          <p:nvPr/>
        </p:nvSpPr>
        <p:spPr>
          <a:xfrm>
            <a:off x="3933825" y="2276475"/>
            <a:ext cx="3371850" cy="438150"/>
          </a:xfrm>
          <a:prstGeom prst="rect">
            <a:avLst/>
          </a:prstGeom>
          <a:noFill/>
          <a:ln w="0">
            <a:noFill/>
          </a:ln>
        </p:spPr>
        <p:txBody>
          <a:bodyPr lIns="0" tIns="0" rIns="0" bIns="0" anchor="ctr">
            <a:noAutofit/>
          </a:bodyPr>
          <a:lstStyle>
            <a:defPPr algn="ctr">
              <a:defRPr sz="1350" b="0">
                <a:solidFill>
                  <a:srgbClr val="2A2E45"/>
                </a:solidFill>
                <a:latin typeface="Arial"/>
                <a:ea typeface="Arial"/>
                <a:cs typeface="Arial"/>
              </a:defRPr>
            </a:defPPr>
          </a:lstStyle>
          <a:p>
            <a:pPr algn="ctr">
              <a:defRPr sz="1350" b="0">
                <a:solidFill>
                  <a:srgbClr val="2A2E45"/>
                </a:solidFill>
                <a:latin typeface="Arial"/>
                <a:ea typeface="Arial"/>
                <a:cs typeface="Arial"/>
              </a:defRPr>
            </a:pPr>
            <a:r>
              <a:rPr sz="1350" b="0">
                <a:solidFill>
                  <a:srgbClr val="2A2E45"/>
                </a:solidFill>
                <a:latin typeface="Arial"/>
                <a:ea typeface="Arial"/>
                <a:cs typeface="Arial"/>
              </a:rPr>
              <a:t>[B, 3, 64, 48]  ·  48 = 2×24</a:t>
            </a:r>
          </a:p>
        </p:txBody>
      </p:sp>
      <p:sp>
        <p:nvSpPr>
          <p:cNvPr id="109" name="person-diagram-427">
            <a:extLst>
              <a:ext uri="{FF2B5EF4-FFF2-40B4-BE49-F238E27FC236}">
                <a16:creationId xmlns:a16="http://schemas.microsoft.com/office/drawing/2014/main" id="{F41180CF-79E2-4296-8FAE-42F208C169FC}"/>
              </a:ext>
            </a:extLst>
          </p:cNvPr>
          <p:cNvSpPr>
            <a:spLocks noGrp="1"/>
          </p:cNvSpPr>
          <p:nvPr/>
        </p:nvSpPr>
        <p:spPr>
          <a:xfrm>
            <a:off x="3914775" y="2809875"/>
            <a:ext cx="161925" cy="104775"/>
          </a:xfrm>
          <a:prstGeom prst="downArrow">
            <a:avLst/>
          </a:prstGeom>
          <a:solidFill>
            <a:srgbClr val="697386"/>
          </a:solidFill>
          <a:ln w="0">
            <a:noFill/>
          </a:ln>
        </p:spPr>
        <p:txBody>
          <a:bodyPr/>
          <a:lstStyle/>
          <a:p>
            <a:endParaRPr lang="zh-CN" altLang="en-US"/>
          </a:p>
        </p:txBody>
      </p:sp>
      <p:sp>
        <p:nvSpPr>
          <p:cNvPr id="110" name="person-diagram-428">
            <a:extLst>
              <a:ext uri="{FF2B5EF4-FFF2-40B4-BE49-F238E27FC236}">
                <a16:creationId xmlns:a16="http://schemas.microsoft.com/office/drawing/2014/main" id="{F4FF08C3-737A-4630-8DF1-448B409968C7}"/>
              </a:ext>
            </a:extLst>
          </p:cNvPr>
          <p:cNvSpPr>
            <a:spLocks noGrp="1"/>
          </p:cNvSpPr>
          <p:nvPr/>
        </p:nvSpPr>
        <p:spPr>
          <a:xfrm>
            <a:off x="495300" y="2933700"/>
            <a:ext cx="7010400" cy="590550"/>
          </a:xfrm>
          <a:prstGeom prst="roundRect">
            <a:avLst>
              <a:gd name="adj" fmla="val 25806"/>
            </a:avLst>
          </a:prstGeom>
          <a:solidFill>
            <a:srgbClr val="E9EDF8"/>
          </a:solidFill>
          <a:ln w="0">
            <a:noFill/>
          </a:ln>
        </p:spPr>
        <p:txBody>
          <a:bodyPr/>
          <a:lstStyle/>
          <a:p>
            <a:endParaRPr lang="zh-CN" altLang="en-US"/>
          </a:p>
        </p:txBody>
      </p:sp>
      <p:sp>
        <p:nvSpPr>
          <p:cNvPr id="111" name="person-diagram-429">
            <a:extLst>
              <a:ext uri="{FF2B5EF4-FFF2-40B4-BE49-F238E27FC236}">
                <a16:creationId xmlns:a16="http://schemas.microsoft.com/office/drawing/2014/main" id="{F941C10E-98A7-4139-A9AA-805C7F632C61}"/>
              </a:ext>
            </a:extLst>
          </p:cNvPr>
          <p:cNvSpPr>
            <a:spLocks noGrp="1"/>
          </p:cNvSpPr>
          <p:nvPr/>
        </p:nvSpPr>
        <p:spPr>
          <a:xfrm>
            <a:off x="657225" y="3009900"/>
            <a:ext cx="3209925" cy="438150"/>
          </a:xfrm>
          <a:prstGeom prst="rect">
            <a:avLst/>
          </a:prstGeom>
          <a:noFill/>
          <a:ln w="0">
            <a:noFill/>
          </a:ln>
        </p:spPr>
        <p:txBody>
          <a:bodyPr lIns="0" tIns="0" rIns="0" bIns="0" anchor="ctr">
            <a:noAutofit/>
          </a:bodyPr>
          <a:lstStyle>
            <a:defPPr algn="l">
              <a:defRPr sz="1388" b="1">
                <a:solidFill>
                  <a:srgbClr val="1B1D63"/>
                </a:solidFill>
                <a:latin typeface="Arial"/>
                <a:ea typeface="Arial"/>
                <a:cs typeface="Arial"/>
              </a:defRPr>
            </a:defPPr>
          </a:lstStyle>
          <a:p>
            <a:pPr algn="l">
              <a:defRPr sz="1388" b="1">
                <a:solidFill>
                  <a:srgbClr val="1B1D63"/>
                </a:solidFill>
                <a:latin typeface="Arial"/>
                <a:ea typeface="Arial"/>
                <a:cs typeface="Arial"/>
              </a:defRPr>
            </a:pPr>
            <a:r>
              <a:rPr sz="1388" b="1">
                <a:solidFill>
                  <a:srgbClr val="1B1D63"/>
                </a:solidFill>
                <a:latin typeface="Arial"/>
                <a:ea typeface="Arial"/>
                <a:cs typeface="Arial"/>
              </a:rPr>
              <a:t>Stem + joint-person embedding</a:t>
            </a:r>
          </a:p>
        </p:txBody>
      </p:sp>
      <p:sp>
        <p:nvSpPr>
          <p:cNvPr id="112" name="person-diagram-430">
            <a:extLst>
              <a:ext uri="{FF2B5EF4-FFF2-40B4-BE49-F238E27FC236}">
                <a16:creationId xmlns:a16="http://schemas.microsoft.com/office/drawing/2014/main" id="{41EF2045-FA22-441A-874E-63D1C0C5BE0D}"/>
              </a:ext>
            </a:extLst>
          </p:cNvPr>
          <p:cNvSpPr>
            <a:spLocks noGrp="1"/>
          </p:cNvSpPr>
          <p:nvPr/>
        </p:nvSpPr>
        <p:spPr>
          <a:xfrm>
            <a:off x="3933825" y="3009900"/>
            <a:ext cx="3371850" cy="438150"/>
          </a:xfrm>
          <a:prstGeom prst="rect">
            <a:avLst/>
          </a:prstGeom>
          <a:noFill/>
          <a:ln w="0">
            <a:noFill/>
          </a:ln>
        </p:spPr>
        <p:txBody>
          <a:bodyPr lIns="0" tIns="0" rIns="0" bIns="0" anchor="ctr">
            <a:noAutofit/>
          </a:bodyPr>
          <a:lstStyle>
            <a:defPPr algn="ctr">
              <a:defRPr sz="1350" b="0">
                <a:solidFill>
                  <a:srgbClr val="2A2E45"/>
                </a:solidFill>
                <a:latin typeface="Arial"/>
                <a:ea typeface="Arial"/>
                <a:cs typeface="Arial"/>
              </a:defRPr>
            </a:defPPr>
          </a:lstStyle>
          <a:p>
            <a:pPr algn="ctr">
              <a:defRPr sz="1350" b="0">
                <a:solidFill>
                  <a:srgbClr val="2A2E45"/>
                </a:solidFill>
                <a:latin typeface="Arial"/>
                <a:ea typeface="Arial"/>
                <a:cs typeface="Arial"/>
              </a:defRPr>
            </a:pPr>
            <a:r>
              <a:rPr sz="1350" b="0">
                <a:solidFill>
                  <a:srgbClr val="2A2E45"/>
                </a:solidFill>
                <a:latin typeface="Arial"/>
                <a:ea typeface="Arial"/>
                <a:cs typeface="Arial"/>
              </a:rPr>
              <a:t>[B, 96, 64, 48]</a:t>
            </a:r>
          </a:p>
        </p:txBody>
      </p:sp>
      <p:sp>
        <p:nvSpPr>
          <p:cNvPr id="113" name="person-diagram-431">
            <a:extLst>
              <a:ext uri="{FF2B5EF4-FFF2-40B4-BE49-F238E27FC236}">
                <a16:creationId xmlns:a16="http://schemas.microsoft.com/office/drawing/2014/main" id="{A7C13B22-336E-4F31-931D-8C8787A8806D}"/>
              </a:ext>
            </a:extLst>
          </p:cNvPr>
          <p:cNvSpPr>
            <a:spLocks noGrp="1"/>
          </p:cNvSpPr>
          <p:nvPr/>
        </p:nvSpPr>
        <p:spPr>
          <a:xfrm>
            <a:off x="3914775" y="3543300"/>
            <a:ext cx="161925" cy="104775"/>
          </a:xfrm>
          <a:prstGeom prst="downArrow">
            <a:avLst/>
          </a:prstGeom>
          <a:solidFill>
            <a:srgbClr val="697386"/>
          </a:solidFill>
          <a:ln w="0">
            <a:noFill/>
          </a:ln>
        </p:spPr>
        <p:txBody>
          <a:bodyPr/>
          <a:lstStyle/>
          <a:p>
            <a:endParaRPr lang="zh-CN" altLang="en-US"/>
          </a:p>
        </p:txBody>
      </p:sp>
      <p:sp>
        <p:nvSpPr>
          <p:cNvPr id="114" name="person-diagram-432">
            <a:extLst>
              <a:ext uri="{FF2B5EF4-FFF2-40B4-BE49-F238E27FC236}">
                <a16:creationId xmlns:a16="http://schemas.microsoft.com/office/drawing/2014/main" id="{84912805-C2DC-4B3F-95E8-C08254D105A5}"/>
              </a:ext>
            </a:extLst>
          </p:cNvPr>
          <p:cNvSpPr>
            <a:spLocks noGrp="1"/>
          </p:cNvSpPr>
          <p:nvPr/>
        </p:nvSpPr>
        <p:spPr>
          <a:xfrm>
            <a:off x="495300" y="3667125"/>
            <a:ext cx="7010400" cy="590550"/>
          </a:xfrm>
          <a:prstGeom prst="roundRect">
            <a:avLst>
              <a:gd name="adj" fmla="val 25806"/>
            </a:avLst>
          </a:prstGeom>
          <a:solidFill>
            <a:srgbClr val="E9EDF8"/>
          </a:solidFill>
          <a:ln w="0">
            <a:noFill/>
          </a:ln>
        </p:spPr>
        <p:txBody>
          <a:bodyPr/>
          <a:lstStyle/>
          <a:p>
            <a:endParaRPr lang="zh-CN" altLang="en-US"/>
          </a:p>
        </p:txBody>
      </p:sp>
      <p:sp>
        <p:nvSpPr>
          <p:cNvPr id="115" name="person-diagram-433">
            <a:extLst>
              <a:ext uri="{FF2B5EF4-FFF2-40B4-BE49-F238E27FC236}">
                <a16:creationId xmlns:a16="http://schemas.microsoft.com/office/drawing/2014/main" id="{D4D36CC7-4851-49E1-805F-520718169D74}"/>
              </a:ext>
            </a:extLst>
          </p:cNvPr>
          <p:cNvSpPr>
            <a:spLocks noGrp="1"/>
          </p:cNvSpPr>
          <p:nvPr/>
        </p:nvSpPr>
        <p:spPr>
          <a:xfrm>
            <a:off x="657225" y="3743325"/>
            <a:ext cx="3209925" cy="438150"/>
          </a:xfrm>
          <a:prstGeom prst="rect">
            <a:avLst/>
          </a:prstGeom>
          <a:noFill/>
          <a:ln w="0">
            <a:noFill/>
          </a:ln>
        </p:spPr>
        <p:txBody>
          <a:bodyPr lIns="0" tIns="0" rIns="0" bIns="0" anchor="ctr">
            <a:noAutofit/>
          </a:bodyPr>
          <a:lstStyle>
            <a:defPPr algn="l">
              <a:defRPr sz="1388" b="1">
                <a:solidFill>
                  <a:srgbClr val="1B1D63"/>
                </a:solidFill>
                <a:latin typeface="Arial"/>
                <a:ea typeface="Arial"/>
                <a:cs typeface="Arial"/>
              </a:defRPr>
            </a:defPPr>
          </a:lstStyle>
          <a:p>
            <a:pPr algn="l">
              <a:defRPr sz="1388" b="1">
                <a:solidFill>
                  <a:srgbClr val="1B1D63"/>
                </a:solidFill>
                <a:latin typeface="Arial"/>
                <a:ea typeface="Arial"/>
                <a:cs typeface="Arial"/>
              </a:defRPr>
            </a:pPr>
            <a:r>
              <a:rPr sz="1388" b="1">
                <a:solidFill>
                  <a:srgbClr val="1B1D63"/>
                </a:solidFill>
                <a:latin typeface="Arial"/>
                <a:ea typeface="Arial"/>
                <a:cs typeface="Arial"/>
              </a:rPr>
              <a:t>Blocks: G-Conv + T-Conv + Skate-MSA</a:t>
            </a:r>
          </a:p>
        </p:txBody>
      </p:sp>
      <p:sp>
        <p:nvSpPr>
          <p:cNvPr id="116" name="person-diagram-434">
            <a:extLst>
              <a:ext uri="{FF2B5EF4-FFF2-40B4-BE49-F238E27FC236}">
                <a16:creationId xmlns:a16="http://schemas.microsoft.com/office/drawing/2014/main" id="{BC636D1C-760F-4FF2-87D8-FA02BB8F1621}"/>
              </a:ext>
            </a:extLst>
          </p:cNvPr>
          <p:cNvSpPr>
            <a:spLocks noGrp="1"/>
          </p:cNvSpPr>
          <p:nvPr/>
        </p:nvSpPr>
        <p:spPr>
          <a:xfrm>
            <a:off x="3933825" y="3743325"/>
            <a:ext cx="3371850" cy="438150"/>
          </a:xfrm>
          <a:prstGeom prst="rect">
            <a:avLst/>
          </a:prstGeom>
          <a:noFill/>
          <a:ln w="0">
            <a:noFill/>
          </a:ln>
        </p:spPr>
        <p:txBody>
          <a:bodyPr lIns="0" tIns="0" rIns="0" bIns="0" anchor="ctr">
            <a:noAutofit/>
          </a:bodyPr>
          <a:lstStyle>
            <a:defPPr algn="ctr">
              <a:defRPr sz="1350" b="0">
                <a:solidFill>
                  <a:srgbClr val="2A2E45"/>
                </a:solidFill>
                <a:latin typeface="Arial"/>
                <a:ea typeface="Arial"/>
                <a:cs typeface="Arial"/>
              </a:defRPr>
            </a:defPPr>
          </a:lstStyle>
          <a:p>
            <a:pPr algn="ctr">
              <a:defRPr sz="1350" b="0">
                <a:solidFill>
                  <a:srgbClr val="2A2E45"/>
                </a:solidFill>
                <a:latin typeface="Arial"/>
                <a:ea typeface="Arial"/>
                <a:cs typeface="Arial"/>
              </a:defRPr>
            </a:pPr>
            <a:r>
              <a:rPr sz="1350" b="0">
                <a:solidFill>
                  <a:srgbClr val="2A2E45"/>
                </a:solidFill>
                <a:latin typeface="Arial"/>
                <a:ea typeface="Arial"/>
                <a:cs typeface="Arial"/>
              </a:rPr>
              <a:t>[B, C′, T′, 48]  ·  node mixing</a:t>
            </a:r>
          </a:p>
        </p:txBody>
      </p:sp>
      <p:sp>
        <p:nvSpPr>
          <p:cNvPr id="117" name="person-diagram-435">
            <a:extLst>
              <a:ext uri="{FF2B5EF4-FFF2-40B4-BE49-F238E27FC236}">
                <a16:creationId xmlns:a16="http://schemas.microsoft.com/office/drawing/2014/main" id="{1D8E445E-4799-4C8A-AC8C-079318C8AB4C}"/>
              </a:ext>
            </a:extLst>
          </p:cNvPr>
          <p:cNvSpPr>
            <a:spLocks noGrp="1"/>
          </p:cNvSpPr>
          <p:nvPr/>
        </p:nvSpPr>
        <p:spPr>
          <a:xfrm>
            <a:off x="3914775" y="4276725"/>
            <a:ext cx="161925" cy="104775"/>
          </a:xfrm>
          <a:prstGeom prst="downArrow">
            <a:avLst/>
          </a:prstGeom>
          <a:solidFill>
            <a:srgbClr val="697386"/>
          </a:solidFill>
          <a:ln w="0">
            <a:noFill/>
          </a:ln>
        </p:spPr>
        <p:txBody>
          <a:bodyPr/>
          <a:lstStyle/>
          <a:p>
            <a:endParaRPr lang="zh-CN" altLang="en-US"/>
          </a:p>
        </p:txBody>
      </p:sp>
      <p:sp>
        <p:nvSpPr>
          <p:cNvPr id="118" name="person-diagram-436">
            <a:extLst>
              <a:ext uri="{FF2B5EF4-FFF2-40B4-BE49-F238E27FC236}">
                <a16:creationId xmlns:a16="http://schemas.microsoft.com/office/drawing/2014/main" id="{3BB8FC8B-6B5D-47AE-AA5A-A851FDC41D2D}"/>
              </a:ext>
            </a:extLst>
          </p:cNvPr>
          <p:cNvSpPr>
            <a:spLocks noGrp="1"/>
          </p:cNvSpPr>
          <p:nvPr/>
        </p:nvSpPr>
        <p:spPr>
          <a:xfrm>
            <a:off x="495300" y="4400550"/>
            <a:ext cx="7010400" cy="590550"/>
          </a:xfrm>
          <a:prstGeom prst="roundRect">
            <a:avLst>
              <a:gd name="adj" fmla="val 25806"/>
            </a:avLst>
          </a:prstGeom>
          <a:solidFill>
            <a:srgbClr val="FBE8EF"/>
          </a:solidFill>
          <a:ln w="0">
            <a:noFill/>
          </a:ln>
        </p:spPr>
        <p:txBody>
          <a:bodyPr/>
          <a:lstStyle/>
          <a:p>
            <a:endParaRPr lang="zh-CN" altLang="en-US"/>
          </a:p>
        </p:txBody>
      </p:sp>
      <p:sp>
        <p:nvSpPr>
          <p:cNvPr id="119" name="person-diagram-437">
            <a:extLst>
              <a:ext uri="{FF2B5EF4-FFF2-40B4-BE49-F238E27FC236}">
                <a16:creationId xmlns:a16="http://schemas.microsoft.com/office/drawing/2014/main" id="{FCE1CDD5-5FF3-417B-9E27-2FF7EAF45B46}"/>
              </a:ext>
            </a:extLst>
          </p:cNvPr>
          <p:cNvSpPr>
            <a:spLocks noGrp="1"/>
          </p:cNvSpPr>
          <p:nvPr/>
        </p:nvSpPr>
        <p:spPr>
          <a:xfrm>
            <a:off x="657225" y="4476750"/>
            <a:ext cx="3209925" cy="438150"/>
          </a:xfrm>
          <a:prstGeom prst="rect">
            <a:avLst/>
          </a:prstGeom>
          <a:noFill/>
          <a:ln w="0">
            <a:noFill/>
          </a:ln>
        </p:spPr>
        <p:txBody>
          <a:bodyPr lIns="0" tIns="0" rIns="0" bIns="0" anchor="ctr">
            <a:noAutofit/>
          </a:bodyPr>
          <a:lstStyle>
            <a:defPPr algn="l">
              <a:defRPr sz="1388" b="1">
                <a:solidFill>
                  <a:srgbClr val="1B1D63"/>
                </a:solidFill>
                <a:latin typeface="Arial"/>
                <a:ea typeface="Arial"/>
                <a:cs typeface="Arial"/>
              </a:defRPr>
            </a:defPPr>
          </a:lstStyle>
          <a:p>
            <a:pPr algn="l">
              <a:defRPr sz="1388" b="1">
                <a:solidFill>
                  <a:srgbClr val="1B1D63"/>
                </a:solidFill>
                <a:latin typeface="Arial"/>
                <a:ea typeface="Arial"/>
                <a:cs typeface="Arial"/>
              </a:defRPr>
            </a:pPr>
            <a:r>
              <a:rPr sz="1388" b="1">
                <a:solidFill>
                  <a:srgbClr val="1B1D63"/>
                </a:solidFill>
                <a:latin typeface="Arial"/>
                <a:ea typeface="Arial"/>
                <a:cs typeface="Arial"/>
              </a:rPr>
              <a:t>Global average → classifier</a:t>
            </a:r>
          </a:p>
        </p:txBody>
      </p:sp>
      <p:sp>
        <p:nvSpPr>
          <p:cNvPr id="120" name="person-diagram-438">
            <a:extLst>
              <a:ext uri="{FF2B5EF4-FFF2-40B4-BE49-F238E27FC236}">
                <a16:creationId xmlns:a16="http://schemas.microsoft.com/office/drawing/2014/main" id="{D043D056-08BD-4B60-8091-0A73B057079F}"/>
              </a:ext>
            </a:extLst>
          </p:cNvPr>
          <p:cNvSpPr>
            <a:spLocks noGrp="1"/>
          </p:cNvSpPr>
          <p:nvPr/>
        </p:nvSpPr>
        <p:spPr>
          <a:xfrm>
            <a:off x="3933825" y="4476750"/>
            <a:ext cx="3371850" cy="438150"/>
          </a:xfrm>
          <a:prstGeom prst="rect">
            <a:avLst/>
          </a:prstGeom>
          <a:noFill/>
          <a:ln w="0">
            <a:noFill/>
          </a:ln>
        </p:spPr>
        <p:txBody>
          <a:bodyPr lIns="0" tIns="0" rIns="0" bIns="0" anchor="ctr">
            <a:noAutofit/>
          </a:bodyPr>
          <a:lstStyle>
            <a:defPPr algn="ctr">
              <a:defRPr sz="1350" b="0">
                <a:solidFill>
                  <a:srgbClr val="2A2E45"/>
                </a:solidFill>
                <a:latin typeface="Arial"/>
                <a:ea typeface="Arial"/>
                <a:cs typeface="Arial"/>
              </a:defRPr>
            </a:defPPr>
          </a:lstStyle>
          <a:p>
            <a:pPr algn="ctr">
              <a:defRPr sz="1350" b="0">
                <a:solidFill>
                  <a:srgbClr val="2A2E45"/>
                </a:solidFill>
                <a:latin typeface="Arial"/>
                <a:ea typeface="Arial"/>
                <a:cs typeface="Arial"/>
              </a:defRPr>
            </a:pPr>
            <a:r>
              <a:rPr sz="1350" b="0">
                <a:solidFill>
                  <a:srgbClr val="2A2E45"/>
                </a:solidFill>
                <a:latin typeface="Arial"/>
                <a:ea typeface="Arial"/>
                <a:cs typeface="Arial"/>
              </a:rPr>
              <a:t>mean(dim=(2,3)) → [B, C′] → head</a:t>
            </a:r>
          </a:p>
        </p:txBody>
      </p:sp>
      <p:sp>
        <p:nvSpPr>
          <p:cNvPr id="121" name="person-diagram-439">
            <a:extLst>
              <a:ext uri="{FF2B5EF4-FFF2-40B4-BE49-F238E27FC236}">
                <a16:creationId xmlns:a16="http://schemas.microsoft.com/office/drawing/2014/main" id="{E2ACAF68-33B4-48A5-86DA-F1EC1283C37A}"/>
              </a:ext>
            </a:extLst>
          </p:cNvPr>
          <p:cNvSpPr>
            <a:spLocks noGrp="1"/>
          </p:cNvSpPr>
          <p:nvPr/>
        </p:nvSpPr>
        <p:spPr>
          <a:xfrm>
            <a:off x="666750" y="5295900"/>
            <a:ext cx="3209925" cy="276225"/>
          </a:xfrm>
          <a:prstGeom prst="rect">
            <a:avLst/>
          </a:prstGeom>
          <a:noFill/>
          <a:ln w="0">
            <a:noFill/>
          </a:ln>
        </p:spPr>
        <p:txBody>
          <a:bodyPr lIns="0" tIns="0" rIns="0" bIns="0" anchor="ctr">
            <a:noAutofit/>
          </a:bodyPr>
          <a:lstStyle>
            <a:defPPr algn="l">
              <a:defRPr sz="1350" b="1">
                <a:solidFill>
                  <a:srgbClr val="1B1D63"/>
                </a:solidFill>
                <a:latin typeface="Arial"/>
                <a:ea typeface="Arial"/>
                <a:cs typeface="Arial"/>
              </a:defRPr>
            </a:defPPr>
          </a:lstStyle>
          <a:p>
            <a:pPr algn="l">
              <a:defRPr sz="1350" b="1">
                <a:solidFill>
                  <a:srgbClr val="1B1D63"/>
                </a:solidFill>
                <a:latin typeface="Arial"/>
                <a:ea typeface="Arial"/>
                <a:cs typeface="Arial"/>
              </a:defRPr>
            </a:pPr>
            <a:r>
              <a:rPr sz="1350" b="1">
                <a:solidFill>
                  <a:srgbClr val="1B1D63"/>
                </a:solidFill>
                <a:latin typeface="Arial"/>
                <a:ea typeface="Arial"/>
                <a:cs typeface="Arial"/>
              </a:rPr>
              <a:t>Person-0: 24 indexed nodes</a:t>
            </a:r>
          </a:p>
        </p:txBody>
      </p:sp>
      <p:sp>
        <p:nvSpPr>
          <p:cNvPr id="122" name="person-diagram-440">
            <a:extLst>
              <a:ext uri="{FF2B5EF4-FFF2-40B4-BE49-F238E27FC236}">
                <a16:creationId xmlns:a16="http://schemas.microsoft.com/office/drawing/2014/main" id="{0CD37121-BC1C-4BE8-B76E-618CB38D1B63}"/>
              </a:ext>
            </a:extLst>
          </p:cNvPr>
          <p:cNvSpPr>
            <a:spLocks noGrp="1"/>
          </p:cNvSpPr>
          <p:nvPr/>
        </p:nvSpPr>
        <p:spPr>
          <a:xfrm>
            <a:off x="4010025" y="5295900"/>
            <a:ext cx="3276600" cy="276225"/>
          </a:xfrm>
          <a:prstGeom prst="rect">
            <a:avLst/>
          </a:prstGeom>
          <a:noFill/>
          <a:ln w="0">
            <a:noFill/>
          </a:ln>
        </p:spPr>
        <p:txBody>
          <a:bodyPr lIns="0" tIns="0" rIns="0" bIns="0" anchor="ctr">
            <a:noAutofit/>
          </a:bodyPr>
          <a:lstStyle>
            <a:defPPr algn="l">
              <a:defRPr sz="1350" b="1">
                <a:solidFill>
                  <a:srgbClr val="38AFA2"/>
                </a:solidFill>
                <a:latin typeface="Arial"/>
                <a:ea typeface="Arial"/>
                <a:cs typeface="Arial"/>
              </a:defRPr>
            </a:defPPr>
          </a:lstStyle>
          <a:p>
            <a:pPr algn="l">
              <a:defRPr sz="1350" b="1">
                <a:solidFill>
                  <a:srgbClr val="38AFA2"/>
                </a:solidFill>
                <a:latin typeface="Arial"/>
                <a:ea typeface="Arial"/>
                <a:cs typeface="Arial"/>
              </a:defRPr>
            </a:pPr>
            <a:r>
              <a:rPr sz="1350" b="1">
                <a:solidFill>
                  <a:srgbClr val="38AFA2"/>
                </a:solidFill>
                <a:latin typeface="Arial"/>
                <a:ea typeface="Arial"/>
                <a:cs typeface="Arial"/>
              </a:rPr>
              <a:t>Person-1: 24 indexed nodes</a:t>
            </a:r>
          </a:p>
        </p:txBody>
      </p:sp>
      <p:sp>
        <p:nvSpPr>
          <p:cNvPr id="123" name="person-diagram-441">
            <a:extLst>
              <a:ext uri="{FF2B5EF4-FFF2-40B4-BE49-F238E27FC236}">
                <a16:creationId xmlns:a16="http://schemas.microsoft.com/office/drawing/2014/main" id="{C58B8E29-A7CC-4A49-8329-BA72D01E491D}"/>
              </a:ext>
            </a:extLst>
          </p:cNvPr>
          <p:cNvSpPr>
            <a:spLocks noGrp="1"/>
          </p:cNvSpPr>
          <p:nvPr/>
        </p:nvSpPr>
        <p:spPr>
          <a:xfrm>
            <a:off x="7886700" y="1562100"/>
            <a:ext cx="3619500" cy="247650"/>
          </a:xfrm>
          <a:prstGeom prst="rect">
            <a:avLst/>
          </a:prstGeom>
          <a:noFill/>
          <a:ln w="0">
            <a:noFill/>
          </a:ln>
        </p:spPr>
        <p:txBody>
          <a:bodyPr lIns="0" tIns="0" rIns="0" bIns="0" anchor="ctr">
            <a:noAutofit/>
          </a:bodyPr>
          <a:lstStyle>
            <a:defPPr algn="l">
              <a:defRPr sz="1050" b="1">
                <a:solidFill>
                  <a:srgbClr val="E31346"/>
                </a:solidFill>
                <a:latin typeface="Arial"/>
                <a:ea typeface="Arial"/>
                <a:cs typeface="Arial"/>
              </a:defRPr>
            </a:defPPr>
          </a:lstStyle>
          <a:p>
            <a:pPr algn="l">
              <a:defRPr sz="1050" b="1">
                <a:solidFill>
                  <a:srgbClr val="E31346"/>
                </a:solidFill>
                <a:latin typeface="Arial"/>
                <a:ea typeface="Arial"/>
                <a:cs typeface="Arial"/>
              </a:defRPr>
            </a:pPr>
            <a:r>
              <a:rPr sz="1050" b="1">
                <a:solidFill>
                  <a:srgbClr val="E31346"/>
                </a:solidFill>
                <a:latin typeface="Arial"/>
                <a:ea typeface="Arial"/>
                <a:cs typeface="Arial"/>
              </a:rPr>
              <a:t>TRAINED PIPELINE RESPONSE</a:t>
            </a:r>
          </a:p>
        </p:txBody>
      </p:sp>
      <p:sp>
        <p:nvSpPr>
          <p:cNvPr id="124" name="person-diagram-442">
            <a:extLst>
              <a:ext uri="{FF2B5EF4-FFF2-40B4-BE49-F238E27FC236}">
                <a16:creationId xmlns:a16="http://schemas.microsoft.com/office/drawing/2014/main" id="{E55954B4-074E-4002-B48B-E98193148D28}"/>
              </a:ext>
            </a:extLst>
          </p:cNvPr>
          <p:cNvSpPr>
            <a:spLocks noGrp="1"/>
          </p:cNvSpPr>
          <p:nvPr/>
        </p:nvSpPr>
        <p:spPr>
          <a:xfrm>
            <a:off x="7886700" y="2105025"/>
            <a:ext cx="3619500" cy="314325"/>
          </a:xfrm>
          <a:prstGeom prst="rect">
            <a:avLst/>
          </a:prstGeom>
          <a:noFill/>
          <a:ln w="0">
            <a:noFill/>
          </a:ln>
        </p:spPr>
        <p:txBody>
          <a:bodyPr lIns="0" tIns="0" rIns="0" bIns="0" anchor="ctr">
            <a:noAutofit/>
          </a:bodyPr>
          <a:lstStyle>
            <a:defPPr algn="l">
              <a:defRPr sz="1725" b="1">
                <a:solidFill>
                  <a:srgbClr val="1B1D63"/>
                </a:solidFill>
                <a:latin typeface="Arial"/>
                <a:ea typeface="Arial"/>
                <a:cs typeface="Arial"/>
              </a:defRPr>
            </a:defPPr>
          </a:lstStyle>
          <a:p>
            <a:pPr algn="l">
              <a:defRPr sz="1725" b="1">
                <a:solidFill>
                  <a:srgbClr val="1B1D63"/>
                </a:solidFill>
                <a:latin typeface="Arial"/>
                <a:ea typeface="Arial"/>
                <a:cs typeface="Arial"/>
              </a:defRPr>
            </a:pPr>
            <a:r>
              <a:rPr sz="1725" b="1">
                <a:solidFill>
                  <a:srgbClr val="1B1D63"/>
                </a:solidFill>
                <a:latin typeface="Arial"/>
                <a:ea typeface="Arial"/>
                <a:cs typeface="Arial"/>
              </a:rPr>
              <a:t>Global swap</a:t>
            </a:r>
          </a:p>
        </p:txBody>
      </p:sp>
      <p:sp>
        <p:nvSpPr>
          <p:cNvPr id="125" name="person-diagram-443">
            <a:extLst>
              <a:ext uri="{FF2B5EF4-FFF2-40B4-BE49-F238E27FC236}">
                <a16:creationId xmlns:a16="http://schemas.microsoft.com/office/drawing/2014/main" id="{BD9F10D1-6569-4467-9437-261052759FD6}"/>
              </a:ext>
            </a:extLst>
          </p:cNvPr>
          <p:cNvSpPr>
            <a:spLocks noGrp="1"/>
          </p:cNvSpPr>
          <p:nvPr/>
        </p:nvSpPr>
        <p:spPr>
          <a:xfrm>
            <a:off x="7886700" y="2476500"/>
            <a:ext cx="3619500" cy="361950"/>
          </a:xfrm>
          <a:prstGeom prst="rect">
            <a:avLst/>
          </a:prstGeom>
          <a:noFill/>
          <a:ln w="0">
            <a:noFill/>
          </a:ln>
        </p:spPr>
        <p:txBody>
          <a:bodyPr lIns="0" tIns="0" rIns="0" bIns="0" anchor="ctr">
            <a:noAutofit/>
          </a:bodyPr>
          <a:lstStyle>
            <a:defPPr algn="l">
              <a:defRPr sz="2175" b="1">
                <a:solidFill>
                  <a:srgbClr val="38AFA2"/>
                </a:solidFill>
                <a:latin typeface="Arial"/>
                <a:ea typeface="Arial"/>
                <a:cs typeface="Arial"/>
              </a:defRPr>
            </a:defPPr>
          </a:lstStyle>
          <a:p>
            <a:pPr algn="l">
              <a:defRPr sz="2175" b="1">
                <a:solidFill>
                  <a:srgbClr val="38AFA2"/>
                </a:solidFill>
                <a:latin typeface="Arial"/>
                <a:ea typeface="Arial"/>
                <a:cs typeface="Arial"/>
              </a:defRPr>
            </a:pPr>
            <a:r>
              <a:rPr sz="2175" b="1">
                <a:solidFill>
                  <a:srgbClr val="38AFA2"/>
                </a:solidFill>
                <a:latin typeface="Arial"/>
                <a:ea typeface="Arial"/>
                <a:cs typeface="Arial"/>
              </a:rPr>
              <a:t>Almost unchanged</a:t>
            </a:r>
          </a:p>
        </p:txBody>
      </p:sp>
      <p:sp>
        <p:nvSpPr>
          <p:cNvPr id="126" name="person-diagram-444">
            <a:extLst>
              <a:ext uri="{FF2B5EF4-FFF2-40B4-BE49-F238E27FC236}">
                <a16:creationId xmlns:a16="http://schemas.microsoft.com/office/drawing/2014/main" id="{8259159F-BBD3-4DAA-AD3F-67C88666FE87}"/>
              </a:ext>
            </a:extLst>
          </p:cNvPr>
          <p:cNvSpPr>
            <a:spLocks noGrp="1"/>
          </p:cNvSpPr>
          <p:nvPr/>
        </p:nvSpPr>
        <p:spPr>
          <a:xfrm>
            <a:off x="7886700" y="3114675"/>
            <a:ext cx="3619500" cy="314325"/>
          </a:xfrm>
          <a:prstGeom prst="rect">
            <a:avLst/>
          </a:prstGeom>
          <a:noFill/>
          <a:ln w="0">
            <a:noFill/>
          </a:ln>
        </p:spPr>
        <p:txBody>
          <a:bodyPr lIns="0" tIns="0" rIns="0" bIns="0" anchor="ctr">
            <a:noAutofit/>
          </a:bodyPr>
          <a:lstStyle>
            <a:defPPr algn="l">
              <a:defRPr sz="1725" b="1">
                <a:solidFill>
                  <a:srgbClr val="1B1D63"/>
                </a:solidFill>
                <a:latin typeface="Arial"/>
                <a:ea typeface="Arial"/>
                <a:cs typeface="Arial"/>
              </a:defRPr>
            </a:defPPr>
          </a:lstStyle>
          <a:p>
            <a:pPr algn="l">
              <a:defRPr sz="1725" b="1">
                <a:solidFill>
                  <a:srgbClr val="1B1D63"/>
                </a:solidFill>
                <a:latin typeface="Arial"/>
                <a:ea typeface="Arial"/>
                <a:cs typeface="Arial"/>
              </a:defRPr>
            </a:pPr>
            <a:r>
              <a:rPr sz="1725" b="1">
                <a:solidFill>
                  <a:srgbClr val="1B1D63"/>
                </a:solidFill>
                <a:latin typeface="Arial"/>
                <a:ea typeface="Arial"/>
                <a:cs typeface="Arial"/>
              </a:rPr>
              <a:t>Within-sequence swap</a:t>
            </a:r>
          </a:p>
        </p:txBody>
      </p:sp>
      <p:sp>
        <p:nvSpPr>
          <p:cNvPr id="127" name="person-diagram-445">
            <a:extLst>
              <a:ext uri="{FF2B5EF4-FFF2-40B4-BE49-F238E27FC236}">
                <a16:creationId xmlns:a16="http://schemas.microsoft.com/office/drawing/2014/main" id="{6D98B9E4-D8B8-4AC9-BC13-96A36A1DA1B6}"/>
              </a:ext>
            </a:extLst>
          </p:cNvPr>
          <p:cNvSpPr>
            <a:spLocks noGrp="1"/>
          </p:cNvSpPr>
          <p:nvPr/>
        </p:nvSpPr>
        <p:spPr>
          <a:xfrm>
            <a:off x="7886700" y="3486150"/>
            <a:ext cx="3619500" cy="361950"/>
          </a:xfrm>
          <a:prstGeom prst="rect">
            <a:avLst/>
          </a:prstGeom>
          <a:noFill/>
          <a:ln w="0">
            <a:noFill/>
          </a:ln>
        </p:spPr>
        <p:txBody>
          <a:bodyPr lIns="0" tIns="0" rIns="0" bIns="0" anchor="ctr">
            <a:noAutofit/>
          </a:bodyPr>
          <a:lstStyle>
            <a:defPPr algn="l">
              <a:defRPr sz="2175" b="1">
                <a:solidFill>
                  <a:srgbClr val="E31346"/>
                </a:solidFill>
                <a:latin typeface="Arial"/>
                <a:ea typeface="Arial"/>
                <a:cs typeface="Arial"/>
              </a:defRPr>
            </a:defPPr>
          </a:lstStyle>
          <a:p>
            <a:pPr algn="l">
              <a:defRPr sz="2175" b="1">
                <a:solidFill>
                  <a:srgbClr val="E31346"/>
                </a:solidFill>
                <a:latin typeface="Arial"/>
                <a:ea typeface="Arial"/>
                <a:cs typeface="Arial"/>
              </a:defRPr>
            </a:pPr>
            <a:r>
              <a:rPr sz="2175" b="1">
                <a:solidFill>
                  <a:srgbClr val="E31346"/>
                </a:solidFill>
                <a:latin typeface="Arial"/>
                <a:ea typeface="Arial"/>
                <a:cs typeface="Arial"/>
              </a:rPr>
              <a:t>Large degradation</a:t>
            </a:r>
          </a:p>
        </p:txBody>
      </p:sp>
      <p:sp>
        <p:nvSpPr>
          <p:cNvPr id="128" name="person-diagram-446">
            <a:extLst>
              <a:ext uri="{FF2B5EF4-FFF2-40B4-BE49-F238E27FC236}">
                <a16:creationId xmlns:a16="http://schemas.microsoft.com/office/drawing/2014/main" id="{59CAEEE9-A5DF-4CFC-8902-09A1B71F1AB3}"/>
              </a:ext>
            </a:extLst>
          </p:cNvPr>
          <p:cNvSpPr>
            <a:spLocks noGrp="1"/>
          </p:cNvSpPr>
          <p:nvPr/>
        </p:nvSpPr>
        <p:spPr>
          <a:xfrm>
            <a:off x="7734300" y="4229100"/>
            <a:ext cx="3981450" cy="1266825"/>
          </a:xfrm>
          <a:prstGeom prst="roundRect">
            <a:avLst>
              <a:gd name="adj" fmla="val 12030"/>
            </a:avLst>
          </a:prstGeom>
          <a:solidFill>
            <a:srgbClr val="E6F6F4"/>
          </a:solidFill>
          <a:ln w="0">
            <a:noFill/>
          </a:ln>
        </p:spPr>
        <p:txBody>
          <a:bodyPr/>
          <a:lstStyle/>
          <a:p>
            <a:endParaRPr lang="zh-CN" altLang="en-US"/>
          </a:p>
        </p:txBody>
      </p:sp>
      <p:sp>
        <p:nvSpPr>
          <p:cNvPr id="129" name="person-diagram-447">
            <a:extLst>
              <a:ext uri="{FF2B5EF4-FFF2-40B4-BE49-F238E27FC236}">
                <a16:creationId xmlns:a16="http://schemas.microsoft.com/office/drawing/2014/main" id="{A7A2A28C-D1B1-4523-BF53-52E85C80416F}"/>
              </a:ext>
            </a:extLst>
          </p:cNvPr>
          <p:cNvSpPr>
            <a:spLocks noGrp="1"/>
          </p:cNvSpPr>
          <p:nvPr/>
        </p:nvSpPr>
        <p:spPr>
          <a:xfrm>
            <a:off x="7924800" y="4324350"/>
            <a:ext cx="3600450" cy="276225"/>
          </a:xfrm>
          <a:prstGeom prst="rect">
            <a:avLst/>
          </a:prstGeom>
          <a:noFill/>
          <a:ln w="0">
            <a:noFill/>
          </a:ln>
        </p:spPr>
        <p:txBody>
          <a:bodyPr lIns="0" tIns="0" rIns="0" bIns="0" anchor="ctr">
            <a:noAutofit/>
          </a:bodyPr>
          <a:lstStyle>
            <a:defPPr algn="l">
              <a:defRPr sz="1425" b="1">
                <a:solidFill>
                  <a:srgbClr val="1B1D63"/>
                </a:solidFill>
                <a:latin typeface="Arial"/>
                <a:ea typeface="Arial"/>
                <a:cs typeface="Arial"/>
              </a:defRPr>
            </a:defPPr>
          </a:lstStyle>
          <a:p>
            <a:pPr algn="l">
              <a:defRPr sz="1425" b="1">
                <a:solidFill>
                  <a:srgbClr val="1B1D63"/>
                </a:solidFill>
                <a:latin typeface="Arial"/>
                <a:ea typeface="Arial"/>
                <a:cs typeface="Arial"/>
              </a:defRPr>
            </a:pPr>
            <a:r>
              <a:rPr sz="1425" b="1">
                <a:solidFill>
                  <a:srgbClr val="1B1D63"/>
                </a:solidFill>
                <a:latin typeface="Arial"/>
                <a:ea typeface="Arial"/>
                <a:cs typeface="Arial"/>
              </a:rPr>
              <a:t>Verified training context</a:t>
            </a:r>
          </a:p>
        </p:txBody>
      </p:sp>
      <p:sp>
        <p:nvSpPr>
          <p:cNvPr id="130" name="person-diagram-448">
            <a:extLst>
              <a:ext uri="{FF2B5EF4-FFF2-40B4-BE49-F238E27FC236}">
                <a16:creationId xmlns:a16="http://schemas.microsoft.com/office/drawing/2014/main" id="{C9902BA9-CD87-44CD-8F86-C6CADCF67F3E}"/>
              </a:ext>
            </a:extLst>
          </p:cNvPr>
          <p:cNvSpPr>
            <a:spLocks noGrp="1"/>
          </p:cNvSpPr>
          <p:nvPr/>
        </p:nvSpPr>
        <p:spPr>
          <a:xfrm>
            <a:off x="7924800" y="4676775"/>
            <a:ext cx="3600450" cy="657225"/>
          </a:xfrm>
          <a:prstGeom prst="rect">
            <a:avLst/>
          </a:prstGeom>
          <a:noFill/>
          <a:ln w="0">
            <a:noFill/>
          </a:ln>
        </p:spPr>
        <p:txBody>
          <a:bodyPr lIns="0" tIns="0" rIns="0" bIns="0" anchor="ctr">
            <a:noAutofit/>
          </a:bodyPr>
          <a:lstStyle>
            <a:defPPr algn="l">
              <a:defRPr sz="1650" b="0">
                <a:solidFill>
                  <a:srgbClr val="2A2E45"/>
                </a:solidFill>
                <a:latin typeface="Arial"/>
                <a:ea typeface="Arial"/>
                <a:cs typeface="Arial"/>
              </a:defRPr>
            </a:defPPr>
          </a:lstStyle>
          <a:p>
            <a:pPr algn="l">
              <a:defRPr sz="1650" b="0">
                <a:solidFill>
                  <a:srgbClr val="2A2E45"/>
                </a:solidFill>
                <a:latin typeface="Arial"/>
                <a:ea typeface="Arial"/>
                <a:cs typeface="Arial"/>
              </a:defRPr>
            </a:pPr>
            <a:r>
              <a:rPr sz="1650" b="0">
                <a:solidFill>
                  <a:srgbClr val="2A2E45"/>
                </a:solidFill>
                <a:latin typeface="Arial"/>
                <a:ea typeface="Arial"/>
                <a:cs typeface="Arial"/>
              </a:rPr>
              <a:t>Whole-clip swap augmentation</a:t>
            </a:r>
          </a:p>
          <a:p>
            <a:pPr algn="l">
              <a:defRPr sz="1650" b="0">
                <a:solidFill>
                  <a:srgbClr val="2A2E45"/>
                </a:solidFill>
                <a:latin typeface="Arial"/>
                <a:ea typeface="Arial"/>
                <a:cs typeface="Arial"/>
              </a:defRPr>
            </a:pPr>
            <a:r>
              <a:rPr sz="1650" b="0">
                <a:solidFill>
                  <a:srgbClr val="2A2E45"/>
                </a:solidFill>
                <a:latin typeface="Arial"/>
                <a:ea typeface="Arial"/>
                <a:cs typeface="Arial"/>
              </a:rPr>
              <a:t>was already enabled</a:t>
            </a:r>
          </a:p>
        </p:txBody>
      </p:sp>
      <p:sp>
        <p:nvSpPr>
          <p:cNvPr id="131" name="person-diagram-449">
            <a:extLst>
              <a:ext uri="{FF2B5EF4-FFF2-40B4-BE49-F238E27FC236}">
                <a16:creationId xmlns:a16="http://schemas.microsoft.com/office/drawing/2014/main" id="{7097286E-BE72-4403-94C9-D25990A07E2C}"/>
              </a:ext>
            </a:extLst>
          </p:cNvPr>
          <p:cNvSpPr>
            <a:spLocks noGrp="1"/>
          </p:cNvSpPr>
          <p:nvPr/>
        </p:nvSpPr>
        <p:spPr>
          <a:xfrm>
            <a:off x="495300" y="5810250"/>
            <a:ext cx="11220450" cy="495300"/>
          </a:xfrm>
          <a:prstGeom prst="roundRect">
            <a:avLst>
              <a:gd name="adj" fmla="val 30769"/>
            </a:avLst>
          </a:prstGeom>
          <a:solidFill>
            <a:srgbClr val="1B1D63"/>
          </a:solidFill>
          <a:ln w="11430">
            <a:solidFill>
              <a:srgbClr val="1B1D63"/>
            </a:solidFill>
          </a:ln>
        </p:spPr>
        <p:txBody>
          <a:bodyPr/>
          <a:lstStyle/>
          <a:p>
            <a:endParaRPr lang="zh-CN" altLang="en-US"/>
          </a:p>
        </p:txBody>
      </p:sp>
      <p:sp>
        <p:nvSpPr>
          <p:cNvPr id="132" name="person-diagram-450">
            <a:extLst>
              <a:ext uri="{FF2B5EF4-FFF2-40B4-BE49-F238E27FC236}">
                <a16:creationId xmlns:a16="http://schemas.microsoft.com/office/drawing/2014/main" id="{93B4A144-EC81-4155-A7C1-531B2AE6FE5C}"/>
              </a:ext>
            </a:extLst>
          </p:cNvPr>
          <p:cNvSpPr>
            <a:spLocks noGrp="1"/>
          </p:cNvSpPr>
          <p:nvPr/>
        </p:nvSpPr>
        <p:spPr>
          <a:xfrm>
            <a:off x="723900" y="5857875"/>
            <a:ext cx="10763250" cy="400050"/>
          </a:xfrm>
          <a:prstGeom prst="rect">
            <a:avLst/>
          </a:prstGeom>
          <a:noFill/>
          <a:ln w="0">
            <a:noFill/>
          </a:ln>
        </p:spPr>
        <p:txBody>
          <a:bodyPr lIns="0" tIns="0" rIns="0" bIns="0" anchor="ctr">
            <a:noAutofit/>
          </a:bodyPr>
          <a:lstStyle>
            <a:defPPr algn="ctr">
              <a:defRPr sz="1725" b="1">
                <a:solidFill>
                  <a:srgbClr val="FFFFFF"/>
                </a:solidFill>
                <a:latin typeface="Arial"/>
                <a:ea typeface="Arial"/>
                <a:cs typeface="Arial"/>
              </a:defRPr>
            </a:defPPr>
          </a:lstStyle>
          <a:p>
            <a:pPr algn="ctr">
              <a:defRPr sz="1725" b="1">
                <a:solidFill>
                  <a:srgbClr val="FFFFFF"/>
                </a:solidFill>
                <a:latin typeface="Arial"/>
                <a:ea typeface="Arial"/>
                <a:cs typeface="Arial"/>
              </a:defRPr>
            </a:pPr>
            <a:r>
              <a:rPr sz="1725" b="1">
                <a:solidFill>
                  <a:srgbClr val="FFFFFF"/>
                </a:solidFill>
                <a:latin typeface="Arial"/>
                <a:ea typeface="Arial"/>
                <a:cs typeface="Arial"/>
              </a:rPr>
              <a:t>Indexed person groups are mixed, then pooled jointly over time and nodes</a:t>
            </a:r>
          </a:p>
        </p:txBody>
      </p:sp>
    </p:spTree>
    <p:extLst>
      <p:ext uri="{BB962C8B-B14F-4D97-AF65-F5344CB8AC3E}">
        <p14:creationId xmlns:p14="http://schemas.microsoft.com/office/powerpoint/2010/main" val="4579871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29347320-26F2-5136-9F01-723851FF5E4E}"/>
              </a:ext>
            </a:extLst>
          </p:cNvPr>
          <p:cNvSpPr>
            <a:spLocks noGrp="1"/>
          </p:cNvSpPr>
          <p:nvPr/>
        </p:nvSpPr>
        <p:spPr>
          <a:xfrm>
            <a:off x="0" y="0"/>
            <a:ext cx="152400" cy="6858000"/>
          </a:xfrm>
          <a:prstGeom prst="rect">
            <a:avLst/>
          </a:prstGeom>
          <a:solidFill>
            <a:srgbClr val="E31346"/>
          </a:solidFill>
          <a:ln w="0">
            <a:noFill/>
          </a:ln>
        </p:spPr>
        <p:txBody>
          <a:bodyPr/>
          <a:lstStyle/>
          <a:p>
            <a:endParaRPr lang="zh-CN" altLang="en-US"/>
          </a:p>
        </p:txBody>
      </p:sp>
      <p:sp>
        <p:nvSpPr>
          <p:cNvPr id="2" name="矩形 1">
            <a:extLst>
              <a:ext uri="{FF2B5EF4-FFF2-40B4-BE49-F238E27FC236}">
                <a16:creationId xmlns:a16="http://schemas.microsoft.com/office/drawing/2014/main" id="{21EA0E84-BFAA-5D38-A7B5-65A028C925A7}"/>
              </a:ext>
            </a:extLst>
          </p:cNvPr>
          <p:cNvSpPr>
            <a:spLocks noGrp="1"/>
          </p:cNvSpPr>
          <p:nvPr/>
        </p:nvSpPr>
        <p:spPr>
          <a:xfrm>
            <a:off x="152400" y="6562725"/>
            <a:ext cx="12039600" cy="295275"/>
          </a:xfrm>
          <a:prstGeom prst="rect">
            <a:avLst/>
          </a:prstGeom>
          <a:solidFill>
            <a:srgbClr val="1B1D63"/>
          </a:solidFill>
          <a:ln w="0">
            <a:noFill/>
          </a:ln>
        </p:spPr>
        <p:txBody>
          <a:bodyPr/>
          <a:lstStyle/>
          <a:p>
            <a:endParaRPr lang="zh-CN" altLang="en-US"/>
          </a:p>
        </p:txBody>
      </p:sp>
      <p:sp>
        <p:nvSpPr>
          <p:cNvPr id="4" name="矩形 3">
            <a:extLst>
              <a:ext uri="{FF2B5EF4-FFF2-40B4-BE49-F238E27FC236}">
                <a16:creationId xmlns:a16="http://schemas.microsoft.com/office/drawing/2014/main" id="{52E4AAC9-DE9F-530E-AF63-56B829213161}"/>
              </a:ext>
            </a:extLst>
          </p:cNvPr>
          <p:cNvSpPr>
            <a:spLocks noGrp="1"/>
          </p:cNvSpPr>
          <p:nvPr/>
        </p:nvSpPr>
        <p:spPr>
          <a:xfrm>
            <a:off x="495300" y="723900"/>
            <a:ext cx="7239000" cy="219075"/>
          </a:xfrm>
          <a:prstGeom prst="rect">
            <a:avLst/>
          </a:prstGeom>
          <a:noFill/>
          <a:ln w="0">
            <a:noFill/>
          </a:ln>
        </p:spPr>
        <p:txBody>
          <a:bodyPr anchor="ctr">
            <a:normAutofit fontScale="93397" lnSpcReduction="10000"/>
          </a:bodyPr>
          <a:lstStyle/>
          <a:p>
            <a:pPr algn="l">
              <a:defRPr sz="975" b="1">
                <a:solidFill>
                  <a:srgbClr val="E31346"/>
                </a:solidFill>
                <a:latin typeface="Arial"/>
                <a:ea typeface="Arial"/>
                <a:cs typeface="Arial"/>
              </a:defRPr>
            </a:pPr>
            <a:r>
              <a:rPr sz="975" b="1">
                <a:solidFill>
                  <a:srgbClr val="E31346"/>
                </a:solidFill>
                <a:latin typeface="Arial"/>
                <a:ea typeface="Arial"/>
                <a:cs typeface="Arial"/>
              </a:rPr>
              <a:t>EE6008 · HUMAN POSE GROUP PROJECT</a:t>
            </a:r>
          </a:p>
        </p:txBody>
      </p:sp>
      <p:sp>
        <p:nvSpPr>
          <p:cNvPr id="5" name="矩形 4">
            <a:extLst>
              <a:ext uri="{FF2B5EF4-FFF2-40B4-BE49-F238E27FC236}">
                <a16:creationId xmlns:a16="http://schemas.microsoft.com/office/drawing/2014/main" id="{0BD8C7DF-1A73-517E-92B5-6F125C26AA01}"/>
              </a:ext>
            </a:extLst>
          </p:cNvPr>
          <p:cNvSpPr>
            <a:spLocks noGrp="1"/>
          </p:cNvSpPr>
          <p:nvPr/>
        </p:nvSpPr>
        <p:spPr>
          <a:xfrm>
            <a:off x="495300" y="1009650"/>
            <a:ext cx="1562100" cy="47625"/>
          </a:xfrm>
          <a:prstGeom prst="rect">
            <a:avLst/>
          </a:prstGeom>
          <a:solidFill>
            <a:srgbClr val="E31346"/>
          </a:solidFill>
          <a:ln w="0">
            <a:noFill/>
          </a:ln>
        </p:spPr>
        <p:txBody>
          <a:bodyPr/>
          <a:lstStyle/>
          <a:p>
            <a:endParaRPr lang="zh-CN" altLang="en-US"/>
          </a:p>
        </p:txBody>
      </p:sp>
      <p:sp>
        <p:nvSpPr>
          <p:cNvPr id="7" name="矩形 6">
            <a:extLst>
              <a:ext uri="{FF2B5EF4-FFF2-40B4-BE49-F238E27FC236}">
                <a16:creationId xmlns:a16="http://schemas.microsoft.com/office/drawing/2014/main" id="{32F77EB5-F354-54A7-8B01-31EF72C6F139}"/>
              </a:ext>
            </a:extLst>
          </p:cNvPr>
          <p:cNvSpPr>
            <a:spLocks noGrp="1"/>
          </p:cNvSpPr>
          <p:nvPr/>
        </p:nvSpPr>
        <p:spPr>
          <a:xfrm>
            <a:off x="495300" y="6591300"/>
            <a:ext cx="2857500" cy="219075"/>
          </a:xfrm>
          <a:prstGeom prst="rect">
            <a:avLst/>
          </a:prstGeom>
          <a:noFill/>
          <a:ln w="0">
            <a:noFill/>
          </a:ln>
        </p:spPr>
        <p:txBody>
          <a:bodyPr anchor="ctr">
            <a:normAutofit/>
          </a:bodyPr>
          <a:lstStyle/>
          <a:p>
            <a:pPr algn="l">
              <a:defRPr sz="750" b="1">
                <a:solidFill>
                  <a:srgbClr val="FFFFFF"/>
                </a:solidFill>
                <a:latin typeface="Arial"/>
                <a:ea typeface="Arial"/>
                <a:cs typeface="Arial"/>
              </a:defRPr>
            </a:pPr>
            <a:r>
              <a:rPr sz="750" b="1">
                <a:solidFill>
                  <a:srgbClr val="FFFFFF"/>
                </a:solidFill>
                <a:latin typeface="Arial"/>
                <a:ea typeface="Arial"/>
                <a:cs typeface="Arial"/>
              </a:rPr>
              <a:t>EE6008 · WEEKLY REPORT</a:t>
            </a:r>
          </a:p>
        </p:txBody>
      </p:sp>
      <p:sp>
        <p:nvSpPr>
          <p:cNvPr id="8" name="矩形 7">
            <a:extLst>
              <a:ext uri="{FF2B5EF4-FFF2-40B4-BE49-F238E27FC236}">
                <a16:creationId xmlns:a16="http://schemas.microsoft.com/office/drawing/2014/main" id="{0764AC89-0942-540E-959C-BC831A444FFF}"/>
              </a:ext>
            </a:extLst>
          </p:cNvPr>
          <p:cNvSpPr>
            <a:spLocks noGrp="1"/>
          </p:cNvSpPr>
          <p:nvPr/>
        </p:nvSpPr>
        <p:spPr>
          <a:xfrm>
            <a:off x="11049000" y="6591300"/>
            <a:ext cx="619125" cy="219075"/>
          </a:xfrm>
          <a:prstGeom prst="rect">
            <a:avLst/>
          </a:prstGeom>
          <a:noFill/>
          <a:ln w="0">
            <a:noFill/>
          </a:ln>
        </p:spPr>
        <p:txBody>
          <a:bodyPr anchor="ctr">
            <a:normAutofit/>
          </a:bodyPr>
          <a:lstStyle/>
          <a:p>
            <a:pPr algn="r">
              <a:defRPr sz="750" b="1">
                <a:solidFill>
                  <a:srgbClr val="FFFFFF"/>
                </a:solidFill>
                <a:latin typeface="Arial"/>
                <a:ea typeface="Arial"/>
                <a:cs typeface="Arial"/>
              </a:defRPr>
            </a:pPr>
            <a:r>
              <a:rPr sz="750" b="1">
                <a:solidFill>
                  <a:srgbClr val="FFFFFF"/>
                </a:solidFill>
                <a:latin typeface="Arial"/>
                <a:ea typeface="Arial"/>
                <a:cs typeface="Arial"/>
              </a:rPr>
              <a:t>09</a:t>
            </a:r>
          </a:p>
        </p:txBody>
      </p:sp>
      <p:sp>
        <p:nvSpPr>
          <p:cNvPr id="100" name="person-diagram-451">
            <a:extLst>
              <a:ext uri="{FF2B5EF4-FFF2-40B4-BE49-F238E27FC236}">
                <a16:creationId xmlns:a16="http://schemas.microsoft.com/office/drawing/2014/main" id="{84AE8C36-D737-41B2-B9BE-78D6D3E542E4}"/>
              </a:ext>
            </a:extLst>
          </p:cNvPr>
          <p:cNvSpPr>
            <a:spLocks noGrp="1"/>
          </p:cNvSpPr>
          <p:nvPr/>
        </p:nvSpPr>
        <p:spPr>
          <a:xfrm>
            <a:off x="590550" y="238125"/>
            <a:ext cx="8524875" cy="476250"/>
          </a:xfrm>
          <a:prstGeom prst="rect">
            <a:avLst/>
          </a:prstGeom>
          <a:noFill/>
          <a:ln w="0">
            <a:noFill/>
          </a:ln>
        </p:spPr>
        <p:txBody>
          <a:bodyPr lIns="0" tIns="0" rIns="0" bIns="0" anchor="ctr">
            <a:noAutofit/>
          </a:bodyPr>
          <a:lstStyle>
            <a:defPPr algn="l">
              <a:defRPr sz="2524" b="1">
                <a:solidFill>
                  <a:srgbClr val="1B1D63"/>
                </a:solidFill>
                <a:latin typeface="Arial"/>
                <a:ea typeface="Arial"/>
                <a:cs typeface="Arial"/>
              </a:defRPr>
            </a:defPPr>
          </a:lstStyle>
          <a:p>
            <a:pPr algn="l">
              <a:defRPr sz="2524" b="1">
                <a:solidFill>
                  <a:srgbClr val="1B1D63"/>
                </a:solidFill>
                <a:latin typeface="Arial"/>
                <a:ea typeface="Arial"/>
                <a:cs typeface="Arial"/>
              </a:defRPr>
            </a:pPr>
            <a:r>
              <a:rPr sz="2524" b="1">
                <a:solidFill>
                  <a:srgbClr val="1B1D63"/>
                </a:solidFill>
                <a:latin typeface="Arial"/>
                <a:ea typeface="Arial"/>
                <a:cs typeface="Arial"/>
              </a:rPr>
              <a:t>Model-Specific Improvement Directions</a:t>
            </a:r>
          </a:p>
        </p:txBody>
      </p:sp>
      <p:pic>
        <p:nvPicPr>
          <p:cNvPr id="101" name="图片 100">
            <a:extLst>
              <a:ext uri="{FF2B5EF4-FFF2-40B4-BE49-F238E27FC236}">
                <a16:creationId xmlns:a16="http://schemas.microsoft.com/office/drawing/2014/main" id="{7ED351E6-947B-4656-AA01-DCB6B3B4C4CE}"/>
              </a:ext>
            </a:extLst>
          </p:cNvPr>
          <p:cNvPicPr>
            <a:picLocks noChangeAspect="1"/>
          </p:cNvPicPr>
          <p:nvPr/>
        </p:nvPicPr>
        <p:blipFill>
          <a:blip r:embed="rId3"/>
          <a:stretch/>
        </p:blipFill>
        <p:spPr>
          <a:xfrm>
            <a:off x="9696450" y="191381"/>
            <a:ext cx="2038350" cy="731663"/>
          </a:xfrm>
          <a:prstGeom prst="rect">
            <a:avLst/>
          </a:prstGeom>
        </p:spPr>
      </p:pic>
      <p:sp>
        <p:nvSpPr>
          <p:cNvPr id="102" name="person-diagram-452">
            <a:extLst>
              <a:ext uri="{FF2B5EF4-FFF2-40B4-BE49-F238E27FC236}">
                <a16:creationId xmlns:a16="http://schemas.microsoft.com/office/drawing/2014/main" id="{549C5F87-621B-45C9-8E76-45C3807C8CDC}"/>
              </a:ext>
            </a:extLst>
          </p:cNvPr>
          <p:cNvSpPr>
            <a:spLocks noGrp="1"/>
          </p:cNvSpPr>
          <p:nvPr/>
        </p:nvSpPr>
        <p:spPr>
          <a:xfrm>
            <a:off x="495300" y="1428750"/>
            <a:ext cx="5467350" cy="4152900"/>
          </a:xfrm>
          <a:prstGeom prst="roundRect">
            <a:avLst>
              <a:gd name="adj" fmla="val 3670"/>
            </a:avLst>
          </a:prstGeom>
          <a:solidFill>
            <a:srgbClr val="E9EDF8"/>
          </a:solidFill>
          <a:ln w="0">
            <a:noFill/>
          </a:ln>
        </p:spPr>
        <p:txBody>
          <a:bodyPr/>
          <a:lstStyle/>
          <a:p>
            <a:endParaRPr lang="zh-CN" altLang="en-US"/>
          </a:p>
        </p:txBody>
      </p:sp>
      <p:sp>
        <p:nvSpPr>
          <p:cNvPr id="103" name="person-diagram-453">
            <a:extLst>
              <a:ext uri="{FF2B5EF4-FFF2-40B4-BE49-F238E27FC236}">
                <a16:creationId xmlns:a16="http://schemas.microsoft.com/office/drawing/2014/main" id="{AAC241F7-E29F-4CDB-9C5E-89CAF2E18116}"/>
              </a:ext>
            </a:extLst>
          </p:cNvPr>
          <p:cNvSpPr>
            <a:spLocks noGrp="1"/>
          </p:cNvSpPr>
          <p:nvPr/>
        </p:nvSpPr>
        <p:spPr>
          <a:xfrm>
            <a:off x="6191250" y="1428750"/>
            <a:ext cx="5524500" cy="4152900"/>
          </a:xfrm>
          <a:prstGeom prst="roundRect">
            <a:avLst>
              <a:gd name="adj" fmla="val 3670"/>
            </a:avLst>
          </a:prstGeom>
          <a:solidFill>
            <a:srgbClr val="FBE8EF"/>
          </a:solidFill>
          <a:ln w="0">
            <a:noFill/>
          </a:ln>
        </p:spPr>
        <p:txBody>
          <a:bodyPr/>
          <a:lstStyle/>
          <a:p>
            <a:endParaRPr lang="zh-CN" altLang="en-US"/>
          </a:p>
        </p:txBody>
      </p:sp>
      <p:sp>
        <p:nvSpPr>
          <p:cNvPr id="104" name="person-diagram-454">
            <a:extLst>
              <a:ext uri="{FF2B5EF4-FFF2-40B4-BE49-F238E27FC236}">
                <a16:creationId xmlns:a16="http://schemas.microsoft.com/office/drawing/2014/main" id="{73E58936-9A5E-46F2-85D3-5BC6A55474E2}"/>
              </a:ext>
            </a:extLst>
          </p:cNvPr>
          <p:cNvSpPr>
            <a:spLocks noGrp="1"/>
          </p:cNvSpPr>
          <p:nvPr/>
        </p:nvSpPr>
        <p:spPr>
          <a:xfrm>
            <a:off x="733425" y="1600200"/>
            <a:ext cx="4991100" cy="381000"/>
          </a:xfrm>
          <a:prstGeom prst="rect">
            <a:avLst/>
          </a:prstGeom>
          <a:noFill/>
          <a:ln w="0">
            <a:noFill/>
          </a:ln>
        </p:spPr>
        <p:txBody>
          <a:bodyPr lIns="0" tIns="0" rIns="0" bIns="0" anchor="ctr">
            <a:noAutofit/>
          </a:bodyPr>
          <a:lstStyle>
            <a:defPPr algn="l">
              <a:defRPr sz="2325" b="1">
                <a:solidFill>
                  <a:srgbClr val="1B1D63"/>
                </a:solidFill>
                <a:latin typeface="Arial"/>
                <a:ea typeface="Arial"/>
                <a:cs typeface="Arial"/>
              </a:defRPr>
            </a:defPPr>
          </a:lstStyle>
          <a:p>
            <a:pPr algn="l">
              <a:defRPr sz="2325" b="1">
                <a:solidFill>
                  <a:srgbClr val="1B1D63"/>
                </a:solidFill>
                <a:latin typeface="Arial"/>
                <a:ea typeface="Arial"/>
                <a:cs typeface="Arial"/>
              </a:defRPr>
            </a:pPr>
            <a:r>
              <a:rPr sz="2325" b="1">
                <a:solidFill>
                  <a:srgbClr val="1B1D63"/>
                </a:solidFill>
                <a:latin typeface="Arial"/>
                <a:ea typeface="Arial"/>
                <a:cs typeface="Arial"/>
              </a:rPr>
              <a:t>CTR-GCN</a:t>
            </a:r>
          </a:p>
        </p:txBody>
      </p:sp>
      <p:sp>
        <p:nvSpPr>
          <p:cNvPr id="105" name="person-diagram-455">
            <a:extLst>
              <a:ext uri="{FF2B5EF4-FFF2-40B4-BE49-F238E27FC236}">
                <a16:creationId xmlns:a16="http://schemas.microsoft.com/office/drawing/2014/main" id="{A665FA99-1374-44B2-8FB8-28D0938B377F}"/>
              </a:ext>
            </a:extLst>
          </p:cNvPr>
          <p:cNvSpPr>
            <a:spLocks noGrp="1"/>
          </p:cNvSpPr>
          <p:nvPr/>
        </p:nvSpPr>
        <p:spPr>
          <a:xfrm>
            <a:off x="6429375" y="1600200"/>
            <a:ext cx="5048250" cy="381000"/>
          </a:xfrm>
          <a:prstGeom prst="rect">
            <a:avLst/>
          </a:prstGeom>
          <a:noFill/>
          <a:ln w="0">
            <a:noFill/>
          </a:ln>
        </p:spPr>
        <p:txBody>
          <a:bodyPr lIns="0" tIns="0" rIns="0" bIns="0" anchor="ctr">
            <a:noAutofit/>
          </a:bodyPr>
          <a:lstStyle>
            <a:defPPr algn="l">
              <a:defRPr sz="2325" b="1">
                <a:solidFill>
                  <a:srgbClr val="E31346"/>
                </a:solidFill>
                <a:latin typeface="Arial"/>
                <a:ea typeface="Arial"/>
                <a:cs typeface="Arial"/>
              </a:defRPr>
            </a:defPPr>
          </a:lstStyle>
          <a:p>
            <a:pPr algn="l">
              <a:defRPr sz="2325" b="1">
                <a:solidFill>
                  <a:srgbClr val="E31346"/>
                </a:solidFill>
                <a:latin typeface="Arial"/>
                <a:ea typeface="Arial"/>
                <a:cs typeface="Arial"/>
              </a:defRPr>
            </a:pPr>
            <a:r>
              <a:rPr sz="2325" b="1">
                <a:solidFill>
                  <a:srgbClr val="E31346"/>
                </a:solidFill>
                <a:latin typeface="Arial"/>
                <a:ea typeface="Arial"/>
                <a:cs typeface="Arial"/>
              </a:rPr>
              <a:t>SkateFormer</a:t>
            </a:r>
          </a:p>
        </p:txBody>
      </p:sp>
      <p:sp>
        <p:nvSpPr>
          <p:cNvPr id="106" name="person-diagram-456">
            <a:extLst>
              <a:ext uri="{FF2B5EF4-FFF2-40B4-BE49-F238E27FC236}">
                <a16:creationId xmlns:a16="http://schemas.microsoft.com/office/drawing/2014/main" id="{4E171170-5DA6-4E5D-BD79-A96F380FD902}"/>
              </a:ext>
            </a:extLst>
          </p:cNvPr>
          <p:cNvSpPr>
            <a:spLocks noGrp="1"/>
          </p:cNvSpPr>
          <p:nvPr/>
        </p:nvSpPr>
        <p:spPr>
          <a:xfrm>
            <a:off x="733425" y="2114550"/>
            <a:ext cx="4991100" cy="304800"/>
          </a:xfrm>
          <a:prstGeom prst="rect">
            <a:avLst/>
          </a:prstGeom>
          <a:noFill/>
          <a:ln w="0">
            <a:noFill/>
          </a:ln>
        </p:spPr>
        <p:txBody>
          <a:bodyPr lIns="0" tIns="0" rIns="0" bIns="0" anchor="ctr">
            <a:noAutofit/>
          </a:bodyPr>
          <a:lstStyle>
            <a:defPPr algn="l">
              <a:defRPr sz="1650" b="1">
                <a:solidFill>
                  <a:srgbClr val="1B1D63"/>
                </a:solidFill>
                <a:latin typeface="Arial"/>
                <a:ea typeface="Arial"/>
                <a:cs typeface="Arial"/>
              </a:defRPr>
            </a:defPPr>
          </a:lstStyle>
          <a:p>
            <a:pPr algn="l">
              <a:defRPr sz="1650" b="1">
                <a:solidFill>
                  <a:srgbClr val="1B1D63"/>
                </a:solidFill>
                <a:latin typeface="Arial"/>
                <a:ea typeface="Arial"/>
                <a:cs typeface="Arial"/>
              </a:defRPr>
            </a:pPr>
            <a:r>
              <a:rPr sz="1650" b="1">
                <a:solidFill>
                  <a:srgbClr val="1B1D63"/>
                </a:solidFill>
                <a:latin typeface="Arial"/>
                <a:ea typeface="Arial"/>
                <a:cs typeface="Arial"/>
              </a:rPr>
              <a:t>First target: slot-order sensitivity</a:t>
            </a:r>
          </a:p>
        </p:txBody>
      </p:sp>
      <p:sp>
        <p:nvSpPr>
          <p:cNvPr id="107" name="person-diagram-457">
            <a:extLst>
              <a:ext uri="{FF2B5EF4-FFF2-40B4-BE49-F238E27FC236}">
                <a16:creationId xmlns:a16="http://schemas.microsoft.com/office/drawing/2014/main" id="{EC383D77-75E9-4569-A5C6-3A276DA89D18}"/>
              </a:ext>
            </a:extLst>
          </p:cNvPr>
          <p:cNvSpPr>
            <a:spLocks noGrp="1"/>
          </p:cNvSpPr>
          <p:nvPr/>
        </p:nvSpPr>
        <p:spPr>
          <a:xfrm>
            <a:off x="6429375" y="2114550"/>
            <a:ext cx="5048250" cy="304800"/>
          </a:xfrm>
          <a:prstGeom prst="rect">
            <a:avLst/>
          </a:prstGeom>
          <a:noFill/>
          <a:ln w="0">
            <a:noFill/>
          </a:ln>
        </p:spPr>
        <p:txBody>
          <a:bodyPr lIns="0" tIns="0" rIns="0" bIns="0" anchor="ctr">
            <a:noAutofit/>
          </a:bodyPr>
          <a:lstStyle>
            <a:defPPr algn="l">
              <a:defRPr sz="1650" b="1">
                <a:solidFill>
                  <a:srgbClr val="E31346"/>
                </a:solidFill>
                <a:latin typeface="Arial"/>
                <a:ea typeface="Arial"/>
                <a:cs typeface="Arial"/>
              </a:defRPr>
            </a:defPPr>
          </a:lstStyle>
          <a:p>
            <a:pPr algn="l">
              <a:defRPr sz="1650" b="1">
                <a:solidFill>
                  <a:srgbClr val="E31346"/>
                </a:solidFill>
                <a:latin typeface="Arial"/>
                <a:ea typeface="Arial"/>
                <a:cs typeface="Arial"/>
              </a:defRPr>
            </a:pPr>
            <a:r>
              <a:rPr sz="1650" b="1">
                <a:solidFill>
                  <a:srgbClr val="E31346"/>
                </a:solidFill>
                <a:latin typeface="Arial"/>
                <a:ea typeface="Arial"/>
                <a:cs typeface="Arial"/>
              </a:rPr>
              <a:t>First target: temporal pairing</a:t>
            </a:r>
          </a:p>
        </p:txBody>
      </p:sp>
      <p:sp>
        <p:nvSpPr>
          <p:cNvPr id="108" name="person-diagram-458">
            <a:extLst>
              <a:ext uri="{FF2B5EF4-FFF2-40B4-BE49-F238E27FC236}">
                <a16:creationId xmlns:a16="http://schemas.microsoft.com/office/drawing/2014/main" id="{78601466-F1E5-4B1C-B966-0D3E8534F283}"/>
              </a:ext>
            </a:extLst>
          </p:cNvPr>
          <p:cNvSpPr>
            <a:spLocks noGrp="1"/>
          </p:cNvSpPr>
          <p:nvPr/>
        </p:nvSpPr>
        <p:spPr>
          <a:xfrm>
            <a:off x="742950" y="2752725"/>
            <a:ext cx="2133600" cy="485775"/>
          </a:xfrm>
          <a:prstGeom prst="roundRect">
            <a:avLst>
              <a:gd name="adj" fmla="val 31373"/>
            </a:avLst>
          </a:prstGeom>
          <a:solidFill>
            <a:srgbClr val="FFFFFF"/>
          </a:solidFill>
          <a:ln w="0">
            <a:noFill/>
          </a:ln>
        </p:spPr>
        <p:txBody>
          <a:bodyPr/>
          <a:lstStyle/>
          <a:p>
            <a:endParaRPr lang="zh-CN" altLang="en-US"/>
          </a:p>
        </p:txBody>
      </p:sp>
      <p:sp>
        <p:nvSpPr>
          <p:cNvPr id="109" name="person-diagram-459">
            <a:extLst>
              <a:ext uri="{FF2B5EF4-FFF2-40B4-BE49-F238E27FC236}">
                <a16:creationId xmlns:a16="http://schemas.microsoft.com/office/drawing/2014/main" id="{E7DCB046-1642-49D0-99A2-4A8C87B36C76}"/>
              </a:ext>
            </a:extLst>
          </p:cNvPr>
          <p:cNvSpPr>
            <a:spLocks noGrp="1"/>
          </p:cNvSpPr>
          <p:nvPr/>
        </p:nvSpPr>
        <p:spPr>
          <a:xfrm>
            <a:off x="876300" y="2809875"/>
            <a:ext cx="1866900" cy="371475"/>
          </a:xfrm>
          <a:prstGeom prst="rect">
            <a:avLst/>
          </a:prstGeom>
          <a:noFill/>
          <a:ln w="0">
            <a:noFill/>
          </a:ln>
        </p:spPr>
        <p:txBody>
          <a:bodyPr lIns="0" tIns="0" rIns="0" bIns="0" anchor="ctr">
            <a:noAutofit/>
          </a:bodyPr>
          <a:lstStyle>
            <a:defPPr algn="ctr">
              <a:defRPr sz="1650" b="1">
                <a:solidFill>
                  <a:srgbClr val="1B1D63"/>
                </a:solidFill>
                <a:latin typeface="Arial"/>
                <a:ea typeface="Arial"/>
                <a:cs typeface="Arial"/>
              </a:defRPr>
            </a:defPPr>
          </a:lstStyle>
          <a:p>
            <a:pPr algn="ctr">
              <a:defRPr sz="1650" b="1">
                <a:solidFill>
                  <a:srgbClr val="1B1D63"/>
                </a:solidFill>
                <a:latin typeface="Arial"/>
                <a:ea typeface="Arial"/>
                <a:cs typeface="Arial"/>
              </a:defRPr>
            </a:pPr>
            <a:r>
              <a:rPr sz="1650" b="1">
                <a:solidFill>
                  <a:srgbClr val="1B1D63"/>
                </a:solidFill>
                <a:latin typeface="Arial"/>
                <a:ea typeface="Arial"/>
                <a:cs typeface="Arial"/>
              </a:rPr>
              <a:t>Original [A, B]</a:t>
            </a:r>
          </a:p>
        </p:txBody>
      </p:sp>
      <p:sp>
        <p:nvSpPr>
          <p:cNvPr id="110" name="person-diagram-460">
            <a:extLst>
              <a:ext uri="{FF2B5EF4-FFF2-40B4-BE49-F238E27FC236}">
                <a16:creationId xmlns:a16="http://schemas.microsoft.com/office/drawing/2014/main" id="{5139CF44-76C1-4EF2-8B7E-945DFB957935}"/>
              </a:ext>
            </a:extLst>
          </p:cNvPr>
          <p:cNvSpPr>
            <a:spLocks noGrp="1"/>
          </p:cNvSpPr>
          <p:nvPr/>
        </p:nvSpPr>
        <p:spPr>
          <a:xfrm>
            <a:off x="3324225" y="2752725"/>
            <a:ext cx="2381250" cy="485775"/>
          </a:xfrm>
          <a:prstGeom prst="roundRect">
            <a:avLst>
              <a:gd name="adj" fmla="val 31373"/>
            </a:avLst>
          </a:prstGeom>
          <a:solidFill>
            <a:srgbClr val="FFFFFF"/>
          </a:solidFill>
          <a:ln w="0">
            <a:noFill/>
          </a:ln>
        </p:spPr>
        <p:txBody>
          <a:bodyPr/>
          <a:lstStyle/>
          <a:p>
            <a:endParaRPr lang="zh-CN" altLang="en-US"/>
          </a:p>
        </p:txBody>
      </p:sp>
      <p:sp>
        <p:nvSpPr>
          <p:cNvPr id="111" name="person-diagram-461">
            <a:extLst>
              <a:ext uri="{FF2B5EF4-FFF2-40B4-BE49-F238E27FC236}">
                <a16:creationId xmlns:a16="http://schemas.microsoft.com/office/drawing/2014/main" id="{AE54D97A-2422-4CFD-AE7F-D30D10E5AC63}"/>
              </a:ext>
            </a:extLst>
          </p:cNvPr>
          <p:cNvSpPr>
            <a:spLocks noGrp="1"/>
          </p:cNvSpPr>
          <p:nvPr/>
        </p:nvSpPr>
        <p:spPr>
          <a:xfrm>
            <a:off x="3457575" y="2809875"/>
            <a:ext cx="2114550" cy="371475"/>
          </a:xfrm>
          <a:prstGeom prst="rect">
            <a:avLst/>
          </a:prstGeom>
          <a:noFill/>
          <a:ln w="0">
            <a:noFill/>
          </a:ln>
        </p:spPr>
        <p:txBody>
          <a:bodyPr lIns="0" tIns="0" rIns="0" bIns="0" anchor="ctr">
            <a:noAutofit/>
          </a:bodyPr>
          <a:lstStyle>
            <a:defPPr algn="ctr">
              <a:defRPr sz="1650" b="1">
                <a:solidFill>
                  <a:srgbClr val="1B1D63"/>
                </a:solidFill>
                <a:latin typeface="Arial"/>
                <a:ea typeface="Arial"/>
                <a:cs typeface="Arial"/>
              </a:defRPr>
            </a:defPPr>
          </a:lstStyle>
          <a:p>
            <a:pPr algn="ctr">
              <a:defRPr sz="1650" b="1">
                <a:solidFill>
                  <a:srgbClr val="1B1D63"/>
                </a:solidFill>
                <a:latin typeface="Arial"/>
                <a:ea typeface="Arial"/>
                <a:cs typeface="Arial"/>
              </a:defRPr>
            </a:pPr>
            <a:r>
              <a:rPr sz="1650" b="1">
                <a:solidFill>
                  <a:srgbClr val="1B1D63"/>
                </a:solidFill>
                <a:latin typeface="Arial"/>
                <a:ea typeface="Arial"/>
                <a:cs typeface="Arial"/>
              </a:rPr>
              <a:t>Swapped [B, A]</a:t>
            </a:r>
          </a:p>
        </p:txBody>
      </p:sp>
      <p:sp>
        <p:nvSpPr>
          <p:cNvPr id="112" name="person-diagram-462">
            <a:extLst>
              <a:ext uri="{FF2B5EF4-FFF2-40B4-BE49-F238E27FC236}">
                <a16:creationId xmlns:a16="http://schemas.microsoft.com/office/drawing/2014/main" id="{7272E7B5-EA88-4D4E-9AFF-322FDB9F0FFE}"/>
              </a:ext>
            </a:extLst>
          </p:cNvPr>
          <p:cNvSpPr>
            <a:spLocks noGrp="1"/>
          </p:cNvSpPr>
          <p:nvPr/>
        </p:nvSpPr>
        <p:spPr>
          <a:xfrm>
            <a:off x="1714500" y="3324225"/>
            <a:ext cx="190500" cy="276225"/>
          </a:xfrm>
          <a:prstGeom prst="downArrow">
            <a:avLst/>
          </a:prstGeom>
          <a:solidFill>
            <a:srgbClr val="697386"/>
          </a:solidFill>
          <a:ln w="0">
            <a:noFill/>
          </a:ln>
        </p:spPr>
        <p:txBody>
          <a:bodyPr/>
          <a:lstStyle/>
          <a:p>
            <a:endParaRPr lang="zh-CN" altLang="en-US"/>
          </a:p>
        </p:txBody>
      </p:sp>
      <p:sp>
        <p:nvSpPr>
          <p:cNvPr id="113" name="person-diagram-463">
            <a:extLst>
              <a:ext uri="{FF2B5EF4-FFF2-40B4-BE49-F238E27FC236}">
                <a16:creationId xmlns:a16="http://schemas.microsoft.com/office/drawing/2014/main" id="{A77EBD61-DBE1-4A2F-9625-FAB87A53F80D}"/>
              </a:ext>
            </a:extLst>
          </p:cNvPr>
          <p:cNvSpPr>
            <a:spLocks noGrp="1"/>
          </p:cNvSpPr>
          <p:nvPr/>
        </p:nvSpPr>
        <p:spPr>
          <a:xfrm>
            <a:off x="4391025" y="3324225"/>
            <a:ext cx="190500" cy="276225"/>
          </a:xfrm>
          <a:prstGeom prst="downArrow">
            <a:avLst/>
          </a:prstGeom>
          <a:solidFill>
            <a:srgbClr val="697386"/>
          </a:solidFill>
          <a:ln w="0">
            <a:noFill/>
          </a:ln>
        </p:spPr>
        <p:txBody>
          <a:bodyPr/>
          <a:lstStyle/>
          <a:p>
            <a:endParaRPr lang="zh-CN" altLang="en-US"/>
          </a:p>
        </p:txBody>
      </p:sp>
      <p:sp>
        <p:nvSpPr>
          <p:cNvPr id="114" name="person-diagram-464">
            <a:extLst>
              <a:ext uri="{FF2B5EF4-FFF2-40B4-BE49-F238E27FC236}">
                <a16:creationId xmlns:a16="http://schemas.microsoft.com/office/drawing/2014/main" id="{01AEF92E-63D7-44C3-B5D3-96C3C7BEBA9A}"/>
              </a:ext>
            </a:extLst>
          </p:cNvPr>
          <p:cNvSpPr>
            <a:spLocks noGrp="1"/>
          </p:cNvSpPr>
          <p:nvPr/>
        </p:nvSpPr>
        <p:spPr>
          <a:xfrm>
            <a:off x="742950" y="3724275"/>
            <a:ext cx="2133600" cy="504825"/>
          </a:xfrm>
          <a:prstGeom prst="roundRect">
            <a:avLst>
              <a:gd name="adj" fmla="val 30189"/>
            </a:avLst>
          </a:prstGeom>
          <a:solidFill>
            <a:srgbClr val="FFFFFF"/>
          </a:solidFill>
          <a:ln w="0">
            <a:noFill/>
          </a:ln>
        </p:spPr>
        <p:txBody>
          <a:bodyPr/>
          <a:lstStyle/>
          <a:p>
            <a:endParaRPr lang="zh-CN" altLang="en-US"/>
          </a:p>
        </p:txBody>
      </p:sp>
      <p:sp>
        <p:nvSpPr>
          <p:cNvPr id="115" name="person-diagram-465">
            <a:extLst>
              <a:ext uri="{FF2B5EF4-FFF2-40B4-BE49-F238E27FC236}">
                <a16:creationId xmlns:a16="http://schemas.microsoft.com/office/drawing/2014/main" id="{E0D1CD5B-946A-411A-A0A4-681C07CCC57A}"/>
              </a:ext>
            </a:extLst>
          </p:cNvPr>
          <p:cNvSpPr>
            <a:spLocks noGrp="1"/>
          </p:cNvSpPr>
          <p:nvPr/>
        </p:nvSpPr>
        <p:spPr>
          <a:xfrm>
            <a:off x="876300" y="3781425"/>
            <a:ext cx="1866900" cy="390525"/>
          </a:xfrm>
          <a:prstGeom prst="rect">
            <a:avLst/>
          </a:prstGeom>
          <a:noFill/>
          <a:ln w="0">
            <a:noFill/>
          </a:ln>
        </p:spPr>
        <p:txBody>
          <a:bodyPr lIns="0" tIns="0" rIns="0" bIns="0" anchor="ctr">
            <a:noAutofit/>
          </a:bodyPr>
          <a:lstStyle>
            <a:defPPr algn="ctr">
              <a:defRPr sz="1650" b="1">
                <a:solidFill>
                  <a:srgbClr val="1B1D63"/>
                </a:solidFill>
                <a:latin typeface="Arial"/>
                <a:ea typeface="Arial"/>
                <a:cs typeface="Arial"/>
              </a:defRPr>
            </a:defPPr>
          </a:lstStyle>
          <a:p>
            <a:pPr algn="ctr">
              <a:defRPr sz="1650" b="1">
                <a:solidFill>
                  <a:srgbClr val="1B1D63"/>
                </a:solidFill>
                <a:latin typeface="Arial"/>
                <a:ea typeface="Arial"/>
                <a:cs typeface="Arial"/>
              </a:defRPr>
            </a:pPr>
            <a:r>
              <a:rPr sz="1650" b="1">
                <a:solidFill>
                  <a:srgbClr val="1B1D63"/>
                </a:solidFill>
                <a:latin typeface="Arial"/>
                <a:ea typeface="Arial"/>
                <a:cs typeface="Arial"/>
              </a:rPr>
              <a:t>Prediction p</a:t>
            </a:r>
          </a:p>
        </p:txBody>
      </p:sp>
      <p:sp>
        <p:nvSpPr>
          <p:cNvPr id="116" name="person-diagram-466">
            <a:extLst>
              <a:ext uri="{FF2B5EF4-FFF2-40B4-BE49-F238E27FC236}">
                <a16:creationId xmlns:a16="http://schemas.microsoft.com/office/drawing/2014/main" id="{C5515C7F-1713-48A7-B26D-9EB709B6A019}"/>
              </a:ext>
            </a:extLst>
          </p:cNvPr>
          <p:cNvSpPr>
            <a:spLocks noGrp="1"/>
          </p:cNvSpPr>
          <p:nvPr/>
        </p:nvSpPr>
        <p:spPr>
          <a:xfrm>
            <a:off x="3324225" y="3724275"/>
            <a:ext cx="2381250" cy="504825"/>
          </a:xfrm>
          <a:prstGeom prst="roundRect">
            <a:avLst>
              <a:gd name="adj" fmla="val 30189"/>
            </a:avLst>
          </a:prstGeom>
          <a:solidFill>
            <a:srgbClr val="FFFFFF"/>
          </a:solidFill>
          <a:ln w="0">
            <a:noFill/>
          </a:ln>
        </p:spPr>
        <p:txBody>
          <a:bodyPr/>
          <a:lstStyle/>
          <a:p>
            <a:endParaRPr lang="zh-CN" altLang="en-US"/>
          </a:p>
        </p:txBody>
      </p:sp>
      <p:sp>
        <p:nvSpPr>
          <p:cNvPr id="117" name="person-diagram-467">
            <a:extLst>
              <a:ext uri="{FF2B5EF4-FFF2-40B4-BE49-F238E27FC236}">
                <a16:creationId xmlns:a16="http://schemas.microsoft.com/office/drawing/2014/main" id="{F5301D3E-DC5E-490C-9B4C-006263134547}"/>
              </a:ext>
            </a:extLst>
          </p:cNvPr>
          <p:cNvSpPr>
            <a:spLocks noGrp="1"/>
          </p:cNvSpPr>
          <p:nvPr/>
        </p:nvSpPr>
        <p:spPr>
          <a:xfrm>
            <a:off x="3457575" y="3781425"/>
            <a:ext cx="2114550" cy="390525"/>
          </a:xfrm>
          <a:prstGeom prst="rect">
            <a:avLst/>
          </a:prstGeom>
          <a:noFill/>
          <a:ln w="0">
            <a:noFill/>
          </a:ln>
        </p:spPr>
        <p:txBody>
          <a:bodyPr lIns="0" tIns="0" rIns="0" bIns="0" anchor="ctr">
            <a:noAutofit/>
          </a:bodyPr>
          <a:lstStyle>
            <a:defPPr algn="ctr">
              <a:defRPr sz="1575" b="1">
                <a:solidFill>
                  <a:srgbClr val="1B1D63"/>
                </a:solidFill>
                <a:latin typeface="Arial"/>
                <a:ea typeface="Arial"/>
                <a:cs typeface="Arial"/>
              </a:defRPr>
            </a:defPPr>
          </a:lstStyle>
          <a:p>
            <a:pPr algn="ctr">
              <a:defRPr sz="1575" b="1">
                <a:solidFill>
                  <a:srgbClr val="1B1D63"/>
                </a:solidFill>
                <a:latin typeface="Arial"/>
                <a:ea typeface="Arial"/>
                <a:cs typeface="Arial"/>
              </a:defRPr>
            </a:pPr>
            <a:r>
              <a:rPr sz="1575" b="1">
                <a:solidFill>
                  <a:srgbClr val="1B1D63"/>
                </a:solidFill>
                <a:latin typeface="Arial"/>
                <a:ea typeface="Arial"/>
                <a:cs typeface="Arial"/>
              </a:rPr>
              <a:t>Prediction p_swap</a:t>
            </a:r>
          </a:p>
        </p:txBody>
      </p:sp>
      <p:sp>
        <p:nvSpPr>
          <p:cNvPr id="118" name="person-diagram-468">
            <a:extLst>
              <a:ext uri="{FF2B5EF4-FFF2-40B4-BE49-F238E27FC236}">
                <a16:creationId xmlns:a16="http://schemas.microsoft.com/office/drawing/2014/main" id="{51AA5C29-F9B4-4A4A-B070-517020DDFAE3}"/>
              </a:ext>
            </a:extLst>
          </p:cNvPr>
          <p:cNvSpPr>
            <a:spLocks noGrp="1"/>
          </p:cNvSpPr>
          <p:nvPr/>
        </p:nvSpPr>
        <p:spPr>
          <a:xfrm>
            <a:off x="2962275" y="3724275"/>
            <a:ext cx="276225" cy="485775"/>
          </a:xfrm>
          <a:prstGeom prst="rect">
            <a:avLst/>
          </a:prstGeom>
          <a:noFill/>
          <a:ln w="0">
            <a:noFill/>
          </a:ln>
        </p:spPr>
        <p:txBody>
          <a:bodyPr lIns="0" tIns="0" rIns="0" bIns="0" anchor="ctr">
            <a:noAutofit/>
          </a:bodyPr>
          <a:lstStyle>
            <a:defPPr algn="ctr">
              <a:defRPr sz="2400" b="1">
                <a:solidFill>
                  <a:srgbClr val="E31346"/>
                </a:solidFill>
                <a:latin typeface="Arial"/>
                <a:ea typeface="Arial"/>
                <a:cs typeface="Arial"/>
              </a:defRPr>
            </a:defPPr>
          </a:lstStyle>
          <a:p>
            <a:pPr algn="ctr">
              <a:defRPr sz="2400" b="1">
                <a:solidFill>
                  <a:srgbClr val="E31346"/>
                </a:solidFill>
                <a:latin typeface="Arial"/>
                <a:ea typeface="Arial"/>
                <a:cs typeface="Arial"/>
              </a:defRPr>
            </a:pPr>
            <a:r>
              <a:rPr sz="2400" b="1">
                <a:solidFill>
                  <a:srgbClr val="E31346"/>
                </a:solidFill>
                <a:latin typeface="Arial"/>
                <a:ea typeface="Arial"/>
                <a:cs typeface="Arial"/>
              </a:rPr>
              <a:t>≈</a:t>
            </a:r>
          </a:p>
        </p:txBody>
      </p:sp>
      <p:sp>
        <p:nvSpPr>
          <p:cNvPr id="119" name="person-diagram-469">
            <a:extLst>
              <a:ext uri="{FF2B5EF4-FFF2-40B4-BE49-F238E27FC236}">
                <a16:creationId xmlns:a16="http://schemas.microsoft.com/office/drawing/2014/main" id="{7F92E6DE-9E9B-4179-A5C1-18274E806B95}"/>
              </a:ext>
            </a:extLst>
          </p:cNvPr>
          <p:cNvSpPr>
            <a:spLocks noGrp="1"/>
          </p:cNvSpPr>
          <p:nvPr/>
        </p:nvSpPr>
        <p:spPr>
          <a:xfrm>
            <a:off x="742950" y="4391025"/>
            <a:ext cx="4981575" cy="276225"/>
          </a:xfrm>
          <a:prstGeom prst="rect">
            <a:avLst/>
          </a:prstGeom>
          <a:noFill/>
          <a:ln w="0">
            <a:noFill/>
          </a:ln>
        </p:spPr>
        <p:txBody>
          <a:bodyPr lIns="0" tIns="0" rIns="0" bIns="0" anchor="ctr">
            <a:noAutofit/>
          </a:bodyPr>
          <a:lstStyle>
            <a:defPPr algn="l">
              <a:defRPr sz="1575" b="1">
                <a:solidFill>
                  <a:srgbClr val="1B1D63"/>
                </a:solidFill>
                <a:latin typeface="Arial"/>
                <a:ea typeface="Arial"/>
                <a:cs typeface="Arial"/>
              </a:defRPr>
            </a:defPPr>
          </a:lstStyle>
          <a:p>
            <a:pPr algn="l">
              <a:defRPr sz="1575" b="1">
                <a:solidFill>
                  <a:srgbClr val="1B1D63"/>
                </a:solidFill>
                <a:latin typeface="Arial"/>
                <a:ea typeface="Arial"/>
                <a:cs typeface="Arial"/>
              </a:defRPr>
            </a:pPr>
            <a:r>
              <a:rPr sz="1575" b="1">
                <a:solidFill>
                  <a:srgbClr val="1B1D63"/>
                </a:solidFill>
                <a:latin typeface="Arial"/>
                <a:ea typeface="Arial"/>
                <a:cs typeface="Arial"/>
              </a:rPr>
              <a:t>Swap augmentation / consistency loss</a:t>
            </a:r>
          </a:p>
        </p:txBody>
      </p:sp>
      <p:sp>
        <p:nvSpPr>
          <p:cNvPr id="120" name="person-diagram-470">
            <a:extLst>
              <a:ext uri="{FF2B5EF4-FFF2-40B4-BE49-F238E27FC236}">
                <a16:creationId xmlns:a16="http://schemas.microsoft.com/office/drawing/2014/main" id="{449CB09A-F173-422D-8C9F-E4FE953CBDCD}"/>
              </a:ext>
            </a:extLst>
          </p:cNvPr>
          <p:cNvSpPr>
            <a:spLocks noGrp="1"/>
          </p:cNvSpPr>
          <p:nvPr/>
        </p:nvSpPr>
        <p:spPr>
          <a:xfrm>
            <a:off x="742950" y="4962525"/>
            <a:ext cx="4981575" cy="371475"/>
          </a:xfrm>
          <a:prstGeom prst="rect">
            <a:avLst/>
          </a:prstGeom>
          <a:noFill/>
          <a:ln w="0">
            <a:noFill/>
          </a:ln>
        </p:spPr>
        <p:txBody>
          <a:bodyPr lIns="0" tIns="0" rIns="0" bIns="0" anchor="ctr">
            <a:noAutofit/>
          </a:bodyPr>
          <a:lstStyle>
            <a:defPPr algn="l">
              <a:defRPr sz="1500" b="0">
                <a:solidFill>
                  <a:srgbClr val="697386"/>
                </a:solidFill>
                <a:latin typeface="Arial"/>
                <a:ea typeface="Arial"/>
                <a:cs typeface="Arial"/>
              </a:defRPr>
            </a:defPPr>
          </a:lstStyle>
          <a:p>
            <a:pPr algn="l">
              <a:defRPr sz="1500" b="0">
                <a:solidFill>
                  <a:srgbClr val="697386"/>
                </a:solidFill>
                <a:latin typeface="Arial"/>
                <a:ea typeface="Arial"/>
                <a:cs typeface="Arial"/>
              </a:defRPr>
            </a:pPr>
            <a:r>
              <a:rPr sz="1500" b="0">
                <a:solidFill>
                  <a:srgbClr val="697386"/>
                </a:solidFill>
                <a:latin typeface="Arial"/>
                <a:ea typeface="Arial"/>
                <a:cs typeface="Arial"/>
              </a:rPr>
              <a:t>Later: retain F_A, F_B for relation fusion</a:t>
            </a:r>
          </a:p>
        </p:txBody>
      </p:sp>
      <p:sp>
        <p:nvSpPr>
          <p:cNvPr id="121" name="person-diagram-471">
            <a:extLst>
              <a:ext uri="{FF2B5EF4-FFF2-40B4-BE49-F238E27FC236}">
                <a16:creationId xmlns:a16="http://schemas.microsoft.com/office/drawing/2014/main" id="{38F7DE04-0B77-44DC-946B-706B6B187871}"/>
              </a:ext>
            </a:extLst>
          </p:cNvPr>
          <p:cNvSpPr>
            <a:spLocks noGrp="1"/>
          </p:cNvSpPr>
          <p:nvPr/>
        </p:nvSpPr>
        <p:spPr>
          <a:xfrm>
            <a:off x="6438900" y="2733675"/>
            <a:ext cx="1762125" cy="504825"/>
          </a:xfrm>
          <a:prstGeom prst="roundRect">
            <a:avLst>
              <a:gd name="adj" fmla="val 30189"/>
            </a:avLst>
          </a:prstGeom>
          <a:solidFill>
            <a:srgbClr val="E9EDF8"/>
          </a:solidFill>
          <a:ln w="0">
            <a:noFill/>
          </a:ln>
        </p:spPr>
        <p:txBody>
          <a:bodyPr/>
          <a:lstStyle/>
          <a:p>
            <a:endParaRPr lang="zh-CN" altLang="en-US"/>
          </a:p>
        </p:txBody>
      </p:sp>
      <p:sp>
        <p:nvSpPr>
          <p:cNvPr id="122" name="person-diagram-472">
            <a:extLst>
              <a:ext uri="{FF2B5EF4-FFF2-40B4-BE49-F238E27FC236}">
                <a16:creationId xmlns:a16="http://schemas.microsoft.com/office/drawing/2014/main" id="{1D84B309-600E-4F12-BB62-4F972765E694}"/>
              </a:ext>
            </a:extLst>
          </p:cNvPr>
          <p:cNvSpPr>
            <a:spLocks noGrp="1"/>
          </p:cNvSpPr>
          <p:nvPr/>
        </p:nvSpPr>
        <p:spPr>
          <a:xfrm>
            <a:off x="6572250" y="2790825"/>
            <a:ext cx="1495425" cy="390525"/>
          </a:xfrm>
          <a:prstGeom prst="rect">
            <a:avLst/>
          </a:prstGeom>
          <a:noFill/>
          <a:ln w="0">
            <a:noFill/>
          </a:ln>
        </p:spPr>
        <p:txBody>
          <a:bodyPr lIns="0" tIns="0" rIns="0" bIns="0" anchor="ctr">
            <a:noAutofit/>
          </a:bodyPr>
          <a:lstStyle>
            <a:defPPr algn="ctr">
              <a:defRPr sz="1875" b="1">
                <a:solidFill>
                  <a:srgbClr val="1B1D63"/>
                </a:solidFill>
                <a:latin typeface="Arial"/>
                <a:ea typeface="Arial"/>
                <a:cs typeface="Arial"/>
              </a:defRPr>
            </a:defPPr>
          </a:lstStyle>
          <a:p>
            <a:pPr algn="ctr">
              <a:defRPr sz="1875" b="1">
                <a:solidFill>
                  <a:srgbClr val="1B1D63"/>
                </a:solidFill>
                <a:latin typeface="Arial"/>
                <a:ea typeface="Arial"/>
                <a:cs typeface="Arial"/>
              </a:defRPr>
            </a:pPr>
            <a:r>
              <a:rPr sz="1875" b="1">
                <a:solidFill>
                  <a:srgbClr val="1B1D63"/>
                </a:solidFill>
                <a:latin typeface="Arial"/>
                <a:ea typeface="Arial"/>
                <a:cs typeface="Arial"/>
              </a:rPr>
              <a:t>h_A(t)</a:t>
            </a:r>
          </a:p>
        </p:txBody>
      </p:sp>
      <p:sp>
        <p:nvSpPr>
          <p:cNvPr id="123" name="person-diagram-473">
            <a:extLst>
              <a:ext uri="{FF2B5EF4-FFF2-40B4-BE49-F238E27FC236}">
                <a16:creationId xmlns:a16="http://schemas.microsoft.com/office/drawing/2014/main" id="{BC7AA3C6-6803-4DF2-B244-623AE5E28E25}"/>
              </a:ext>
            </a:extLst>
          </p:cNvPr>
          <p:cNvSpPr>
            <a:spLocks noGrp="1"/>
          </p:cNvSpPr>
          <p:nvPr/>
        </p:nvSpPr>
        <p:spPr>
          <a:xfrm>
            <a:off x="9667875" y="2733675"/>
            <a:ext cx="1781175" cy="504825"/>
          </a:xfrm>
          <a:prstGeom prst="roundRect">
            <a:avLst>
              <a:gd name="adj" fmla="val 30189"/>
            </a:avLst>
          </a:prstGeom>
          <a:solidFill>
            <a:srgbClr val="E6F6F4"/>
          </a:solidFill>
          <a:ln w="0">
            <a:noFill/>
          </a:ln>
        </p:spPr>
        <p:txBody>
          <a:bodyPr/>
          <a:lstStyle/>
          <a:p>
            <a:endParaRPr lang="zh-CN" altLang="en-US"/>
          </a:p>
        </p:txBody>
      </p:sp>
      <p:sp>
        <p:nvSpPr>
          <p:cNvPr id="124" name="person-diagram-474">
            <a:extLst>
              <a:ext uri="{FF2B5EF4-FFF2-40B4-BE49-F238E27FC236}">
                <a16:creationId xmlns:a16="http://schemas.microsoft.com/office/drawing/2014/main" id="{8715A9D8-ED73-4170-9EB6-6D7B335A5395}"/>
              </a:ext>
            </a:extLst>
          </p:cNvPr>
          <p:cNvSpPr>
            <a:spLocks noGrp="1"/>
          </p:cNvSpPr>
          <p:nvPr/>
        </p:nvSpPr>
        <p:spPr>
          <a:xfrm>
            <a:off x="9801225" y="2790825"/>
            <a:ext cx="1514475" cy="390525"/>
          </a:xfrm>
          <a:prstGeom prst="rect">
            <a:avLst/>
          </a:prstGeom>
          <a:noFill/>
          <a:ln w="0">
            <a:noFill/>
          </a:ln>
        </p:spPr>
        <p:txBody>
          <a:bodyPr lIns="0" tIns="0" rIns="0" bIns="0" anchor="ctr">
            <a:noAutofit/>
          </a:bodyPr>
          <a:lstStyle>
            <a:defPPr algn="ctr">
              <a:defRPr sz="1875" b="1">
                <a:solidFill>
                  <a:srgbClr val="38AFA2"/>
                </a:solidFill>
                <a:latin typeface="Arial"/>
                <a:ea typeface="Arial"/>
                <a:cs typeface="Arial"/>
              </a:defRPr>
            </a:defPPr>
          </a:lstStyle>
          <a:p>
            <a:pPr algn="ctr">
              <a:defRPr sz="1875" b="1">
                <a:solidFill>
                  <a:srgbClr val="38AFA2"/>
                </a:solidFill>
                <a:latin typeface="Arial"/>
                <a:ea typeface="Arial"/>
                <a:cs typeface="Arial"/>
              </a:defRPr>
            </a:pPr>
            <a:r>
              <a:rPr sz="1875" b="1">
                <a:solidFill>
                  <a:srgbClr val="38AFA2"/>
                </a:solidFill>
                <a:latin typeface="Arial"/>
                <a:ea typeface="Arial"/>
                <a:cs typeface="Arial"/>
              </a:rPr>
              <a:t>h_B(t)</a:t>
            </a:r>
          </a:p>
        </p:txBody>
      </p:sp>
      <p:sp>
        <p:nvSpPr>
          <p:cNvPr id="125" name="diagram-line-475">
            <a:extLst>
              <a:ext uri="{FF2B5EF4-FFF2-40B4-BE49-F238E27FC236}">
                <a16:creationId xmlns:a16="http://schemas.microsoft.com/office/drawing/2014/main" id="{979122C1-FBA3-41A8-A716-935907A03BE4}"/>
              </a:ext>
            </a:extLst>
          </p:cNvPr>
          <p:cNvSpPr>
            <a:spLocks noGrp="1"/>
          </p:cNvSpPr>
          <p:nvPr/>
        </p:nvSpPr>
        <p:spPr>
          <a:xfrm>
            <a:off x="8201025" y="2981325"/>
            <a:ext cx="733425" cy="953"/>
          </a:xfrm>
          <a:prstGeom prst="line">
            <a:avLst/>
          </a:prstGeom>
          <a:noFill/>
          <a:ln w="19050">
            <a:solidFill>
              <a:srgbClr val="1B1D63"/>
            </a:solidFill>
          </a:ln>
        </p:spPr>
        <p:txBody>
          <a:bodyPr/>
          <a:lstStyle/>
          <a:p>
            <a:endParaRPr lang="zh-CN" altLang="en-US"/>
          </a:p>
        </p:txBody>
      </p:sp>
      <p:sp>
        <p:nvSpPr>
          <p:cNvPr id="126" name="diagram-line-476">
            <a:extLst>
              <a:ext uri="{FF2B5EF4-FFF2-40B4-BE49-F238E27FC236}">
                <a16:creationId xmlns:a16="http://schemas.microsoft.com/office/drawing/2014/main" id="{5A3AED88-6212-4499-8FDC-722868C96039}"/>
              </a:ext>
            </a:extLst>
          </p:cNvPr>
          <p:cNvSpPr>
            <a:spLocks noGrp="1"/>
          </p:cNvSpPr>
          <p:nvPr/>
        </p:nvSpPr>
        <p:spPr>
          <a:xfrm flipH="1">
            <a:off x="8934450" y="2981325"/>
            <a:ext cx="733425" cy="953"/>
          </a:xfrm>
          <a:prstGeom prst="line">
            <a:avLst/>
          </a:prstGeom>
          <a:noFill/>
          <a:ln w="19050">
            <a:solidFill>
              <a:srgbClr val="38AFA2"/>
            </a:solidFill>
          </a:ln>
        </p:spPr>
        <p:txBody>
          <a:bodyPr/>
          <a:lstStyle/>
          <a:p>
            <a:endParaRPr lang="zh-CN" altLang="en-US"/>
          </a:p>
        </p:txBody>
      </p:sp>
      <p:sp>
        <p:nvSpPr>
          <p:cNvPr id="127" name="diagram-line-477">
            <a:extLst>
              <a:ext uri="{FF2B5EF4-FFF2-40B4-BE49-F238E27FC236}">
                <a16:creationId xmlns:a16="http://schemas.microsoft.com/office/drawing/2014/main" id="{C1672C91-9551-4BFF-9272-94665207209B}"/>
              </a:ext>
            </a:extLst>
          </p:cNvPr>
          <p:cNvSpPr>
            <a:spLocks noGrp="1"/>
          </p:cNvSpPr>
          <p:nvPr/>
        </p:nvSpPr>
        <p:spPr>
          <a:xfrm>
            <a:off x="8934450" y="2981325"/>
            <a:ext cx="953" cy="304800"/>
          </a:xfrm>
          <a:prstGeom prst="line">
            <a:avLst/>
          </a:prstGeom>
          <a:noFill/>
          <a:ln w="19050">
            <a:solidFill>
              <a:srgbClr val="697386"/>
            </a:solidFill>
          </a:ln>
        </p:spPr>
        <p:txBody>
          <a:bodyPr/>
          <a:lstStyle/>
          <a:p>
            <a:endParaRPr lang="zh-CN" altLang="en-US"/>
          </a:p>
        </p:txBody>
      </p:sp>
      <p:sp>
        <p:nvSpPr>
          <p:cNvPr id="128" name="person-diagram-478">
            <a:extLst>
              <a:ext uri="{FF2B5EF4-FFF2-40B4-BE49-F238E27FC236}">
                <a16:creationId xmlns:a16="http://schemas.microsoft.com/office/drawing/2014/main" id="{1C611EBB-ED47-400E-A78A-C21DD08D0142}"/>
              </a:ext>
            </a:extLst>
          </p:cNvPr>
          <p:cNvSpPr>
            <a:spLocks noGrp="1"/>
          </p:cNvSpPr>
          <p:nvPr/>
        </p:nvSpPr>
        <p:spPr>
          <a:xfrm>
            <a:off x="8839200" y="3286125"/>
            <a:ext cx="190500" cy="285750"/>
          </a:xfrm>
          <a:prstGeom prst="downArrow">
            <a:avLst/>
          </a:prstGeom>
          <a:solidFill>
            <a:srgbClr val="697386"/>
          </a:solidFill>
          <a:ln w="0">
            <a:noFill/>
          </a:ln>
        </p:spPr>
        <p:txBody>
          <a:bodyPr/>
          <a:lstStyle/>
          <a:p>
            <a:endParaRPr lang="zh-CN" altLang="en-US"/>
          </a:p>
        </p:txBody>
      </p:sp>
      <p:sp>
        <p:nvSpPr>
          <p:cNvPr id="129" name="person-diagram-479">
            <a:extLst>
              <a:ext uri="{FF2B5EF4-FFF2-40B4-BE49-F238E27FC236}">
                <a16:creationId xmlns:a16="http://schemas.microsoft.com/office/drawing/2014/main" id="{E12B63D6-6E38-447E-B8C2-8B5E0F92A9C7}"/>
              </a:ext>
            </a:extLst>
          </p:cNvPr>
          <p:cNvSpPr>
            <a:spLocks noGrp="1"/>
          </p:cNvSpPr>
          <p:nvPr/>
        </p:nvSpPr>
        <p:spPr>
          <a:xfrm>
            <a:off x="6438900" y="3714750"/>
            <a:ext cx="5019675" cy="447675"/>
          </a:xfrm>
          <a:prstGeom prst="rect">
            <a:avLst/>
          </a:prstGeom>
          <a:noFill/>
          <a:ln w="0">
            <a:noFill/>
          </a:ln>
        </p:spPr>
        <p:txBody>
          <a:bodyPr lIns="0" tIns="0" rIns="0" bIns="0" anchor="ctr">
            <a:noAutofit/>
          </a:bodyPr>
          <a:lstStyle>
            <a:defPPr algn="ctr">
              <a:defRPr sz="2100" b="1">
                <a:solidFill>
                  <a:srgbClr val="1B1D63"/>
                </a:solidFill>
                <a:latin typeface="Arial"/>
                <a:ea typeface="Arial"/>
                <a:cs typeface="Arial"/>
              </a:defRPr>
            </a:defPPr>
          </a:lstStyle>
          <a:p>
            <a:pPr algn="ctr">
              <a:defRPr sz="2100" b="1">
                <a:solidFill>
                  <a:srgbClr val="1B1D63"/>
                </a:solidFill>
                <a:latin typeface="Arial"/>
                <a:ea typeface="Arial"/>
                <a:cs typeface="Arial"/>
              </a:defRPr>
            </a:pPr>
            <a:r>
              <a:rPr sz="2100" b="1">
                <a:solidFill>
                  <a:srgbClr val="1B1D63"/>
                </a:solidFill>
                <a:latin typeface="Arial"/>
                <a:ea typeface="Arial"/>
                <a:cs typeface="Arial"/>
              </a:rPr>
              <a:t>[h_A + h_B, |h_A − h_B|]</a:t>
            </a:r>
          </a:p>
        </p:txBody>
      </p:sp>
      <p:sp>
        <p:nvSpPr>
          <p:cNvPr id="130" name="person-diagram-480">
            <a:extLst>
              <a:ext uri="{FF2B5EF4-FFF2-40B4-BE49-F238E27FC236}">
                <a16:creationId xmlns:a16="http://schemas.microsoft.com/office/drawing/2014/main" id="{12D38DC6-B7D7-454A-A0A1-2B67151E6E63}"/>
              </a:ext>
            </a:extLst>
          </p:cNvPr>
          <p:cNvSpPr>
            <a:spLocks noGrp="1"/>
          </p:cNvSpPr>
          <p:nvPr/>
        </p:nvSpPr>
        <p:spPr>
          <a:xfrm>
            <a:off x="6429375" y="4371975"/>
            <a:ext cx="2352675" cy="276225"/>
          </a:xfrm>
          <a:prstGeom prst="rect">
            <a:avLst/>
          </a:prstGeom>
          <a:noFill/>
          <a:ln w="0">
            <a:noFill/>
          </a:ln>
        </p:spPr>
        <p:txBody>
          <a:bodyPr lIns="0" tIns="0" rIns="0" bIns="0" anchor="ctr">
            <a:noAutofit/>
          </a:bodyPr>
          <a:lstStyle>
            <a:defPPr algn="ctr">
              <a:defRPr sz="1500" b="1">
                <a:solidFill>
                  <a:srgbClr val="1B1D63"/>
                </a:solidFill>
                <a:latin typeface="Arial"/>
                <a:ea typeface="Arial"/>
                <a:cs typeface="Arial"/>
              </a:defRPr>
            </a:defPPr>
          </a:lstStyle>
          <a:p>
            <a:pPr algn="ctr">
              <a:defRPr sz="1500" b="1">
                <a:solidFill>
                  <a:srgbClr val="1B1D63"/>
                </a:solidFill>
                <a:latin typeface="Arial"/>
                <a:ea typeface="Arial"/>
                <a:cs typeface="Arial"/>
              </a:defRPr>
            </a:pPr>
            <a:r>
              <a:rPr sz="1500" b="1">
                <a:solidFill>
                  <a:srgbClr val="1B1D63"/>
                </a:solidFill>
                <a:latin typeface="Arial"/>
                <a:ea typeface="Arial"/>
                <a:cs typeface="Arial"/>
              </a:rPr>
              <a:t>Shared pair signal</a:t>
            </a:r>
          </a:p>
        </p:txBody>
      </p:sp>
      <p:sp>
        <p:nvSpPr>
          <p:cNvPr id="131" name="person-diagram-481">
            <a:extLst>
              <a:ext uri="{FF2B5EF4-FFF2-40B4-BE49-F238E27FC236}">
                <a16:creationId xmlns:a16="http://schemas.microsoft.com/office/drawing/2014/main" id="{835ADB6F-0DB8-44A7-9EE7-2AE5432A6206}"/>
              </a:ext>
            </a:extLst>
          </p:cNvPr>
          <p:cNvSpPr>
            <a:spLocks noGrp="1"/>
          </p:cNvSpPr>
          <p:nvPr/>
        </p:nvSpPr>
        <p:spPr>
          <a:xfrm>
            <a:off x="9105900" y="4371975"/>
            <a:ext cx="2343150" cy="276225"/>
          </a:xfrm>
          <a:prstGeom prst="rect">
            <a:avLst/>
          </a:prstGeom>
          <a:noFill/>
          <a:ln w="0">
            <a:noFill/>
          </a:ln>
        </p:spPr>
        <p:txBody>
          <a:bodyPr lIns="0" tIns="0" rIns="0" bIns="0" anchor="ctr">
            <a:noAutofit/>
          </a:bodyPr>
          <a:lstStyle>
            <a:defPPr algn="ctr">
              <a:defRPr sz="1500" b="1">
                <a:solidFill>
                  <a:srgbClr val="38AFA2"/>
                </a:solidFill>
                <a:latin typeface="Arial"/>
                <a:ea typeface="Arial"/>
                <a:cs typeface="Arial"/>
              </a:defRPr>
            </a:defPPr>
          </a:lstStyle>
          <a:p>
            <a:pPr algn="ctr">
              <a:defRPr sz="1500" b="1">
                <a:solidFill>
                  <a:srgbClr val="38AFA2"/>
                </a:solidFill>
                <a:latin typeface="Arial"/>
                <a:ea typeface="Arial"/>
                <a:cs typeface="Arial"/>
              </a:defRPr>
            </a:pPr>
            <a:r>
              <a:rPr sz="1500" b="1">
                <a:solidFill>
                  <a:srgbClr val="38AFA2"/>
                </a:solidFill>
                <a:latin typeface="Arial"/>
                <a:ea typeface="Arial"/>
                <a:cs typeface="Arial"/>
              </a:rPr>
              <a:t>Difference signal</a:t>
            </a:r>
          </a:p>
        </p:txBody>
      </p:sp>
      <p:sp>
        <p:nvSpPr>
          <p:cNvPr id="132" name="person-diagram-482">
            <a:extLst>
              <a:ext uri="{FF2B5EF4-FFF2-40B4-BE49-F238E27FC236}">
                <a16:creationId xmlns:a16="http://schemas.microsoft.com/office/drawing/2014/main" id="{96A50A73-7116-4435-81F6-42098AE91C69}"/>
              </a:ext>
            </a:extLst>
          </p:cNvPr>
          <p:cNvSpPr>
            <a:spLocks noGrp="1"/>
          </p:cNvSpPr>
          <p:nvPr/>
        </p:nvSpPr>
        <p:spPr>
          <a:xfrm>
            <a:off x="6429375" y="4962525"/>
            <a:ext cx="5019675" cy="381000"/>
          </a:xfrm>
          <a:prstGeom prst="rect">
            <a:avLst/>
          </a:prstGeom>
          <a:noFill/>
          <a:ln w="0">
            <a:noFill/>
          </a:ln>
        </p:spPr>
        <p:txBody>
          <a:bodyPr lIns="0" tIns="0" rIns="0" bIns="0" anchor="ctr">
            <a:noAutofit/>
          </a:bodyPr>
          <a:lstStyle>
            <a:defPPr algn="ctr">
              <a:defRPr sz="1500" b="0">
                <a:solidFill>
                  <a:srgbClr val="697386"/>
                </a:solidFill>
                <a:latin typeface="Arial"/>
                <a:ea typeface="Arial"/>
                <a:cs typeface="Arial"/>
              </a:defRPr>
            </a:defPPr>
          </a:lstStyle>
          <a:p>
            <a:pPr algn="ctr">
              <a:defRPr sz="1500" b="0">
                <a:solidFill>
                  <a:srgbClr val="697386"/>
                </a:solidFill>
                <a:latin typeface="Arial"/>
                <a:ea typeface="Arial"/>
                <a:cs typeface="Arial"/>
              </a:defRPr>
            </a:pPr>
            <a:r>
              <a:rPr sz="1500" b="0">
                <a:solidFill>
                  <a:srgbClr val="697386"/>
                </a:solidFill>
                <a:latin typeface="Arial"/>
                <a:ea typeface="Arial"/>
                <a:cs typeface="Arial"/>
              </a:rPr>
              <a:t>Small projection → temporal aggregation</a:t>
            </a:r>
          </a:p>
        </p:txBody>
      </p:sp>
      <p:sp>
        <p:nvSpPr>
          <p:cNvPr id="133" name="person-diagram-483">
            <a:extLst>
              <a:ext uri="{FF2B5EF4-FFF2-40B4-BE49-F238E27FC236}">
                <a16:creationId xmlns:a16="http://schemas.microsoft.com/office/drawing/2014/main" id="{F57B1C18-3D58-46D3-AC03-4D5240CC5E71}"/>
              </a:ext>
            </a:extLst>
          </p:cNvPr>
          <p:cNvSpPr>
            <a:spLocks noGrp="1"/>
          </p:cNvSpPr>
          <p:nvPr/>
        </p:nvSpPr>
        <p:spPr>
          <a:xfrm>
            <a:off x="495300" y="5810250"/>
            <a:ext cx="11220450" cy="495300"/>
          </a:xfrm>
          <a:prstGeom prst="roundRect">
            <a:avLst>
              <a:gd name="adj" fmla="val 30769"/>
            </a:avLst>
          </a:prstGeom>
          <a:solidFill>
            <a:srgbClr val="1B1D63"/>
          </a:solidFill>
          <a:ln w="11430">
            <a:solidFill>
              <a:srgbClr val="1B1D63"/>
            </a:solidFill>
          </a:ln>
        </p:spPr>
        <p:txBody>
          <a:bodyPr/>
          <a:lstStyle/>
          <a:p>
            <a:endParaRPr lang="zh-CN" altLang="en-US"/>
          </a:p>
        </p:txBody>
      </p:sp>
      <p:sp>
        <p:nvSpPr>
          <p:cNvPr id="134" name="person-diagram-484">
            <a:extLst>
              <a:ext uri="{FF2B5EF4-FFF2-40B4-BE49-F238E27FC236}">
                <a16:creationId xmlns:a16="http://schemas.microsoft.com/office/drawing/2014/main" id="{EC247E62-4D79-4ED2-8092-1FEF4753704A}"/>
              </a:ext>
            </a:extLst>
          </p:cNvPr>
          <p:cNvSpPr>
            <a:spLocks noGrp="1"/>
          </p:cNvSpPr>
          <p:nvPr/>
        </p:nvSpPr>
        <p:spPr>
          <a:xfrm>
            <a:off x="723900" y="5857875"/>
            <a:ext cx="10763250" cy="400050"/>
          </a:xfrm>
          <a:prstGeom prst="rect">
            <a:avLst/>
          </a:prstGeom>
          <a:noFill/>
          <a:ln w="0">
            <a:noFill/>
          </a:ln>
        </p:spPr>
        <p:txBody>
          <a:bodyPr lIns="0" tIns="0" rIns="0" bIns="0" anchor="ctr">
            <a:noAutofit/>
          </a:bodyPr>
          <a:lstStyle>
            <a:defPPr algn="ctr">
              <a:defRPr sz="1875" b="1">
                <a:solidFill>
                  <a:srgbClr val="FFFFFF"/>
                </a:solidFill>
                <a:latin typeface="Arial"/>
                <a:ea typeface="Arial"/>
                <a:cs typeface="Arial"/>
              </a:defRPr>
            </a:defPPr>
          </a:lstStyle>
          <a:p>
            <a:pPr algn="ctr">
              <a:defRPr sz="1875" b="1">
                <a:solidFill>
                  <a:srgbClr val="FFFFFF"/>
                </a:solidFill>
                <a:latin typeface="Arial"/>
                <a:ea typeface="Arial"/>
                <a:cs typeface="Arial"/>
              </a:defRPr>
            </a:pPr>
            <a:r>
              <a:rPr sz="1875" b="1">
                <a:solidFill>
                  <a:srgbClr val="FFFFFF"/>
                </a:solidFill>
                <a:latin typeface="Arial"/>
                <a:ea typeface="Arial"/>
                <a:cs typeface="Arial"/>
              </a:rPr>
              <a:t>Candidate changes require clean-recognition and robustness ablations</a:t>
            </a:r>
          </a:p>
        </p:txBody>
      </p:sp>
    </p:spTree>
    <p:extLst>
      <p:ext uri="{BB962C8B-B14F-4D97-AF65-F5344CB8AC3E}">
        <p14:creationId xmlns:p14="http://schemas.microsoft.com/office/powerpoint/2010/main" val="4579871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F2A49A45-F38B-56A3-9F00-17B8FEBDC930}"/>
              </a:ext>
            </a:extLst>
          </p:cNvPr>
          <p:cNvSpPr>
            <a:spLocks noGrp="1"/>
          </p:cNvSpPr>
          <p:nvPr/>
        </p:nvSpPr>
        <p:spPr>
          <a:xfrm>
            <a:off x="0" y="0"/>
            <a:ext cx="152400" cy="6858000"/>
          </a:xfrm>
          <a:prstGeom prst="rect">
            <a:avLst/>
          </a:prstGeom>
          <a:solidFill>
            <a:srgbClr val="E31346"/>
          </a:solidFill>
          <a:ln w="0">
            <a:noFill/>
          </a:ln>
        </p:spPr>
        <p:txBody>
          <a:bodyPr/>
          <a:lstStyle/>
          <a:p>
            <a:endParaRPr lang="zh-CN" altLang="en-US"/>
          </a:p>
        </p:txBody>
      </p:sp>
      <p:sp>
        <p:nvSpPr>
          <p:cNvPr id="2" name="矩形 1">
            <a:extLst>
              <a:ext uri="{FF2B5EF4-FFF2-40B4-BE49-F238E27FC236}">
                <a16:creationId xmlns:a16="http://schemas.microsoft.com/office/drawing/2014/main" id="{8EA63DD9-4BFD-575A-97CC-F2350AE0F4B5}"/>
              </a:ext>
            </a:extLst>
          </p:cNvPr>
          <p:cNvSpPr>
            <a:spLocks noGrp="1"/>
          </p:cNvSpPr>
          <p:nvPr/>
        </p:nvSpPr>
        <p:spPr>
          <a:xfrm>
            <a:off x="152400" y="6562725"/>
            <a:ext cx="12039600" cy="295275"/>
          </a:xfrm>
          <a:prstGeom prst="rect">
            <a:avLst/>
          </a:prstGeom>
          <a:solidFill>
            <a:srgbClr val="1B1D63"/>
          </a:solidFill>
          <a:ln w="0">
            <a:noFill/>
          </a:ln>
        </p:spPr>
        <p:txBody>
          <a:bodyPr/>
          <a:lstStyle/>
          <a:p>
            <a:endParaRPr lang="zh-CN" altLang="en-US"/>
          </a:p>
        </p:txBody>
      </p:sp>
      <p:sp>
        <p:nvSpPr>
          <p:cNvPr id="4" name="矩形 3">
            <a:extLst>
              <a:ext uri="{FF2B5EF4-FFF2-40B4-BE49-F238E27FC236}">
                <a16:creationId xmlns:a16="http://schemas.microsoft.com/office/drawing/2014/main" id="{0D1BF43B-4E7B-5318-BCF1-AFE2D19D7FFD}"/>
              </a:ext>
            </a:extLst>
          </p:cNvPr>
          <p:cNvSpPr>
            <a:spLocks noGrp="1"/>
          </p:cNvSpPr>
          <p:nvPr/>
        </p:nvSpPr>
        <p:spPr>
          <a:xfrm>
            <a:off x="495300" y="723900"/>
            <a:ext cx="7239000" cy="219075"/>
          </a:xfrm>
          <a:prstGeom prst="rect">
            <a:avLst/>
          </a:prstGeom>
          <a:noFill/>
          <a:ln w="0">
            <a:noFill/>
          </a:ln>
        </p:spPr>
        <p:txBody>
          <a:bodyPr anchor="ctr">
            <a:normAutofit fontScale="93397" lnSpcReduction="10000"/>
          </a:bodyPr>
          <a:lstStyle/>
          <a:p>
            <a:pPr algn="l">
              <a:defRPr sz="975" b="1">
                <a:solidFill>
                  <a:srgbClr val="E31346"/>
                </a:solidFill>
                <a:latin typeface="Arial"/>
                <a:ea typeface="Arial"/>
                <a:cs typeface="Arial"/>
              </a:defRPr>
            </a:pPr>
            <a:r>
              <a:rPr sz="975" b="1">
                <a:solidFill>
                  <a:srgbClr val="E31346"/>
                </a:solidFill>
                <a:latin typeface="Arial"/>
                <a:ea typeface="Arial"/>
                <a:cs typeface="Arial"/>
              </a:rPr>
              <a:t>EE6008 · HUMAN POSE GROUP PROJECT</a:t>
            </a:r>
          </a:p>
        </p:txBody>
      </p:sp>
      <p:sp>
        <p:nvSpPr>
          <p:cNvPr id="5" name="矩形 4">
            <a:extLst>
              <a:ext uri="{FF2B5EF4-FFF2-40B4-BE49-F238E27FC236}">
                <a16:creationId xmlns:a16="http://schemas.microsoft.com/office/drawing/2014/main" id="{21F89364-C6DB-59EF-8BF3-F4A9011E65D2}"/>
              </a:ext>
            </a:extLst>
          </p:cNvPr>
          <p:cNvSpPr>
            <a:spLocks noGrp="1"/>
          </p:cNvSpPr>
          <p:nvPr/>
        </p:nvSpPr>
        <p:spPr>
          <a:xfrm>
            <a:off x="495300" y="1009650"/>
            <a:ext cx="1562100" cy="47625"/>
          </a:xfrm>
          <a:prstGeom prst="rect">
            <a:avLst/>
          </a:prstGeom>
          <a:solidFill>
            <a:srgbClr val="E31346"/>
          </a:solidFill>
          <a:ln w="0">
            <a:noFill/>
          </a:ln>
        </p:spPr>
        <p:txBody>
          <a:bodyPr/>
          <a:lstStyle/>
          <a:p>
            <a:endParaRPr lang="zh-CN" altLang="en-US"/>
          </a:p>
        </p:txBody>
      </p:sp>
      <p:sp>
        <p:nvSpPr>
          <p:cNvPr id="7" name="矩形 6">
            <a:extLst>
              <a:ext uri="{FF2B5EF4-FFF2-40B4-BE49-F238E27FC236}">
                <a16:creationId xmlns:a16="http://schemas.microsoft.com/office/drawing/2014/main" id="{D84EA65A-6DBB-5B5A-A3CB-C9CF0309D2C9}"/>
              </a:ext>
            </a:extLst>
          </p:cNvPr>
          <p:cNvSpPr>
            <a:spLocks noGrp="1"/>
          </p:cNvSpPr>
          <p:nvPr/>
        </p:nvSpPr>
        <p:spPr>
          <a:xfrm>
            <a:off x="495300" y="6591300"/>
            <a:ext cx="2857500" cy="219075"/>
          </a:xfrm>
          <a:prstGeom prst="rect">
            <a:avLst/>
          </a:prstGeom>
          <a:noFill/>
          <a:ln w="0">
            <a:noFill/>
          </a:ln>
        </p:spPr>
        <p:txBody>
          <a:bodyPr anchor="ctr">
            <a:normAutofit/>
          </a:bodyPr>
          <a:lstStyle/>
          <a:p>
            <a:pPr algn="l">
              <a:defRPr sz="750" b="1">
                <a:solidFill>
                  <a:srgbClr val="FFFFFF"/>
                </a:solidFill>
                <a:latin typeface="Arial"/>
                <a:ea typeface="Arial"/>
                <a:cs typeface="Arial"/>
              </a:defRPr>
            </a:pPr>
            <a:r>
              <a:rPr sz="750" b="1">
                <a:solidFill>
                  <a:srgbClr val="FFFFFF"/>
                </a:solidFill>
                <a:latin typeface="Arial"/>
                <a:ea typeface="Arial"/>
                <a:cs typeface="Arial"/>
              </a:rPr>
              <a:t>EE6008 · WEEKLY REPORT</a:t>
            </a:r>
          </a:p>
        </p:txBody>
      </p:sp>
      <p:sp>
        <p:nvSpPr>
          <p:cNvPr id="8" name="矩形 7">
            <a:extLst>
              <a:ext uri="{FF2B5EF4-FFF2-40B4-BE49-F238E27FC236}">
                <a16:creationId xmlns:a16="http://schemas.microsoft.com/office/drawing/2014/main" id="{FD9AC5D3-BAA0-5732-8622-73590285E73D}"/>
              </a:ext>
            </a:extLst>
          </p:cNvPr>
          <p:cNvSpPr>
            <a:spLocks noGrp="1"/>
          </p:cNvSpPr>
          <p:nvPr/>
        </p:nvSpPr>
        <p:spPr>
          <a:xfrm>
            <a:off x="11049000" y="6591300"/>
            <a:ext cx="619125" cy="219075"/>
          </a:xfrm>
          <a:prstGeom prst="rect">
            <a:avLst/>
          </a:prstGeom>
          <a:noFill/>
          <a:ln w="0">
            <a:noFill/>
          </a:ln>
        </p:spPr>
        <p:txBody>
          <a:bodyPr anchor="ctr">
            <a:normAutofit/>
          </a:bodyPr>
          <a:lstStyle/>
          <a:p>
            <a:pPr algn="r">
              <a:defRPr sz="750" b="1">
                <a:solidFill>
                  <a:srgbClr val="FFFFFF"/>
                </a:solidFill>
                <a:latin typeface="Arial"/>
                <a:ea typeface="Arial"/>
                <a:cs typeface="Arial"/>
              </a:defRPr>
            </a:pPr>
            <a:r>
              <a:rPr sz="750" b="1">
                <a:solidFill>
                  <a:srgbClr val="FFFFFF"/>
                </a:solidFill>
                <a:latin typeface="Arial"/>
                <a:ea typeface="Arial"/>
                <a:cs typeface="Arial"/>
              </a:rPr>
              <a:t>10</a:t>
            </a:r>
          </a:p>
        </p:txBody>
      </p:sp>
      <p:sp>
        <p:nvSpPr>
          <p:cNvPr id="100" name="person-diagram-485">
            <a:extLst>
              <a:ext uri="{FF2B5EF4-FFF2-40B4-BE49-F238E27FC236}">
                <a16:creationId xmlns:a16="http://schemas.microsoft.com/office/drawing/2014/main" id="{7843F7FC-D833-49E7-9601-32CDA62A6487}"/>
              </a:ext>
            </a:extLst>
          </p:cNvPr>
          <p:cNvSpPr>
            <a:spLocks noGrp="1"/>
          </p:cNvSpPr>
          <p:nvPr/>
        </p:nvSpPr>
        <p:spPr>
          <a:xfrm>
            <a:off x="590550" y="238125"/>
            <a:ext cx="8524875" cy="476250"/>
          </a:xfrm>
          <a:prstGeom prst="rect">
            <a:avLst/>
          </a:prstGeom>
          <a:noFill/>
          <a:ln w="0">
            <a:noFill/>
          </a:ln>
        </p:spPr>
        <p:txBody>
          <a:bodyPr lIns="0" tIns="0" rIns="0" bIns="0" anchor="ctr">
            <a:noAutofit/>
          </a:bodyPr>
          <a:lstStyle>
            <a:defPPr algn="l">
              <a:defRPr sz="2524" b="1">
                <a:solidFill>
                  <a:srgbClr val="1B1D63"/>
                </a:solidFill>
                <a:latin typeface="Arial"/>
                <a:ea typeface="Arial"/>
                <a:cs typeface="Arial"/>
              </a:defRPr>
            </a:defPPr>
          </a:lstStyle>
          <a:p>
            <a:pPr algn="l">
              <a:defRPr sz="2524" b="1">
                <a:solidFill>
                  <a:srgbClr val="1B1D63"/>
                </a:solidFill>
                <a:latin typeface="Arial"/>
                <a:ea typeface="Arial"/>
                <a:cs typeface="Arial"/>
              </a:defRPr>
            </a:pPr>
            <a:r>
              <a:rPr sz="2524" b="1">
                <a:solidFill>
                  <a:srgbClr val="1B1D63"/>
                </a:solidFill>
                <a:latin typeface="Arial"/>
                <a:ea typeface="Arial"/>
                <a:cs typeface="Arial"/>
              </a:rPr>
              <a:t>Next Experiments · Two Model Routes</a:t>
            </a:r>
          </a:p>
        </p:txBody>
      </p:sp>
      <p:pic>
        <p:nvPicPr>
          <p:cNvPr id="101" name="图片 100">
            <a:extLst>
              <a:ext uri="{FF2B5EF4-FFF2-40B4-BE49-F238E27FC236}">
                <a16:creationId xmlns:a16="http://schemas.microsoft.com/office/drawing/2014/main" id="{02B2CB55-61CE-4397-8D66-9949184F1A66}"/>
              </a:ext>
            </a:extLst>
          </p:cNvPr>
          <p:cNvPicPr>
            <a:picLocks noChangeAspect="1"/>
          </p:cNvPicPr>
          <p:nvPr/>
        </p:nvPicPr>
        <p:blipFill>
          <a:blip r:embed="rId3"/>
          <a:stretch/>
        </p:blipFill>
        <p:spPr>
          <a:xfrm>
            <a:off x="9696450" y="191381"/>
            <a:ext cx="2038350" cy="731663"/>
          </a:xfrm>
          <a:prstGeom prst="rect">
            <a:avLst/>
          </a:prstGeom>
        </p:spPr>
      </p:pic>
      <p:sp>
        <p:nvSpPr>
          <p:cNvPr id="102" name="person-diagram-486">
            <a:extLst>
              <a:ext uri="{FF2B5EF4-FFF2-40B4-BE49-F238E27FC236}">
                <a16:creationId xmlns:a16="http://schemas.microsoft.com/office/drawing/2014/main" id="{88CD91A2-A4DA-4671-A674-656200FBCDCC}"/>
              </a:ext>
            </a:extLst>
          </p:cNvPr>
          <p:cNvSpPr>
            <a:spLocks noGrp="1"/>
          </p:cNvSpPr>
          <p:nvPr/>
        </p:nvSpPr>
        <p:spPr>
          <a:xfrm>
            <a:off x="514350" y="1419225"/>
            <a:ext cx="5429250" cy="247650"/>
          </a:xfrm>
          <a:prstGeom prst="rect">
            <a:avLst/>
          </a:prstGeom>
          <a:noFill/>
          <a:ln w="0">
            <a:noFill/>
          </a:ln>
        </p:spPr>
        <p:txBody>
          <a:bodyPr lIns="0" tIns="0" rIns="0" bIns="0" anchor="ctr">
            <a:noAutofit/>
          </a:bodyPr>
          <a:lstStyle>
            <a:defPPr algn="l">
              <a:defRPr sz="1050" b="1">
                <a:solidFill>
                  <a:srgbClr val="1B1D63"/>
                </a:solidFill>
                <a:latin typeface="Arial"/>
                <a:ea typeface="Arial"/>
                <a:cs typeface="Arial"/>
              </a:defRPr>
            </a:defPPr>
          </a:lstStyle>
          <a:p>
            <a:pPr algn="l">
              <a:defRPr sz="1050" b="1">
                <a:solidFill>
                  <a:srgbClr val="1B1D63"/>
                </a:solidFill>
                <a:latin typeface="Arial"/>
                <a:ea typeface="Arial"/>
                <a:cs typeface="Arial"/>
              </a:defRPr>
            </a:pPr>
            <a:r>
              <a:rPr sz="1050" b="1">
                <a:solidFill>
                  <a:srgbClr val="1B1D63"/>
                </a:solidFill>
                <a:latin typeface="Arial"/>
                <a:ea typeface="Arial"/>
                <a:cs typeface="Arial"/>
              </a:rPr>
              <a:t>CTR-GCN</a:t>
            </a:r>
          </a:p>
        </p:txBody>
      </p:sp>
      <p:sp>
        <p:nvSpPr>
          <p:cNvPr id="103" name="person-diagram-487">
            <a:extLst>
              <a:ext uri="{FF2B5EF4-FFF2-40B4-BE49-F238E27FC236}">
                <a16:creationId xmlns:a16="http://schemas.microsoft.com/office/drawing/2014/main" id="{C0C1A715-2F59-4794-9AD0-167FC255ED64}"/>
              </a:ext>
            </a:extLst>
          </p:cNvPr>
          <p:cNvSpPr>
            <a:spLocks noGrp="1"/>
          </p:cNvSpPr>
          <p:nvPr/>
        </p:nvSpPr>
        <p:spPr>
          <a:xfrm>
            <a:off x="6210300" y="1419225"/>
            <a:ext cx="5429250" cy="247650"/>
          </a:xfrm>
          <a:prstGeom prst="rect">
            <a:avLst/>
          </a:prstGeom>
          <a:noFill/>
          <a:ln w="0">
            <a:noFill/>
          </a:ln>
        </p:spPr>
        <p:txBody>
          <a:bodyPr lIns="0" tIns="0" rIns="0" bIns="0" anchor="ctr">
            <a:noAutofit/>
          </a:bodyPr>
          <a:lstStyle>
            <a:defPPr algn="l">
              <a:defRPr sz="1050" b="1">
                <a:solidFill>
                  <a:srgbClr val="E31346"/>
                </a:solidFill>
                <a:latin typeface="Arial"/>
                <a:ea typeface="Arial"/>
                <a:cs typeface="Arial"/>
              </a:defRPr>
            </a:defPPr>
          </a:lstStyle>
          <a:p>
            <a:pPr algn="l">
              <a:defRPr sz="1050" b="1">
                <a:solidFill>
                  <a:srgbClr val="E31346"/>
                </a:solidFill>
                <a:latin typeface="Arial"/>
                <a:ea typeface="Arial"/>
                <a:cs typeface="Arial"/>
              </a:defRPr>
            </a:pPr>
            <a:r>
              <a:rPr sz="1050" b="1">
                <a:solidFill>
                  <a:srgbClr val="E31346"/>
                </a:solidFill>
                <a:latin typeface="Arial"/>
                <a:ea typeface="Arial"/>
                <a:cs typeface="Arial"/>
              </a:rPr>
              <a:t>SKATEFORMER</a:t>
            </a:r>
          </a:p>
        </p:txBody>
      </p:sp>
      <p:sp>
        <p:nvSpPr>
          <p:cNvPr id="104" name="person-diagram-488">
            <a:extLst>
              <a:ext uri="{FF2B5EF4-FFF2-40B4-BE49-F238E27FC236}">
                <a16:creationId xmlns:a16="http://schemas.microsoft.com/office/drawing/2014/main" id="{88FEA527-6E61-4123-B75C-01D6A15F4D8E}"/>
              </a:ext>
            </a:extLst>
          </p:cNvPr>
          <p:cNvSpPr>
            <a:spLocks noGrp="1"/>
          </p:cNvSpPr>
          <p:nvPr/>
        </p:nvSpPr>
        <p:spPr>
          <a:xfrm>
            <a:off x="495300" y="1857375"/>
            <a:ext cx="5457825" cy="647700"/>
          </a:xfrm>
          <a:prstGeom prst="roundRect">
            <a:avLst>
              <a:gd name="adj" fmla="val 23529"/>
            </a:avLst>
          </a:prstGeom>
          <a:solidFill>
            <a:srgbClr val="E9EDF8"/>
          </a:solidFill>
          <a:ln w="0">
            <a:noFill/>
          </a:ln>
        </p:spPr>
        <p:txBody>
          <a:bodyPr/>
          <a:lstStyle/>
          <a:p>
            <a:endParaRPr lang="zh-CN" altLang="en-US"/>
          </a:p>
        </p:txBody>
      </p:sp>
      <p:sp>
        <p:nvSpPr>
          <p:cNvPr id="105" name="person-diagram-489">
            <a:extLst>
              <a:ext uri="{FF2B5EF4-FFF2-40B4-BE49-F238E27FC236}">
                <a16:creationId xmlns:a16="http://schemas.microsoft.com/office/drawing/2014/main" id="{5926BCF0-EB2D-4F68-92FA-872BCF7B4C89}"/>
              </a:ext>
            </a:extLst>
          </p:cNvPr>
          <p:cNvSpPr>
            <a:spLocks noGrp="1"/>
          </p:cNvSpPr>
          <p:nvPr/>
        </p:nvSpPr>
        <p:spPr>
          <a:xfrm>
            <a:off x="628650" y="1914525"/>
            <a:ext cx="5191125" cy="533400"/>
          </a:xfrm>
          <a:prstGeom prst="rect">
            <a:avLst/>
          </a:prstGeom>
          <a:noFill/>
          <a:ln w="0">
            <a:noFill/>
          </a:ln>
        </p:spPr>
        <p:txBody>
          <a:bodyPr lIns="0" tIns="0" rIns="0" bIns="0" anchor="ctr">
            <a:noAutofit/>
          </a:bodyPr>
          <a:lstStyle>
            <a:defPPr algn="ctr">
              <a:defRPr sz="1725" b="1">
                <a:solidFill>
                  <a:srgbClr val="1B1D63"/>
                </a:solidFill>
                <a:latin typeface="Arial"/>
                <a:ea typeface="Arial"/>
                <a:cs typeface="Arial"/>
              </a:defRPr>
            </a:defPPr>
          </a:lstStyle>
          <a:p>
            <a:pPr algn="ctr">
              <a:defRPr sz="1725" b="1">
                <a:solidFill>
                  <a:srgbClr val="1B1D63"/>
                </a:solidFill>
                <a:latin typeface="Arial"/>
                <a:ea typeface="Arial"/>
                <a:cs typeface="Arial"/>
              </a:defRPr>
            </a:pPr>
            <a:r>
              <a:rPr sz="1725" b="1">
                <a:solidFill>
                  <a:srgbClr val="1B1D63"/>
                </a:solidFill>
                <a:latin typeface="Arial"/>
                <a:ea typeface="Arial"/>
                <a:cs typeface="Arial"/>
              </a:rPr>
              <a:t>Measured global-swap failure</a:t>
            </a:r>
          </a:p>
        </p:txBody>
      </p:sp>
      <p:sp>
        <p:nvSpPr>
          <p:cNvPr id="106" name="person-diagram-490">
            <a:extLst>
              <a:ext uri="{FF2B5EF4-FFF2-40B4-BE49-F238E27FC236}">
                <a16:creationId xmlns:a16="http://schemas.microsoft.com/office/drawing/2014/main" id="{13076285-3D74-4E69-94F1-4B468648F9C2}"/>
              </a:ext>
            </a:extLst>
          </p:cNvPr>
          <p:cNvSpPr>
            <a:spLocks noGrp="1"/>
          </p:cNvSpPr>
          <p:nvPr/>
        </p:nvSpPr>
        <p:spPr>
          <a:xfrm>
            <a:off x="6210300" y="1857375"/>
            <a:ext cx="5505450" cy="647700"/>
          </a:xfrm>
          <a:prstGeom prst="roundRect">
            <a:avLst>
              <a:gd name="adj" fmla="val 23529"/>
            </a:avLst>
          </a:prstGeom>
          <a:solidFill>
            <a:srgbClr val="FBE8EF"/>
          </a:solidFill>
          <a:ln w="0">
            <a:noFill/>
          </a:ln>
        </p:spPr>
        <p:txBody>
          <a:bodyPr/>
          <a:lstStyle/>
          <a:p>
            <a:endParaRPr lang="zh-CN" altLang="en-US"/>
          </a:p>
        </p:txBody>
      </p:sp>
      <p:sp>
        <p:nvSpPr>
          <p:cNvPr id="107" name="person-diagram-491">
            <a:extLst>
              <a:ext uri="{FF2B5EF4-FFF2-40B4-BE49-F238E27FC236}">
                <a16:creationId xmlns:a16="http://schemas.microsoft.com/office/drawing/2014/main" id="{41873AB2-8818-4314-9471-7EC1F613EC3A}"/>
              </a:ext>
            </a:extLst>
          </p:cNvPr>
          <p:cNvSpPr>
            <a:spLocks noGrp="1"/>
          </p:cNvSpPr>
          <p:nvPr/>
        </p:nvSpPr>
        <p:spPr>
          <a:xfrm>
            <a:off x="6343650" y="1914525"/>
            <a:ext cx="5238750" cy="533400"/>
          </a:xfrm>
          <a:prstGeom prst="rect">
            <a:avLst/>
          </a:prstGeom>
          <a:noFill/>
          <a:ln w="0">
            <a:noFill/>
          </a:ln>
        </p:spPr>
        <p:txBody>
          <a:bodyPr lIns="0" tIns="0" rIns="0" bIns="0" anchor="ctr">
            <a:noAutofit/>
          </a:bodyPr>
          <a:lstStyle>
            <a:defPPr algn="ctr">
              <a:defRPr sz="1725" b="1">
                <a:solidFill>
                  <a:srgbClr val="E31346"/>
                </a:solidFill>
                <a:latin typeface="Arial"/>
                <a:ea typeface="Arial"/>
                <a:cs typeface="Arial"/>
              </a:defRPr>
            </a:defPPr>
          </a:lstStyle>
          <a:p>
            <a:pPr algn="ctr">
              <a:defRPr sz="1725" b="1">
                <a:solidFill>
                  <a:srgbClr val="E31346"/>
                </a:solidFill>
                <a:latin typeface="Arial"/>
                <a:ea typeface="Arial"/>
                <a:cs typeface="Arial"/>
              </a:defRPr>
            </a:pPr>
            <a:r>
              <a:rPr sz="1725" b="1">
                <a:solidFill>
                  <a:srgbClr val="E31346"/>
                </a:solidFill>
                <a:latin typeface="Arial"/>
                <a:ea typeface="Arial"/>
                <a:cs typeface="Arial"/>
              </a:rPr>
              <a:t>Measured track-break failure</a:t>
            </a:r>
          </a:p>
        </p:txBody>
      </p:sp>
      <p:sp>
        <p:nvSpPr>
          <p:cNvPr id="108" name="person-diagram-492">
            <a:extLst>
              <a:ext uri="{FF2B5EF4-FFF2-40B4-BE49-F238E27FC236}">
                <a16:creationId xmlns:a16="http://schemas.microsoft.com/office/drawing/2014/main" id="{F3950224-8E57-4C40-8F15-E4CD80C7ED20}"/>
              </a:ext>
            </a:extLst>
          </p:cNvPr>
          <p:cNvSpPr>
            <a:spLocks noGrp="1"/>
          </p:cNvSpPr>
          <p:nvPr/>
        </p:nvSpPr>
        <p:spPr>
          <a:xfrm>
            <a:off x="3095625" y="2552700"/>
            <a:ext cx="228600" cy="219075"/>
          </a:xfrm>
          <a:prstGeom prst="downArrow">
            <a:avLst/>
          </a:prstGeom>
          <a:solidFill>
            <a:srgbClr val="697386"/>
          </a:solidFill>
          <a:ln w="0">
            <a:noFill/>
          </a:ln>
        </p:spPr>
        <p:txBody>
          <a:bodyPr/>
          <a:lstStyle/>
          <a:p>
            <a:endParaRPr lang="zh-CN" altLang="en-US"/>
          </a:p>
        </p:txBody>
      </p:sp>
      <p:sp>
        <p:nvSpPr>
          <p:cNvPr id="109" name="person-diagram-493">
            <a:extLst>
              <a:ext uri="{FF2B5EF4-FFF2-40B4-BE49-F238E27FC236}">
                <a16:creationId xmlns:a16="http://schemas.microsoft.com/office/drawing/2014/main" id="{F6879CB5-EBDF-4597-BF3A-EAC8EF04D499}"/>
              </a:ext>
            </a:extLst>
          </p:cNvPr>
          <p:cNvSpPr>
            <a:spLocks noGrp="1"/>
          </p:cNvSpPr>
          <p:nvPr/>
        </p:nvSpPr>
        <p:spPr>
          <a:xfrm>
            <a:off x="8839200" y="2552700"/>
            <a:ext cx="228600" cy="219075"/>
          </a:xfrm>
          <a:prstGeom prst="downArrow">
            <a:avLst/>
          </a:prstGeom>
          <a:solidFill>
            <a:srgbClr val="697386"/>
          </a:solidFill>
          <a:ln w="0">
            <a:noFill/>
          </a:ln>
        </p:spPr>
        <p:txBody>
          <a:bodyPr/>
          <a:lstStyle/>
          <a:p>
            <a:endParaRPr lang="zh-CN" altLang="en-US"/>
          </a:p>
        </p:txBody>
      </p:sp>
      <p:sp>
        <p:nvSpPr>
          <p:cNvPr id="110" name="person-diagram-494">
            <a:extLst>
              <a:ext uri="{FF2B5EF4-FFF2-40B4-BE49-F238E27FC236}">
                <a16:creationId xmlns:a16="http://schemas.microsoft.com/office/drawing/2014/main" id="{90FB1526-4900-428B-93BD-ADD8B91EB010}"/>
              </a:ext>
            </a:extLst>
          </p:cNvPr>
          <p:cNvSpPr>
            <a:spLocks noGrp="1"/>
          </p:cNvSpPr>
          <p:nvPr/>
        </p:nvSpPr>
        <p:spPr>
          <a:xfrm>
            <a:off x="495300" y="2819400"/>
            <a:ext cx="5457825" cy="647700"/>
          </a:xfrm>
          <a:prstGeom prst="roundRect">
            <a:avLst>
              <a:gd name="adj" fmla="val 23529"/>
            </a:avLst>
          </a:prstGeom>
          <a:solidFill>
            <a:srgbClr val="E9EDF8"/>
          </a:solidFill>
          <a:ln w="0">
            <a:noFill/>
          </a:ln>
        </p:spPr>
        <p:txBody>
          <a:bodyPr/>
          <a:lstStyle/>
          <a:p>
            <a:endParaRPr lang="zh-CN" altLang="en-US"/>
          </a:p>
        </p:txBody>
      </p:sp>
      <p:sp>
        <p:nvSpPr>
          <p:cNvPr id="111" name="person-diagram-495">
            <a:extLst>
              <a:ext uri="{FF2B5EF4-FFF2-40B4-BE49-F238E27FC236}">
                <a16:creationId xmlns:a16="http://schemas.microsoft.com/office/drawing/2014/main" id="{FD97F4E4-D5B7-49DE-835A-350D5D62E132}"/>
              </a:ext>
            </a:extLst>
          </p:cNvPr>
          <p:cNvSpPr>
            <a:spLocks noGrp="1"/>
          </p:cNvSpPr>
          <p:nvPr/>
        </p:nvSpPr>
        <p:spPr>
          <a:xfrm>
            <a:off x="628650" y="2876550"/>
            <a:ext cx="5191125" cy="533400"/>
          </a:xfrm>
          <a:prstGeom prst="rect">
            <a:avLst/>
          </a:prstGeom>
          <a:noFill/>
          <a:ln w="0">
            <a:noFill/>
          </a:ln>
        </p:spPr>
        <p:txBody>
          <a:bodyPr lIns="0" tIns="0" rIns="0" bIns="0" anchor="ctr">
            <a:noAutofit/>
          </a:bodyPr>
          <a:lstStyle>
            <a:defPPr algn="ctr">
              <a:defRPr sz="1725" b="1">
                <a:solidFill>
                  <a:srgbClr val="1B1D63"/>
                </a:solidFill>
                <a:latin typeface="Arial"/>
                <a:ea typeface="Arial"/>
                <a:cs typeface="Arial"/>
              </a:defRPr>
            </a:defPPr>
          </a:lstStyle>
          <a:p>
            <a:pPr algn="ctr">
              <a:defRPr sz="1725" b="1">
                <a:solidFill>
                  <a:srgbClr val="1B1D63"/>
                </a:solidFill>
                <a:latin typeface="Arial"/>
                <a:ea typeface="Arial"/>
                <a:cs typeface="Arial"/>
              </a:defRPr>
            </a:pPr>
            <a:r>
              <a:rPr sz="1725" b="1">
                <a:solidFill>
                  <a:srgbClr val="1B1D63"/>
                </a:solidFill>
                <a:latin typeface="Arial"/>
                <a:ea typeface="Arial"/>
                <a:cs typeface="Arial"/>
              </a:rPr>
              <a:t>Swap augmentation / consistency</a:t>
            </a:r>
          </a:p>
        </p:txBody>
      </p:sp>
      <p:sp>
        <p:nvSpPr>
          <p:cNvPr id="112" name="person-diagram-496">
            <a:extLst>
              <a:ext uri="{FF2B5EF4-FFF2-40B4-BE49-F238E27FC236}">
                <a16:creationId xmlns:a16="http://schemas.microsoft.com/office/drawing/2014/main" id="{88519C2B-5715-40DD-8CAB-8A7B1AD44DF2}"/>
              </a:ext>
            </a:extLst>
          </p:cNvPr>
          <p:cNvSpPr>
            <a:spLocks noGrp="1"/>
          </p:cNvSpPr>
          <p:nvPr/>
        </p:nvSpPr>
        <p:spPr>
          <a:xfrm>
            <a:off x="6210300" y="2819400"/>
            <a:ext cx="5505450" cy="647700"/>
          </a:xfrm>
          <a:prstGeom prst="roundRect">
            <a:avLst>
              <a:gd name="adj" fmla="val 23529"/>
            </a:avLst>
          </a:prstGeom>
          <a:solidFill>
            <a:srgbClr val="FBE8EF"/>
          </a:solidFill>
          <a:ln w="0">
            <a:noFill/>
          </a:ln>
        </p:spPr>
        <p:txBody>
          <a:bodyPr/>
          <a:lstStyle/>
          <a:p>
            <a:endParaRPr lang="zh-CN" altLang="en-US"/>
          </a:p>
        </p:txBody>
      </p:sp>
      <p:sp>
        <p:nvSpPr>
          <p:cNvPr id="113" name="person-diagram-497">
            <a:extLst>
              <a:ext uri="{FF2B5EF4-FFF2-40B4-BE49-F238E27FC236}">
                <a16:creationId xmlns:a16="http://schemas.microsoft.com/office/drawing/2014/main" id="{5A715492-5CF0-4E12-8676-7C031544FA08}"/>
              </a:ext>
            </a:extLst>
          </p:cNvPr>
          <p:cNvSpPr>
            <a:spLocks noGrp="1"/>
          </p:cNvSpPr>
          <p:nvPr/>
        </p:nvSpPr>
        <p:spPr>
          <a:xfrm>
            <a:off x="6343650" y="2876550"/>
            <a:ext cx="5238750" cy="533400"/>
          </a:xfrm>
          <a:prstGeom prst="rect">
            <a:avLst/>
          </a:prstGeom>
          <a:noFill/>
          <a:ln w="0">
            <a:noFill/>
          </a:ln>
        </p:spPr>
        <p:txBody>
          <a:bodyPr lIns="0" tIns="0" rIns="0" bIns="0" anchor="ctr">
            <a:noAutofit/>
          </a:bodyPr>
          <a:lstStyle>
            <a:defPPr algn="ctr">
              <a:defRPr sz="1725" b="1">
                <a:solidFill>
                  <a:srgbClr val="E31346"/>
                </a:solidFill>
                <a:latin typeface="Arial"/>
                <a:ea typeface="Arial"/>
                <a:cs typeface="Arial"/>
              </a:defRPr>
            </a:defPPr>
          </a:lstStyle>
          <a:p>
            <a:pPr algn="ctr">
              <a:defRPr sz="1725" b="1">
                <a:solidFill>
                  <a:srgbClr val="E31346"/>
                </a:solidFill>
                <a:latin typeface="Arial"/>
                <a:ea typeface="Arial"/>
                <a:cs typeface="Arial"/>
              </a:defRPr>
            </a:pPr>
            <a:r>
              <a:rPr sz="1725" b="1">
                <a:solidFill>
                  <a:srgbClr val="E31346"/>
                </a:solidFill>
                <a:latin typeface="Arial"/>
                <a:ea typeface="Arial"/>
                <a:cs typeface="Arial"/>
              </a:rPr>
              <a:t>Keep two indexed groups over time</a:t>
            </a:r>
          </a:p>
        </p:txBody>
      </p:sp>
      <p:sp>
        <p:nvSpPr>
          <p:cNvPr id="114" name="person-diagram-498">
            <a:extLst>
              <a:ext uri="{FF2B5EF4-FFF2-40B4-BE49-F238E27FC236}">
                <a16:creationId xmlns:a16="http://schemas.microsoft.com/office/drawing/2014/main" id="{0AD9EC45-4CCC-4F3E-8E16-D29E10C80F04}"/>
              </a:ext>
            </a:extLst>
          </p:cNvPr>
          <p:cNvSpPr>
            <a:spLocks noGrp="1"/>
          </p:cNvSpPr>
          <p:nvPr/>
        </p:nvSpPr>
        <p:spPr>
          <a:xfrm>
            <a:off x="3095625" y="3514725"/>
            <a:ext cx="228600" cy="219075"/>
          </a:xfrm>
          <a:prstGeom prst="downArrow">
            <a:avLst/>
          </a:prstGeom>
          <a:solidFill>
            <a:srgbClr val="697386"/>
          </a:solidFill>
          <a:ln w="0">
            <a:noFill/>
          </a:ln>
        </p:spPr>
        <p:txBody>
          <a:bodyPr/>
          <a:lstStyle/>
          <a:p>
            <a:endParaRPr lang="zh-CN" altLang="en-US"/>
          </a:p>
        </p:txBody>
      </p:sp>
      <p:sp>
        <p:nvSpPr>
          <p:cNvPr id="115" name="person-diagram-499">
            <a:extLst>
              <a:ext uri="{FF2B5EF4-FFF2-40B4-BE49-F238E27FC236}">
                <a16:creationId xmlns:a16="http://schemas.microsoft.com/office/drawing/2014/main" id="{4CB45464-61E8-41C3-A858-EE8493189202}"/>
              </a:ext>
            </a:extLst>
          </p:cNvPr>
          <p:cNvSpPr>
            <a:spLocks noGrp="1"/>
          </p:cNvSpPr>
          <p:nvPr/>
        </p:nvSpPr>
        <p:spPr>
          <a:xfrm>
            <a:off x="8839200" y="3514725"/>
            <a:ext cx="228600" cy="219075"/>
          </a:xfrm>
          <a:prstGeom prst="downArrow">
            <a:avLst/>
          </a:prstGeom>
          <a:solidFill>
            <a:srgbClr val="697386"/>
          </a:solidFill>
          <a:ln w="0">
            <a:noFill/>
          </a:ln>
        </p:spPr>
        <p:txBody>
          <a:bodyPr/>
          <a:lstStyle/>
          <a:p>
            <a:endParaRPr lang="zh-CN" altLang="en-US"/>
          </a:p>
        </p:txBody>
      </p:sp>
      <p:sp>
        <p:nvSpPr>
          <p:cNvPr id="116" name="person-diagram-500">
            <a:extLst>
              <a:ext uri="{FF2B5EF4-FFF2-40B4-BE49-F238E27FC236}">
                <a16:creationId xmlns:a16="http://schemas.microsoft.com/office/drawing/2014/main" id="{081A16F4-4963-4F3E-98C6-BBC7FED91FBD}"/>
              </a:ext>
            </a:extLst>
          </p:cNvPr>
          <p:cNvSpPr>
            <a:spLocks noGrp="1"/>
          </p:cNvSpPr>
          <p:nvPr/>
        </p:nvSpPr>
        <p:spPr>
          <a:xfrm>
            <a:off x="495300" y="3781425"/>
            <a:ext cx="5457825" cy="647700"/>
          </a:xfrm>
          <a:prstGeom prst="roundRect">
            <a:avLst>
              <a:gd name="adj" fmla="val 23529"/>
            </a:avLst>
          </a:prstGeom>
          <a:solidFill>
            <a:srgbClr val="E9EDF8"/>
          </a:solidFill>
          <a:ln w="0">
            <a:noFill/>
          </a:ln>
        </p:spPr>
        <p:txBody>
          <a:bodyPr/>
          <a:lstStyle/>
          <a:p>
            <a:endParaRPr lang="zh-CN" altLang="en-US"/>
          </a:p>
        </p:txBody>
      </p:sp>
      <p:sp>
        <p:nvSpPr>
          <p:cNvPr id="117" name="person-diagram-501">
            <a:extLst>
              <a:ext uri="{FF2B5EF4-FFF2-40B4-BE49-F238E27FC236}">
                <a16:creationId xmlns:a16="http://schemas.microsoft.com/office/drawing/2014/main" id="{CF56A73B-4E91-4CE7-AC34-7C1A028798BA}"/>
              </a:ext>
            </a:extLst>
          </p:cNvPr>
          <p:cNvSpPr>
            <a:spLocks noGrp="1"/>
          </p:cNvSpPr>
          <p:nvPr/>
        </p:nvSpPr>
        <p:spPr>
          <a:xfrm>
            <a:off x="628650" y="3838575"/>
            <a:ext cx="5191125" cy="533400"/>
          </a:xfrm>
          <a:prstGeom prst="rect">
            <a:avLst/>
          </a:prstGeom>
          <a:noFill/>
          <a:ln w="0">
            <a:noFill/>
          </a:ln>
        </p:spPr>
        <p:txBody>
          <a:bodyPr lIns="0" tIns="0" rIns="0" bIns="0" anchor="ctr">
            <a:noAutofit/>
          </a:bodyPr>
          <a:lstStyle>
            <a:defPPr algn="ctr">
              <a:defRPr sz="1725" b="1">
                <a:solidFill>
                  <a:srgbClr val="1B1D63"/>
                </a:solidFill>
                <a:latin typeface="Arial"/>
                <a:ea typeface="Arial"/>
                <a:cs typeface="Arial"/>
              </a:defRPr>
            </a:defPPr>
          </a:lstStyle>
          <a:p>
            <a:pPr algn="ctr">
              <a:defRPr sz="1725" b="1">
                <a:solidFill>
                  <a:srgbClr val="1B1D63"/>
                </a:solidFill>
                <a:latin typeface="Arial"/>
                <a:ea typeface="Arial"/>
                <a:cs typeface="Arial"/>
              </a:defRPr>
            </a:pPr>
            <a:r>
              <a:rPr sz="1725" b="1">
                <a:solidFill>
                  <a:srgbClr val="1B1D63"/>
                </a:solidFill>
                <a:latin typeface="Arial"/>
                <a:ea typeface="Arial"/>
                <a:cs typeface="Arial"/>
              </a:rPr>
              <a:t>Person-preserving relation fusion</a:t>
            </a:r>
          </a:p>
        </p:txBody>
      </p:sp>
      <p:sp>
        <p:nvSpPr>
          <p:cNvPr id="118" name="person-diagram-502">
            <a:extLst>
              <a:ext uri="{FF2B5EF4-FFF2-40B4-BE49-F238E27FC236}">
                <a16:creationId xmlns:a16="http://schemas.microsoft.com/office/drawing/2014/main" id="{A3A1A170-F338-4E3D-B739-DEE36DDE6DB6}"/>
              </a:ext>
            </a:extLst>
          </p:cNvPr>
          <p:cNvSpPr>
            <a:spLocks noGrp="1"/>
          </p:cNvSpPr>
          <p:nvPr/>
        </p:nvSpPr>
        <p:spPr>
          <a:xfrm>
            <a:off x="6210300" y="3781425"/>
            <a:ext cx="5505450" cy="647700"/>
          </a:xfrm>
          <a:prstGeom prst="roundRect">
            <a:avLst>
              <a:gd name="adj" fmla="val 23529"/>
            </a:avLst>
          </a:prstGeom>
          <a:solidFill>
            <a:srgbClr val="FBE8EF"/>
          </a:solidFill>
          <a:ln w="0">
            <a:noFill/>
          </a:ln>
        </p:spPr>
        <p:txBody>
          <a:bodyPr/>
          <a:lstStyle/>
          <a:p>
            <a:endParaRPr lang="zh-CN" altLang="en-US"/>
          </a:p>
        </p:txBody>
      </p:sp>
      <p:sp>
        <p:nvSpPr>
          <p:cNvPr id="119" name="person-diagram-503">
            <a:extLst>
              <a:ext uri="{FF2B5EF4-FFF2-40B4-BE49-F238E27FC236}">
                <a16:creationId xmlns:a16="http://schemas.microsoft.com/office/drawing/2014/main" id="{0073733B-CCA5-41F2-9320-85AAF8CC8287}"/>
              </a:ext>
            </a:extLst>
          </p:cNvPr>
          <p:cNvSpPr>
            <a:spLocks noGrp="1"/>
          </p:cNvSpPr>
          <p:nvPr/>
        </p:nvSpPr>
        <p:spPr>
          <a:xfrm>
            <a:off x="6343650" y="3838575"/>
            <a:ext cx="5238750" cy="533400"/>
          </a:xfrm>
          <a:prstGeom prst="rect">
            <a:avLst/>
          </a:prstGeom>
          <a:noFill/>
          <a:ln w="0">
            <a:noFill/>
          </a:ln>
        </p:spPr>
        <p:txBody>
          <a:bodyPr lIns="0" tIns="0" rIns="0" bIns="0" anchor="ctr">
            <a:noAutofit/>
          </a:bodyPr>
          <a:lstStyle>
            <a:defPPr algn="ctr">
              <a:defRPr sz="1725" b="1">
                <a:solidFill>
                  <a:srgbClr val="E31346"/>
                </a:solidFill>
                <a:latin typeface="Arial"/>
                <a:ea typeface="Arial"/>
                <a:cs typeface="Arial"/>
              </a:defRPr>
            </a:defPPr>
          </a:lstStyle>
          <a:p>
            <a:pPr algn="ctr">
              <a:defRPr sz="1725" b="1">
                <a:solidFill>
                  <a:srgbClr val="E31346"/>
                </a:solidFill>
                <a:latin typeface="Arial"/>
                <a:ea typeface="Arial"/>
                <a:cs typeface="Arial"/>
              </a:defRPr>
            </a:pPr>
            <a:r>
              <a:rPr sz="1725" b="1">
                <a:solidFill>
                  <a:srgbClr val="E31346"/>
                </a:solidFill>
                <a:latin typeface="Arial"/>
                <a:ea typeface="Arial"/>
                <a:cs typeface="Arial"/>
              </a:rPr>
              <a:t>Symmetric paired-person readout</a:t>
            </a:r>
          </a:p>
        </p:txBody>
      </p:sp>
      <p:sp>
        <p:nvSpPr>
          <p:cNvPr id="120" name="person-diagram-504">
            <a:extLst>
              <a:ext uri="{FF2B5EF4-FFF2-40B4-BE49-F238E27FC236}">
                <a16:creationId xmlns:a16="http://schemas.microsoft.com/office/drawing/2014/main" id="{E5FA023F-EA13-420D-9CA3-14E09CFA85BD}"/>
              </a:ext>
            </a:extLst>
          </p:cNvPr>
          <p:cNvSpPr>
            <a:spLocks noGrp="1"/>
          </p:cNvSpPr>
          <p:nvPr/>
        </p:nvSpPr>
        <p:spPr>
          <a:xfrm>
            <a:off x="495300" y="4829175"/>
            <a:ext cx="5457825" cy="419100"/>
          </a:xfrm>
          <a:prstGeom prst="rect">
            <a:avLst/>
          </a:prstGeom>
          <a:noFill/>
          <a:ln w="0">
            <a:noFill/>
          </a:ln>
        </p:spPr>
        <p:txBody>
          <a:bodyPr lIns="0" tIns="0" rIns="0" bIns="0" anchor="ctr">
            <a:noAutofit/>
          </a:bodyPr>
          <a:lstStyle>
            <a:defPPr algn="ctr">
              <a:defRPr sz="1425" b="0">
                <a:solidFill>
                  <a:srgbClr val="697386"/>
                </a:solidFill>
                <a:latin typeface="Arial"/>
                <a:ea typeface="Arial"/>
                <a:cs typeface="Arial"/>
              </a:defRPr>
            </a:defPPr>
          </a:lstStyle>
          <a:p>
            <a:pPr algn="ctr">
              <a:defRPr sz="1425" b="0">
                <a:solidFill>
                  <a:srgbClr val="697386"/>
                </a:solidFill>
                <a:latin typeface="Arial"/>
                <a:ea typeface="Arial"/>
                <a:cs typeface="Arial"/>
              </a:defRPr>
            </a:pPr>
            <a:r>
              <a:rPr sz="1425" b="0">
                <a:solidFill>
                  <a:srgbClr val="697386"/>
                </a:solidFill>
                <a:latin typeface="Arial"/>
                <a:ea typeface="Arial"/>
                <a:cs typeface="Arial"/>
              </a:rPr>
              <a:t>Baseline · augmentation · consistency · both</a:t>
            </a:r>
          </a:p>
        </p:txBody>
      </p:sp>
      <p:sp>
        <p:nvSpPr>
          <p:cNvPr id="121" name="person-diagram-505">
            <a:extLst>
              <a:ext uri="{FF2B5EF4-FFF2-40B4-BE49-F238E27FC236}">
                <a16:creationId xmlns:a16="http://schemas.microsoft.com/office/drawing/2014/main" id="{C5FF49A7-AFD5-4399-BA50-7C1F9A7DD2C7}"/>
              </a:ext>
            </a:extLst>
          </p:cNvPr>
          <p:cNvSpPr>
            <a:spLocks noGrp="1"/>
          </p:cNvSpPr>
          <p:nvPr/>
        </p:nvSpPr>
        <p:spPr>
          <a:xfrm>
            <a:off x="6210300" y="4829175"/>
            <a:ext cx="5505450" cy="419100"/>
          </a:xfrm>
          <a:prstGeom prst="rect">
            <a:avLst/>
          </a:prstGeom>
          <a:noFill/>
          <a:ln w="0">
            <a:noFill/>
          </a:ln>
        </p:spPr>
        <p:txBody>
          <a:bodyPr lIns="0" tIns="0" rIns="0" bIns="0" anchor="ctr">
            <a:noAutofit/>
          </a:bodyPr>
          <a:lstStyle>
            <a:defPPr algn="ctr">
              <a:defRPr sz="1425" b="0">
                <a:solidFill>
                  <a:srgbClr val="697386"/>
                </a:solidFill>
                <a:latin typeface="Arial"/>
                <a:ea typeface="Arial"/>
                <a:cs typeface="Arial"/>
              </a:defRPr>
            </a:defPPr>
          </a:lstStyle>
          <a:p>
            <a:pPr algn="ctr">
              <a:defRPr sz="1425" b="0">
                <a:solidFill>
                  <a:srgbClr val="697386"/>
                </a:solidFill>
                <a:latin typeface="Arial"/>
                <a:ea typeface="Arial"/>
                <a:cs typeface="Arial"/>
              </a:defRPr>
            </a:pPr>
            <a:r>
              <a:rPr sz="1425" b="0">
                <a:solidFill>
                  <a:srgbClr val="697386"/>
                </a:solidFill>
                <a:latin typeface="Arial"/>
                <a:ea typeface="Arial"/>
                <a:cs typeface="Arial"/>
              </a:rPr>
              <a:t>Baseline · grouped readout · relation · both</a:t>
            </a:r>
          </a:p>
        </p:txBody>
      </p:sp>
      <p:sp>
        <p:nvSpPr>
          <p:cNvPr id="122" name="person-diagram-506">
            <a:extLst>
              <a:ext uri="{FF2B5EF4-FFF2-40B4-BE49-F238E27FC236}">
                <a16:creationId xmlns:a16="http://schemas.microsoft.com/office/drawing/2014/main" id="{3BBE5152-DD76-4438-A1B1-9AE8C68EB90B}"/>
              </a:ext>
            </a:extLst>
          </p:cNvPr>
          <p:cNvSpPr>
            <a:spLocks noGrp="1"/>
          </p:cNvSpPr>
          <p:nvPr/>
        </p:nvSpPr>
        <p:spPr>
          <a:xfrm>
            <a:off x="495300" y="5381625"/>
            <a:ext cx="11220450" cy="276225"/>
          </a:xfrm>
          <a:prstGeom prst="rect">
            <a:avLst/>
          </a:prstGeom>
          <a:noFill/>
          <a:ln w="0">
            <a:noFill/>
          </a:ln>
        </p:spPr>
        <p:txBody>
          <a:bodyPr lIns="0" tIns="0" rIns="0" bIns="0" anchor="ctr">
            <a:noAutofit/>
          </a:bodyPr>
          <a:lstStyle>
            <a:defPPr algn="ctr">
              <a:defRPr sz="1500" b="1">
                <a:solidFill>
                  <a:srgbClr val="1B1D63"/>
                </a:solidFill>
                <a:latin typeface="Arial"/>
                <a:ea typeface="Arial"/>
                <a:cs typeface="Arial"/>
              </a:defRPr>
            </a:defPPr>
          </a:lstStyle>
          <a:p>
            <a:pPr algn="ctr">
              <a:defRPr sz="1500" b="1">
                <a:solidFill>
                  <a:srgbClr val="1B1D63"/>
                </a:solidFill>
                <a:latin typeface="Arial"/>
                <a:ea typeface="Arial"/>
                <a:cs typeface="Arial"/>
              </a:defRPr>
            </a:pPr>
            <a:r>
              <a:rPr sz="1500" b="1">
                <a:solidFill>
                  <a:srgbClr val="1B1D63"/>
                </a:solidFill>
                <a:latin typeface="Arial"/>
                <a:ea typeface="Arial"/>
                <a:cs typeface="Arial"/>
              </a:rPr>
              <a:t>Select on Val → freeze → Test    |    Clean accuracy + diagnostics + compute cost</a:t>
            </a:r>
          </a:p>
        </p:txBody>
      </p:sp>
      <p:sp>
        <p:nvSpPr>
          <p:cNvPr id="123" name="person-diagram-507">
            <a:extLst>
              <a:ext uri="{FF2B5EF4-FFF2-40B4-BE49-F238E27FC236}">
                <a16:creationId xmlns:a16="http://schemas.microsoft.com/office/drawing/2014/main" id="{DD50C539-6EDE-4980-87BB-A5FFBE35E2E8}"/>
              </a:ext>
            </a:extLst>
          </p:cNvPr>
          <p:cNvSpPr>
            <a:spLocks noGrp="1"/>
          </p:cNvSpPr>
          <p:nvPr/>
        </p:nvSpPr>
        <p:spPr>
          <a:xfrm>
            <a:off x="495300" y="5810250"/>
            <a:ext cx="11220450" cy="495300"/>
          </a:xfrm>
          <a:prstGeom prst="roundRect">
            <a:avLst>
              <a:gd name="adj" fmla="val 30769"/>
            </a:avLst>
          </a:prstGeom>
          <a:solidFill>
            <a:srgbClr val="1B1D63"/>
          </a:solidFill>
          <a:ln w="11430">
            <a:solidFill>
              <a:srgbClr val="1B1D63"/>
            </a:solidFill>
          </a:ln>
        </p:spPr>
        <p:txBody>
          <a:bodyPr/>
          <a:lstStyle/>
          <a:p>
            <a:endParaRPr lang="zh-CN" altLang="en-US"/>
          </a:p>
        </p:txBody>
      </p:sp>
      <p:sp>
        <p:nvSpPr>
          <p:cNvPr id="124" name="person-diagram-508">
            <a:extLst>
              <a:ext uri="{FF2B5EF4-FFF2-40B4-BE49-F238E27FC236}">
                <a16:creationId xmlns:a16="http://schemas.microsoft.com/office/drawing/2014/main" id="{D4CCF3BA-4A09-4C2D-9263-4F1789EDE0B7}"/>
              </a:ext>
            </a:extLst>
          </p:cNvPr>
          <p:cNvSpPr>
            <a:spLocks noGrp="1"/>
          </p:cNvSpPr>
          <p:nvPr/>
        </p:nvSpPr>
        <p:spPr>
          <a:xfrm>
            <a:off x="723900" y="5857875"/>
            <a:ext cx="10763250" cy="400050"/>
          </a:xfrm>
          <a:prstGeom prst="rect">
            <a:avLst/>
          </a:prstGeom>
          <a:noFill/>
          <a:ln w="0">
            <a:noFill/>
          </a:ln>
        </p:spPr>
        <p:txBody>
          <a:bodyPr lIns="0" tIns="0" rIns="0" bIns="0" anchor="ctr">
            <a:noAutofit/>
          </a:bodyPr>
          <a:lstStyle>
            <a:defPPr algn="ctr">
              <a:defRPr sz="1875" b="1">
                <a:solidFill>
                  <a:srgbClr val="FFFFFF"/>
                </a:solidFill>
                <a:latin typeface="Arial"/>
                <a:ea typeface="Arial"/>
                <a:cs typeface="Arial"/>
              </a:defRPr>
            </a:defPPr>
          </a:lstStyle>
          <a:p>
            <a:pPr algn="ctr">
              <a:defRPr sz="1875" b="1">
                <a:solidFill>
                  <a:srgbClr val="FFFFFF"/>
                </a:solidFill>
                <a:latin typeface="Arial"/>
                <a:ea typeface="Arial"/>
                <a:cs typeface="Arial"/>
              </a:defRPr>
            </a:pPr>
            <a:r>
              <a:rPr sz="1875" b="1">
                <a:solidFill>
                  <a:srgbClr val="FFFFFF"/>
                </a:solidFill>
                <a:latin typeface="Arial"/>
                <a:ea typeface="Arial"/>
                <a:cs typeface="Arial"/>
              </a:rPr>
              <a:t>From two skeletons as input to two persistent interacting persons</a:t>
            </a:r>
          </a:p>
        </p:txBody>
      </p:sp>
    </p:spTree>
    <p:extLst>
      <p:ext uri="{BB962C8B-B14F-4D97-AF65-F5344CB8AC3E}">
        <p14:creationId xmlns:p14="http://schemas.microsoft.com/office/powerpoint/2010/main" val="457987166"/>
      </p:ext>
    </p:extLst>
  </p:cSld>
  <p:clrMapOvr>
    <a:masterClrMapping/>
  </p:clrMapOvr>
</p:sld>
</file>

<file path=ppt/theme/theme1.xml><?xml version="1.0" encoding="utf-8"?>
<a:theme xmlns:a="http://schemas.openxmlformats.org/drawingml/2006/main" name="ChatGPT">
  <a:themeElements>
    <a:clrScheme name="NTU Weekly Report">
      <a:dk1>
        <a:srgbClr val="000000"/>
      </a:dk1>
      <a:lt1>
        <a:srgbClr val="FFFFFF"/>
      </a:lt1>
      <a:dk2>
        <a:srgbClr val="1B1D63"/>
      </a:dk2>
      <a:lt2>
        <a:srgbClr val="D9DDEA"/>
      </a:lt2>
      <a:accent1>
        <a:srgbClr val="E31346"/>
      </a:accent1>
      <a:accent2>
        <a:srgbClr val="1B1D63"/>
      </a:accent2>
      <a:accent3>
        <a:srgbClr val="38AFA2"/>
      </a:accent3>
      <a:accent4>
        <a:srgbClr val="D99014"/>
      </a:accent4>
      <a:accent5>
        <a:srgbClr val="6750A4"/>
      </a:accent5>
      <a:accent6>
        <a:srgbClr val="3478C7"/>
      </a:accent6>
      <a:hlink>
        <a:srgbClr val="E31346"/>
      </a:hlink>
      <a:folHlink>
        <a:srgbClr val="8F2A52"/>
      </a:folHlink>
    </a:clrScheme>
    <a:fontScheme name="Office">
      <a:majorFont>
        <a:latin typeface="Calibri Light"/>
        <a:ea typeface="Calibri Light"/>
        <a:cs typeface="Calibri Light"/>
      </a:majorFont>
      <a:minorFont>
        <a:latin typeface="Calibri"/>
        <a:ea typeface="Calibri"/>
        <a:cs typeface="Calibri"/>
      </a:minorFont>
    </a:fontScheme>
    <a:fmtScheme name="NTU Weekly Repor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1_weekly_five_minute_research_update">
  <a:themeElements>
    <a:clrScheme name="weekly_five_minute_research_updat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weekly_five_minute_research_updat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eekly_five_minute_research_upda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hatGPT">
  <a:themeElements>
    <a:clrScheme name="NTU Weekly Report">
      <a:dk1>
        <a:srgbClr val="000000"/>
      </a:dk1>
      <a:lt1>
        <a:srgbClr val="FFFFFF"/>
      </a:lt1>
      <a:dk2>
        <a:srgbClr val="1B1D63"/>
      </a:dk2>
      <a:lt2>
        <a:srgbClr val="D9DDEA"/>
      </a:lt2>
      <a:accent1>
        <a:srgbClr val="E31346"/>
      </a:accent1>
      <a:accent2>
        <a:srgbClr val="1B1D63"/>
      </a:accent2>
      <a:accent3>
        <a:srgbClr val="38AFA2"/>
      </a:accent3>
      <a:accent4>
        <a:srgbClr val="D99014"/>
      </a:accent4>
      <a:accent5>
        <a:srgbClr val="6750A4"/>
      </a:accent5>
      <a:accent6>
        <a:srgbClr val="3478C7"/>
      </a:accent6>
      <a:hlink>
        <a:srgbClr val="E31346"/>
      </a:hlink>
      <a:folHlink>
        <a:srgbClr val="8F2A52"/>
      </a:folHlink>
    </a:clrScheme>
    <a:fontScheme name="Office">
      <a:majorFont>
        <a:latin typeface="Calibri Light"/>
        <a:ea typeface="Calibri Light"/>
        <a:cs typeface="Calibri Light"/>
      </a:majorFont>
      <a:minorFont>
        <a:latin typeface="Calibri"/>
        <a:ea typeface="Calibri"/>
        <a:cs typeface="Calibri"/>
      </a:minorFont>
    </a:fontScheme>
    <a:fmtScheme name="NTU Weekly Repor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2967</Words>
  <Application>Microsoft Office PowerPoint</Application>
  <DocSecurity>0</DocSecurity>
  <PresentationFormat>宽屏</PresentationFormat>
  <Paragraphs>318</Paragraphs>
  <Slides>11</Slides>
  <Notes>11</Notes>
  <HiddenSlides>0</HiddenSlides>
  <MMClips>0</MMClips>
  <ScaleCrop>false</ScaleCrop>
  <HeadingPairs>
    <vt:vector size="6" baseType="variant">
      <vt:variant>
        <vt:lpstr>已用的字体</vt:lpstr>
      </vt:variant>
      <vt:variant>
        <vt:i4>2</vt:i4>
      </vt:variant>
      <vt:variant>
        <vt:lpstr>主题</vt:lpstr>
      </vt:variant>
      <vt:variant>
        <vt:i4>2</vt:i4>
      </vt:variant>
      <vt:variant>
        <vt:lpstr>幻灯片标题</vt:lpstr>
      </vt:variant>
      <vt:variant>
        <vt:i4>11</vt:i4>
      </vt:variant>
    </vt:vector>
  </HeadingPairs>
  <TitlesOfParts>
    <vt:vector size="15" baseType="lpstr">
      <vt:lpstr>Arial</vt:lpstr>
      <vt:lpstr>Calibri</vt:lpstr>
      <vt:lpstr>ChatGPT</vt:lpstr>
      <vt:lpstr>1_weekly_five_minute_research_update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t1323</cp:lastModifiedBy>
  <cp:revision>2</cp:revision>
  <dcterms:created xsi:type="dcterms:W3CDTF">2026-09-15T18:02:28Z</dcterms:created>
  <dcterms:modified xsi:type="dcterms:W3CDTF">2026-10-05T18:06:08Z</dcterms:modified>
</cp:coreProperties>
</file>