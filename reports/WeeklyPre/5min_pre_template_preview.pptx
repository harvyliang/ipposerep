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presentation introduces our Week 3 research framing and early technical findings. Our specific direction is instance-preserving pose representation for multi-person action recognition.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 Update —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cover-red-block Layout"/>
          <p:cNvSpPr/>
          <p:nvPr/>
        </p:nvSpPr>
        <p:spPr>
          <a:xfrm>
            <a:off x="552450" y="1200150"/>
            <a:ext cx="114300" cy="390525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3" name="cover-photo-module-slot Placeholder"/>
          <p:cNvSpPr>
            <a:spLocks noGrp="1"/>
          </p:cNvSpPr>
          <p:nvPr>
            <p:ph idx="4" hasCustomPrompt="1"/>
          </p:nvPr>
        </p:nvSpPr>
        <p:spPr>
          <a:xfrm>
            <a:off x="3714750" y="1200150"/>
            <a:ext cx="8477250" cy="39052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4" name="cover-title-slot Placeholder"/>
          <p:cNvSpPr>
            <a:spLocks noGrp="1"/>
          </p:cNvSpPr>
          <p:nvPr>
            <p:ph type="title" hasCustomPrompt="1"/>
          </p:nvPr>
        </p:nvSpPr>
        <p:spPr>
          <a:xfrm>
            <a:off x="914400" y="1428750"/>
            <a:ext cx="5143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en-US" sz="31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lang="en-US"/>
          </a:p>
        </p:txBody>
      </p:sp>
      <p:sp>
        <p:nvSpPr>
          <p:cNvPr id="5" name="cover-subtitle-slot Placeholder"/>
          <p:cNvSpPr>
            <a:spLocks noGrp="1"/>
          </p:cNvSpPr>
          <p:nvPr>
            <p:ph type="subTitle" idx="1" hasCustomPrompt="1"/>
          </p:nvPr>
        </p:nvSpPr>
        <p:spPr>
          <a:xfrm>
            <a:off x="914400" y="3028950"/>
            <a:ext cx="5143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/>
            </a:lvl1pPr>
          </a:lstStyle>
          <a:p>
            <a:pPr marL="0" indent="0" algn="l">
              <a:buNone/>
            </a:pPr>
            <a:r>
              <a:rPr lang="en-US" sz="17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subtitle</a:t>
            </a:r>
            <a:endParaRPr lang="en-US"/>
          </a:p>
        </p:txBody>
      </p:sp>
      <p:sp>
        <p:nvSpPr>
          <p:cNvPr id="6" name="cover-date-slot Placeholder"/>
          <p:cNvSpPr>
            <a:spLocks noGrp="1"/>
          </p:cNvSpPr>
          <p:nvPr>
            <p:ph type="dt" idx="2"/>
          </p:nvPr>
        </p:nvSpPr>
        <p:spPr>
          <a:xfrm>
            <a:off x="914400" y="4171950"/>
            <a:ext cx="23812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D5362177-6DD4-4D60-BB86-0074953F47FE}" type="datetimeFigureOut">
              <a:rPr lang="en-US" sz="135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fld>
            <a:endParaRPr lang="en-US"/>
          </a:p>
        </p:txBody>
      </p:sp>
      <p:sp>
        <p:nvSpPr>
          <p:cNvPr id="7" name="cover-author-slot Placeholder"/>
          <p:cNvSpPr>
            <a:spLocks noGrp="1"/>
          </p:cNvSpPr>
          <p:nvPr>
            <p:ph type="body" idx="3" hasCustomPrompt="1"/>
          </p:nvPr>
        </p:nvSpPr>
        <p:spPr>
          <a:xfrm>
            <a:off x="914400" y="46863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marL="0" indent="0" algn="l">
              <a:buNone/>
            </a:pPr>
            <a:r>
              <a:rPr lang="en-US" sz="13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 Update — Snapshot &amp;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3" name="layout-key-message-field Layout"/>
          <p:cNvSpPr/>
          <p:nvPr/>
        </p:nvSpPr>
        <p:spPr>
          <a:xfrm>
            <a:off x="514350" y="1428750"/>
            <a:ext cx="7524750" cy="1381125"/>
          </a:xfrm>
          <a:prstGeom prst="roundRect">
            <a:avLst>
              <a:gd name="adj" fmla="val 8276"/>
            </a:avLst>
          </a:prstGeom>
          <a:solidFill>
            <a:srgbClr val="EEF1FA"/>
          </a:solidFill>
          <a:ln>
            <a:noFill/>
          </a:ln>
        </p:spPr>
        <p:txBody>
          <a:bodyPr wrap="square"/>
          <a:p/>
        </p:txBody>
      </p:sp>
      <p:sp>
        <p:nvSpPr>
          <p:cNvPr id="4" name="layout-status-field Layout"/>
          <p:cNvSpPr/>
          <p:nvPr/>
        </p:nvSpPr>
        <p:spPr>
          <a:xfrm>
            <a:off x="8305800" y="1428750"/>
            <a:ext cx="3314700" cy="1381125"/>
          </a:xfrm>
          <a:prstGeom prst="roundRect">
            <a:avLst>
              <a:gd name="adj" fmla="val 8276"/>
            </a:avLst>
          </a:prstGeom>
          <a:solidFill>
            <a:srgbClr val="181C62"/>
          </a:solidFill>
          <a:ln>
            <a:noFill/>
          </a:ln>
        </p:spPr>
        <p:txBody>
          <a:bodyPr wrap="square"/>
          <a:p/>
        </p:txBody>
      </p:sp>
      <p:sp>
        <p:nvSpPr>
          <p:cNvPr id="5" name="layout-milestone-field Layout"/>
          <p:cNvSpPr/>
          <p:nvPr/>
        </p:nvSpPr>
        <p:spPr>
          <a:xfrm>
            <a:off x="514350" y="3105150"/>
            <a:ext cx="11106150" cy="28956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txBody>
          <a:bodyPr wrap="square"/>
          <a:p/>
        </p:txBody>
      </p:sp>
      <p:sp>
        <p:nvSpPr>
          <p:cNvPr id="6" name="layout-timeline-line Layout"/>
          <p:cNvSpPr/>
          <p:nvPr/>
        </p:nvSpPr>
        <p:spPr>
          <a:xfrm>
            <a:off x="1181100" y="5143500"/>
            <a:ext cx="9772650" cy="9525"/>
          </a:xfrm>
          <a:custGeom>
            <a:avLst/>
            <a:gdLst/>
            <a:ahLst/>
            <a:cxnLst/>
            <a:rect l="l" t="t" r="r" b="b"/>
            <a:pathLst>
              <a:path w="9772650" h="9525">
                <a:moveTo>
                  <a:pt x="0" y="0"/>
                </a:moveTo>
                <a:lnTo>
                  <a:pt x="9772650" y="0"/>
                </a:lnTo>
              </a:path>
            </a:pathLst>
          </a:custGeom>
          <a:noFill/>
          <a:ln w="38100">
            <a:solidFill>
              <a:srgbClr val="C8C8C8"/>
            </a:solidFill>
          </a:ln>
        </p:spPr>
        <p:txBody>
          <a:bodyPr wrap="square"/>
          <a:p/>
        </p:txBody>
      </p:sp>
      <p:sp>
        <p:nvSpPr>
          <p:cNvPr id="7" name="layout-checkpoint-1 Layout"/>
          <p:cNvSpPr/>
          <p:nvPr/>
        </p:nvSpPr>
        <p:spPr>
          <a:xfrm>
            <a:off x="1076325" y="5038725"/>
            <a:ext cx="209550" cy="20955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  <p:txBody>
          <a:bodyPr wrap="square"/>
          <a:p/>
        </p:txBody>
      </p:sp>
      <p:sp>
        <p:nvSpPr>
          <p:cNvPr id="8" name="layout-checkpoint-2 Layout"/>
          <p:cNvSpPr/>
          <p:nvPr/>
        </p:nvSpPr>
        <p:spPr>
          <a:xfrm>
            <a:off x="3028950" y="5038725"/>
            <a:ext cx="209550" cy="20955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  <p:txBody>
          <a:bodyPr wrap="square"/>
          <a:p/>
        </p:txBody>
      </p:sp>
      <p:sp>
        <p:nvSpPr>
          <p:cNvPr id="9" name="layout-checkpoint-3 Layout"/>
          <p:cNvSpPr/>
          <p:nvPr/>
        </p:nvSpPr>
        <p:spPr>
          <a:xfrm>
            <a:off x="4953000" y="5010150"/>
            <a:ext cx="266700" cy="2667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10" name="layout-checkpoint-4 Layout"/>
          <p:cNvSpPr/>
          <p:nvPr/>
        </p:nvSpPr>
        <p:spPr>
          <a:xfrm>
            <a:off x="6934200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txBody>
          <a:bodyPr wrap="square"/>
          <a:p/>
        </p:txBody>
      </p:sp>
      <p:sp>
        <p:nvSpPr>
          <p:cNvPr id="11" name="layout-checkpoint-5 Layout"/>
          <p:cNvSpPr/>
          <p:nvPr/>
        </p:nvSpPr>
        <p:spPr>
          <a:xfrm>
            <a:off x="8886825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txBody>
          <a:bodyPr wrap="square"/>
          <a:p/>
        </p:txBody>
      </p:sp>
      <p:sp>
        <p:nvSpPr>
          <p:cNvPr id="12" name="layout-checkpoint-6 Layout"/>
          <p:cNvSpPr/>
          <p:nvPr/>
        </p:nvSpPr>
        <p:spPr>
          <a:xfrm>
            <a:off x="10848975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txBody>
          <a:bodyPr wrap="square"/>
          <a:p/>
        </p:txBody>
      </p:sp>
      <p:sp>
        <p:nvSpPr>
          <p:cNvPr id="13" name="layout-key-message-label Layout"/>
          <p:cNvSpPr txBox="1"/>
          <p:nvPr/>
        </p:nvSpPr>
        <p:spPr>
          <a:xfrm>
            <a:off x="776097" y="1590199"/>
            <a:ext cx="1239372" cy="190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WEEKLY TAKEAWAY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layout-status-label Layout"/>
          <p:cNvSpPr txBox="1"/>
          <p:nvPr/>
        </p:nvSpPr>
        <p:spPr>
          <a:xfrm>
            <a:off x="9398351" y="1590199"/>
            <a:ext cx="1129598" cy="190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 STATUS</a:t>
            </a:r>
            <a:endParaRPr lang="en-US" sz="9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layout-milestone-label Layout"/>
          <p:cNvSpPr txBox="1"/>
          <p:nvPr/>
        </p:nvSpPr>
        <p:spPr>
          <a:xfrm>
            <a:off x="794766" y="3296602"/>
            <a:ext cx="4534913" cy="2053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 MILESTONE · EVIDENCE · BLOCKER · NEXT CHECKPOINT</a:t>
            </a:r>
            <a:endParaRPr lang="en-US" sz="105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layout-phase-1 Layout"/>
          <p:cNvSpPr txBox="1"/>
          <p:nvPr/>
        </p:nvSpPr>
        <p:spPr>
          <a:xfrm>
            <a:off x="922902" y="5408295"/>
            <a:ext cx="516397" cy="176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Kick-off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layout-phase-2 Layout"/>
          <p:cNvSpPr txBox="1"/>
          <p:nvPr/>
        </p:nvSpPr>
        <p:spPr>
          <a:xfrm>
            <a:off x="2993803" y="5408295"/>
            <a:ext cx="279845" cy="176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layout-phase-3 Layout"/>
          <p:cNvSpPr txBox="1"/>
          <p:nvPr/>
        </p:nvSpPr>
        <p:spPr>
          <a:xfrm>
            <a:off x="4796752" y="5408295"/>
            <a:ext cx="579196" cy="176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Baselines</a:t>
            </a:r>
            <a:endParaRPr lang="en-US" sz="90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layout-phase-4 Layout"/>
          <p:cNvSpPr txBox="1"/>
          <p:nvPr/>
        </p:nvSpPr>
        <p:spPr>
          <a:xfrm>
            <a:off x="6762007" y="5408295"/>
            <a:ext cx="553936" cy="176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IP Module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layout-phase-5 Layout"/>
          <p:cNvSpPr txBox="1"/>
          <p:nvPr/>
        </p:nvSpPr>
        <p:spPr>
          <a:xfrm>
            <a:off x="8621493" y="5408295"/>
            <a:ext cx="740214" cy="176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Experiments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layout-phase-6 Layout"/>
          <p:cNvSpPr txBox="1"/>
          <p:nvPr/>
        </p:nvSpPr>
        <p:spPr>
          <a:xfrm>
            <a:off x="10590953" y="5408295"/>
            <a:ext cx="725594" cy="176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Final Report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snapshot-title-slot Placeholder"/>
          <p:cNvSpPr>
            <a:spLocks noGrp="1"/>
          </p:cNvSpPr>
          <p:nvPr>
            <p:ph type="title" hasCustomPrompt="1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lang="en-US"/>
          </a:p>
        </p:txBody>
      </p:sp>
      <p:sp>
        <p:nvSpPr>
          <p:cNvPr id="23" name="snapshot-key-message-slot Placeholder"/>
          <p:cNvSpPr>
            <a:spLocks noGrp="1"/>
          </p:cNvSpPr>
          <p:nvPr>
            <p:ph type="body" idx="1" hasCustomPrompt="1"/>
          </p:nvPr>
        </p:nvSpPr>
        <p:spPr>
          <a:xfrm>
            <a:off x="781050" y="1847850"/>
            <a:ext cx="69913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24" name="snapshot-status-slot Placeholder"/>
          <p:cNvSpPr>
            <a:spLocks noGrp="1"/>
          </p:cNvSpPr>
          <p:nvPr>
            <p:ph idx="2" hasCustomPrompt="1"/>
          </p:nvPr>
        </p:nvSpPr>
        <p:spPr>
          <a:xfrm>
            <a:off x="8610600" y="1809750"/>
            <a:ext cx="27051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80"/>
            </a:lvl1pPr>
          </a:lstStyle>
          <a:p>
            <a:pPr algn="ctr">
              <a:lnSpc>
                <a:spcPts val="2025"/>
              </a:lnSpc>
            </a:pPr>
            <a:r>
              <a:rPr lang="en-US" sz="18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content</a:t>
            </a:r>
            <a:endParaRPr lang="en-US"/>
          </a:p>
        </p:txBody>
      </p:sp>
      <p:sp>
        <p:nvSpPr>
          <p:cNvPr id="25" name="snapshot-milestone-slot Placeholder"/>
          <p:cNvSpPr>
            <a:spLocks noGrp="1"/>
          </p:cNvSpPr>
          <p:nvPr>
            <p:ph type="body" idx="3" hasCustomPrompt="1"/>
          </p:nvPr>
        </p:nvSpPr>
        <p:spPr>
          <a:xfrm>
            <a:off x="800100" y="3638550"/>
            <a:ext cx="1053465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lnSpc>
                <a:spcPts val="2250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26" name="snapshot-source-slot Placeholder"/>
          <p:cNvSpPr>
            <a:spLocks noGrp="1"/>
          </p:cNvSpPr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lang="en-US"/>
          </a:p>
        </p:txBody>
      </p:sp>
      <p:sp>
        <p:nvSpPr>
          <p:cNvPr id="27" name="snapshot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74EE505E-5DDF-4695-B13F-BF4F47F704FE}" type="slidenum"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 Update — Technical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3" name="layout-progress-field Layout"/>
          <p:cNvSpPr/>
          <p:nvPr/>
        </p:nvSpPr>
        <p:spPr>
          <a:xfrm>
            <a:off x="514350" y="1428750"/>
            <a:ext cx="3143250" cy="4648200"/>
          </a:xfrm>
          <a:prstGeom prst="roundRect">
            <a:avLst>
              <a:gd name="adj" fmla="val 3636"/>
            </a:avLst>
          </a:prstGeom>
          <a:solidFill>
            <a:srgbClr val="EEF1FA"/>
          </a:solidFill>
          <a:ln>
            <a:noFill/>
          </a:ln>
        </p:spPr>
        <p:txBody>
          <a:bodyPr wrap="square"/>
          <a:p/>
        </p:txBody>
      </p:sp>
      <p:sp>
        <p:nvSpPr>
          <p:cNvPr id="4" name="layout-pipeline-field Layout"/>
          <p:cNvSpPr/>
          <p:nvPr/>
        </p:nvSpPr>
        <p:spPr>
          <a:xfrm>
            <a:off x="3905250" y="1428750"/>
            <a:ext cx="4762500" cy="464820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/>
          <a:p/>
        </p:txBody>
      </p:sp>
      <p:sp>
        <p:nvSpPr>
          <p:cNvPr id="5" name="layout-finding-field Layout"/>
          <p:cNvSpPr/>
          <p:nvPr/>
        </p:nvSpPr>
        <p:spPr>
          <a:xfrm>
            <a:off x="8915400" y="1428750"/>
            <a:ext cx="2705100" cy="4648200"/>
          </a:xfrm>
          <a:prstGeom prst="roundRect">
            <a:avLst>
              <a:gd name="adj" fmla="val 4225"/>
            </a:avLst>
          </a:prstGeom>
          <a:solidFill>
            <a:srgbClr val="181C62"/>
          </a:solidFill>
          <a:ln>
            <a:noFill/>
          </a:ln>
        </p:spPr>
        <p:txBody>
          <a:bodyPr wrap="square"/>
          <a:p/>
        </p:txBody>
      </p:sp>
      <p:sp>
        <p:nvSpPr>
          <p:cNvPr id="6" name="layout-finding-accent Layout"/>
          <p:cNvSpPr/>
          <p:nvPr/>
        </p:nvSpPr>
        <p:spPr>
          <a:xfrm>
            <a:off x="8915400" y="1428750"/>
            <a:ext cx="27051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7" name="layout-progress-label Layout"/>
          <p:cNvSpPr txBox="1"/>
          <p:nvPr/>
        </p:nvSpPr>
        <p:spPr>
          <a:xfrm>
            <a:off x="757047" y="1675924"/>
            <a:ext cx="690503" cy="190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 WEEK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layout-pipeline-label Layout"/>
          <p:cNvSpPr txBox="1"/>
          <p:nvPr/>
        </p:nvSpPr>
        <p:spPr>
          <a:xfrm>
            <a:off x="4166997" y="1675924"/>
            <a:ext cx="3639757" cy="190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PIPELINE / ARCHITECTURE / IMPLEMENTATION EVIDENCE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layout-finding-label Layout"/>
          <p:cNvSpPr txBox="1"/>
          <p:nvPr/>
        </p:nvSpPr>
        <p:spPr>
          <a:xfrm>
            <a:off x="9158097" y="1704499"/>
            <a:ext cx="1415010" cy="190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TECHNICAL TAKEAWAY</a:t>
            </a:r>
            <a:endParaRPr lang="en-US" sz="9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chnical-title-slot Placeholder"/>
          <p:cNvSpPr>
            <a:spLocks noGrp="1"/>
          </p:cNvSpPr>
          <p:nvPr>
            <p:ph type="title" hasCustomPrompt="1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lang="en-US"/>
          </a:p>
        </p:txBody>
      </p:sp>
      <p:sp>
        <p:nvSpPr>
          <p:cNvPr id="11" name="technical-progress-slot Placeholder"/>
          <p:cNvSpPr>
            <a:spLocks noGrp="1"/>
          </p:cNvSpPr>
          <p:nvPr>
            <p:ph type="body" idx="1" hasCustomPrompt="1"/>
          </p:nvPr>
        </p:nvSpPr>
        <p:spPr>
          <a:xfrm>
            <a:off x="762000" y="2000250"/>
            <a:ext cx="2647950" cy="371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lnSpc>
                <a:spcPts val="1875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12" name="technical-object-slot Placeholder"/>
          <p:cNvSpPr>
            <a:spLocks noGrp="1"/>
          </p:cNvSpPr>
          <p:nvPr>
            <p:ph idx="2" hasCustomPrompt="1"/>
          </p:nvPr>
        </p:nvSpPr>
        <p:spPr>
          <a:xfrm>
            <a:off x="4171950" y="2000250"/>
            <a:ext cx="4229100" cy="371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420"/>
            </a:lvl1pPr>
          </a:lstStyle>
          <a:p>
            <a:pPr algn="l">
              <a:lnSpc>
                <a:spcPts val="1650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content</a:t>
            </a:r>
            <a:endParaRPr lang="en-US"/>
          </a:p>
        </p:txBody>
      </p:sp>
      <p:sp>
        <p:nvSpPr>
          <p:cNvPr id="13" name="technical-finding-slot Placeholder"/>
          <p:cNvSpPr>
            <a:spLocks noGrp="1"/>
          </p:cNvSpPr>
          <p:nvPr>
            <p:ph type="body" idx="3" hasCustomPrompt="1"/>
          </p:nvPr>
        </p:nvSpPr>
        <p:spPr>
          <a:xfrm>
            <a:off x="9163050" y="2019300"/>
            <a:ext cx="2209800" cy="3467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lnSpc>
                <a:spcPts val="1650"/>
              </a:lnSpc>
              <a:buNone/>
            </a:pPr>
            <a: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14" name="technical-source-slot Placeholder"/>
          <p:cNvSpPr>
            <a:spLocks noGrp="1"/>
          </p:cNvSpPr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lang="en-US"/>
          </a:p>
        </p:txBody>
      </p:sp>
      <p:sp>
        <p:nvSpPr>
          <p:cNvPr id="15" name="technical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A04C733D-9CA5-4441-B1F0-F5DF9370409F}" type="slidenum"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 Update — Experimental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3" name="layout-key-message-field Layout"/>
          <p:cNvSpPr/>
          <p:nvPr/>
        </p:nvSpPr>
        <p:spPr>
          <a:xfrm>
            <a:off x="514350" y="1304925"/>
            <a:ext cx="11106150" cy="704850"/>
          </a:xfrm>
          <a:prstGeom prst="roundRect">
            <a:avLst>
              <a:gd name="adj" fmla="val 13514"/>
            </a:avLst>
          </a:prstGeom>
          <a:solidFill>
            <a:srgbClr val="FCE9EE"/>
          </a:solidFill>
          <a:ln>
            <a:noFill/>
          </a:ln>
        </p:spPr>
        <p:txBody>
          <a:bodyPr wrap="square"/>
          <a:p/>
        </p:txBody>
      </p:sp>
      <p:sp>
        <p:nvSpPr>
          <p:cNvPr id="4" name="layout-evidence-field Layout"/>
          <p:cNvSpPr/>
          <p:nvPr/>
        </p:nvSpPr>
        <p:spPr>
          <a:xfrm>
            <a:off x="514350" y="2238375"/>
            <a:ext cx="7467600" cy="3838575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/>
          <a:p/>
        </p:txBody>
      </p:sp>
      <p:sp>
        <p:nvSpPr>
          <p:cNvPr id="5" name="layout-findings-field Layout"/>
          <p:cNvSpPr/>
          <p:nvPr/>
        </p:nvSpPr>
        <p:spPr>
          <a:xfrm>
            <a:off x="8229600" y="2238375"/>
            <a:ext cx="3390900" cy="3838575"/>
          </a:xfrm>
          <a:prstGeom prst="roundRect">
            <a:avLst>
              <a:gd name="adj" fmla="val 3371"/>
            </a:avLst>
          </a:prstGeom>
          <a:solidFill>
            <a:srgbClr val="EEF1FA"/>
          </a:solidFill>
          <a:ln>
            <a:noFill/>
          </a:ln>
        </p:spPr>
        <p:txBody>
          <a:bodyPr wrap="square"/>
          <a:p/>
        </p:txBody>
      </p:sp>
      <p:sp>
        <p:nvSpPr>
          <p:cNvPr id="6" name="layout-findings-label Layout"/>
          <p:cNvSpPr/>
          <p:nvPr/>
        </p:nvSpPr>
        <p:spPr>
          <a:xfrm>
            <a:off x="8229600" y="2238375"/>
            <a:ext cx="3390900" cy="4572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wrap="square"/>
          <a:p/>
        </p:txBody>
      </p:sp>
      <p:sp>
        <p:nvSpPr>
          <p:cNvPr id="7" name="layout-result-label Layout"/>
          <p:cNvSpPr txBox="1"/>
          <p:nvPr/>
        </p:nvSpPr>
        <p:spPr>
          <a:xfrm>
            <a:off x="738188" y="1407795"/>
            <a:ext cx="1078139" cy="176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ONE-LINE RESULT</a:t>
            </a:r>
            <a:endParaRPr lang="en-US" sz="90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layout-evidence-label Layout"/>
          <p:cNvSpPr txBox="1"/>
          <p:nvPr/>
        </p:nvSpPr>
        <p:spPr>
          <a:xfrm>
            <a:off x="757047" y="2466499"/>
            <a:ext cx="2827431" cy="190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EVIDENCE · BASELINE · CONTROL · METRIC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layout-findings-heading Layout"/>
          <p:cNvSpPr txBox="1"/>
          <p:nvPr/>
        </p:nvSpPr>
        <p:spPr>
          <a:xfrm>
            <a:off x="8471916" y="2429828"/>
            <a:ext cx="928063" cy="2053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FINDINGS</a:t>
            </a:r>
            <a:endParaRPr lang="en-US" sz="10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evidence-title-slot Placeholder"/>
          <p:cNvSpPr>
            <a:spLocks noGrp="1"/>
          </p:cNvSpPr>
          <p:nvPr>
            <p:ph type="title" hasCustomPrompt="1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lang="en-US"/>
          </a:p>
        </p:txBody>
      </p:sp>
      <p:sp>
        <p:nvSpPr>
          <p:cNvPr id="11" name="evidence-message-slot Placeholder"/>
          <p:cNvSpPr>
            <a:spLocks noGrp="1"/>
          </p:cNvSpPr>
          <p:nvPr>
            <p:ph type="body" idx="1" hasCustomPrompt="1"/>
          </p:nvPr>
        </p:nvSpPr>
        <p:spPr>
          <a:xfrm>
            <a:off x="742950" y="1562100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buNone/>
            </a:pPr>
            <a:r>
              <a:rPr lang="en-US" sz="15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12" name="evidence-object-slot Placeholder"/>
          <p:cNvSpPr>
            <a:spLocks noGrp="1"/>
          </p:cNvSpPr>
          <p:nvPr>
            <p:ph idx="2" hasCustomPrompt="1"/>
          </p:nvPr>
        </p:nvSpPr>
        <p:spPr>
          <a:xfrm>
            <a:off x="762000" y="2724150"/>
            <a:ext cx="6972300" cy="302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420"/>
            </a:lvl1pPr>
          </a:lstStyle>
          <a:p>
            <a:pPr algn="l">
              <a:lnSpc>
                <a:spcPts val="1725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content</a:t>
            </a:r>
            <a:endParaRPr lang="en-US"/>
          </a:p>
        </p:txBody>
      </p:sp>
      <p:sp>
        <p:nvSpPr>
          <p:cNvPr id="13" name="evidence-findings-slot Placeholder"/>
          <p:cNvSpPr>
            <a:spLocks noGrp="1"/>
          </p:cNvSpPr>
          <p:nvPr>
            <p:ph type="body" idx="3" hasCustomPrompt="1"/>
          </p:nvPr>
        </p:nvSpPr>
        <p:spPr>
          <a:xfrm>
            <a:off x="8477250" y="2886075"/>
            <a:ext cx="2895600" cy="2867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00"/>
            </a:lvl1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14" name="evidence-source-slot Placeholder"/>
          <p:cNvSpPr>
            <a:spLocks noGrp="1"/>
          </p:cNvSpPr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lang="en-US"/>
          </a:p>
        </p:txBody>
      </p:sp>
      <p:sp>
        <p:nvSpPr>
          <p:cNvPr id="15" name="evidence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025996F0-6022-4AC2-871A-6CFA4982C3E5}" type="slidenum"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 Update — Risks &amp; Deci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3" name="layout-risk-field Layout"/>
          <p:cNvSpPr/>
          <p:nvPr/>
        </p:nvSpPr>
        <p:spPr>
          <a:xfrm>
            <a:off x="514350" y="1428750"/>
            <a:ext cx="5286375" cy="2057400"/>
          </a:xfrm>
          <a:prstGeom prst="roundRect">
            <a:avLst>
              <a:gd name="adj" fmla="val 5556"/>
            </a:avLst>
          </a:prstGeom>
          <a:solidFill>
            <a:srgbClr val="FCE9EE"/>
          </a:solidFill>
          <a:ln>
            <a:noFill/>
          </a:ln>
        </p:spPr>
        <p:txBody>
          <a:bodyPr wrap="square"/>
          <a:p/>
        </p:txBody>
      </p:sp>
      <p:sp>
        <p:nvSpPr>
          <p:cNvPr id="4" name="layout-impact-field Layout"/>
          <p:cNvSpPr/>
          <p:nvPr/>
        </p:nvSpPr>
        <p:spPr>
          <a:xfrm>
            <a:off x="6048375" y="1428750"/>
            <a:ext cx="5572125" cy="20574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D71440"/>
            </a:solidFill>
          </a:ln>
        </p:spPr>
        <p:txBody>
          <a:bodyPr wrap="square"/>
          <a:p/>
        </p:txBody>
      </p:sp>
      <p:sp>
        <p:nvSpPr>
          <p:cNvPr id="5" name="layout-mitigation-field Layout"/>
          <p:cNvSpPr/>
          <p:nvPr/>
        </p:nvSpPr>
        <p:spPr>
          <a:xfrm>
            <a:off x="514350" y="3714750"/>
            <a:ext cx="5286375" cy="2362200"/>
          </a:xfrm>
          <a:prstGeom prst="roundRect">
            <a:avLst>
              <a:gd name="adj" fmla="val 4839"/>
            </a:avLst>
          </a:prstGeom>
          <a:solidFill>
            <a:srgbClr val="EEF1FA"/>
          </a:solidFill>
          <a:ln>
            <a:noFill/>
          </a:ln>
        </p:spPr>
        <p:txBody>
          <a:bodyPr wrap="square"/>
          <a:p/>
        </p:txBody>
      </p:sp>
      <p:sp>
        <p:nvSpPr>
          <p:cNvPr id="6" name="layout-decision-field Layout"/>
          <p:cNvSpPr/>
          <p:nvPr/>
        </p:nvSpPr>
        <p:spPr>
          <a:xfrm>
            <a:off x="6048375" y="3714750"/>
            <a:ext cx="5572125" cy="2362200"/>
          </a:xfrm>
          <a:prstGeom prst="roundRect">
            <a:avLst>
              <a:gd name="adj" fmla="val 4839"/>
            </a:avLst>
          </a:prstGeom>
          <a:solidFill>
            <a:srgbClr val="181C62"/>
          </a:solidFill>
          <a:ln>
            <a:noFill/>
          </a:ln>
        </p:spPr>
        <p:txBody>
          <a:bodyPr wrap="square"/>
          <a:p/>
        </p:txBody>
      </p:sp>
      <p:sp>
        <p:nvSpPr>
          <p:cNvPr id="7" name="layout-risk-label Layout"/>
          <p:cNvSpPr/>
          <p:nvPr/>
        </p:nvSpPr>
        <p:spPr>
          <a:xfrm>
            <a:off x="514350" y="1428750"/>
            <a:ext cx="95250" cy="20574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8" name="layout-decision-label Layout"/>
          <p:cNvSpPr/>
          <p:nvPr/>
        </p:nvSpPr>
        <p:spPr>
          <a:xfrm>
            <a:off x="6048375" y="3714750"/>
            <a:ext cx="95250" cy="23622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9" name="layout-risk-heading Layout"/>
          <p:cNvSpPr txBox="1"/>
          <p:nvPr/>
        </p:nvSpPr>
        <p:spPr>
          <a:xfrm>
            <a:off x="794766" y="1639252"/>
            <a:ext cx="1131928" cy="2053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RISK / BLOCKER</a:t>
            </a:r>
            <a:endParaRPr lang="en-US" sz="105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layout-impact-heading Layout"/>
          <p:cNvSpPr txBox="1"/>
          <p:nvPr/>
        </p:nvSpPr>
        <p:spPr>
          <a:xfrm>
            <a:off x="6328791" y="1639252"/>
            <a:ext cx="3092173" cy="2053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IMPACT ON SCOPE, EVIDENCE, OR TIMELINE</a:t>
            </a:r>
            <a:endParaRPr lang="en-US" sz="105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layout-mitigation-heading Layout"/>
          <p:cNvSpPr txBox="1"/>
          <p:nvPr/>
        </p:nvSpPr>
        <p:spPr>
          <a:xfrm>
            <a:off x="794766" y="3925252"/>
            <a:ext cx="2496259" cy="2053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MITIGATION / OWNER / CHECK DATE</a:t>
            </a:r>
            <a:endParaRPr lang="en-US" sz="105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layout-decision-heading Layout"/>
          <p:cNvSpPr txBox="1"/>
          <p:nvPr/>
        </p:nvSpPr>
        <p:spPr>
          <a:xfrm>
            <a:off x="6328791" y="3925252"/>
            <a:ext cx="2151256" cy="2053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DECISION OR SUPPORT NEEDED</a:t>
            </a:r>
            <a:endParaRPr lang="en-US" sz="10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isk-title-slot Placeholder"/>
          <p:cNvSpPr>
            <a:spLocks noGrp="1"/>
          </p:cNvSpPr>
          <p:nvPr>
            <p:ph type="title" hasCustomPrompt="1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lang="en-US"/>
          </a:p>
        </p:txBody>
      </p:sp>
      <p:sp>
        <p:nvSpPr>
          <p:cNvPr id="14" name="risk-main-slot Placeholder"/>
          <p:cNvSpPr>
            <a:spLocks noGrp="1"/>
          </p:cNvSpPr>
          <p:nvPr>
            <p:ph type="body" idx="1" hasCustomPrompt="1"/>
          </p:nvPr>
        </p:nvSpPr>
        <p:spPr>
          <a:xfrm>
            <a:off x="800100" y="1924050"/>
            <a:ext cx="4714875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lnSpc>
                <a:spcPts val="2325"/>
              </a:lnSpc>
              <a:buNone/>
            </a:pPr>
            <a:r>
              <a:rPr lang="en-US" sz="15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15" name="risk-impact-slot Placeholder"/>
          <p:cNvSpPr>
            <a:spLocks noGrp="1"/>
          </p:cNvSpPr>
          <p:nvPr>
            <p:ph type="body" idx="2" hasCustomPrompt="1"/>
          </p:nvPr>
        </p:nvSpPr>
        <p:spPr>
          <a:xfrm>
            <a:off x="6334125" y="1924050"/>
            <a:ext cx="5000625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lnSpc>
                <a:spcPts val="2325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16" name="risk-mitigation-slot Placeholder"/>
          <p:cNvSpPr>
            <a:spLocks noGrp="1"/>
          </p:cNvSpPr>
          <p:nvPr>
            <p:ph type="body" idx="3" hasCustomPrompt="1"/>
          </p:nvPr>
        </p:nvSpPr>
        <p:spPr>
          <a:xfrm>
            <a:off x="800100" y="4210050"/>
            <a:ext cx="4714875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lnSpc>
                <a:spcPts val="2325"/>
              </a:lnSpc>
              <a:buNone/>
            </a:pPr>
            <a:r>
              <a:rPr lang="en-US" sz="1580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17" name="risk-decision-slot Placeholder"/>
          <p:cNvSpPr>
            <a:spLocks noGrp="1"/>
          </p:cNvSpPr>
          <p:nvPr>
            <p:ph type="body" idx="4" hasCustomPrompt="1"/>
          </p:nvPr>
        </p:nvSpPr>
        <p:spPr>
          <a:xfrm>
            <a:off x="6334125" y="4210050"/>
            <a:ext cx="5000625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lnSpc>
                <a:spcPts val="2325"/>
              </a:lnSpc>
              <a:buNone/>
            </a:pPr>
            <a: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18" name="risk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216A2D4A-E000-4D43-9EAB-3F2272606D2F}" type="slidenum"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 Update — Next-Week Commit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3" name="layout-action-line Layout"/>
          <p:cNvSpPr/>
          <p:nvPr/>
        </p:nvSpPr>
        <p:spPr>
          <a:xfrm>
            <a:off x="1009650" y="2238375"/>
            <a:ext cx="9525" cy="3076575"/>
          </a:xfrm>
          <a:custGeom>
            <a:avLst/>
            <a:gdLst/>
            <a:ahLst/>
            <a:cxnLst/>
            <a:rect l="l" t="t" r="r" b="b"/>
            <a:pathLst>
              <a:path w="9525" h="3076575">
                <a:moveTo>
                  <a:pt x="0" y="0"/>
                </a:moveTo>
                <a:lnTo>
                  <a:pt x="0" y="3076575"/>
                </a:lnTo>
              </a:path>
            </a:pathLst>
          </a:custGeom>
          <a:noFill/>
          <a:ln w="47625">
            <a:solidFill>
              <a:srgbClr val="C8C8C8"/>
            </a:solidFill>
          </a:ln>
        </p:spPr>
        <p:txBody>
          <a:bodyPr wrap="square"/>
          <a:p/>
        </p:txBody>
      </p:sp>
      <p:sp>
        <p:nvSpPr>
          <p:cNvPr id="4" name="layout-action-node-1 Layout"/>
          <p:cNvSpPr/>
          <p:nvPr/>
        </p:nvSpPr>
        <p:spPr>
          <a:xfrm>
            <a:off x="819150" y="2047875"/>
            <a:ext cx="381000" cy="3810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5" name="layout-action-node-2 Layout"/>
          <p:cNvSpPr/>
          <p:nvPr/>
        </p:nvSpPr>
        <p:spPr>
          <a:xfrm>
            <a:off x="819150" y="3590925"/>
            <a:ext cx="381000" cy="38100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  <p:txBody>
          <a:bodyPr wrap="square"/>
          <a:p/>
        </p:txBody>
      </p:sp>
      <p:sp>
        <p:nvSpPr>
          <p:cNvPr id="6" name="layout-action-node-3 Layout"/>
          <p:cNvSpPr/>
          <p:nvPr/>
        </p:nvSpPr>
        <p:spPr>
          <a:xfrm>
            <a:off x="819150" y="5124450"/>
            <a:ext cx="381000" cy="3810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7" name="layout-action-field-1 Layout"/>
          <p:cNvSpPr/>
          <p:nvPr/>
        </p:nvSpPr>
        <p:spPr>
          <a:xfrm>
            <a:off x="1466850" y="1619250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FCE9EE"/>
          </a:solidFill>
          <a:ln>
            <a:noFill/>
          </a:ln>
        </p:spPr>
        <p:txBody>
          <a:bodyPr wrap="square"/>
          <a:p/>
        </p:txBody>
      </p:sp>
      <p:sp>
        <p:nvSpPr>
          <p:cNvPr id="8" name="layout-action-field-2 Layout"/>
          <p:cNvSpPr/>
          <p:nvPr/>
        </p:nvSpPr>
        <p:spPr>
          <a:xfrm>
            <a:off x="1466850" y="3162300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EEF1FA"/>
          </a:solidFill>
          <a:ln>
            <a:noFill/>
          </a:ln>
        </p:spPr>
        <p:txBody>
          <a:bodyPr wrap="square"/>
          <a:p/>
        </p:txBody>
      </p:sp>
      <p:sp>
        <p:nvSpPr>
          <p:cNvPr id="9" name="layout-action-field-3 Layout"/>
          <p:cNvSpPr/>
          <p:nvPr/>
        </p:nvSpPr>
        <p:spPr>
          <a:xfrm>
            <a:off x="1466850" y="4695825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FCE9EE"/>
          </a:solidFill>
          <a:ln>
            <a:noFill/>
          </a:ln>
        </p:spPr>
        <p:txBody>
          <a:bodyPr wrap="square"/>
          <a:p/>
        </p:txBody>
      </p:sp>
      <p:sp>
        <p:nvSpPr>
          <p:cNvPr id="10" name="layout-owner-field Layout"/>
          <p:cNvSpPr/>
          <p:nvPr/>
        </p:nvSpPr>
        <p:spPr>
          <a:xfrm>
            <a:off x="8420100" y="1619250"/>
            <a:ext cx="3200400" cy="4314825"/>
          </a:xfrm>
          <a:prstGeom prst="roundRect">
            <a:avLst>
              <a:gd name="adj" fmla="val 3571"/>
            </a:avLst>
          </a:prstGeom>
          <a:solidFill>
            <a:srgbClr val="181C62"/>
          </a:solidFill>
          <a:ln>
            <a:noFill/>
          </a:ln>
        </p:spPr>
        <p:txBody>
          <a:bodyPr wrap="square"/>
          <a:p/>
        </p:txBody>
      </p:sp>
      <p:sp>
        <p:nvSpPr>
          <p:cNvPr id="11" name="layout-action-number-1 Layout"/>
          <p:cNvSpPr txBox="1"/>
          <p:nvPr/>
        </p:nvSpPr>
        <p:spPr>
          <a:xfrm>
            <a:off x="950315" y="21593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13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layout-action-number-2 Layout"/>
          <p:cNvSpPr txBox="1"/>
          <p:nvPr/>
        </p:nvSpPr>
        <p:spPr>
          <a:xfrm>
            <a:off x="950315" y="37023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lang="en-US" sz="13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layout-action-number-3 Layout"/>
          <p:cNvSpPr txBox="1"/>
          <p:nvPr/>
        </p:nvSpPr>
        <p:spPr>
          <a:xfrm>
            <a:off x="950315" y="523589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3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layout-action-label-1 Layout"/>
          <p:cNvSpPr txBox="1"/>
          <p:nvPr/>
        </p:nvSpPr>
        <p:spPr>
          <a:xfrm>
            <a:off x="1747647" y="1809274"/>
            <a:ext cx="1517465" cy="190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DELIVERABLE 1 · BUILD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layout-action-label-2 Layout"/>
          <p:cNvSpPr txBox="1"/>
          <p:nvPr/>
        </p:nvSpPr>
        <p:spPr>
          <a:xfrm>
            <a:off x="1747647" y="3352324"/>
            <a:ext cx="1758967" cy="190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DELIVERABLE 2 · VALIDATE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layout-action-label-3 Layout"/>
          <p:cNvSpPr txBox="1"/>
          <p:nvPr/>
        </p:nvSpPr>
        <p:spPr>
          <a:xfrm>
            <a:off x="1747647" y="4885849"/>
            <a:ext cx="1854104" cy="190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DELIVERABLE 3 · DOCUMENT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layout-owner-label Layout"/>
          <p:cNvSpPr txBox="1"/>
          <p:nvPr/>
        </p:nvSpPr>
        <p:spPr>
          <a:xfrm>
            <a:off x="8700516" y="1896428"/>
            <a:ext cx="2598191" cy="2053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OWNER · DUE DATE · SUCCESS CHECK</a:t>
            </a:r>
            <a:endParaRPr lang="en-US" sz="10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next-title-slot Placeholder"/>
          <p:cNvSpPr>
            <a:spLocks noGrp="1"/>
          </p:cNvSpPr>
          <p:nvPr>
            <p:ph type="title" hasCustomPrompt="1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lang="en-US"/>
          </a:p>
        </p:txBody>
      </p:sp>
      <p:sp>
        <p:nvSpPr>
          <p:cNvPr id="19" name="next-action-1-slot Placeholder"/>
          <p:cNvSpPr>
            <a:spLocks noGrp="1"/>
          </p:cNvSpPr>
          <p:nvPr>
            <p:ph type="body" idx="1" hasCustomPrompt="1"/>
          </p:nvPr>
        </p:nvSpPr>
        <p:spPr>
          <a:xfrm>
            <a:off x="1752600" y="2057400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lnSpc>
                <a:spcPts val="1875"/>
              </a:lnSpc>
              <a:buNone/>
            </a:pPr>
            <a:r>
              <a:rPr lang="en-US" sz="158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20" name="next-action-2-slot Placeholder"/>
          <p:cNvSpPr>
            <a:spLocks noGrp="1"/>
          </p:cNvSpPr>
          <p:nvPr>
            <p:ph type="body" idx="2" hasCustomPrompt="1"/>
          </p:nvPr>
        </p:nvSpPr>
        <p:spPr>
          <a:xfrm>
            <a:off x="1752600" y="3600450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lnSpc>
                <a:spcPts val="1875"/>
              </a:lnSpc>
              <a:buNone/>
            </a:pPr>
            <a:r>
              <a:rPr lang="en-US" sz="158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21" name="next-action-3-slot Placeholder"/>
          <p:cNvSpPr>
            <a:spLocks noGrp="1"/>
          </p:cNvSpPr>
          <p:nvPr>
            <p:ph type="body" idx="3" hasCustomPrompt="1"/>
          </p:nvPr>
        </p:nvSpPr>
        <p:spPr>
          <a:xfrm>
            <a:off x="1752600" y="5133975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lnSpc>
                <a:spcPts val="1875"/>
              </a:lnSpc>
              <a:buNone/>
            </a:pPr>
            <a:r>
              <a:rPr lang="en-US" sz="158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22" name="next-owner-slot Placeholder"/>
          <p:cNvSpPr>
            <a:spLocks noGrp="1"/>
          </p:cNvSpPr>
          <p:nvPr>
            <p:ph type="body" idx="4" hasCustomPrompt="1"/>
          </p:nvPr>
        </p:nvSpPr>
        <p:spPr>
          <a:xfrm>
            <a:off x="8705850" y="2228850"/>
            <a:ext cx="26289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lnSpc>
                <a:spcPts val="2025"/>
              </a:lnSpc>
              <a:buNone/>
            </a:pPr>
            <a:r>
              <a:rPr lang="en-US" sz="15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23" name="next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1B0C2861-7D5A-43F0-A0E9-AB7F3B3B7BA3}" type="slidenum"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 Update — Open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3" name="layout-open-canvas-frame Layout"/>
          <p:cNvSpPr/>
          <p:nvPr/>
        </p:nvSpPr>
        <p:spPr>
          <a:xfrm>
            <a:off x="514350" y="1304925"/>
            <a:ext cx="1110615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/>
          <a:p/>
        </p:txBody>
      </p:sp>
      <p:sp>
        <p:nvSpPr>
          <p:cNvPr id="4" name="open-canvas-title-slot Placeholder"/>
          <p:cNvSpPr>
            <a:spLocks noGrp="1"/>
          </p:cNvSpPr>
          <p:nvPr>
            <p:ph type="title" hasCustomPrompt="1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lang="en-US"/>
          </a:p>
        </p:txBody>
      </p:sp>
      <p:sp>
        <p:nvSpPr>
          <p:cNvPr id="5" name="open-canvas-source-slot Placeholder"/>
          <p:cNvSpPr>
            <a:spLocks noGrp="1"/>
          </p:cNvSpPr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lang="en-US"/>
          </a:p>
        </p:txBody>
      </p:sp>
      <p:sp>
        <p:nvSpPr>
          <p:cNvPr id="6" name="open-canvas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E9BA1BD5-C548-48DA-80EE-81ABECE43436}" type="slidenum"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 Update — Single-Image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3" name="layout-single-image-frame Layout"/>
          <p:cNvSpPr/>
          <p:nvPr/>
        </p:nvSpPr>
        <p:spPr>
          <a:xfrm>
            <a:off x="514350" y="1304925"/>
            <a:ext cx="781050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/>
          <a:p/>
        </p:txBody>
      </p:sp>
      <p:sp>
        <p:nvSpPr>
          <p:cNvPr id="4" name="layout-single-image-description Layout"/>
          <p:cNvSpPr/>
          <p:nvPr/>
        </p:nvSpPr>
        <p:spPr>
          <a:xfrm>
            <a:off x="8572500" y="1304925"/>
            <a:ext cx="3048000" cy="4772025"/>
          </a:xfrm>
          <a:prstGeom prst="roundRect">
            <a:avLst>
              <a:gd name="adj" fmla="val 3125"/>
            </a:avLst>
          </a:prstGeom>
          <a:solidFill>
            <a:srgbClr val="EEF1FA"/>
          </a:solidFill>
          <a:ln>
            <a:noFill/>
          </a:ln>
        </p:spPr>
        <p:txBody>
          <a:bodyPr wrap="square"/>
          <a:p/>
        </p:txBody>
      </p:sp>
      <p:sp>
        <p:nvSpPr>
          <p:cNvPr id="5" name="layout-single-image-accent Layout"/>
          <p:cNvSpPr/>
          <p:nvPr/>
        </p:nvSpPr>
        <p:spPr>
          <a:xfrm>
            <a:off x="8572500" y="1304925"/>
            <a:ext cx="30480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6" name="layout-single-image-label Layout"/>
          <p:cNvSpPr txBox="1"/>
          <p:nvPr/>
        </p:nvSpPr>
        <p:spPr>
          <a:xfrm>
            <a:off x="8815197" y="1647349"/>
            <a:ext cx="1290599" cy="190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IMAGE DESCRIPTION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single-image-title-slot Placeholder"/>
          <p:cNvSpPr>
            <a:spLocks noGrp="1"/>
          </p:cNvSpPr>
          <p:nvPr>
            <p:ph type="title" hasCustomPrompt="1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lang="en-US"/>
          </a:p>
        </p:txBody>
      </p:sp>
      <p:sp>
        <p:nvSpPr>
          <p:cNvPr id="8" name="single-image-picture-slot Placeholder"/>
          <p:cNvSpPr>
            <a:spLocks noGrp="1"/>
          </p:cNvSpPr>
          <p:nvPr>
            <p:ph type="pic" idx="1" hasCustomPrompt="1"/>
          </p:nvPr>
        </p:nvSpPr>
        <p:spPr>
          <a:xfrm>
            <a:off x="552450" y="1343025"/>
            <a:ext cx="7734300" cy="46958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9" name="single-image-description-slot Placeholder"/>
          <p:cNvSpPr>
            <a:spLocks noGrp="1"/>
          </p:cNvSpPr>
          <p:nvPr>
            <p:ph type="body" idx="2" hasCustomPrompt="1"/>
          </p:nvPr>
        </p:nvSpPr>
        <p:spPr>
          <a:xfrm>
            <a:off x="8820150" y="1981200"/>
            <a:ext cx="2552700" cy="3600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marL="0" indent="0" algn="l">
              <a:lnSpc>
                <a:spcPts val="1650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lang="en-US"/>
          </a:p>
        </p:txBody>
      </p:sp>
      <p:sp>
        <p:nvSpPr>
          <p:cNvPr id="10" name="single-image-source-slot Placeholder"/>
          <p:cNvSpPr>
            <a:spLocks noGrp="1"/>
          </p:cNvSpPr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lang="en-US"/>
          </a:p>
        </p:txBody>
      </p:sp>
      <p:sp>
        <p:nvSpPr>
          <p:cNvPr id="11" name="single-image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0DB99CAE-A1F1-4156-8B68-85B1E2B0D49F}" type="slidenum"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 Update — Multi-Image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3" name="layout-multi-image-guide Layout"/>
          <p:cNvSpPr txBox="1"/>
          <p:nvPr/>
        </p:nvSpPr>
        <p:spPr>
          <a:xfrm>
            <a:off x="8416388" y="713899"/>
            <a:ext cx="1056415" cy="190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2–4 IMAGES</a:t>
            </a:r>
            <a:endParaRPr lang="en-US" sz="980" b="1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layout-image-card-1 Layout"/>
          <p:cNvSpPr/>
          <p:nvPr/>
        </p:nvSpPr>
        <p:spPr>
          <a:xfrm>
            <a:off x="514350" y="130492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/>
          <a:p/>
        </p:txBody>
      </p:sp>
      <p:sp>
        <p:nvSpPr>
          <p:cNvPr id="5" name="layout-image-caption-1 Layout"/>
          <p:cNvSpPr/>
          <p:nvPr/>
        </p:nvSpPr>
        <p:spPr>
          <a:xfrm>
            <a:off x="514350" y="315277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  <p:txBody>
          <a:bodyPr wrap="square"/>
          <a:p/>
        </p:txBody>
      </p:sp>
      <p:sp>
        <p:nvSpPr>
          <p:cNvPr id="6" name="layout-image-card-2 Layout"/>
          <p:cNvSpPr/>
          <p:nvPr/>
        </p:nvSpPr>
        <p:spPr>
          <a:xfrm>
            <a:off x="6229350" y="130492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/>
          <a:p/>
        </p:txBody>
      </p:sp>
      <p:sp>
        <p:nvSpPr>
          <p:cNvPr id="7" name="layout-image-caption-2 Layout"/>
          <p:cNvSpPr/>
          <p:nvPr/>
        </p:nvSpPr>
        <p:spPr>
          <a:xfrm>
            <a:off x="6229350" y="315277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  <p:txBody>
          <a:bodyPr wrap="square"/>
          <a:p/>
        </p:txBody>
      </p:sp>
      <p:sp>
        <p:nvSpPr>
          <p:cNvPr id="8" name="layout-image-card-3 Layout"/>
          <p:cNvSpPr/>
          <p:nvPr/>
        </p:nvSpPr>
        <p:spPr>
          <a:xfrm>
            <a:off x="514350" y="368617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/>
          <a:p/>
        </p:txBody>
      </p:sp>
      <p:sp>
        <p:nvSpPr>
          <p:cNvPr id="9" name="layout-image-caption-3 Layout"/>
          <p:cNvSpPr/>
          <p:nvPr/>
        </p:nvSpPr>
        <p:spPr>
          <a:xfrm>
            <a:off x="514350" y="553402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  <p:txBody>
          <a:bodyPr wrap="square"/>
          <a:p/>
        </p:txBody>
      </p:sp>
      <p:sp>
        <p:nvSpPr>
          <p:cNvPr id="10" name="layout-image-card-4 Layout"/>
          <p:cNvSpPr/>
          <p:nvPr/>
        </p:nvSpPr>
        <p:spPr>
          <a:xfrm>
            <a:off x="6229350" y="368617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/>
          <a:p/>
        </p:txBody>
      </p:sp>
      <p:sp>
        <p:nvSpPr>
          <p:cNvPr id="11" name="layout-image-caption-4 Layout"/>
          <p:cNvSpPr/>
          <p:nvPr/>
        </p:nvSpPr>
        <p:spPr>
          <a:xfrm>
            <a:off x="6229350" y="553402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  <p:txBody>
          <a:bodyPr wrap="square"/>
          <a:p/>
        </p:txBody>
      </p:sp>
      <p:sp>
        <p:nvSpPr>
          <p:cNvPr id="12" name="multi-image-title-slot Placeholder"/>
          <p:cNvSpPr>
            <a:spLocks noGrp="1"/>
          </p:cNvSpPr>
          <p:nvPr>
            <p:ph type="title" hasCustomPrompt="1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lang="en-US"/>
          </a:p>
        </p:txBody>
      </p:sp>
      <p:sp>
        <p:nvSpPr>
          <p:cNvPr id="13" name="multi-image-picture-1-slot Placeholder"/>
          <p:cNvSpPr>
            <a:spLocks noGrp="1"/>
          </p:cNvSpPr>
          <p:nvPr>
            <p:ph type="pic" idx="1" hasCustomPrompt="1"/>
          </p:nvPr>
        </p:nvSpPr>
        <p:spPr>
          <a:xfrm>
            <a:off x="552450" y="1343025"/>
            <a:ext cx="5314950" cy="17716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4" name="multi-image-picture-2-slot Placeholder"/>
          <p:cNvSpPr>
            <a:spLocks noGrp="1"/>
          </p:cNvSpPr>
          <p:nvPr>
            <p:ph type="pic" idx="2" hasCustomPrompt="1"/>
          </p:nvPr>
        </p:nvSpPr>
        <p:spPr>
          <a:xfrm>
            <a:off x="6267450" y="1343025"/>
            <a:ext cx="5314950" cy="17716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5" name="multi-image-picture-3-slot Placeholder"/>
          <p:cNvSpPr>
            <a:spLocks noGrp="1"/>
          </p:cNvSpPr>
          <p:nvPr>
            <p:ph type="pic" idx="3" hasCustomPrompt="1"/>
          </p:nvPr>
        </p:nvSpPr>
        <p:spPr>
          <a:xfrm>
            <a:off x="552450" y="3724275"/>
            <a:ext cx="5314950" cy="17716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6" name="multi-image-picture-4-slot Placeholder"/>
          <p:cNvSpPr>
            <a:spLocks noGrp="1"/>
          </p:cNvSpPr>
          <p:nvPr>
            <p:ph type="pic" idx="4" hasCustomPrompt="1"/>
          </p:nvPr>
        </p:nvSpPr>
        <p:spPr>
          <a:xfrm>
            <a:off x="6267450" y="3724275"/>
            <a:ext cx="5314950" cy="17716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7" name="multi-image-caption-1-slot Placeholder"/>
          <p:cNvSpPr>
            <a:spLocks noGrp="1"/>
          </p:cNvSpPr>
          <p:nvPr>
            <p:ph idx="5" hasCustomPrompt="1"/>
          </p:nvPr>
        </p:nvSpPr>
        <p:spPr>
          <a:xfrm>
            <a:off x="685800" y="320040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120"/>
            </a:lvl1pPr>
          </a:lstStyle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content</a:t>
            </a:r>
            <a:endParaRPr lang="en-US"/>
          </a:p>
        </p:txBody>
      </p:sp>
      <p:sp>
        <p:nvSpPr>
          <p:cNvPr id="18" name="multi-image-caption-2-slot Placeholder"/>
          <p:cNvSpPr>
            <a:spLocks noGrp="1"/>
          </p:cNvSpPr>
          <p:nvPr>
            <p:ph idx="6" hasCustomPrompt="1"/>
          </p:nvPr>
        </p:nvSpPr>
        <p:spPr>
          <a:xfrm>
            <a:off x="6400800" y="320040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120"/>
            </a:lvl1pPr>
          </a:lstStyle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content</a:t>
            </a:r>
            <a:endParaRPr lang="en-US"/>
          </a:p>
        </p:txBody>
      </p:sp>
      <p:sp>
        <p:nvSpPr>
          <p:cNvPr id="19" name="multi-image-caption-3-slot Placeholder"/>
          <p:cNvSpPr>
            <a:spLocks noGrp="1"/>
          </p:cNvSpPr>
          <p:nvPr>
            <p:ph idx="7" hasCustomPrompt="1"/>
          </p:nvPr>
        </p:nvSpPr>
        <p:spPr>
          <a:xfrm>
            <a:off x="685800" y="558165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120"/>
            </a:lvl1pPr>
          </a:lstStyle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content</a:t>
            </a:r>
            <a:endParaRPr lang="en-US"/>
          </a:p>
        </p:txBody>
      </p:sp>
      <p:sp>
        <p:nvSpPr>
          <p:cNvPr id="20" name="multi-image-caption-4-slot Placeholder"/>
          <p:cNvSpPr>
            <a:spLocks noGrp="1"/>
          </p:cNvSpPr>
          <p:nvPr>
            <p:ph idx="8" hasCustomPrompt="1"/>
          </p:nvPr>
        </p:nvSpPr>
        <p:spPr>
          <a:xfrm>
            <a:off x="6400800" y="558165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120"/>
            </a:lvl1pPr>
          </a:lstStyle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content</a:t>
            </a:r>
            <a:endParaRPr lang="en-US"/>
          </a:p>
        </p:txBody>
      </p:sp>
      <p:sp>
        <p:nvSpPr>
          <p:cNvPr id="21" name="multi-image-source-slot Placeholder"/>
          <p:cNvSpPr>
            <a:spLocks noGrp="1"/>
          </p:cNvSpPr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lang="en-US"/>
          </a:p>
        </p:txBody>
      </p:sp>
      <p:sp>
        <p:nvSpPr>
          <p:cNvPr id="22" name="multi-image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9C90A0DA-7610-4D4E-A86F-66CC8689B5C7}" type="slidenum"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 Update —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ending-eee-background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0"/>
            <a:ext cx="12020550" cy="6572250"/>
          </a:xfrm>
          <a:prstGeom prst="rect">
            <a:avLst/>
          </a:prstGeom>
        </p:spPr>
      </p:pic>
      <p:sp>
        <p:nvSpPr>
          <p:cNvPr id="3" name="layout-ending-white-overlay Layout"/>
          <p:cNvSpPr/>
          <p:nvPr/>
        </p:nvSpPr>
        <p:spPr>
          <a:xfrm>
            <a:off x="171450" y="0"/>
            <a:ext cx="12020550" cy="657225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txBody>
          <a:bodyPr wrap="square"/>
          <a:p/>
        </p:txBody>
      </p:sp>
      <p:sp>
        <p:nvSpPr>
          <p:cNvPr id="4" name="layout-ending-logo-plate Layout"/>
          <p:cNvSpPr/>
          <p:nvPr/>
        </p:nvSpPr>
        <p:spPr>
          <a:xfrm>
            <a:off x="9620250" y="171450"/>
            <a:ext cx="2266950" cy="838200"/>
          </a:xfrm>
          <a:prstGeom prst="roundRect">
            <a:avLst>
              <a:gd name="adj" fmla="val 6818"/>
            </a:avLst>
          </a:prstGeom>
          <a:solidFill>
            <a:srgbClr val="FFFFFF">
              <a:alpha val="94000"/>
            </a:srgbClr>
          </a:solidFill>
          <a:ln>
            <a:noFill/>
          </a:ln>
        </p:spPr>
        <p:txBody>
          <a:bodyPr wrap="square"/>
          <a:p/>
        </p:txBody>
      </p:sp>
      <p:pic>
        <p:nvPicPr>
          <p:cNvPr id="5" name="layout-ending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435" y="247650"/>
            <a:ext cx="1910579" cy="685800"/>
          </a:xfrm>
          <a:prstGeom prst="rect">
            <a:avLst/>
          </a:prstGeom>
        </p:spPr>
      </p:pic>
      <p:sp>
        <p:nvSpPr>
          <p:cNvPr id="6" name="layout-ending-kicker Layout"/>
          <p:cNvSpPr txBox="1"/>
          <p:nvPr/>
        </p:nvSpPr>
        <p:spPr>
          <a:xfrm>
            <a:off x="4822500" y="2404110"/>
            <a:ext cx="2718450" cy="2346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120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layout-ending-red-rule Layout"/>
          <p:cNvSpPr/>
          <p:nvPr/>
        </p:nvSpPr>
        <p:spPr>
          <a:xfrm>
            <a:off x="5419725" y="3524250"/>
            <a:ext cx="1524000" cy="5715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sp>
        <p:nvSpPr>
          <p:cNvPr id="8" name="ending-title-slot Placeholder"/>
          <p:cNvSpPr>
            <a:spLocks noGrp="1"/>
          </p:cNvSpPr>
          <p:nvPr>
            <p:ph type="title" hasCustomPrompt="1"/>
          </p:nvPr>
        </p:nvSpPr>
        <p:spPr>
          <a:xfrm>
            <a:off x="1895475" y="2667000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050"/>
            </a:lvl1pPr>
          </a:lstStyle>
          <a:p>
            <a:pPr algn="ctr"/>
            <a:r>
              <a:rPr lang="en-US" sz="40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eekly_five_minute_research_upda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 wrap="square"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 wrap="square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wrap="square"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-identity-rail Master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 wrap="square"/>
          <a:p/>
        </p:txBody>
      </p:sp>
      <p:pic>
        <p:nvPicPr>
          <p:cNvPr id="3" name="master-logo Maste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master-footer-band Master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wrap="square"/>
          <a:p/>
        </p:txBody>
      </p:sp>
      <p:sp>
        <p:nvSpPr>
          <p:cNvPr id="5" name="master-footer-label Master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6.pn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DA1744">
                  <a:alpha val="75000"/>
                  <a:lumMod val="85000"/>
                </a:srgbClr>
              </a:gs>
              <a:gs pos="10000">
                <a:schemeClr val="bg1">
                  <a:alpha val="0"/>
                </a:schemeClr>
              </a:gs>
              <a:gs pos="75000">
                <a:srgbClr val="84A1C8">
                  <a:alpha val="75000"/>
                </a:srgbClr>
              </a:gs>
              <a:gs pos="50000">
                <a:schemeClr val="bg1">
                  <a:alpha val="0"/>
                </a:schemeClr>
              </a:gs>
              <a:gs pos="100000">
                <a:srgbClr val="084391"/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557784"/>
            <a:ext cx="64008" cy="438912"/>
          </a:xfrm>
          <a:prstGeom prst="rect">
            <a:avLst/>
          </a:prstGeom>
          <a:solidFill>
            <a:srgbClr val="DA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77088"/>
            <a:ext cx="50749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72262"/>
                </a:solidFill>
                <a:latin typeface="Arial" panose="020B0604020202020204"/>
              </a:rPr>
              <a:t>EE6008</a:t>
            </a:r>
            <a:endParaRPr sz="1400" b="1">
              <a:solidFill>
                <a:srgbClr val="17226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841248"/>
            <a:ext cx="301752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Arial" panose="020B0604020202020204"/>
              </a:rPr>
              <a:t>WEEKLY PRESENTATION</a:t>
            </a:r>
            <a:endParaRPr sz="950" b="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617220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91D2C"/>
                </a:solidFill>
                <a:latin typeface="Arial" panose="020B0604020202020204"/>
              </a:rPr>
              <a:t>Human Pose Analytics</a:t>
            </a:r>
            <a:endParaRPr sz="2800" b="1">
              <a:solidFill>
                <a:srgbClr val="191D2C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91D2C"/>
                </a:solidFill>
                <a:latin typeface="Arial" panose="020B0604020202020204"/>
              </a:rPr>
              <a:t>Using Artificial Intelligence</a:t>
            </a:r>
            <a:endParaRPr sz="2800" b="1">
              <a:solidFill>
                <a:srgbClr val="191D2C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3319272"/>
            <a:ext cx="585216" cy="50292"/>
          </a:xfrm>
          <a:prstGeom prst="rect">
            <a:avLst/>
          </a:prstGeom>
          <a:solidFill>
            <a:srgbClr val="DA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29584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bg1"/>
                </a:solidFill>
                <a:latin typeface="Arial" panose="020B0604020202020204"/>
              </a:rPr>
              <a:t>Instance-Preserving Pose Representation</a:t>
            </a:r>
            <a:endParaRPr sz="1600" b="1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4727448"/>
            <a:ext cx="1170432" cy="448056"/>
          </a:xfrm>
          <a:prstGeom prst="rect">
            <a:avLst/>
          </a:prstGeom>
          <a:solidFill>
            <a:srgbClr val="172262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27448"/>
            <a:ext cx="1170432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 panose="020B0604020202020204"/>
              </a:rPr>
              <a:t>WEEK 3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01952" y="4727448"/>
            <a:ext cx="2423160" cy="448056"/>
          </a:xfrm>
          <a:prstGeom prst="rect">
            <a:avLst/>
          </a:prstGeom>
          <a:solidFill>
            <a:srgbClr val="ECEEF3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1952" y="4843844"/>
            <a:ext cx="2423160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5F6575"/>
                </a:solidFill>
                <a:latin typeface="Arial" panose="020B0604020202020204"/>
              </a:rPr>
              <a:t>Group 14</a:t>
            </a:r>
            <a:endParaRPr sz="1400" b="1">
              <a:solidFill>
                <a:srgbClr val="5F657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971032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F6575"/>
                </a:solidFill>
                <a:latin typeface="Arial" panose="020B0604020202020204"/>
              </a:rPr>
              <a:t>Week ending · 2026-09-01</a:t>
            </a:r>
            <a:endParaRPr sz="800" b="0">
              <a:solidFill>
                <a:srgbClr val="5F6575"/>
              </a:solidFill>
              <a:latin typeface="Arial" panose="020B0604020202020204"/>
            </a:endParaRPr>
          </a:p>
        </p:txBody>
      </p:sp>
      <p:pic>
        <p:nvPicPr>
          <p:cNvPr id="17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075" y="570230"/>
            <a:ext cx="1311910" cy="472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napshot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Weekly Snapshot &amp; Milestone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snapshot-key-message-slot Placeholder Carrier"/>
          <p:cNvSpPr txBox="1"/>
          <p:nvPr>
            <p:ph type="body" idx="1"/>
          </p:nvPr>
        </p:nvSpPr>
        <p:spPr>
          <a:xfrm>
            <a:off x="781050" y="1847850"/>
            <a:ext cx="69913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Message</a:t>
            </a:r>
            <a:endParaRPr lang="en-US" sz="180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 the one result or decision the supervisor should remember.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snapshot-status-slot Placeholder Carrier"/>
          <p:cNvSpPr txBox="1"/>
          <p:nvPr>
            <p:ph idx="2"/>
          </p:nvPr>
        </p:nvSpPr>
        <p:spPr>
          <a:xfrm>
            <a:off x="8610600" y="1809750"/>
            <a:ext cx="27051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ts val="2025"/>
              </a:lnSpc>
            </a:pPr>
            <a:r>
              <a:rPr lang="en-US" sz="18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Status</a:t>
            </a:r>
            <a:endParaRPr lang="en-US" sz="18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ts val="2025"/>
              </a:lnSpc>
            </a:pPr>
            <a:r>
              <a:rPr lang="en-US" sz="98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 TRACK · AT RISK · BLOCKED</a:t>
            </a:r>
            <a:endParaRPr lang="en-US" sz="98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snapshot-milestone-slot Placeholder Carrier"/>
          <p:cNvSpPr txBox="1"/>
          <p:nvPr>
            <p:ph type="body" idx="3"/>
          </p:nvPr>
        </p:nvSpPr>
        <p:spPr>
          <a:xfrm>
            <a:off x="800100" y="3638550"/>
            <a:ext cx="1053465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Milestone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Evidence completed: … | Current blocker: … | Next checkpoint: …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snapshot-source-slot Placeholder Carrier"/>
          <p:cNvSpPr txBox="1"/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snapshot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chnical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Technical Progress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chnical-progress-slot Placeholder Carrier"/>
          <p:cNvSpPr txBox="1"/>
          <p:nvPr>
            <p:ph type="body" idx="1"/>
          </p:nvPr>
        </p:nvSpPr>
        <p:spPr>
          <a:xfrm>
            <a:off x="762000" y="2000250"/>
            <a:ext cx="2647950" cy="371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Technical Progress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1875"/>
              </a:lnSpc>
              <a:spcBef>
                <a:spcPts val="525"/>
              </a:spcBef>
              <a:buNone/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Completed · In progress · Blocked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Include the concrete output, not only the activity.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chnical-object-slot Placeholder Carrier"/>
          <p:cNvSpPr txBox="1"/>
          <p:nvPr>
            <p:ph idx="2"/>
          </p:nvPr>
        </p:nvSpPr>
        <p:spPr>
          <a:xfrm>
            <a:off x="4171950" y="2000250"/>
            <a:ext cx="4229100" cy="371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Content Area</a:t>
            </a:r>
            <a:endParaRPr lang="en-US" sz="14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Recommended: module diagram, interface contract,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 pipeline, code evidence, or data-flow change.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chnical-finding-slot Placeholder Carrier"/>
          <p:cNvSpPr txBox="1"/>
          <p:nvPr>
            <p:ph type="body" idx="3"/>
          </p:nvPr>
        </p:nvSpPr>
        <p:spPr>
          <a:xfrm>
            <a:off x="9163050" y="2019300"/>
            <a:ext cx="2209800" cy="3467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Finding</a:t>
            </a:r>
            <a:endParaRPr lang="en-US" sz="15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165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it matters:</a:t>
            </a:r>
            <a:endParaRPr lang="en-US" sz="105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1650"/>
              </a:lnSpc>
              <a:spcBef>
                <a:spcPts val="150"/>
              </a:spcBef>
              <a:buNone/>
            </a:pP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changed in the design,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evidence, or next decision?</a:t>
            </a:r>
            <a:endParaRPr lang="en-US" sz="112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chnical-source-slot Placeholder Carrier"/>
          <p:cNvSpPr txBox="1"/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chnical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vidence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Experimental Evidence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evidence-message-slot Placeholder Carrier"/>
          <p:cNvSpPr txBox="1"/>
          <p:nvPr>
            <p:ph type="body" idx="1"/>
          </p:nvPr>
        </p:nvSpPr>
        <p:spPr>
          <a:xfrm>
            <a:off x="742950" y="1562100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Message</a:t>
            </a:r>
            <a:endParaRPr lang="en-US" sz="15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evidence-object-slot Placeholder Carrier"/>
          <p:cNvSpPr txBox="1"/>
          <p:nvPr>
            <p:ph idx="2"/>
          </p:nvPr>
        </p:nvSpPr>
        <p:spPr>
          <a:xfrm>
            <a:off x="762000" y="2724150"/>
            <a:ext cx="6972300" cy="302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1725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Content Area</a:t>
            </a:r>
            <a:endParaRPr lang="en-US" sz="14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72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 one chart, table, confusion matrix, or controlled comparison.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Label the baseline, evaluation split, metric, and uncertainty.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evidence-findings-slot Placeholder Carrier"/>
          <p:cNvSpPr txBox="1"/>
          <p:nvPr>
            <p:ph type="body" idx="3"/>
          </p:nvPr>
        </p:nvSpPr>
        <p:spPr>
          <a:xfrm>
            <a:off x="8477250" y="2886075"/>
            <a:ext cx="2895600" cy="2867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Findings</a:t>
            </a:r>
            <a:endParaRPr lang="en-US" sz="150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1950"/>
              </a:lnSpc>
              <a:spcBef>
                <a:spcPts val="600"/>
              </a:spcBef>
              <a:buNone/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· What changed versus baseline?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· Which class or case still fails?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· What experiment comes next?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evidence-source-slot Placeholder Carrier"/>
          <p:cNvSpPr txBox="1"/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evidence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sk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Risks &amp; Decisions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isk-main-slot Placeholder Carrier"/>
          <p:cNvSpPr txBox="1"/>
          <p:nvPr>
            <p:ph type="body" idx="1"/>
          </p:nvPr>
        </p:nvSpPr>
        <p:spPr>
          <a:xfrm>
            <a:off x="800100" y="1924050"/>
            <a:ext cx="4714875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Risks</a:t>
            </a:r>
            <a:endParaRPr lang="en-US" sz="15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2325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Describe the failure mode, trigger, and evidence.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isk-impact-slot Placeholder Carrier"/>
          <p:cNvSpPr txBox="1"/>
          <p:nvPr>
            <p:ph type="body" idx="2"/>
          </p:nvPr>
        </p:nvSpPr>
        <p:spPr>
          <a:xfrm>
            <a:off x="6334125" y="1924050"/>
            <a:ext cx="5000625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Impact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2325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Quantify delay, compute cost, metric risk, or lost scope.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isk-mitigation-slot Placeholder Carrier"/>
          <p:cNvSpPr txBox="1"/>
          <p:nvPr>
            <p:ph type="body" idx="3"/>
          </p:nvPr>
        </p:nvSpPr>
        <p:spPr>
          <a:xfrm>
            <a:off x="800100" y="4210050"/>
            <a:ext cx="4714875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80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Mitigation</a:t>
            </a:r>
            <a:endParaRPr lang="en-US" sz="1580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2325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Owner: … | Check date: … | Fallback: …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isk-decision-slot Placeholder Carrier"/>
          <p:cNvSpPr txBox="1"/>
          <p:nvPr>
            <p:ph type="body" idx="4"/>
          </p:nvPr>
        </p:nvSpPr>
        <p:spPr>
          <a:xfrm>
            <a:off x="6334125" y="4210050"/>
            <a:ext cx="5000625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Decision Needed</a:t>
            </a:r>
            <a:endParaRPr lang="en-US" sz="15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2325"/>
              </a:lnSpc>
              <a:buNone/>
            </a:pP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 the choice, approver, and latest useful date.</a:t>
            </a:r>
            <a:endParaRPr lang="en-US" sz="105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isk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next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Next-Week Commitments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next-action-1-slot Placeholder Carrier"/>
          <p:cNvSpPr txBox="1"/>
          <p:nvPr>
            <p:ph type="body" idx="1"/>
          </p:nvPr>
        </p:nvSpPr>
        <p:spPr>
          <a:xfrm>
            <a:off x="1752600" y="2057400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8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Next Action 1</a:t>
            </a:r>
            <a:endParaRPr lang="en-US" sz="158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1875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 code, dataset, or runnable module.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next-action-2-slot Placeholder Carrier"/>
          <p:cNvSpPr txBox="1"/>
          <p:nvPr>
            <p:ph type="body" idx="2"/>
          </p:nvPr>
        </p:nvSpPr>
        <p:spPr>
          <a:xfrm>
            <a:off x="1752600" y="3600450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8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Next Action 2</a:t>
            </a:r>
            <a:endParaRPr lang="en-US" sz="158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1875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 metric table, control, or ablation result.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next-action-3-slot Placeholder Carrier"/>
          <p:cNvSpPr txBox="1"/>
          <p:nvPr>
            <p:ph type="body" idx="3"/>
          </p:nvPr>
        </p:nvSpPr>
        <p:spPr>
          <a:xfrm>
            <a:off x="1752600" y="5133975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8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Next Action 3</a:t>
            </a:r>
            <a:endParaRPr lang="en-US" sz="158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1875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 updated figure, notes, or report section.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next-owner-slot Placeholder Carrier"/>
          <p:cNvSpPr txBox="1"/>
          <p:nvPr>
            <p:ph type="body" idx="4"/>
          </p:nvPr>
        </p:nvSpPr>
        <p:spPr>
          <a:xfrm>
            <a:off x="8705850" y="2228850"/>
            <a:ext cx="26289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Owner And Deadline</a:t>
            </a:r>
            <a:endParaRPr lang="en-US" sz="15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2025"/>
              </a:lnSpc>
              <a:spcBef>
                <a:spcPts val="825"/>
              </a:spcBef>
              <a:buNone/>
            </a:pP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Owner: …</a:t>
            </a:r>
            <a:b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Due: …</a:t>
            </a:r>
            <a:b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Success check: observable output</a:t>
            </a:r>
            <a:b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 agreed metric threshold.</a:t>
            </a:r>
            <a:endParaRPr lang="en-US" sz="105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next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pen-canvas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 Canvas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open-canvas-source-slot Placeholder Carrier"/>
          <p:cNvSpPr txBox="1"/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open-canvas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ingle-image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Single-Image Story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3" name="single-image-picture-slot Placeholder Carrier"/>
          <p:cNvPicPr>
            <a:picLocks noChangeAspect="1"/>
          </p:cNvPicPr>
          <p:nvPr>
            <p:ph type="pic" idx="1"/>
          </p:nvPr>
        </p:nvPicPr>
        <p:blipFill>
          <a:blip r:embed="rId1"/>
          <a:srcRect l="4974" r="4973"/>
          <a:stretch>
            <a:fillRect/>
          </a:stretch>
        </p:blipFill>
        <p:spPr>
          <a:xfrm>
            <a:off x="552450" y="1343025"/>
            <a:ext cx="7734300" cy="4695825"/>
          </a:xfrm>
          <a:prstGeom prst="rect">
            <a:avLst/>
          </a:prstGeom>
        </p:spPr>
      </p:pic>
      <p:sp>
        <p:nvSpPr>
          <p:cNvPr id="14" name="single-image-description-slot Placeholder Carrier"/>
          <p:cNvSpPr txBox="1"/>
          <p:nvPr>
            <p:ph type="body" idx="2"/>
          </p:nvPr>
        </p:nvSpPr>
        <p:spPr>
          <a:xfrm>
            <a:off x="8820150" y="1981200"/>
            <a:ext cx="2552700" cy="3600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Image Description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1650"/>
              </a:lnSpc>
              <a:spcBef>
                <a:spcPts val="900"/>
              </a:spcBef>
              <a:buNone/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does the image show?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1650"/>
              </a:lnSpc>
              <a:spcBef>
                <a:spcPts val="375"/>
              </a:spcBef>
              <a:buNone/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is it relevant this week?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1650"/>
              </a:lnSpc>
              <a:spcBef>
                <a:spcPts val="375"/>
              </a:spcBef>
              <a:buNone/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should the audience notice?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1650"/>
              </a:lnSpc>
              <a:spcBef>
                <a:spcPts val="1050"/>
              </a:spcBef>
              <a:buNone/>
            </a:pPr>
            <a:r>
              <a:rPr lang="en-US" sz="105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TIP</a:t>
            </a:r>
            <a:endParaRPr lang="en-US" sz="105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indent="0" algn="l">
              <a:lnSpc>
                <a:spcPts val="1650"/>
              </a:lnSpc>
              <a:spcBef>
                <a:spcPts val="225"/>
              </a:spcBef>
              <a:buNone/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one annotated result, system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overview, qualitative example,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 implementation photograph.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single-image-source-slot Placeholder Carrier"/>
          <p:cNvSpPr txBox="1"/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single-image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ulti-image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Multi-Image Story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8" name="multi-image-picture-1-slot Placeholder Carrier"/>
          <p:cNvPicPr>
            <a:picLocks noChangeAspect="1"/>
          </p:cNvPicPr>
          <p:nvPr>
            <p:ph type="pic" idx="1"/>
          </p:nvPr>
        </p:nvPicPr>
        <p:blipFill>
          <a:blip r:embed="rId1"/>
          <a:srcRect t="19517" b="19517"/>
          <a:stretch>
            <a:fillRect/>
          </a:stretch>
        </p:blipFill>
        <p:spPr>
          <a:xfrm>
            <a:off x="552450" y="1343025"/>
            <a:ext cx="5314950" cy="1771650"/>
          </a:xfrm>
          <a:prstGeom prst="rect">
            <a:avLst/>
          </a:prstGeom>
        </p:spPr>
      </p:pic>
      <p:pic>
        <p:nvPicPr>
          <p:cNvPr id="19" name="multi-image-picture-2-slot Placeholder Carrier"/>
          <p:cNvPicPr>
            <a:picLocks noChangeAspect="1"/>
          </p:cNvPicPr>
          <p:nvPr>
            <p:ph type="pic" idx="2"/>
          </p:nvPr>
        </p:nvPicPr>
        <p:blipFill>
          <a:blip r:embed="rId2"/>
          <a:srcRect t="14228" b="14227"/>
          <a:stretch>
            <a:fillRect/>
          </a:stretch>
        </p:blipFill>
        <p:spPr>
          <a:xfrm>
            <a:off x="6267450" y="1343025"/>
            <a:ext cx="5314950" cy="1771650"/>
          </a:xfrm>
          <a:prstGeom prst="rect">
            <a:avLst/>
          </a:prstGeom>
        </p:spPr>
      </p:pic>
      <p:pic>
        <p:nvPicPr>
          <p:cNvPr id="20" name="multi-image-picture-3-slot Placeholder Carrier"/>
          <p:cNvPicPr>
            <a:picLocks noChangeAspect="1"/>
          </p:cNvPicPr>
          <p:nvPr>
            <p:ph type="pic" idx="3"/>
          </p:nvPr>
        </p:nvPicPr>
        <p:blipFill>
          <a:blip r:embed="rId3"/>
          <a:srcRect t="25000" b="25000"/>
          <a:stretch>
            <a:fillRect/>
          </a:stretch>
        </p:blipFill>
        <p:spPr>
          <a:xfrm>
            <a:off x="552450" y="3724275"/>
            <a:ext cx="5314950" cy="1771650"/>
          </a:xfrm>
          <a:prstGeom prst="rect">
            <a:avLst/>
          </a:prstGeom>
        </p:spPr>
      </p:pic>
      <p:pic>
        <p:nvPicPr>
          <p:cNvPr id="21" name="multi-image-picture-4-slot Placeholder Carrier"/>
          <p:cNvPicPr>
            <a:picLocks noChangeAspect="1"/>
          </p:cNvPicPr>
          <p:nvPr>
            <p:ph type="pic" idx="4"/>
          </p:nvPr>
        </p:nvPicPr>
        <p:blipFill>
          <a:blip r:embed="rId4"/>
          <a:srcRect t="28986" b="28987"/>
          <a:stretch>
            <a:fillRect/>
          </a:stretch>
        </p:blipFill>
        <p:spPr>
          <a:xfrm>
            <a:off x="6267450" y="3724275"/>
            <a:ext cx="5314950" cy="1771650"/>
          </a:xfrm>
          <a:prstGeom prst="rect">
            <a:avLst/>
          </a:prstGeom>
        </p:spPr>
      </p:pic>
      <p:sp>
        <p:nvSpPr>
          <p:cNvPr id="22" name="multi-image-caption-1-slot Placeholder Carrier"/>
          <p:cNvSpPr txBox="1"/>
          <p:nvPr>
            <p:ph idx="5"/>
          </p:nvPr>
        </p:nvSpPr>
        <p:spPr>
          <a:xfrm>
            <a:off x="685800" y="320040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Caption 1</a:t>
            </a:r>
            <a:endParaRPr lang="en-US" sz="11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multi-image-caption-2-slot Placeholder Carrier"/>
          <p:cNvSpPr txBox="1"/>
          <p:nvPr>
            <p:ph idx="6"/>
          </p:nvPr>
        </p:nvSpPr>
        <p:spPr>
          <a:xfrm>
            <a:off x="6400800" y="320040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Caption 2</a:t>
            </a:r>
            <a:endParaRPr lang="en-US" sz="11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multi-image-caption-3-slot Placeholder Carrier"/>
          <p:cNvSpPr txBox="1"/>
          <p:nvPr>
            <p:ph idx="7"/>
          </p:nvPr>
        </p:nvSpPr>
        <p:spPr>
          <a:xfrm>
            <a:off x="685800" y="558165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Caption 3</a:t>
            </a:r>
            <a:endParaRPr lang="en-US" sz="11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multi-image-caption-4-slot Placeholder Carrier"/>
          <p:cNvSpPr txBox="1"/>
          <p:nvPr>
            <p:ph idx="8"/>
          </p:nvPr>
        </p:nvSpPr>
        <p:spPr>
          <a:xfrm>
            <a:off x="6400800" y="558165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Caption 4</a:t>
            </a:r>
            <a:endParaRPr lang="en-US" sz="11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multi-image-source-slot Placeholder Carrier"/>
          <p:cNvSpPr txBox="1"/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multi-image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nding-title-slot Placeholder Carrier"/>
          <p:cNvSpPr txBox="1"/>
          <p:nvPr>
            <p:ph type="title"/>
          </p:nvPr>
        </p:nvSpPr>
        <p:spPr>
          <a:xfrm>
            <a:off x="1895475" y="2667000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40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Thank You</a:t>
            </a:r>
            <a:endParaRPr lang="en-US" sz="405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1838</Words>
  <Application>WPS 演示</Application>
  <PresentationFormat>On-screen Show (16:9)</PresentationFormat>
  <Paragraphs>127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Weekly Snapshot &amp; Milestone</vt:lpstr>
      <vt:lpstr>Technical Progress</vt:lpstr>
      <vt:lpstr>Experimental Evidence</vt:lpstr>
      <vt:lpstr>Risks &amp; Decisions</vt:lpstr>
      <vt:lpstr>Next-Week Commitments</vt:lpstr>
      <vt:lpstr>Open Canvas</vt:lpstr>
      <vt:lpstr>Single-Image Story</vt:lpstr>
      <vt:lpstr>Multi-Image Story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梁含璋</cp:lastModifiedBy>
  <cp:revision>3</cp:revision>
  <dcterms:created xsi:type="dcterms:W3CDTF">2026-08-30T08:07:00Z</dcterms:created>
  <dcterms:modified xsi:type="dcterms:W3CDTF">2026-09-01T19:38:06Z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83BD2D3D54A2435C98CD861D7AC1A685_12</vt:lpwstr>
  </property>
  <property fmtid="{D5CDD505-2E9C-101B-9397-08002B2CF9AE}" pid="3" name="KSOProductBuildVer">
    <vt:lpwstr>2052-12.1.0.28505</vt:lpwstr>
  </property>
</Properties>
</file>