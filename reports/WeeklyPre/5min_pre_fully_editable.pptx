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 type="screen4x3"/>
  <p:notesSz cx="6858000" cy="9144000"/>
  <p:custDataLst>
    <p:tags r:id="rId16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96" userDrawn="1">
          <p15:clr>
            <a:srgbClr val="A4A3A4"/>
          </p15:clr>
        </p15:guide>
        <p15:guide id="2" pos="287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96"/>
        <p:guide pos="287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gs" Target="tags/tag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weekly_five_minute_research_update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5.jpeg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jpeg"/><Relationship Id="rId3" Type="http://schemas.openxmlformats.org/officeDocument/2006/relationships/image" Target="../media/image2.jpeg"/><Relationship Id="rId2" Type="http://schemas.openxmlformats.org/officeDocument/2006/relationships/image" Target="../media/image5.jpeg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5.jpe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52450" y="1200150"/>
            <a:ext cx="114300" cy="390525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7" name="Image 7"/>
          <p:cNvPicPr>
            <a:picLocks noChangeAspect="1"/>
          </p:cNvPicPr>
          <p:nvPr/>
        </p:nvPicPr>
        <p:blipFill>
          <a:blip r:embed="rId2">
            <a:alphaModFix amt="56000"/>
          </a:blip>
          <a:stretch>
            <a:fillRect/>
          </a:stretch>
        </p:blipFill>
        <p:spPr>
          <a:xfrm>
            <a:off x="3762375" y="1200150"/>
            <a:ext cx="8382000" cy="3905250"/>
          </a:xfrm>
          <a:prstGeom prst="rect">
            <a:avLst/>
          </a:prstGeom>
        </p:spPr>
      </p:pic>
      <p:sp>
        <p:nvSpPr>
          <p:cNvPr id="8" name="Freeform 8"/>
          <p:cNvSpPr/>
          <p:nvPr/>
        </p:nvSpPr>
        <p:spPr>
          <a:xfrm>
            <a:off x="3714750" y="1200150"/>
            <a:ext cx="1714500" cy="3905250"/>
          </a:xfrm>
          <a:custGeom>
            <a:avLst/>
            <a:gdLst/>
            <a:ahLst/>
            <a:cxnLst/>
            <a:rect l="l" t="t" r="r" b="b"/>
            <a:pathLst>
              <a:path w="1714500" h="3905250">
                <a:moveTo>
                  <a:pt x="0" y="0"/>
                </a:moveTo>
                <a:lnTo>
                  <a:pt x="1714500" y="0"/>
                </a:lnTo>
                <a:lnTo>
                  <a:pt x="1047750" y="3905250"/>
                </a:lnTo>
                <a:lnTo>
                  <a:pt x="0" y="3905250"/>
                </a:lnTo>
                <a:close/>
              </a:path>
            </a:pathLst>
          </a:cu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9" name="Freeform 9"/>
          <p:cNvSpPr/>
          <p:nvPr/>
        </p:nvSpPr>
        <p:spPr>
          <a:xfrm>
            <a:off x="4476750" y="1200150"/>
            <a:ext cx="809625" cy="3905250"/>
          </a:xfrm>
          <a:custGeom>
            <a:avLst/>
            <a:gdLst/>
            <a:ahLst/>
            <a:cxnLst/>
            <a:rect l="l" t="t" r="r" b="b"/>
            <a:pathLst>
              <a:path w="809625" h="3905250">
                <a:moveTo>
                  <a:pt x="809625" y="0"/>
                </a:moveTo>
                <a:lnTo>
                  <a:pt x="0" y="3905250"/>
                </a:lnTo>
              </a:path>
            </a:pathLst>
          </a:custGeom>
          <a:noFill/>
          <a:ln w="28575">
            <a:solidFill>
              <a:srgbClr val="D71440">
                <a:alpha val="62000"/>
              </a:srgbClr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898398" y="1603058"/>
            <a:ext cx="4616457" cy="61607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150" b="1" dirty="0">
                <a:solidFill>
                  <a:srgbClr val="181C6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Human Pose Analytics</a:t>
            </a:r>
            <a:endParaRPr lang="en-US" sz="3150" b="1" dirty="0">
              <a:solidFill>
                <a:srgbClr val="181C6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905637" y="3166586"/>
            <a:ext cx="4508738" cy="33737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720" dirty="0">
                <a:solidFill>
                  <a:srgbClr val="2024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Weekly research update · {{SUBTITLE}}</a:t>
            </a:r>
            <a:endParaRPr lang="en-US" sz="1720" dirty="0">
              <a:solidFill>
                <a:srgbClr val="2024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907542" y="4311968"/>
            <a:ext cx="221361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b="1" dirty="0">
                <a:solidFill>
                  <a:srgbClr val="D7144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Week ending · {{DATE}}</a:t>
            </a:r>
            <a:endParaRPr lang="en-US" sz="1350" b="1" dirty="0">
              <a:solidFill>
                <a:srgbClr val="D7144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907542" y="4835842"/>
            <a:ext cx="221486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Presenter · {{AUTHOR}}</a:t>
            </a:r>
            <a:endParaRPr lang="en-US" sz="1350" dirty="0">
              <a:solidFill>
                <a:srgbClr val="5E647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428750"/>
            <a:ext cx="7524750" cy="1381125"/>
          </a:xfrm>
          <a:prstGeom prst="roundRect">
            <a:avLst>
              <a:gd name="adj" fmla="val 8276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8305800" y="1428750"/>
            <a:ext cx="3314700" cy="1381125"/>
          </a:xfrm>
          <a:prstGeom prst="roundRect">
            <a:avLst>
              <a:gd name="adj" fmla="val 8276"/>
            </a:avLst>
          </a:prstGeom>
          <a:solidFill>
            <a:srgbClr val="181C62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514350" y="3105150"/>
            <a:ext cx="11106150" cy="289560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9050">
            <a:solidFill>
              <a:srgbClr val="E6E6E6"/>
            </a:solidFill>
          </a:ln>
        </p:spPr>
      </p:sp>
      <p:sp>
        <p:nvSpPr>
          <p:cNvPr id="10" name="Line 10"/>
          <p:cNvSpPr/>
          <p:nvPr/>
        </p:nvSpPr>
        <p:spPr>
          <a:xfrm>
            <a:off x="1181100" y="5143500"/>
            <a:ext cx="9772650" cy="9525"/>
          </a:xfrm>
          <a:custGeom>
            <a:avLst/>
            <a:gdLst/>
            <a:ahLst/>
            <a:cxnLst/>
            <a:rect l="l" t="t" r="r" b="b"/>
            <a:pathLst>
              <a:path w="9772650" h="9525">
                <a:moveTo>
                  <a:pt x="0" y="0"/>
                </a:moveTo>
                <a:lnTo>
                  <a:pt x="9772650" y="0"/>
                </a:lnTo>
              </a:path>
            </a:pathLst>
          </a:custGeom>
          <a:noFill/>
          <a:ln w="38100">
            <a:solidFill>
              <a:srgbClr val="C8C8C8"/>
            </a:solidFill>
          </a:ln>
        </p:spPr>
      </p:sp>
      <p:sp>
        <p:nvSpPr>
          <p:cNvPr id="11" name="Ellipse 11"/>
          <p:cNvSpPr/>
          <p:nvPr/>
        </p:nvSpPr>
        <p:spPr>
          <a:xfrm>
            <a:off x="1076325" y="5038725"/>
            <a:ext cx="209550" cy="209550"/>
          </a:xfrm>
          <a:prstGeom prst="ellipse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12" name="Ellipse 12"/>
          <p:cNvSpPr/>
          <p:nvPr/>
        </p:nvSpPr>
        <p:spPr>
          <a:xfrm>
            <a:off x="3028950" y="5038725"/>
            <a:ext cx="209550" cy="209550"/>
          </a:xfrm>
          <a:prstGeom prst="ellipse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13" name="Ellipse 13"/>
          <p:cNvSpPr/>
          <p:nvPr/>
        </p:nvSpPr>
        <p:spPr>
          <a:xfrm>
            <a:off x="4953000" y="5010150"/>
            <a:ext cx="266700" cy="266700"/>
          </a:xfrm>
          <a:prstGeom prst="ellipse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4" name="Ellipse 14"/>
          <p:cNvSpPr/>
          <p:nvPr/>
        </p:nvSpPr>
        <p:spPr>
          <a:xfrm>
            <a:off x="6934200" y="5038725"/>
            <a:ext cx="209550" cy="209550"/>
          </a:xfrm>
          <a:prstGeom prst="ellipse">
            <a:avLst/>
          </a:prstGeom>
          <a:solidFill>
            <a:srgbClr val="E6E6E6"/>
          </a:solidFill>
          <a:ln>
            <a:noFill/>
          </a:ln>
        </p:spPr>
      </p:sp>
      <p:sp>
        <p:nvSpPr>
          <p:cNvPr id="15" name="Ellipse 15"/>
          <p:cNvSpPr/>
          <p:nvPr/>
        </p:nvSpPr>
        <p:spPr>
          <a:xfrm>
            <a:off x="8886825" y="5038725"/>
            <a:ext cx="209550" cy="209550"/>
          </a:xfrm>
          <a:prstGeom prst="ellipse">
            <a:avLst/>
          </a:prstGeom>
          <a:solidFill>
            <a:srgbClr val="E6E6E6"/>
          </a:solidFill>
          <a:ln>
            <a:noFill/>
          </a:ln>
        </p:spPr>
      </p:sp>
      <p:sp>
        <p:nvSpPr>
          <p:cNvPr id="16" name="Ellipse 16"/>
          <p:cNvSpPr/>
          <p:nvPr/>
        </p:nvSpPr>
        <p:spPr>
          <a:xfrm>
            <a:off x="10848975" y="5038725"/>
            <a:ext cx="209550" cy="209550"/>
          </a:xfrm>
          <a:prstGeom prst="ellipse">
            <a:avLst/>
          </a:prstGeom>
          <a:solidFill>
            <a:srgbClr val="E6E6E6"/>
          </a:solidFill>
          <a:ln>
            <a:noFill/>
          </a:ln>
        </p:spPr>
      </p:sp>
      <p:sp>
        <p:nvSpPr>
          <p:cNvPr id="17" name="TextBox 17"/>
          <p:cNvSpPr txBox="1"/>
          <p:nvPr/>
        </p:nvSpPr>
        <p:spPr>
          <a:xfrm>
            <a:off x="776097" y="1590199"/>
            <a:ext cx="1239372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D7144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WEEKLY TAKEAWAY</a:t>
            </a:r>
            <a:endParaRPr lang="en-US" sz="980" b="1" dirty="0">
              <a:solidFill>
                <a:srgbClr val="D7144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9398351" y="1590199"/>
            <a:ext cx="1129598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80" b="1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PROJECT STATUS</a:t>
            </a:r>
            <a:endParaRPr lang="en-US" sz="980" b="1" dirty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794766" y="3296602"/>
            <a:ext cx="453491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181C6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CURRENT MILESTONE · EVIDENCE · BLOCKER · NEXT CHECKPOINT</a:t>
            </a:r>
            <a:endParaRPr lang="en-US" sz="1050" b="1" dirty="0">
              <a:solidFill>
                <a:srgbClr val="181C6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922902" y="5408295"/>
            <a:ext cx="51639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Kick-off</a:t>
            </a:r>
            <a:endParaRPr lang="en-US" sz="900" dirty="0">
              <a:solidFill>
                <a:srgbClr val="5E647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2993803" y="5408295"/>
            <a:ext cx="27984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Data</a:t>
            </a:r>
            <a:endParaRPr lang="en-US" sz="900" dirty="0">
              <a:solidFill>
                <a:srgbClr val="5E647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4796752" y="5408295"/>
            <a:ext cx="57919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b="1" dirty="0">
                <a:solidFill>
                  <a:srgbClr val="D7144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Baselines</a:t>
            </a:r>
            <a:endParaRPr lang="en-US" sz="900" b="1" dirty="0">
              <a:solidFill>
                <a:srgbClr val="D7144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6762007" y="5408295"/>
            <a:ext cx="55393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IP Module</a:t>
            </a:r>
            <a:endParaRPr lang="en-US" sz="900" dirty="0">
              <a:solidFill>
                <a:srgbClr val="5E647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8621493" y="5408295"/>
            <a:ext cx="74021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Experiments</a:t>
            </a:r>
            <a:endParaRPr lang="en-US" sz="900" dirty="0">
              <a:solidFill>
                <a:srgbClr val="5E647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10590953" y="5408295"/>
            <a:ext cx="72559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Final Report</a:t>
            </a:r>
            <a:endParaRPr lang="en-US" sz="900" dirty="0">
              <a:solidFill>
                <a:srgbClr val="5E647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501396" y="543878"/>
            <a:ext cx="5018619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Weekly Snapshot &amp; Milestone</a:t>
            </a:r>
            <a:endParaRPr lang="en-US" sz="2550" b="1" dirty="0">
              <a:solidFill>
                <a:srgbClr val="2024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771906" y="1939290"/>
            <a:ext cx="4298823" cy="6187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800" b="1" dirty="0">
                <a:solidFill>
                  <a:srgbClr val="181C6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{{KEY_MESSAGE}}</a:t>
            </a:r>
            <a:endParaRPr lang="en-US" sz="1800" b="1" dirty="0">
              <a:solidFill>
                <a:srgbClr val="181C6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lnSpc>
                <a:spcPts val="2100"/>
              </a:lnSpc>
            </a:pPr>
            <a:r>
              <a:rPr lang="en-US" sz="105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State the one result or decision the supervisor should remember.</a:t>
            </a:r>
            <a:endParaRPr lang="en-US" sz="1050" dirty="0">
              <a:solidFill>
                <a:srgbClr val="5E647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9079294" y="1893094"/>
            <a:ext cx="1767713" cy="62388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lnSpc>
                <a:spcPts val="2025"/>
              </a:lnSpc>
            </a:pPr>
            <a:r>
              <a:rPr lang="en-US" sz="1880" b="1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{{STATUS}}</a:t>
            </a:r>
            <a:endParaRPr lang="en-US" sz="1880" b="1" dirty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lnSpc>
                <a:spcPts val="2025"/>
              </a:lnSpc>
            </a:pPr>
            <a:r>
              <a:rPr lang="en-US" sz="980" dirty="0">
                <a:solidFill>
                  <a:srgbClr val="C8C8C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ON TRACK · AT RISK · BLOCKED</a:t>
            </a:r>
            <a:endParaRPr lang="en-US" sz="980" dirty="0">
              <a:solidFill>
                <a:srgbClr val="C8C8C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792099" y="3792379"/>
            <a:ext cx="4404106" cy="59378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580" dirty="0">
                <a:solidFill>
                  <a:srgbClr val="2024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{{MILESTONE}}</a:t>
            </a:r>
            <a:endParaRPr lang="en-US" sz="1580" dirty="0">
              <a:solidFill>
                <a:srgbClr val="2024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lnSpc>
                <a:spcPts val="2250"/>
              </a:lnSpc>
            </a:pPr>
            <a:r>
              <a:rPr lang="en-US" sz="112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Evidence completed: … | Current blocker: … | Next checkpoint: …</a:t>
            </a:r>
            <a:endParaRPr lang="en-US" sz="1120" dirty="0">
              <a:solidFill>
                <a:srgbClr val="5E647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0" name="TextBox 30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{{SOURCE}}</a:t>
            </a:r>
            <a:endParaRPr lang="en-US" sz="900" dirty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1" name="TextBox 31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{{PAGE_NUM}}</a:t>
            </a:r>
            <a:endParaRPr lang="en-US" sz="900" dirty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428750"/>
            <a:ext cx="3143250" cy="4648200"/>
          </a:xfrm>
          <a:prstGeom prst="roundRect">
            <a:avLst>
              <a:gd name="adj" fmla="val 3636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3905250" y="1428750"/>
            <a:ext cx="4762500" cy="4648200"/>
          </a:xfrm>
          <a:prstGeom prst="roundRect">
            <a:avLst>
              <a:gd name="adj" fmla="val 2459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8915400" y="1428750"/>
            <a:ext cx="2705100" cy="4648200"/>
          </a:xfrm>
          <a:prstGeom prst="roundRect">
            <a:avLst>
              <a:gd name="adj" fmla="val 4225"/>
            </a:avLst>
          </a:prstGeom>
          <a:solidFill>
            <a:srgbClr val="181C62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8915400" y="1428750"/>
            <a:ext cx="2705100" cy="1143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757047" y="1675924"/>
            <a:ext cx="690503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D7144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THIS WEEK</a:t>
            </a:r>
            <a:endParaRPr lang="en-US" sz="980" b="1" dirty="0">
              <a:solidFill>
                <a:srgbClr val="D7144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4166997" y="1675924"/>
            <a:ext cx="3639757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181C6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PIPELINE / ARCHITECTURE / IMPLEMENTATION EVIDENCE</a:t>
            </a:r>
            <a:endParaRPr lang="en-US" sz="980" b="1" dirty="0">
              <a:solidFill>
                <a:srgbClr val="181C6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9158097" y="1704499"/>
            <a:ext cx="1415010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TECHNICAL TAKEAWAY</a:t>
            </a:r>
            <a:endParaRPr lang="en-US" sz="980" b="1" dirty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501396" y="543878"/>
            <a:ext cx="4773930" cy="391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altLang="zh-CN" sz="2550" b="1" dirty="0">
                <a:solidFill>
                  <a:srgbClr val="2024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Scoping the Interaction Subset</a:t>
            </a:r>
            <a:endParaRPr lang="en-US" altLang="zh-CN" sz="2550" b="1" dirty="0">
              <a:solidFill>
                <a:srgbClr val="2024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753999" y="2154079"/>
            <a:ext cx="3356420" cy="8509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875"/>
              </a:lnSpc>
            </a:pPr>
            <a:r>
              <a:rPr lang="en-US" sz="1580" dirty="0">
                <a:solidFill>
                  <a:srgbClr val="2024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NTU RGB+D 120</a:t>
            </a:r>
            <a:br>
              <a:rPr lang="en-US" sz="1580" dirty="0">
                <a:solidFill>
                  <a:srgbClr val="2024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</a:br>
            <a:r>
              <a:rPr lang="en-US" sz="1580" dirty="0">
                <a:solidFill>
                  <a:srgbClr val="2024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dataset audit</a:t>
            </a:r>
            <a:endParaRPr lang="en-US" sz="1580" dirty="0">
              <a:solidFill>
                <a:srgbClr val="2024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lnSpc>
                <a:spcPts val="1875"/>
              </a:lnSpc>
              <a:spcBef>
                <a:spcPts val="525"/>
              </a:spcBef>
            </a:pPr>
            <a:r>
              <a:rPr lang="en-US" sz="105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Completed · format, splits, cleaning</a:t>
            </a:r>
            <a:br>
              <a:rPr lang="en-US" sz="105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Planned · parser that keeps bodyID</a:t>
            </a:r>
            <a:endParaRPr lang="en-US" sz="1050" dirty="0">
              <a:solidFill>
                <a:srgbClr val="5E647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4164711" y="2170271"/>
            <a:ext cx="3568256" cy="7740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650"/>
              </a:lnSpc>
            </a:pPr>
            <a:r>
              <a:rPr lang="en-US" sz="142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26 mutual classes · 24,732 clips</a:t>
            </a:r>
            <a:endParaRPr lang="en-US" sz="1420" dirty="0">
              <a:solidFill>
                <a:srgbClr val="5E647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lnSpc>
                <a:spcPts val="1650"/>
              </a:lnSpc>
              <a:spcBef>
                <a:spcPts val="600"/>
              </a:spcBef>
            </a:pPr>
            <a:r>
              <a:rPr lang="en-US" sz="105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A050–A060 + A106–A120; the official</a:t>
            </a:r>
            <a:br>
              <a:rPr lang="en-US" sz="105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535-entry list removes 96 of them</a:t>
            </a:r>
            <a:br>
              <a:rPr lang="en-US" sz="105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X-Sub 53/53 subjects · X-Set even/odd setups</a:t>
            </a:r>
            <a:br>
              <a:rPr lang="en-US" sz="105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Skeleton-only download: 10.3 GB of the 2.3 TB</a:t>
            </a:r>
            <a:endParaRPr lang="en-US" sz="1050" dirty="0">
              <a:solidFill>
                <a:srgbClr val="5E647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9155049" y="2173129"/>
            <a:ext cx="1943354" cy="10700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650"/>
              </a:lnSpc>
            </a:pPr>
            <a:r>
              <a:rPr lang="en-US" sz="1580" b="1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Identity is lost</a:t>
            </a:r>
            <a:br>
              <a:rPr lang="en-US" sz="1580" b="1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</a:br>
            <a:r>
              <a:rPr lang="en-US" sz="1580" b="1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in preprocessing</a:t>
            </a:r>
            <a:endParaRPr lang="en-US" sz="1580" b="1" dirty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lnSpc>
                <a:spcPts val="1650"/>
              </a:lnSpc>
              <a:spcBef>
                <a:spcPts val="900"/>
              </a:spcBef>
            </a:pPr>
            <a:r>
              <a:rPr lang="en-US" sz="1050" dirty="0">
                <a:solidFill>
                  <a:srgbClr val="C8C8C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Why it matters:</a:t>
            </a:r>
            <a:endParaRPr lang="en-US" sz="1050" dirty="0">
              <a:solidFill>
                <a:srgbClr val="C8C8C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lnSpc>
                <a:spcPts val="1650"/>
              </a:lnSpc>
              <a:spcBef>
                <a:spcPts val="150"/>
              </a:spcBef>
            </a:pPr>
            <a:r>
              <a:rPr lang="en-US" sz="1120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bodyID and trackingState are</a:t>
            </a:r>
            <a:br>
              <a:rPr lang="en-US" sz="1120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</a:br>
            <a:r>
              <a:rPr lang="en-US" sz="1120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dropped by CTR-GCN and pyskl.</a:t>
            </a:r>
            <a:br>
              <a:rPr lang="en-US" sz="1120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</a:br>
            <a:r>
              <a:rPr lang="en-US" sz="1120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Our plan: parse .skeleton</a:t>
            </a:r>
            <a:br>
              <a:rPr lang="en-US" sz="1120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</a:br>
            <a:r>
              <a:rPr lang="en-US" sz="1120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ourselves and keep both.</a:t>
            </a:r>
            <a:endParaRPr lang="en-US" sz="1120" dirty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{{SOURCE}}</a:t>
            </a:r>
            <a:endParaRPr lang="en-US" sz="900" dirty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{{PAGE_NUM}}</a:t>
            </a:r>
            <a:endParaRPr lang="en-US" sz="900" dirty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900" name="MissingPerClassChar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0000" y="3330000"/>
            <a:ext cx="4460000" cy="261930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304925"/>
            <a:ext cx="11106150" cy="704850"/>
          </a:xfrm>
          <a:prstGeom prst="roundRect">
            <a:avLst>
              <a:gd name="adj" fmla="val 13514"/>
            </a:avLst>
          </a:prstGeom>
          <a:solidFill>
            <a:srgbClr val="FCE9EE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514350" y="2238375"/>
            <a:ext cx="7467600" cy="3838575"/>
          </a:xfrm>
          <a:prstGeom prst="roundRect">
            <a:avLst>
              <a:gd name="adj" fmla="val 297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8229600" y="2238375"/>
            <a:ext cx="3390900" cy="3838575"/>
          </a:xfrm>
          <a:prstGeom prst="roundRect">
            <a:avLst>
              <a:gd name="adj" fmla="val 3371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8229600" y="2238375"/>
            <a:ext cx="3390900" cy="45720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738188" y="1407795"/>
            <a:ext cx="107813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b="1" dirty="0">
                <a:solidFill>
                  <a:srgbClr val="D7144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ONE-LINE RESULT</a:t>
            </a:r>
            <a:endParaRPr lang="en-US" sz="900" b="1" dirty="0">
              <a:solidFill>
                <a:srgbClr val="D7144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757047" y="2466499"/>
            <a:ext cx="2827431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181C6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EVIDENCE · BASELINE · CONTROL · METRIC</a:t>
            </a:r>
            <a:endParaRPr lang="en-US" sz="980" b="1" dirty="0">
              <a:solidFill>
                <a:srgbClr val="181C6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8471916" y="2429828"/>
            <a:ext cx="92806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KEY FINDINGS</a:t>
            </a:r>
            <a:endParaRPr lang="en-US" sz="1050" b="1" dirty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501396" y="543878"/>
            <a:ext cx="4448810" cy="391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altLang="zh-CN" sz="2550" b="1" dirty="0">
                <a:solidFill>
                  <a:srgbClr val="2024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What the Raw File Still Holds</a:t>
            </a:r>
            <a:endParaRPr lang="en-US" altLang="zh-CN" sz="2550" b="1" dirty="0">
              <a:solidFill>
                <a:srgbClr val="2024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734949" y="1567729"/>
            <a:ext cx="1769110" cy="43053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400" b="1" dirty="0">
                <a:solidFill>
                  <a:srgbClr val="D7144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Raw file vs.</a:t>
            </a:r>
            <a:br>
              <a:rPr lang="en-US" sz="1580" b="1" dirty="0">
                <a:solidFill>
                  <a:srgbClr val="D7144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</a:br>
            <a:r>
              <a:rPr lang="en-US" sz="1400" b="1" dirty="0">
                <a:solidFill>
                  <a:srgbClr val="D7144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preprocessed output</a:t>
            </a:r>
            <a:endParaRPr lang="en-US" sz="1400" b="1" dirty="0">
              <a:solidFill>
                <a:srgbClr val="D7144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754761" y="2894171"/>
            <a:ext cx="4555046" cy="78352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725"/>
              </a:lnSpc>
            </a:pPr>
            <a:r>
              <a:rPr lang="en-US" sz="142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The .skeleton file carries far more than coordinates</a:t>
            </a:r>
            <a:endParaRPr lang="en-US" sz="1420" dirty="0">
              <a:solidFill>
                <a:srgbClr val="5E647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lnSpc>
                <a:spcPts val="1725"/>
              </a:lnSpc>
              <a:spcBef>
                <a:spcPts val="525"/>
              </a:spcBef>
            </a:pPr>
            <a:r>
              <a:rPr lang="en-US" sz="105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Per body: bodyID, trackingState, lean, hand state.  Per joint: 3D metres, depth-2D,</a:t>
            </a:r>
            <a:br>
              <a:rPr lang="en-US" sz="105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colour-2D, an orientation quaternion, and a per-joint reliability flag.</a:t>
            </a:r>
            <a:endParaRPr lang="en-US" sz="1050" dirty="0">
              <a:solidFill>
                <a:srgbClr val="5E647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8469630" y="3076575"/>
            <a:ext cx="2376424" cy="1112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950"/>
              </a:lnSpc>
            </a:pPr>
            <a:r>
              <a:rPr lang="en-US" sz="1500" dirty="0">
                <a:solidFill>
                  <a:srgbClr val="2024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Two code-level issues</a:t>
            </a:r>
            <a:endParaRPr lang="en-US" sz="1500" dirty="0">
              <a:solidFill>
                <a:srgbClr val="2024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lnSpc>
                <a:spcPts val="1950"/>
              </a:lnSpc>
              <a:spcBef>
                <a:spcPts val="600"/>
              </a:spcBef>
            </a:pPr>
            <a:r>
              <a:rPr lang="en-US" sz="112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 · CTR-GCN merges separate bodyIDs</a:t>
            </a:r>
            <a:br>
              <a:rPr lang="en-US" sz="112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</a:br>
            <a:r>
              <a:rPr lang="en-US" sz="112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into one actor when their time spans</a:t>
            </a:r>
            <a:br>
              <a:rPr lang="en-US" sz="112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</a:br>
            <a:r>
              <a:rPr lang="en-US" sz="112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do not overlap. The IDs go to a log</a:t>
            </a:r>
            <a:br>
              <a:rPr lang="en-US" sz="112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</a:br>
            <a:r>
              <a:rPr lang="en-US" sz="112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file, never into the data.</a:t>
            </a:r>
            <a:br>
              <a:rPr lang="en-US" sz="112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</a:br>
            <a:r>
              <a:rPr lang="en-US" sz="112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 · Its failure log parses only the last</a:t>
            </a:r>
            <a:br>
              <a:rPr lang="en-US" sz="112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</a:br>
            <a:r>
              <a:rPr lang="en-US" sz="112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two digits of the action ID, so the 15</a:t>
            </a:r>
            <a:br>
              <a:rPr lang="en-US" sz="112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</a:br>
            <a:r>
              <a:rPr lang="en-US" sz="112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classes A106–A120 are never checked.</a:t>
            </a:r>
            <a:br>
              <a:rPr lang="en-US" sz="112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</a:br>
            <a:r>
              <a:rPr lang="en-US" sz="112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 · No official definition of the mutual</a:t>
            </a:r>
            <a:br>
              <a:rPr lang="en-US" sz="112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</a:br>
            <a:r>
              <a:rPr lang="en-US" sz="112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subset exists; each paper rolls its own.</a:t>
            </a:r>
            <a:endParaRPr lang="en-US" sz="1120" dirty="0">
              <a:solidFill>
                <a:srgbClr val="5E647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{{SOURCE}}</a:t>
            </a:r>
            <a:endParaRPr lang="en-US" sz="900" dirty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{{PAGE_NUM}}</a:t>
            </a:r>
            <a:endParaRPr lang="en-US" sz="900" dirty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901" name="WhatSurvivesFigur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000" y="3816000"/>
            <a:ext cx="6660000" cy="215964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428750"/>
            <a:ext cx="5286375" cy="2057400"/>
          </a:xfrm>
          <a:prstGeom prst="roundRect">
            <a:avLst>
              <a:gd name="adj" fmla="val 5556"/>
            </a:avLst>
          </a:prstGeom>
          <a:solidFill>
            <a:srgbClr val="FCE9EE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6048375" y="1428750"/>
            <a:ext cx="5572125" cy="205740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9050">
            <a:solidFill>
              <a:srgbClr val="D71440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514350" y="3714750"/>
            <a:ext cx="5286375" cy="2362200"/>
          </a:xfrm>
          <a:prstGeom prst="roundRect">
            <a:avLst>
              <a:gd name="adj" fmla="val 4839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6048375" y="3714750"/>
            <a:ext cx="5572125" cy="2362200"/>
          </a:xfrm>
          <a:prstGeom prst="roundRect">
            <a:avLst>
              <a:gd name="adj" fmla="val 4839"/>
            </a:avLst>
          </a:prstGeom>
          <a:solidFill>
            <a:srgbClr val="181C62"/>
          </a:solidFill>
          <a:ln>
            <a:noFill/>
          </a:ln>
        </p:spPr>
      </p:sp>
      <p:sp>
        <p:nvSpPr>
          <p:cNvPr id="11" name="Rectangle 11"/>
          <p:cNvSpPr/>
          <p:nvPr/>
        </p:nvSpPr>
        <p:spPr>
          <a:xfrm>
            <a:off x="514350" y="1428750"/>
            <a:ext cx="95250" cy="20574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6048375" y="3714750"/>
            <a:ext cx="95250" cy="23622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794766" y="1639252"/>
            <a:ext cx="237490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b="1" dirty="0">
                <a:solidFill>
                  <a:srgbClr val="D7144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CTR-GCN · ICCV 2021</a:t>
            </a:r>
            <a:endParaRPr lang="en-US" b="1" dirty="0">
              <a:solidFill>
                <a:srgbClr val="D7144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6328791" y="1639252"/>
            <a:ext cx="3272155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b="1" dirty="0">
                <a:solidFill>
                  <a:srgbClr val="D7144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SKELETONX · IEEE TMM 2025</a:t>
            </a:r>
            <a:endParaRPr lang="en-US" b="1" dirty="0">
              <a:solidFill>
                <a:srgbClr val="D7144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794766" y="3925252"/>
            <a:ext cx="3771265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b="1" dirty="0">
                <a:solidFill>
                  <a:srgbClr val="181C6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RELATIONSHIP TO OUR PROJEC</a:t>
            </a:r>
            <a:r>
              <a:rPr lang="en-US" sz="1800" b="1" dirty="0">
                <a:solidFill>
                  <a:srgbClr val="181C6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</a:t>
            </a:r>
            <a:endParaRPr lang="en-US" sz="1800" b="1" dirty="0">
              <a:solidFill>
                <a:srgbClr val="181C6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6328791" y="3925252"/>
            <a:ext cx="3437255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b="1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BASELINE RECOMMENDATION</a:t>
            </a:r>
            <a:endParaRPr lang="en-US" b="1" dirty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501396" y="543878"/>
            <a:ext cx="6664325" cy="391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Paper Review &amp; Baseline Recommendation</a:t>
            </a:r>
            <a:endParaRPr lang="en-US" sz="2550" b="1" dirty="0">
              <a:solidFill>
                <a:srgbClr val="2024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791845" y="2077720"/>
            <a:ext cx="4071620" cy="11925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>
              <a:lnSpc>
                <a:spcPts val="2325"/>
              </a:lnSpc>
            </a:pPr>
            <a:r>
              <a:rPr lang="en-US" sz="1600" b="1" dirty="0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Strong GCN Backbone</a:t>
            </a:r>
            <a:endParaRPr lang="en-US" sz="1050" dirty="0">
              <a:solidFill>
                <a:srgbClr val="5E647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lnSpc>
                <a:spcPts val="2325"/>
              </a:lnSpc>
            </a:pPr>
            <a:r>
              <a:rPr lang="en-US" sz="160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• Dynamic joint topology</a:t>
            </a:r>
            <a:endParaRPr lang="en-US" sz="1600" dirty="0">
              <a:solidFill>
                <a:srgbClr val="5E647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lnSpc>
                <a:spcPts val="2325"/>
              </a:lnSpc>
            </a:pPr>
            <a:r>
              <a:rPr lang="en-US" sz="160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• Person slots encoded separately</a:t>
            </a:r>
            <a:endParaRPr lang="en-US" sz="1600" dirty="0">
              <a:solidFill>
                <a:srgbClr val="5E647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lnSpc>
                <a:spcPts val="2325"/>
              </a:lnSpc>
            </a:pPr>
            <a:r>
              <a:rPr lang="en-US" sz="160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• Final mean pooling removes the distinction</a:t>
            </a:r>
            <a:endParaRPr lang="en-US" sz="1600" dirty="0">
              <a:solidFill>
                <a:srgbClr val="5E647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6325870" y="2077720"/>
            <a:ext cx="3451860" cy="11925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>
              <a:lnSpc>
                <a:spcPts val="2325"/>
              </a:lnSpc>
            </a:pPr>
            <a:r>
              <a:rPr lang="en-US" sz="1600" b="1" dirty="0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Data-Efficient Framework</a:t>
            </a:r>
            <a:endParaRPr lang="en-US" sz="1600" b="1" dirty="0">
              <a:solidFill>
                <a:srgbClr val="FF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lnSpc>
                <a:spcPts val="2325"/>
              </a:lnSpc>
            </a:pPr>
            <a:r>
              <a:rPr lang="en-US" sz="160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• Uses a GCN backbone</a:t>
            </a:r>
            <a:endParaRPr lang="en-US" sz="1600" dirty="0">
              <a:solidFill>
                <a:srgbClr val="5E647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lnSpc>
                <a:spcPts val="2325"/>
              </a:lnSpc>
            </a:pPr>
            <a:r>
              <a:rPr lang="en-US" sz="160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• Cross-sample feature aggregation</a:t>
            </a:r>
            <a:endParaRPr lang="en-US" sz="1600" dirty="0">
              <a:solidFill>
                <a:srgbClr val="5E647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lnSpc>
                <a:spcPts val="2325"/>
              </a:lnSpc>
            </a:pPr>
            <a:r>
              <a:rPr lang="en-US" sz="160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• Performer ID ≠ within-clip identity</a:t>
            </a:r>
            <a:r>
              <a:rPr lang="en-US" sz="105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.</a:t>
            </a:r>
            <a:endParaRPr lang="en-US" sz="1050" dirty="0">
              <a:solidFill>
                <a:srgbClr val="5E647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791845" y="4363720"/>
            <a:ext cx="4086860" cy="11925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>
              <a:lnSpc>
                <a:spcPts val="2325"/>
              </a:lnSpc>
            </a:pPr>
            <a:r>
              <a:rPr lang="en-US" sz="1600" b="1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Shared Research Gap</a:t>
            </a:r>
            <a:endParaRPr lang="en-US" sz="1600" b="1" dirty="0">
              <a:solidFill>
                <a:srgbClr val="5E647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lnSpc>
                <a:spcPts val="2325"/>
              </a:lnSpc>
            </a:pPr>
            <a:r>
              <a:rPr lang="en-US" sz="160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• No explicit within-clip identity</a:t>
            </a:r>
            <a:endParaRPr lang="en-US" sz="1600" dirty="0">
              <a:solidFill>
                <a:srgbClr val="5E647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lnSpc>
                <a:spcPts val="2325"/>
              </a:lnSpc>
            </a:pPr>
            <a:r>
              <a:rPr lang="en-US" sz="160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• No explicit cross-person geometry</a:t>
            </a:r>
            <a:endParaRPr lang="en-US" sz="1600" dirty="0">
              <a:solidFill>
                <a:srgbClr val="5E647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lnSpc>
                <a:spcPts val="2325"/>
              </a:lnSpc>
            </a:pPr>
            <a:r>
              <a:rPr lang="en-US" sz="160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• No explicit role-aware modelling</a:t>
            </a:r>
            <a:endParaRPr lang="en-US" sz="1600" dirty="0">
              <a:solidFill>
                <a:srgbClr val="5E647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6325870" y="4363720"/>
            <a:ext cx="3272155" cy="894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>
              <a:lnSpc>
                <a:spcPts val="2325"/>
              </a:lnSpc>
            </a:pPr>
            <a:r>
              <a:rPr lang="en-US" sz="1600" dirty="0">
                <a:solidFill>
                  <a:srgbClr val="C8C8C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Primary candidate: CTR-GCN</a:t>
            </a:r>
            <a:endParaRPr lang="en-US" sz="1600" dirty="0">
              <a:solidFill>
                <a:srgbClr val="C8C8C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lnSpc>
                <a:spcPts val="2325"/>
              </a:lnSpc>
            </a:pPr>
            <a:r>
              <a:rPr lang="en-US" sz="1600" dirty="0">
                <a:solidFill>
                  <a:srgbClr val="C8C8C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Secondary comparison: SkeletonX-CTR-GCN</a:t>
            </a:r>
            <a:endParaRPr lang="en-US" sz="1600" dirty="0">
              <a:solidFill>
                <a:srgbClr val="C8C8C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{{PAGE_NUM}}</a:t>
            </a:r>
            <a:endParaRPr lang="en-US" sz="900" dirty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Line 7"/>
          <p:cNvSpPr/>
          <p:nvPr/>
        </p:nvSpPr>
        <p:spPr>
          <a:xfrm>
            <a:off x="1009650" y="2238375"/>
            <a:ext cx="9525" cy="3076575"/>
          </a:xfrm>
          <a:custGeom>
            <a:avLst/>
            <a:gdLst/>
            <a:ahLst/>
            <a:cxnLst/>
            <a:rect l="l" t="t" r="r" b="b"/>
            <a:pathLst>
              <a:path w="9525" h="3076575">
                <a:moveTo>
                  <a:pt x="0" y="0"/>
                </a:moveTo>
                <a:lnTo>
                  <a:pt x="0" y="3076575"/>
                </a:lnTo>
              </a:path>
            </a:pathLst>
          </a:custGeom>
          <a:noFill/>
          <a:ln w="47625">
            <a:solidFill>
              <a:srgbClr val="C8C8C8"/>
            </a:solidFill>
          </a:ln>
        </p:spPr>
      </p:sp>
      <p:sp>
        <p:nvSpPr>
          <p:cNvPr id="8" name="Ellipse 8"/>
          <p:cNvSpPr/>
          <p:nvPr/>
        </p:nvSpPr>
        <p:spPr>
          <a:xfrm>
            <a:off x="819150" y="2047875"/>
            <a:ext cx="381000" cy="381000"/>
          </a:xfrm>
          <a:prstGeom prst="ellipse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9" name="Ellipse 9"/>
          <p:cNvSpPr/>
          <p:nvPr/>
        </p:nvSpPr>
        <p:spPr>
          <a:xfrm>
            <a:off x="819150" y="3590925"/>
            <a:ext cx="381000" cy="381000"/>
          </a:xfrm>
          <a:prstGeom prst="ellipse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10" name="Ellipse 10"/>
          <p:cNvSpPr/>
          <p:nvPr/>
        </p:nvSpPr>
        <p:spPr>
          <a:xfrm>
            <a:off x="819150" y="5124450"/>
            <a:ext cx="381000" cy="381000"/>
          </a:xfrm>
          <a:prstGeom prst="ellipse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1" name="Rectangle 11"/>
          <p:cNvSpPr/>
          <p:nvPr/>
        </p:nvSpPr>
        <p:spPr>
          <a:xfrm>
            <a:off x="1466850" y="1619250"/>
            <a:ext cx="6667500" cy="1238250"/>
          </a:xfrm>
          <a:prstGeom prst="roundRect">
            <a:avLst>
              <a:gd name="adj" fmla="val 9231"/>
            </a:avLst>
          </a:prstGeom>
          <a:solidFill>
            <a:srgbClr val="FCE9EE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1466850" y="3162300"/>
            <a:ext cx="6667500" cy="1238250"/>
          </a:xfrm>
          <a:prstGeom prst="roundRect">
            <a:avLst>
              <a:gd name="adj" fmla="val 9231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13" name="Rectangle 13"/>
          <p:cNvSpPr/>
          <p:nvPr/>
        </p:nvSpPr>
        <p:spPr>
          <a:xfrm>
            <a:off x="1466850" y="4695825"/>
            <a:ext cx="6667500" cy="1238250"/>
          </a:xfrm>
          <a:prstGeom prst="roundRect">
            <a:avLst>
              <a:gd name="adj" fmla="val 9231"/>
            </a:avLst>
          </a:prstGeom>
          <a:solidFill>
            <a:srgbClr val="FCE9EE"/>
          </a:solidFill>
          <a:ln>
            <a:noFill/>
          </a:ln>
        </p:spPr>
      </p:sp>
      <p:sp>
        <p:nvSpPr>
          <p:cNvPr id="14" name="Rectangle 14"/>
          <p:cNvSpPr/>
          <p:nvPr/>
        </p:nvSpPr>
        <p:spPr>
          <a:xfrm>
            <a:off x="8420100" y="1619250"/>
            <a:ext cx="3200400" cy="4314825"/>
          </a:xfrm>
          <a:prstGeom prst="roundRect">
            <a:avLst>
              <a:gd name="adj" fmla="val 3571"/>
            </a:avLst>
          </a:prstGeom>
          <a:solidFill>
            <a:srgbClr val="181C62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950315" y="2159318"/>
            <a:ext cx="11866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</a:t>
            </a:r>
            <a:endParaRPr lang="en-US" sz="1350" b="1" dirty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950315" y="3702368"/>
            <a:ext cx="11866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</a:t>
            </a:r>
            <a:endParaRPr lang="en-US" sz="1350" b="1" dirty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950315" y="5235892"/>
            <a:ext cx="11866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</a:t>
            </a:r>
            <a:endParaRPr lang="en-US" sz="1350" b="1" dirty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1747647" y="1809274"/>
            <a:ext cx="1517465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D7144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DELIVERABLE 1 · BUILD</a:t>
            </a:r>
            <a:endParaRPr lang="en-US" sz="980" b="1" dirty="0">
              <a:solidFill>
                <a:srgbClr val="D7144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747647" y="3352324"/>
            <a:ext cx="1758967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181C6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DELIVERABLE 2 · VALIDATE</a:t>
            </a:r>
            <a:endParaRPr lang="en-US" sz="980" b="1" dirty="0">
              <a:solidFill>
                <a:srgbClr val="181C6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747647" y="4885849"/>
            <a:ext cx="185410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D7144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DELIVERABLE 3 · DOCUMENT</a:t>
            </a:r>
            <a:endParaRPr lang="en-US" sz="980" b="1" dirty="0">
              <a:solidFill>
                <a:srgbClr val="D7144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8700516" y="1896428"/>
            <a:ext cx="259819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OWNER · DUE DATE · SUCCESS CHECK</a:t>
            </a:r>
            <a:endParaRPr lang="en-US" sz="1050" b="1" dirty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501396" y="543878"/>
            <a:ext cx="4335356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Next-Week Commitments</a:t>
            </a:r>
            <a:endParaRPr lang="en-US" sz="2550" b="1" dirty="0">
              <a:solidFill>
                <a:srgbClr val="2024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1744599" y="2173129"/>
            <a:ext cx="2916365" cy="5461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875"/>
              </a:lnSpc>
            </a:pPr>
            <a:r>
              <a:rPr lang="en-US" sz="1580" b="1" dirty="0">
                <a:solidFill>
                  <a:srgbClr val="2024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{{NEXT_ACTION_1}}</a:t>
            </a:r>
            <a:endParaRPr lang="en-US" sz="1580" b="1" dirty="0">
              <a:solidFill>
                <a:srgbClr val="2024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lnSpc>
                <a:spcPts val="1875"/>
              </a:lnSpc>
            </a:pPr>
            <a:r>
              <a:rPr lang="en-US" sz="105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Output: code, dataset, or runnable module.</a:t>
            </a:r>
            <a:endParaRPr lang="en-US" sz="1050" dirty="0">
              <a:solidFill>
                <a:srgbClr val="5E647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1744599" y="3716179"/>
            <a:ext cx="3336417" cy="5461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875"/>
              </a:lnSpc>
            </a:pPr>
            <a:r>
              <a:rPr lang="en-US" sz="1580" b="1" dirty="0">
                <a:solidFill>
                  <a:srgbClr val="2024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{{NEXT_ACTION_2}}</a:t>
            </a:r>
            <a:endParaRPr lang="en-US" sz="1580" b="1" dirty="0">
              <a:solidFill>
                <a:srgbClr val="2024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lnSpc>
                <a:spcPts val="1875"/>
              </a:lnSpc>
            </a:pPr>
            <a:r>
              <a:rPr lang="en-US" sz="105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Output: metric table, control, or ablation result.</a:t>
            </a:r>
            <a:endParaRPr lang="en-US" sz="1050" dirty="0">
              <a:solidFill>
                <a:srgbClr val="5E647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1744599" y="5249704"/>
            <a:ext cx="3369755" cy="5461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875"/>
              </a:lnSpc>
            </a:pPr>
            <a:r>
              <a:rPr lang="en-US" sz="1580" b="1" dirty="0">
                <a:solidFill>
                  <a:srgbClr val="2024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{{NEXT_ACTION_3}}</a:t>
            </a:r>
            <a:endParaRPr lang="en-US" sz="1580" b="1" dirty="0">
              <a:solidFill>
                <a:srgbClr val="2024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lnSpc>
                <a:spcPts val="1875"/>
              </a:lnSpc>
            </a:pPr>
            <a:r>
              <a:rPr lang="en-US" sz="105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Output: updated figure, notes, or report section.</a:t>
            </a:r>
            <a:endParaRPr lang="en-US" sz="1050" dirty="0">
              <a:solidFill>
                <a:srgbClr val="5E647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8697849" y="2382679"/>
            <a:ext cx="2474087" cy="14415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025"/>
              </a:lnSpc>
            </a:pPr>
            <a:r>
              <a:rPr lang="en-US" sz="1580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{{OWNER_AND_DEADLINE}}</a:t>
            </a:r>
            <a:endParaRPr lang="en-US" sz="1580" dirty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lnSpc>
                <a:spcPts val="2025"/>
              </a:lnSpc>
              <a:spcBef>
                <a:spcPts val="825"/>
              </a:spcBef>
            </a:pPr>
            <a:r>
              <a:rPr lang="en-US" sz="1050" dirty="0">
                <a:solidFill>
                  <a:srgbClr val="C8C8C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Owner: …</a:t>
            </a:r>
            <a:br>
              <a:rPr lang="en-US" sz="1050" dirty="0">
                <a:solidFill>
                  <a:srgbClr val="C8C8C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</a:br>
            <a:r>
              <a:rPr lang="en-US" sz="1050" dirty="0">
                <a:solidFill>
                  <a:srgbClr val="C8C8C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Due: …</a:t>
            </a:r>
            <a:br>
              <a:rPr lang="en-US" sz="1050" dirty="0">
                <a:solidFill>
                  <a:srgbClr val="C8C8C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</a:br>
            <a:r>
              <a:rPr lang="en-US" sz="1050" dirty="0">
                <a:solidFill>
                  <a:srgbClr val="C8C8C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Success check: observable output</a:t>
            </a:r>
            <a:br>
              <a:rPr lang="en-US" sz="1050" dirty="0">
                <a:solidFill>
                  <a:srgbClr val="C8C8C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</a:br>
            <a:r>
              <a:rPr lang="en-US" sz="1050" dirty="0">
                <a:solidFill>
                  <a:srgbClr val="C8C8C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or agreed metric threshold.</a:t>
            </a:r>
            <a:endParaRPr lang="en-US" sz="1050" dirty="0">
              <a:solidFill>
                <a:srgbClr val="C8C8C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{{PAGE_NUM}}</a:t>
            </a:r>
            <a:endParaRPr lang="en-US" sz="900" dirty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304925"/>
            <a:ext cx="11106150" cy="4772025"/>
          </a:xfrm>
          <a:prstGeom prst="roundRect">
            <a:avLst>
              <a:gd name="adj" fmla="val 1996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8" name="TextBox 8"/>
          <p:cNvSpPr txBox="1"/>
          <p:nvPr/>
        </p:nvSpPr>
        <p:spPr>
          <a:xfrm>
            <a:off x="501396" y="543878"/>
            <a:ext cx="2213061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Open Canvas</a:t>
            </a:r>
            <a:endParaRPr lang="en-US" sz="2550" b="1" dirty="0">
              <a:solidFill>
                <a:srgbClr val="2024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{{SOURCE}}</a:t>
            </a:r>
            <a:endParaRPr lang="en-US" sz="900" dirty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{{PAGE_NUM}}</a:t>
            </a:r>
            <a:endParaRPr lang="en-US" sz="900" dirty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304925"/>
            <a:ext cx="7810500" cy="4772025"/>
          </a:xfrm>
          <a:prstGeom prst="roundRect">
            <a:avLst>
              <a:gd name="adj" fmla="val 1996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8" name="Rectangle 8"/>
          <p:cNvSpPr/>
          <p:nvPr/>
        </p:nvSpPr>
        <p:spPr>
          <a:xfrm>
            <a:off x="8572500" y="1304925"/>
            <a:ext cx="3048000" cy="4772025"/>
          </a:xfrm>
          <a:prstGeom prst="roundRect">
            <a:avLst>
              <a:gd name="adj" fmla="val 3125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8572500" y="1304925"/>
            <a:ext cx="3048000" cy="1143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8815197" y="1647349"/>
            <a:ext cx="1290599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181C6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IMAGE DESCRIPTION</a:t>
            </a:r>
            <a:endParaRPr lang="en-US" sz="980" b="1" dirty="0">
              <a:solidFill>
                <a:srgbClr val="181C6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501396" y="543878"/>
            <a:ext cx="3340770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Single-Image Story</a:t>
            </a:r>
            <a:endParaRPr lang="en-US" sz="2550" b="1" dirty="0">
              <a:solidFill>
                <a:srgbClr val="2024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12" name="Image 12"/>
          <p:cNvPicPr>
            <a:picLocks noChangeAspect="1"/>
          </p:cNvPicPr>
          <p:nvPr/>
        </p:nvPicPr>
        <p:blipFill>
          <a:blip r:embed="rId2"/>
          <a:srcRect l="4974" r="4973"/>
          <a:stretch>
            <a:fillRect/>
          </a:stretch>
        </p:blipFill>
        <p:spPr>
          <a:xfrm>
            <a:off x="552450" y="1343025"/>
            <a:ext cx="7734300" cy="4695825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8812149" y="2173129"/>
            <a:ext cx="2298954" cy="2146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650"/>
              </a:lnSpc>
            </a:pPr>
            <a:r>
              <a:rPr lang="en-US" sz="1580" dirty="0">
                <a:solidFill>
                  <a:srgbClr val="2024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{{IMAGE_DESCRIPTION}}</a:t>
            </a:r>
            <a:endParaRPr lang="en-US" sz="1580" dirty="0">
              <a:solidFill>
                <a:srgbClr val="2024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lnSpc>
                <a:spcPts val="1650"/>
              </a:lnSpc>
              <a:spcBef>
                <a:spcPts val="900"/>
              </a:spcBef>
            </a:pPr>
            <a:r>
              <a:rPr lang="en-US" sz="112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What does the image show?</a:t>
            </a:r>
            <a:endParaRPr lang="en-US" sz="1120" dirty="0">
              <a:solidFill>
                <a:srgbClr val="5E647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lnSpc>
                <a:spcPts val="1650"/>
              </a:lnSpc>
              <a:spcBef>
                <a:spcPts val="375"/>
              </a:spcBef>
            </a:pPr>
            <a:r>
              <a:rPr lang="en-US" sz="112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Why is it relevant this week?</a:t>
            </a:r>
            <a:endParaRPr lang="en-US" sz="1120" dirty="0">
              <a:solidFill>
                <a:srgbClr val="5E647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lnSpc>
                <a:spcPts val="1650"/>
              </a:lnSpc>
              <a:spcBef>
                <a:spcPts val="375"/>
              </a:spcBef>
            </a:pPr>
            <a:r>
              <a:rPr lang="en-US" sz="112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What should the audience notice?</a:t>
            </a:r>
            <a:endParaRPr lang="en-US" sz="1120" dirty="0">
              <a:solidFill>
                <a:srgbClr val="5E647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lnSpc>
                <a:spcPts val="1650"/>
              </a:lnSpc>
              <a:spcBef>
                <a:spcPts val="1050"/>
              </a:spcBef>
            </a:pPr>
            <a:r>
              <a:rPr lang="en-US" sz="1050" b="1" dirty="0">
                <a:solidFill>
                  <a:srgbClr val="D7144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TIP</a:t>
            </a:r>
            <a:endParaRPr lang="en-US" sz="1050" b="1" dirty="0">
              <a:solidFill>
                <a:srgbClr val="D7144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lnSpc>
                <a:spcPts val="1650"/>
              </a:lnSpc>
              <a:spcBef>
                <a:spcPts val="225"/>
              </a:spcBef>
            </a:pPr>
            <a:r>
              <a:rPr lang="en-US" sz="105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Use one annotated result, system</a:t>
            </a:r>
            <a:br>
              <a:rPr lang="en-US" sz="105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overview, qualitative example,</a:t>
            </a:r>
            <a:br>
              <a:rPr lang="en-US" sz="105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or implementation photograph.</a:t>
            </a:r>
            <a:endParaRPr lang="en-US" sz="1050" dirty="0">
              <a:solidFill>
                <a:srgbClr val="5E647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{{SOURCE}}</a:t>
            </a:r>
            <a:endParaRPr lang="en-US" sz="900" dirty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{{PAGE_NUM}}</a:t>
            </a:r>
            <a:endParaRPr lang="en-US" sz="900" dirty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8416388" y="713899"/>
            <a:ext cx="1056415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80" b="1" dirty="0">
                <a:solidFill>
                  <a:srgbClr val="5E6478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USE 2–4 IMAGES</a:t>
            </a:r>
            <a:endParaRPr lang="en-US" sz="980" b="1" dirty="0">
              <a:solidFill>
                <a:srgbClr val="5E6478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" name="Rectangle 8"/>
          <p:cNvSpPr/>
          <p:nvPr/>
        </p:nvSpPr>
        <p:spPr>
          <a:xfrm>
            <a:off x="514350" y="1304925"/>
            <a:ext cx="5391150" cy="22098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514350" y="3152775"/>
            <a:ext cx="5391150" cy="361950"/>
          </a:xfrm>
          <a:prstGeom prst="rect">
            <a:avLst/>
          </a:prstGeom>
          <a:solidFill>
            <a:srgbClr val="EEF1FA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6229350" y="1304925"/>
            <a:ext cx="5391150" cy="22098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11" name="Rectangle 11"/>
          <p:cNvSpPr/>
          <p:nvPr/>
        </p:nvSpPr>
        <p:spPr>
          <a:xfrm>
            <a:off x="6229350" y="3152775"/>
            <a:ext cx="5391150" cy="361950"/>
          </a:xfrm>
          <a:prstGeom prst="rect">
            <a:avLst/>
          </a:prstGeom>
          <a:solidFill>
            <a:srgbClr val="EEF1FA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514350" y="3686175"/>
            <a:ext cx="5391150" cy="22098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13" name="Rectangle 13"/>
          <p:cNvSpPr/>
          <p:nvPr/>
        </p:nvSpPr>
        <p:spPr>
          <a:xfrm>
            <a:off x="514350" y="5534025"/>
            <a:ext cx="5391150" cy="361950"/>
          </a:xfrm>
          <a:prstGeom prst="rect">
            <a:avLst/>
          </a:prstGeom>
          <a:solidFill>
            <a:srgbClr val="EEF1FA"/>
          </a:solidFill>
          <a:ln>
            <a:noFill/>
          </a:ln>
        </p:spPr>
      </p:sp>
      <p:sp>
        <p:nvSpPr>
          <p:cNvPr id="14" name="Rectangle 14"/>
          <p:cNvSpPr/>
          <p:nvPr/>
        </p:nvSpPr>
        <p:spPr>
          <a:xfrm>
            <a:off x="6229350" y="3686175"/>
            <a:ext cx="5391150" cy="22098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15" name="Rectangle 15"/>
          <p:cNvSpPr/>
          <p:nvPr/>
        </p:nvSpPr>
        <p:spPr>
          <a:xfrm>
            <a:off x="6229350" y="5534025"/>
            <a:ext cx="5391150" cy="361950"/>
          </a:xfrm>
          <a:prstGeom prst="rect">
            <a:avLst/>
          </a:prstGeom>
          <a:solidFill>
            <a:srgbClr val="EEF1FA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501396" y="543878"/>
            <a:ext cx="3215507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Multi-Image Story</a:t>
            </a:r>
            <a:endParaRPr lang="en-US" sz="2550" b="1" dirty="0">
              <a:solidFill>
                <a:srgbClr val="2024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17" name="Image 17"/>
          <p:cNvPicPr>
            <a:picLocks noChangeAspect="1"/>
          </p:cNvPicPr>
          <p:nvPr/>
        </p:nvPicPr>
        <p:blipFill>
          <a:blip r:embed="rId2"/>
          <a:srcRect t="19517" b="19517"/>
          <a:stretch>
            <a:fillRect/>
          </a:stretch>
        </p:blipFill>
        <p:spPr>
          <a:xfrm>
            <a:off x="552450" y="1343025"/>
            <a:ext cx="5314950" cy="1771650"/>
          </a:xfrm>
          <a:prstGeom prst="rect">
            <a:avLst/>
          </a:prstGeom>
        </p:spPr>
      </p:pic>
      <p:pic>
        <p:nvPicPr>
          <p:cNvPr id="18" name="Image 18"/>
          <p:cNvPicPr>
            <a:picLocks noChangeAspect="1"/>
          </p:cNvPicPr>
          <p:nvPr/>
        </p:nvPicPr>
        <p:blipFill>
          <a:blip r:embed="rId3"/>
          <a:srcRect t="14228" b="14227"/>
          <a:stretch>
            <a:fillRect/>
          </a:stretch>
        </p:blipFill>
        <p:spPr>
          <a:xfrm>
            <a:off x="6267450" y="1343025"/>
            <a:ext cx="5314950" cy="1771650"/>
          </a:xfrm>
          <a:prstGeom prst="rect">
            <a:avLst/>
          </a:prstGeom>
        </p:spPr>
      </p:pic>
      <p:pic>
        <p:nvPicPr>
          <p:cNvPr id="19" name="Image 19"/>
          <p:cNvPicPr>
            <a:picLocks noChangeAspect="1"/>
          </p:cNvPicPr>
          <p:nvPr/>
        </p:nvPicPr>
        <p:blipFill>
          <a:blip r:embed="rId4"/>
          <a:srcRect t="25000" b="25000"/>
          <a:stretch>
            <a:fillRect/>
          </a:stretch>
        </p:blipFill>
        <p:spPr>
          <a:xfrm>
            <a:off x="552450" y="3724275"/>
            <a:ext cx="5314950" cy="1771650"/>
          </a:xfrm>
          <a:prstGeom prst="rect">
            <a:avLst/>
          </a:prstGeom>
        </p:spPr>
      </p:pic>
      <p:pic>
        <p:nvPicPr>
          <p:cNvPr id="20" name="Image 20"/>
          <p:cNvPicPr>
            <a:picLocks noChangeAspect="1"/>
          </p:cNvPicPr>
          <p:nvPr/>
        </p:nvPicPr>
        <p:blipFill>
          <a:blip r:embed="rId5"/>
          <a:srcRect t="28986" b="28987"/>
          <a:stretch>
            <a:fillRect/>
          </a:stretch>
        </p:blipFill>
        <p:spPr>
          <a:xfrm>
            <a:off x="6267450" y="3724275"/>
            <a:ext cx="5314950" cy="1771650"/>
          </a:xfrm>
          <a:prstGeom prst="rect">
            <a:avLst/>
          </a:prstGeom>
        </p:spPr>
      </p:pic>
      <p:sp>
        <p:nvSpPr>
          <p:cNvPr id="21" name="TextBox 21"/>
          <p:cNvSpPr txBox="1"/>
          <p:nvPr/>
        </p:nvSpPr>
        <p:spPr>
          <a:xfrm>
            <a:off x="680085" y="3269456"/>
            <a:ext cx="114252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2024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{{CAPTION_1}}</a:t>
            </a:r>
            <a:endParaRPr lang="en-US" sz="1120" dirty="0">
              <a:solidFill>
                <a:srgbClr val="2024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6395085" y="3269456"/>
            <a:ext cx="114252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2024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{{CAPTION_2}}</a:t>
            </a:r>
            <a:endParaRPr lang="en-US" sz="1120" dirty="0">
              <a:solidFill>
                <a:srgbClr val="2024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680085" y="5650706"/>
            <a:ext cx="114252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2024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{{CAPTION_3}}</a:t>
            </a:r>
            <a:endParaRPr lang="en-US" sz="1120" dirty="0">
              <a:solidFill>
                <a:srgbClr val="2024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6395085" y="5650706"/>
            <a:ext cx="114252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20243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{{CAPTION_4}}</a:t>
            </a:r>
            <a:endParaRPr lang="en-US" sz="1120" dirty="0">
              <a:solidFill>
                <a:srgbClr val="20243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{{SOURCE}}</a:t>
            </a:r>
            <a:endParaRPr lang="en-US" sz="900" dirty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{{PAGE_NUM}}</a:t>
            </a:r>
            <a:endParaRPr lang="en-US" sz="900" dirty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6" name="Imag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50" y="0"/>
            <a:ext cx="12020550" cy="6572250"/>
          </a:xfrm>
          <a:prstGeom prst="rect">
            <a:avLst/>
          </a:prstGeom>
        </p:spPr>
      </p:pic>
      <p:sp>
        <p:nvSpPr>
          <p:cNvPr id="7" name="Rectangle 7"/>
          <p:cNvSpPr/>
          <p:nvPr/>
        </p:nvSpPr>
        <p:spPr>
          <a:xfrm>
            <a:off x="171450" y="0"/>
            <a:ext cx="12020550" cy="657225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9620250" y="171450"/>
            <a:ext cx="2266950" cy="838200"/>
          </a:xfrm>
          <a:prstGeom prst="roundRect">
            <a:avLst>
              <a:gd name="adj" fmla="val 6818"/>
            </a:avLst>
          </a:prstGeom>
          <a:solidFill>
            <a:srgbClr val="FFFFFF">
              <a:alpha val="94000"/>
            </a:srgbClr>
          </a:solidFill>
          <a:ln>
            <a:noFill/>
          </a:ln>
        </p:spPr>
      </p:sp>
      <p:pic>
        <p:nvPicPr>
          <p:cNvPr id="9" name="Image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98435" y="247650"/>
            <a:ext cx="1910579" cy="6858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4822500" y="2404110"/>
            <a:ext cx="271845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200" b="1" dirty="0">
                <a:solidFill>
                  <a:srgbClr val="181C6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EE6008 · HUMAN POSE ANALYTICS</a:t>
            </a:r>
            <a:endParaRPr lang="en-US" sz="1200" b="1" dirty="0">
              <a:solidFill>
                <a:srgbClr val="181C6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" name="Rectangle 11"/>
          <p:cNvSpPr/>
          <p:nvPr/>
        </p:nvSpPr>
        <p:spPr>
          <a:xfrm>
            <a:off x="5419725" y="3524250"/>
            <a:ext cx="1524000" cy="5715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4798329" y="2858452"/>
            <a:ext cx="2766791" cy="7905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4050" b="1" dirty="0">
                <a:solidFill>
                  <a:srgbClr val="181C6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Thank You</a:t>
            </a:r>
            <a:endParaRPr lang="en-US" sz="4050" b="1" dirty="0">
              <a:solidFill>
                <a:srgbClr val="181C62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commondata" val="eyJoZGlkIjoiOWMxYzMwYjExMzFiOTI0NTgyNDM4YzE5NDkxZGE0MTIifQ=="/>
</p:tagLst>
</file>

<file path=ppt/theme/theme1.xml><?xml version="1.0" encoding="utf-8"?>
<a:theme xmlns:a="http://schemas.openxmlformats.org/drawingml/2006/main" name="weekly_five_minute_research_update">
  <a:themeElements>
    <a:clrScheme name="weekly_five_minute_research_updat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weekly_five_minute_research_updat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eekly_five_minute_research_upda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3487</Words>
  <Application>WPS 演示</Application>
  <PresentationFormat>On-screen Show (16:9)</PresentationFormat>
  <Paragraphs>204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8" baseType="lpstr">
      <vt:lpstr>Arial</vt:lpstr>
      <vt:lpstr>宋体</vt:lpstr>
      <vt:lpstr>Wingdings</vt:lpstr>
      <vt:lpstr>Arial</vt:lpstr>
      <vt:lpstr>微软雅黑</vt:lpstr>
      <vt:lpstr>Arial Unicode MS</vt:lpstr>
      <vt:lpstr>Calibri</vt:lpstr>
      <vt:lpstr>weekly_five_minute_research_update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Zhy</cp:lastModifiedBy>
  <cp:revision>4</cp:revision>
  <dcterms:created xsi:type="dcterms:W3CDTF">2026-09-01T02:13:00Z</dcterms:created>
  <dcterms:modified xsi:type="dcterms:W3CDTF">2026-09-01T03:11:51Z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277FFAEB8781C16EE434966A0311D864_42</vt:lpwstr>
  </property>
  <property fmtid="{D5CDD505-2E9C-101B-9397-08002B2CF9AE}" pid="3" name="KSOProductBuildVer">
    <vt:lpwstr>2052-12.1.0.16120</vt:lpwstr>
  </property>
</Properties>
</file>